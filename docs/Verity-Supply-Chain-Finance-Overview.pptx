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bin" ContentType="application/vnd.openxmlformats-officedocument.oleObject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notesSlides/notesSlide5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ppt/tableStyles.xml" ContentType="application/vnd.openxmlformats-officedocument.presentationml.tableStyl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9"/>
  </p:notes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72" d="100"/>
          <a:sy n="72" d="100"/>
        </p:scale>
        <p:origin x="423" y="45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2672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94985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486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4664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58204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06542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70131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35833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418735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03386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90167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07868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07820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86008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073180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F8FB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231649" name="Text 1"/>
          <p:cNvSpPr/>
          <p:nvPr/>
        </p:nvSpPr>
        <p:spPr bwMode="auto">
          <a:xfrm>
            <a:off x="640080" y="4754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1F7A5C"/>
                </a:solidFill>
              </a:rPr>
              <a:t>Smart Finux Labs</a:t>
            </a:r>
            <a:endParaRPr lang="en-US" sz="1000"/>
          </a:p>
        </p:txBody>
      </p:sp>
      <p:sp>
        <p:nvSpPr>
          <p:cNvPr id="1772549080" name="Text 2"/>
          <p:cNvSpPr/>
          <p:nvPr/>
        </p:nvSpPr>
        <p:spPr bwMode="auto">
          <a:xfrm>
            <a:off x="621792" y="123444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800" b="1">
                <a:solidFill>
                  <a:srgbClr val="16201F"/>
                </a:solidFill>
                <a:latin typeface="Aptos Display"/>
                <a:ea typeface="Aptos Display"/>
                <a:cs typeface="Aptos Display"/>
              </a:rPr>
              <a:t>Verity</a:t>
            </a:r>
            <a:endParaRPr lang="en-US" sz="3800"/>
          </a:p>
        </p:txBody>
      </p:sp>
      <p:sp>
        <p:nvSpPr>
          <p:cNvPr id="1701626625" name="Text 3"/>
          <p:cNvSpPr/>
          <p:nvPr/>
        </p:nvSpPr>
        <p:spPr bwMode="auto">
          <a:xfrm>
            <a:off x="658368" y="2029968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900" b="1">
                <a:solidFill>
                  <a:srgbClr val="16201F"/>
                </a:solidFill>
              </a:rPr>
              <a:t>On-chain supply chain finance for Capital Due Value</a:t>
            </a:r>
            <a:endParaRPr lang="en-US" sz="1900"/>
          </a:p>
        </p:txBody>
      </p:sp>
      <p:sp>
        <p:nvSpPr>
          <p:cNvPr id="1327221342" name="Text 4"/>
          <p:cNvSpPr/>
          <p:nvPr/>
        </p:nvSpPr>
        <p:spPr bwMode="auto">
          <a:xfrm>
            <a:off x="676656" y="2907792"/>
            <a:ext cx="5349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5D6A67"/>
                </a:solidFill>
              </a:rPr>
              <a:t>Verity turns invoice claims into accounting-valid obligations, then coordinates factoring, USDC escrow, settlement, and payment profile evidence across suppliers, buyers, and investors.</a:t>
            </a:r>
            <a:endParaRPr lang="en-US" sz="1200"/>
          </a:p>
        </p:txBody>
      </p:sp>
      <p:sp>
        <p:nvSpPr>
          <p:cNvPr id="2004344224" name="Shape 5"/>
          <p:cNvSpPr/>
          <p:nvPr/>
        </p:nvSpPr>
        <p:spPr bwMode="auto">
          <a:xfrm>
            <a:off x="6858000" y="1024128"/>
            <a:ext cx="4846320" cy="4498848"/>
          </a:xfrm>
          <a:prstGeom prst="roundRect">
            <a:avLst>
              <a:gd name="adj" fmla="val 813"/>
            </a:avLst>
          </a:prstGeom>
          <a:solidFill>
            <a:srgbClr val="FFFFFF"/>
          </a:solidFill>
          <a:ln w="12700">
            <a:solidFill>
              <a:srgbClr val="D7DFDA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517365" name="Shape 6"/>
          <p:cNvSpPr/>
          <p:nvPr/>
        </p:nvSpPr>
        <p:spPr bwMode="auto">
          <a:xfrm>
            <a:off x="7223760" y="1353312"/>
            <a:ext cx="91440" cy="603504"/>
          </a:xfrm>
          <a:prstGeom prst="rect">
            <a:avLst/>
          </a:prstGeom>
          <a:solidFill>
            <a:srgbClr val="1F7A5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5693782" name="Text 7"/>
          <p:cNvSpPr/>
          <p:nvPr/>
        </p:nvSpPr>
        <p:spPr bwMode="auto">
          <a:xfrm>
            <a:off x="7470648" y="134416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1F7A5C"/>
                </a:solidFill>
              </a:rPr>
              <a:t>Supplier</a:t>
            </a:r>
            <a:endParaRPr lang="en-US" sz="1000"/>
          </a:p>
        </p:txBody>
      </p:sp>
      <p:sp>
        <p:nvSpPr>
          <p:cNvPr id="1172411447" name="Shape 8"/>
          <p:cNvSpPr/>
          <p:nvPr/>
        </p:nvSpPr>
        <p:spPr bwMode="auto">
          <a:xfrm>
            <a:off x="8595360" y="1280160"/>
            <a:ext cx="2651760" cy="713232"/>
          </a:xfrm>
          <a:prstGeom prst="roundRect">
            <a:avLst>
              <a:gd name="adj" fmla="val 5128"/>
            </a:avLst>
          </a:prstGeom>
          <a:solidFill>
            <a:srgbClr val="DDF3EA"/>
          </a:solidFill>
          <a:ln w="12700">
            <a:solidFill>
              <a:srgbClr val="DDF3EA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3882970" name="Text 9"/>
          <p:cNvSpPr/>
          <p:nvPr/>
        </p:nvSpPr>
        <p:spPr bwMode="auto">
          <a:xfrm>
            <a:off x="8769096" y="1444752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950">
                <a:solidFill>
                  <a:srgbClr val="16201F"/>
                </a:solidFill>
              </a:rPr>
              <a:t>Creates structured invoice and requests factoring</a:t>
            </a:r>
            <a:endParaRPr lang="en-US" sz="950"/>
          </a:p>
        </p:txBody>
      </p:sp>
      <p:sp>
        <p:nvSpPr>
          <p:cNvPr id="757352805" name="Shape 10"/>
          <p:cNvSpPr/>
          <p:nvPr/>
        </p:nvSpPr>
        <p:spPr bwMode="auto">
          <a:xfrm>
            <a:off x="7223760" y="2313432"/>
            <a:ext cx="91440" cy="603504"/>
          </a:xfrm>
          <a:prstGeom prst="rect">
            <a:avLst/>
          </a:prstGeom>
          <a:solidFill>
            <a:srgbClr val="244D7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91864599" name="Text 11"/>
          <p:cNvSpPr/>
          <p:nvPr/>
        </p:nvSpPr>
        <p:spPr bwMode="auto">
          <a:xfrm>
            <a:off x="7470648" y="230428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244D73"/>
                </a:solidFill>
              </a:rPr>
              <a:t>Buyer</a:t>
            </a:r>
            <a:endParaRPr lang="en-US" sz="1000"/>
          </a:p>
        </p:txBody>
      </p:sp>
      <p:sp>
        <p:nvSpPr>
          <p:cNvPr id="630264583" name="Shape 12"/>
          <p:cNvSpPr/>
          <p:nvPr/>
        </p:nvSpPr>
        <p:spPr bwMode="auto">
          <a:xfrm>
            <a:off x="8595360" y="2240280"/>
            <a:ext cx="2651760" cy="713232"/>
          </a:xfrm>
          <a:prstGeom prst="roundRect">
            <a:avLst>
              <a:gd name="adj" fmla="val 5128"/>
            </a:avLst>
          </a:prstGeom>
          <a:solidFill>
            <a:srgbClr val="E9F2FA"/>
          </a:solidFill>
          <a:ln w="12700">
            <a:solidFill>
              <a:srgbClr val="E9F2FA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52028547" name="Text 13"/>
          <p:cNvSpPr/>
          <p:nvPr/>
        </p:nvSpPr>
        <p:spPr bwMode="auto">
          <a:xfrm>
            <a:off x="8769096" y="2404872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950">
                <a:solidFill>
                  <a:srgbClr val="16201F"/>
                </a:solidFill>
              </a:rPr>
              <a:t>Validates evidence and confirms Due Value</a:t>
            </a:r>
            <a:endParaRPr lang="en-US" sz="950"/>
          </a:p>
        </p:txBody>
      </p:sp>
      <p:sp>
        <p:nvSpPr>
          <p:cNvPr id="1072654153" name="Shape 14"/>
          <p:cNvSpPr/>
          <p:nvPr/>
        </p:nvSpPr>
        <p:spPr bwMode="auto">
          <a:xfrm>
            <a:off x="7223760" y="3273552"/>
            <a:ext cx="91440" cy="603504"/>
          </a:xfrm>
          <a:prstGeom prst="rect">
            <a:avLst/>
          </a:prstGeom>
          <a:solidFill>
            <a:srgbClr val="B9822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00787178" name="Text 15"/>
          <p:cNvSpPr/>
          <p:nvPr/>
        </p:nvSpPr>
        <p:spPr bwMode="auto">
          <a:xfrm>
            <a:off x="7470648" y="326440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B9822D"/>
                </a:solidFill>
              </a:rPr>
              <a:t>Investor</a:t>
            </a:r>
            <a:endParaRPr lang="en-US" sz="1000"/>
          </a:p>
        </p:txBody>
      </p:sp>
      <p:sp>
        <p:nvSpPr>
          <p:cNvPr id="1660914268" name="Shape 16"/>
          <p:cNvSpPr/>
          <p:nvPr/>
        </p:nvSpPr>
        <p:spPr bwMode="auto">
          <a:xfrm>
            <a:off x="8595360" y="3200400"/>
            <a:ext cx="2651760" cy="713232"/>
          </a:xfrm>
          <a:prstGeom prst="roundRect">
            <a:avLst>
              <a:gd name="adj" fmla="val 5128"/>
            </a:avLst>
          </a:prstGeom>
          <a:solidFill>
            <a:srgbClr val="F8E7C4"/>
          </a:solidFill>
          <a:ln w="12700">
            <a:solidFill>
              <a:srgbClr val="F8E7C4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31318786" name="Text 17"/>
          <p:cNvSpPr/>
          <p:nvPr/>
        </p:nvSpPr>
        <p:spPr bwMode="auto">
          <a:xfrm>
            <a:off x="8769096" y="3364992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950">
                <a:solidFill>
                  <a:srgbClr val="16201F"/>
                </a:solidFill>
              </a:rPr>
              <a:t>Funds accepted receivable for yield</a:t>
            </a:r>
            <a:endParaRPr lang="en-US" sz="950"/>
          </a:p>
        </p:txBody>
      </p:sp>
      <p:sp>
        <p:nvSpPr>
          <p:cNvPr id="237889831" name="Shape 18"/>
          <p:cNvSpPr/>
          <p:nvPr/>
        </p:nvSpPr>
        <p:spPr bwMode="auto">
          <a:xfrm>
            <a:off x="7223760" y="4233672"/>
            <a:ext cx="91440" cy="603504"/>
          </a:xfrm>
          <a:prstGeom prst="rect">
            <a:avLst/>
          </a:prstGeom>
          <a:solidFill>
            <a:srgbClr val="C9533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51644766" name="Text 19"/>
          <p:cNvSpPr/>
          <p:nvPr/>
        </p:nvSpPr>
        <p:spPr bwMode="auto">
          <a:xfrm>
            <a:off x="7470648" y="422452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C9533B"/>
                </a:solidFill>
              </a:rPr>
              <a:t>Escrow</a:t>
            </a:r>
            <a:endParaRPr lang="en-US" sz="1000"/>
          </a:p>
        </p:txBody>
      </p:sp>
      <p:sp>
        <p:nvSpPr>
          <p:cNvPr id="1927442310" name="Shape 20"/>
          <p:cNvSpPr/>
          <p:nvPr/>
        </p:nvSpPr>
        <p:spPr bwMode="auto">
          <a:xfrm>
            <a:off x="8595360" y="4160519"/>
            <a:ext cx="2651760" cy="713232"/>
          </a:xfrm>
          <a:prstGeom prst="roundRect">
            <a:avLst>
              <a:gd name="adj" fmla="val 5128"/>
            </a:avLst>
          </a:prstGeom>
          <a:solidFill>
            <a:srgbClr val="F7E4DE"/>
          </a:solidFill>
          <a:ln w="12700">
            <a:solidFill>
              <a:srgbClr val="F7E4DE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00334122" name="Text 21"/>
          <p:cNvSpPr/>
          <p:nvPr/>
        </p:nvSpPr>
        <p:spPr bwMode="auto">
          <a:xfrm>
            <a:off x="8769096" y="4325112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950">
                <a:solidFill>
                  <a:srgbClr val="16201F"/>
                </a:solidFill>
              </a:rPr>
              <a:t>Distributes advance, repayment, yield, and residual</a:t>
            </a:r>
            <a:endParaRPr lang="en-US" sz="950"/>
          </a:p>
        </p:txBody>
      </p:sp>
      <p:sp>
        <p:nvSpPr>
          <p:cNvPr id="151034241" name="Text 22"/>
          <p:cNvSpPr/>
          <p:nvPr/>
        </p:nvSpPr>
        <p:spPr bwMode="auto">
          <a:xfrm>
            <a:off x="713232" y="5001768"/>
            <a:ext cx="15087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00" b="1">
                <a:solidFill>
                  <a:srgbClr val="1F7A5C"/>
                </a:solidFill>
              </a:rPr>
              <a:t>Product principle</a:t>
            </a:r>
            <a:endParaRPr lang="en-US" sz="800"/>
          </a:p>
        </p:txBody>
      </p:sp>
      <p:sp>
        <p:nvSpPr>
          <p:cNvPr id="650808046" name="Text 23"/>
          <p:cNvSpPr/>
          <p:nvPr/>
        </p:nvSpPr>
        <p:spPr bwMode="auto">
          <a:xfrm>
            <a:off x="713232" y="526694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6201F"/>
                </a:solidFill>
              </a:rPr>
              <a:t>Make </a:t>
            </a:r>
            <a:r>
              <a:rPr lang="en-US" sz="1600" b="1" i="0" u="none" strike="noStrike" cap="none" spc="0">
                <a:solidFill>
                  <a:srgbClr val="16201F"/>
                </a:solidFill>
                <a:latin typeface="+mn-lt"/>
                <a:ea typeface="+mn-ea"/>
                <a:cs typeface="+mn-cs"/>
              </a:rPr>
              <a:t>Capital</a:t>
            </a:r>
            <a:r>
              <a:rPr lang="en-US" sz="1600" b="1">
                <a:solidFill>
                  <a:srgbClr val="16201F"/>
                </a:solidFill>
              </a:rPr>
              <a:t> Due Value is financeable.</a:t>
            </a:r>
            <a:endParaRPr lang="en-US" sz="1600"/>
          </a:p>
        </p:txBody>
      </p:sp>
      <p:sp>
        <p:nvSpPr>
          <p:cNvPr id="902421643" name="Shape 24"/>
          <p:cNvSpPr/>
          <p:nvPr/>
        </p:nvSpPr>
        <p:spPr bwMode="auto">
          <a:xfrm>
            <a:off x="502920" y="6419088"/>
            <a:ext cx="11201400" cy="0"/>
          </a:xfrm>
          <a:prstGeom prst="line">
            <a:avLst/>
          </a:prstGeom>
          <a:noFill/>
          <a:ln w="10160">
            <a:solidFill>
              <a:srgbClr val="D7DFDA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9323820" name="Text 25"/>
          <p:cNvSpPr/>
          <p:nvPr/>
        </p:nvSpPr>
        <p:spPr bwMode="auto">
          <a:xfrm>
            <a:off x="502920" y="64739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750">
                <a:solidFill>
                  <a:srgbClr val="5D6A67"/>
                </a:solidFill>
                <a:latin typeface="Aptos"/>
                <a:ea typeface="Aptos"/>
                <a:cs typeface="Aptos"/>
              </a:rPr>
              <a:t>Smart Finux Labs · Verity SCF</a:t>
            </a:r>
            <a:endParaRPr lang="en-US" sz="750"/>
          </a:p>
        </p:txBody>
      </p:sp>
      <p:sp>
        <p:nvSpPr>
          <p:cNvPr id="1978074249" name="Text 26"/>
          <p:cNvSpPr/>
          <p:nvPr/>
        </p:nvSpPr>
        <p:spPr bwMode="auto">
          <a:xfrm>
            <a:off x="1120140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750" b="1">
                <a:solidFill>
                  <a:srgbClr val="5D6A67"/>
                </a:solidFill>
                <a:latin typeface="Aptos"/>
                <a:ea typeface="Aptos"/>
                <a:cs typeface="Aptos"/>
              </a:rPr>
              <a:t>01</a:t>
            </a:r>
            <a:endParaRPr lang="en-US" sz="7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300334" name="Text 0"/>
          <p:cNvSpPr/>
          <p:nvPr/>
        </p:nvSpPr>
        <p:spPr bwMode="auto">
          <a:xfrm>
            <a:off x="548640" y="34747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00" b="1">
                <a:solidFill>
                  <a:srgbClr val="1F7A5C"/>
                </a:solidFill>
                <a:latin typeface="Aptos"/>
                <a:ea typeface="Aptos"/>
                <a:cs typeface="Aptos"/>
              </a:rPr>
              <a:t>VALUE RESOLUTION LAYER</a:t>
            </a:r>
            <a:endParaRPr lang="en-US" sz="800"/>
          </a:p>
        </p:txBody>
      </p:sp>
      <p:sp>
        <p:nvSpPr>
          <p:cNvPr id="1360283413" name="Text 1"/>
          <p:cNvSpPr/>
          <p:nvPr/>
        </p:nvSpPr>
        <p:spPr bwMode="auto">
          <a:xfrm>
            <a:off x="548640" y="621792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16201F"/>
                </a:solidFill>
                <a:latin typeface="Aptos Display"/>
                <a:ea typeface="Aptos Display"/>
                <a:cs typeface="Aptos Display"/>
              </a:rPr>
              <a:t>The platform resolves commercial value before it releases finance.</a:t>
            </a:r>
            <a:endParaRPr lang="en-US" sz="2400"/>
          </a:p>
        </p:txBody>
      </p:sp>
      <p:sp>
        <p:nvSpPr>
          <p:cNvPr id="1951829034" name="Shape 2"/>
          <p:cNvSpPr/>
          <p:nvPr/>
        </p:nvSpPr>
        <p:spPr bwMode="auto">
          <a:xfrm>
            <a:off x="685800" y="1901952"/>
            <a:ext cx="1664208" cy="960120"/>
          </a:xfrm>
          <a:prstGeom prst="roundRect">
            <a:avLst>
              <a:gd name="adj" fmla="val 3810"/>
            </a:avLst>
          </a:prstGeom>
          <a:solidFill>
            <a:srgbClr val="E9F2FA"/>
          </a:solidFill>
          <a:ln w="13970">
            <a:solidFill>
              <a:srgbClr val="244D73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3934232" name="Text 3"/>
          <p:cNvSpPr/>
          <p:nvPr/>
        </p:nvSpPr>
        <p:spPr bwMode="auto">
          <a:xfrm>
            <a:off x="795528" y="2157984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rgbClr val="244D73"/>
                </a:solidFill>
              </a:rPr>
              <a:t>REQUEST</a:t>
            </a:r>
            <a:endParaRPr lang="en-US" sz="1050"/>
          </a:p>
        </p:txBody>
      </p:sp>
      <p:sp>
        <p:nvSpPr>
          <p:cNvPr id="888598340" name="Text 4"/>
          <p:cNvSpPr/>
          <p:nvPr/>
        </p:nvSpPr>
        <p:spPr bwMode="auto">
          <a:xfrm>
            <a:off x="795528" y="24231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50">
                <a:solidFill>
                  <a:srgbClr val="16201F"/>
                </a:solidFill>
              </a:rPr>
              <a:t>PO intent</a:t>
            </a:r>
            <a:endParaRPr lang="en-US" sz="850"/>
          </a:p>
        </p:txBody>
      </p:sp>
      <p:sp>
        <p:nvSpPr>
          <p:cNvPr id="399393078" name="Shape 5"/>
          <p:cNvSpPr/>
          <p:nvPr/>
        </p:nvSpPr>
        <p:spPr bwMode="auto">
          <a:xfrm>
            <a:off x="2331720" y="2212848"/>
            <a:ext cx="329184" cy="310896"/>
          </a:xfrm>
          <a:prstGeom prst="chevron">
            <a:avLst>
              <a:gd name="adj" fmla="val 50000"/>
            </a:avLst>
          </a:prstGeom>
          <a:solidFill>
            <a:srgbClr val="D7DF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57023042" name="Shape 6"/>
          <p:cNvSpPr/>
          <p:nvPr/>
        </p:nvSpPr>
        <p:spPr bwMode="auto">
          <a:xfrm>
            <a:off x="2514600" y="1901952"/>
            <a:ext cx="1664208" cy="960120"/>
          </a:xfrm>
          <a:prstGeom prst="roundRect">
            <a:avLst>
              <a:gd name="adj" fmla="val 3810"/>
            </a:avLst>
          </a:prstGeom>
          <a:solidFill>
            <a:srgbClr val="E9F2FA"/>
          </a:solidFill>
          <a:ln w="13970">
            <a:solidFill>
              <a:srgbClr val="244D73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95318541" name="Text 7"/>
          <p:cNvSpPr/>
          <p:nvPr/>
        </p:nvSpPr>
        <p:spPr bwMode="auto">
          <a:xfrm>
            <a:off x="2624328" y="2157984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rgbClr val="244D73"/>
                </a:solidFill>
              </a:rPr>
              <a:t>DELIVER</a:t>
            </a:r>
            <a:endParaRPr lang="en-US" sz="1050"/>
          </a:p>
        </p:txBody>
      </p:sp>
      <p:sp>
        <p:nvSpPr>
          <p:cNvPr id="32674173" name="Text 8"/>
          <p:cNvSpPr/>
          <p:nvPr/>
        </p:nvSpPr>
        <p:spPr bwMode="auto">
          <a:xfrm>
            <a:off x="2624328" y="24231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50">
                <a:solidFill>
                  <a:srgbClr val="16201F"/>
                </a:solidFill>
              </a:rPr>
              <a:t>performance</a:t>
            </a:r>
            <a:endParaRPr lang="en-US" sz="850"/>
          </a:p>
        </p:txBody>
      </p:sp>
      <p:sp>
        <p:nvSpPr>
          <p:cNvPr id="1537525858" name="Shape 9"/>
          <p:cNvSpPr/>
          <p:nvPr/>
        </p:nvSpPr>
        <p:spPr bwMode="auto">
          <a:xfrm>
            <a:off x="4160519" y="2212848"/>
            <a:ext cx="329184" cy="310896"/>
          </a:xfrm>
          <a:prstGeom prst="chevron">
            <a:avLst>
              <a:gd name="adj" fmla="val 50000"/>
            </a:avLst>
          </a:prstGeom>
          <a:solidFill>
            <a:srgbClr val="D7DF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08617558" name="Shape 10"/>
          <p:cNvSpPr/>
          <p:nvPr/>
        </p:nvSpPr>
        <p:spPr bwMode="auto">
          <a:xfrm>
            <a:off x="4343400" y="1901952"/>
            <a:ext cx="1664208" cy="960120"/>
          </a:xfrm>
          <a:prstGeom prst="roundRect">
            <a:avLst>
              <a:gd name="adj" fmla="val 3810"/>
            </a:avLst>
          </a:prstGeom>
          <a:solidFill>
            <a:srgbClr val="F8E7C4"/>
          </a:solidFill>
          <a:ln w="13970">
            <a:solidFill>
              <a:srgbClr val="B9822D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81284194" name="Text 11"/>
          <p:cNvSpPr/>
          <p:nvPr/>
        </p:nvSpPr>
        <p:spPr bwMode="auto">
          <a:xfrm>
            <a:off x="4453128" y="2157984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rgbClr val="B9822D"/>
                </a:solidFill>
              </a:rPr>
              <a:t>INVOICE</a:t>
            </a:r>
            <a:endParaRPr lang="en-US" sz="1050"/>
          </a:p>
        </p:txBody>
      </p:sp>
      <p:sp>
        <p:nvSpPr>
          <p:cNvPr id="1334623598" name="Text 12"/>
          <p:cNvSpPr/>
          <p:nvPr/>
        </p:nvSpPr>
        <p:spPr bwMode="auto">
          <a:xfrm>
            <a:off x="4453128" y="24231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50">
                <a:solidFill>
                  <a:srgbClr val="16201F"/>
                </a:solidFill>
              </a:rPr>
              <a:t>Ask Value</a:t>
            </a:r>
            <a:endParaRPr lang="en-US" sz="850"/>
          </a:p>
        </p:txBody>
      </p:sp>
      <p:sp>
        <p:nvSpPr>
          <p:cNvPr id="819891214" name="Shape 13"/>
          <p:cNvSpPr/>
          <p:nvPr/>
        </p:nvSpPr>
        <p:spPr bwMode="auto">
          <a:xfrm>
            <a:off x="5989320" y="2212848"/>
            <a:ext cx="329184" cy="310896"/>
          </a:xfrm>
          <a:prstGeom prst="chevron">
            <a:avLst>
              <a:gd name="adj" fmla="val 50000"/>
            </a:avLst>
          </a:prstGeom>
          <a:solidFill>
            <a:srgbClr val="D7DF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8261847" name="Shape 14"/>
          <p:cNvSpPr/>
          <p:nvPr/>
        </p:nvSpPr>
        <p:spPr bwMode="auto">
          <a:xfrm>
            <a:off x="6172200" y="1901952"/>
            <a:ext cx="1664208" cy="960120"/>
          </a:xfrm>
          <a:prstGeom prst="roundRect">
            <a:avLst>
              <a:gd name="adj" fmla="val 3810"/>
            </a:avLst>
          </a:prstGeom>
          <a:solidFill>
            <a:srgbClr val="F8E7C4"/>
          </a:solidFill>
          <a:ln w="13970">
            <a:solidFill>
              <a:srgbClr val="B9822D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79616066" name="Text 15"/>
          <p:cNvSpPr/>
          <p:nvPr/>
        </p:nvSpPr>
        <p:spPr bwMode="auto">
          <a:xfrm>
            <a:off x="6281928" y="2157984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rgbClr val="B9822D"/>
                </a:solidFill>
              </a:rPr>
              <a:t>MATCH</a:t>
            </a:r>
            <a:endParaRPr lang="en-US" sz="1050"/>
          </a:p>
        </p:txBody>
      </p:sp>
      <p:sp>
        <p:nvSpPr>
          <p:cNvPr id="461335773" name="Text 16"/>
          <p:cNvSpPr/>
          <p:nvPr/>
        </p:nvSpPr>
        <p:spPr bwMode="auto">
          <a:xfrm>
            <a:off x="6281928" y="24231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50">
                <a:solidFill>
                  <a:srgbClr val="16201F"/>
                </a:solidFill>
              </a:rPr>
              <a:t>evidence test</a:t>
            </a:r>
            <a:endParaRPr lang="en-US" sz="850"/>
          </a:p>
        </p:txBody>
      </p:sp>
      <p:sp>
        <p:nvSpPr>
          <p:cNvPr id="453630575" name="Shape 17"/>
          <p:cNvSpPr/>
          <p:nvPr/>
        </p:nvSpPr>
        <p:spPr bwMode="auto">
          <a:xfrm>
            <a:off x="7818120" y="2212848"/>
            <a:ext cx="329184" cy="310896"/>
          </a:xfrm>
          <a:prstGeom prst="chevron">
            <a:avLst>
              <a:gd name="adj" fmla="val 50000"/>
            </a:avLst>
          </a:prstGeom>
          <a:solidFill>
            <a:srgbClr val="D7DF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01531793" name="Shape 18"/>
          <p:cNvSpPr/>
          <p:nvPr/>
        </p:nvSpPr>
        <p:spPr bwMode="auto">
          <a:xfrm>
            <a:off x="8001000" y="1901952"/>
            <a:ext cx="1664208" cy="960120"/>
          </a:xfrm>
          <a:prstGeom prst="roundRect">
            <a:avLst>
              <a:gd name="adj" fmla="val 3810"/>
            </a:avLst>
          </a:prstGeom>
          <a:solidFill>
            <a:srgbClr val="DDF3EA"/>
          </a:solidFill>
          <a:ln w="13970">
            <a:solidFill>
              <a:srgbClr val="1F7A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6205021" name="Text 19"/>
          <p:cNvSpPr/>
          <p:nvPr/>
        </p:nvSpPr>
        <p:spPr bwMode="auto">
          <a:xfrm>
            <a:off x="8110728" y="2157984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rgbClr val="1F7A5C"/>
                </a:solidFill>
              </a:rPr>
              <a:t>DUE</a:t>
            </a:r>
            <a:endParaRPr lang="en-US" sz="1050"/>
          </a:p>
        </p:txBody>
      </p:sp>
      <p:sp>
        <p:nvSpPr>
          <p:cNvPr id="1367691593" name="Text 20"/>
          <p:cNvSpPr/>
          <p:nvPr/>
        </p:nvSpPr>
        <p:spPr bwMode="auto">
          <a:xfrm>
            <a:off x="8110728" y="24231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50">
                <a:solidFill>
                  <a:srgbClr val="16201F"/>
                </a:solidFill>
              </a:rPr>
              <a:t>accepted payable</a:t>
            </a:r>
            <a:endParaRPr lang="en-US" sz="850"/>
          </a:p>
        </p:txBody>
      </p:sp>
      <p:sp>
        <p:nvSpPr>
          <p:cNvPr id="53808682" name="Shape 21"/>
          <p:cNvSpPr/>
          <p:nvPr/>
        </p:nvSpPr>
        <p:spPr bwMode="auto">
          <a:xfrm>
            <a:off x="9646920" y="2212848"/>
            <a:ext cx="329184" cy="310896"/>
          </a:xfrm>
          <a:prstGeom prst="chevron">
            <a:avLst>
              <a:gd name="adj" fmla="val 50000"/>
            </a:avLst>
          </a:prstGeom>
          <a:solidFill>
            <a:srgbClr val="D7DF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64179077" name="Shape 22"/>
          <p:cNvSpPr/>
          <p:nvPr/>
        </p:nvSpPr>
        <p:spPr bwMode="auto">
          <a:xfrm>
            <a:off x="9829800" y="1901952"/>
            <a:ext cx="1664208" cy="960120"/>
          </a:xfrm>
          <a:prstGeom prst="roundRect">
            <a:avLst>
              <a:gd name="adj" fmla="val 3810"/>
            </a:avLst>
          </a:prstGeom>
          <a:solidFill>
            <a:srgbClr val="DDF3EA"/>
          </a:solidFill>
          <a:ln w="13970">
            <a:solidFill>
              <a:srgbClr val="1F7A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52106013" name="Text 23"/>
          <p:cNvSpPr/>
          <p:nvPr/>
        </p:nvSpPr>
        <p:spPr bwMode="auto">
          <a:xfrm>
            <a:off x="9939528" y="2157984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rgbClr val="1F7A5C"/>
                </a:solidFill>
              </a:rPr>
              <a:t>SETTLE</a:t>
            </a:r>
            <a:endParaRPr lang="en-US" sz="1050"/>
          </a:p>
        </p:txBody>
      </p:sp>
      <p:sp>
        <p:nvSpPr>
          <p:cNvPr id="1713530389" name="Text 24"/>
          <p:cNvSpPr/>
          <p:nvPr/>
        </p:nvSpPr>
        <p:spPr bwMode="auto">
          <a:xfrm>
            <a:off x="9939528" y="24231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50">
                <a:solidFill>
                  <a:srgbClr val="16201F"/>
                </a:solidFill>
              </a:rPr>
              <a:t>received value</a:t>
            </a:r>
            <a:endParaRPr lang="en-US" sz="850"/>
          </a:p>
        </p:txBody>
      </p:sp>
      <p:sp>
        <p:nvSpPr>
          <p:cNvPr id="718924753" name="Shape 25"/>
          <p:cNvSpPr/>
          <p:nvPr/>
        </p:nvSpPr>
        <p:spPr bwMode="auto">
          <a:xfrm>
            <a:off x="841248" y="3767328"/>
            <a:ext cx="10378440" cy="0"/>
          </a:xfrm>
          <a:prstGeom prst="line">
            <a:avLst/>
          </a:prstGeom>
          <a:noFill/>
          <a:ln w="15240">
            <a:solidFill>
              <a:srgbClr val="D7DFDA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6625352" name="Text 26"/>
          <p:cNvSpPr/>
          <p:nvPr/>
        </p:nvSpPr>
        <p:spPr bwMode="auto">
          <a:xfrm>
            <a:off x="868680" y="4160519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244D73"/>
                </a:solidFill>
              </a:rPr>
              <a:t>Accounting truth</a:t>
            </a:r>
            <a:endParaRPr lang="en-US" sz="1250"/>
          </a:p>
        </p:txBody>
      </p:sp>
      <p:sp>
        <p:nvSpPr>
          <p:cNvPr id="304216684" name="Text 27"/>
          <p:cNvSpPr/>
          <p:nvPr/>
        </p:nvSpPr>
        <p:spPr bwMode="auto">
          <a:xfrm>
            <a:off x="868680" y="4517136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5D6A67"/>
                </a:solidFill>
              </a:rPr>
              <a:t>PO, delivery, invoice, acceptance, and payment are distinct states.</a:t>
            </a:r>
            <a:endParaRPr lang="en-US" sz="1000"/>
          </a:p>
        </p:txBody>
      </p:sp>
      <p:sp>
        <p:nvSpPr>
          <p:cNvPr id="1413123628" name="Text 28"/>
          <p:cNvSpPr/>
          <p:nvPr/>
        </p:nvSpPr>
        <p:spPr bwMode="auto">
          <a:xfrm>
            <a:off x="4617720" y="4160519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B9822D"/>
                </a:solidFill>
              </a:rPr>
              <a:t>Risk control</a:t>
            </a:r>
            <a:endParaRPr lang="en-US" sz="1250"/>
          </a:p>
        </p:txBody>
      </p:sp>
      <p:sp>
        <p:nvSpPr>
          <p:cNvPr id="1047059690" name="Text 29"/>
          <p:cNvSpPr/>
          <p:nvPr/>
        </p:nvSpPr>
        <p:spPr bwMode="auto">
          <a:xfrm>
            <a:off x="4617720" y="4517136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5D6A67"/>
                </a:solidFill>
              </a:rPr>
              <a:t>Duplicate prevention and buyer acceptance block financing of weak claims.</a:t>
            </a:r>
            <a:endParaRPr lang="en-US" sz="1000"/>
          </a:p>
        </p:txBody>
      </p:sp>
      <p:sp>
        <p:nvSpPr>
          <p:cNvPr id="1977998466" name="Text 30"/>
          <p:cNvSpPr/>
          <p:nvPr/>
        </p:nvSpPr>
        <p:spPr bwMode="auto">
          <a:xfrm>
            <a:off x="8366760" y="4160519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1F7A5C"/>
                </a:solidFill>
              </a:rPr>
              <a:t>Programmable settlement</a:t>
            </a:r>
            <a:endParaRPr lang="en-US" sz="1250"/>
          </a:p>
        </p:txBody>
      </p:sp>
      <p:sp>
        <p:nvSpPr>
          <p:cNvPr id="1728442118" name="Text 31"/>
          <p:cNvSpPr/>
          <p:nvPr/>
        </p:nvSpPr>
        <p:spPr bwMode="auto">
          <a:xfrm>
            <a:off x="8366760" y="4517136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5D6A67"/>
                </a:solidFill>
              </a:rPr>
              <a:t>USDC escrow distributes principal, yield, fees, and residual balances.</a:t>
            </a:r>
            <a:endParaRPr lang="en-US" sz="1000"/>
          </a:p>
        </p:txBody>
      </p:sp>
      <p:sp>
        <p:nvSpPr>
          <p:cNvPr id="981446579" name="Shape 32"/>
          <p:cNvSpPr/>
          <p:nvPr/>
        </p:nvSpPr>
        <p:spPr bwMode="auto">
          <a:xfrm>
            <a:off x="502920" y="6419088"/>
            <a:ext cx="11201400" cy="0"/>
          </a:xfrm>
          <a:prstGeom prst="line">
            <a:avLst/>
          </a:prstGeom>
          <a:noFill/>
          <a:ln w="10160">
            <a:solidFill>
              <a:srgbClr val="D7DFDA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79776364" name="Text 33"/>
          <p:cNvSpPr/>
          <p:nvPr/>
        </p:nvSpPr>
        <p:spPr bwMode="auto">
          <a:xfrm>
            <a:off x="502920" y="64739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750">
                <a:solidFill>
                  <a:srgbClr val="5D6A67"/>
                </a:solidFill>
                <a:latin typeface="Aptos"/>
                <a:ea typeface="Aptos"/>
                <a:cs typeface="Aptos"/>
              </a:rPr>
              <a:t>Smart Finux Labs · Verity SCF</a:t>
            </a:r>
            <a:endParaRPr lang="en-US" sz="750"/>
          </a:p>
        </p:txBody>
      </p:sp>
      <p:sp>
        <p:nvSpPr>
          <p:cNvPr id="806455649" name="Text 34"/>
          <p:cNvSpPr/>
          <p:nvPr/>
        </p:nvSpPr>
        <p:spPr bwMode="auto">
          <a:xfrm>
            <a:off x="1120140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750" b="1">
                <a:solidFill>
                  <a:srgbClr val="5D6A67"/>
                </a:solidFill>
                <a:latin typeface="Aptos"/>
                <a:ea typeface="Aptos"/>
                <a:cs typeface="Aptos"/>
              </a:rPr>
              <a:t>02</a:t>
            </a:r>
            <a:endParaRPr lang="en-US" sz="7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7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581933" name="Text 0"/>
          <p:cNvSpPr/>
          <p:nvPr/>
        </p:nvSpPr>
        <p:spPr bwMode="auto">
          <a:xfrm>
            <a:off x="548640" y="34747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00" b="1">
                <a:solidFill>
                  <a:srgbClr val="1F7A5C"/>
                </a:solidFill>
                <a:latin typeface="Aptos"/>
                <a:ea typeface="Aptos"/>
                <a:cs typeface="Aptos"/>
              </a:rPr>
              <a:t>SYSTEM VISUALIZATION</a:t>
            </a:r>
            <a:endParaRPr lang="en-US" sz="800"/>
          </a:p>
        </p:txBody>
      </p:sp>
      <p:sp>
        <p:nvSpPr>
          <p:cNvPr id="1911579479" name="Text 1"/>
          <p:cNvSpPr/>
          <p:nvPr/>
        </p:nvSpPr>
        <p:spPr bwMode="auto">
          <a:xfrm>
            <a:off x="548640" y="621792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16201F"/>
                </a:solidFill>
                <a:latin typeface="Aptos Display"/>
                <a:ea typeface="Aptos Display"/>
                <a:cs typeface="Aptos Display"/>
              </a:rPr>
              <a:t>Architecture connects invoice truth, wallet funding, and settlement execution.</a:t>
            </a:r>
            <a:endParaRPr lang="en-US" sz="2400"/>
          </a:p>
        </p:txBody>
      </p:sp>
      <p:sp>
        <p:nvSpPr>
          <p:cNvPr id="719298537" name="Shape 2"/>
          <p:cNvSpPr/>
          <p:nvPr/>
        </p:nvSpPr>
        <p:spPr bwMode="auto">
          <a:xfrm>
            <a:off x="566928" y="1408441"/>
            <a:ext cx="7909560" cy="4526280"/>
          </a:xfrm>
          <a:prstGeom prst="roundRect">
            <a:avLst>
              <a:gd name="adj" fmla="val 808"/>
            </a:avLst>
          </a:prstGeom>
          <a:solidFill>
            <a:srgbClr val="FFFFFF"/>
          </a:solidFill>
          <a:ln w="12700">
            <a:solidFill>
              <a:srgbClr val="C8D7D3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492548937" name="Image 0" descr="/Users/jhee/Workplaces/Projects/ConnextiumBootCamp/WeekofCircle/ArcCommerce/Products-SCF/Ideation/Round001/Architecture of Fianace Supply Chain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444752" y="1591056"/>
            <a:ext cx="6144768" cy="4096512"/>
          </a:xfrm>
          <a:prstGeom prst="rect">
            <a:avLst/>
          </a:prstGeom>
        </p:spPr>
      </p:pic>
      <p:sp>
        <p:nvSpPr>
          <p:cNvPr id="83401702" name="Text 3"/>
          <p:cNvSpPr/>
          <p:nvPr/>
        </p:nvSpPr>
        <p:spPr bwMode="auto">
          <a:xfrm>
            <a:off x="8796528" y="1508759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6201F"/>
                </a:solidFill>
              </a:rPr>
              <a:t>What the architecture must prove</a:t>
            </a:r>
            <a:endParaRPr lang="en-US" sz="1200"/>
          </a:p>
        </p:txBody>
      </p:sp>
      <p:sp>
        <p:nvSpPr>
          <p:cNvPr id="1318783774" name="Shape 4"/>
          <p:cNvSpPr/>
          <p:nvPr/>
        </p:nvSpPr>
        <p:spPr bwMode="auto">
          <a:xfrm>
            <a:off x="8851392" y="2043684"/>
            <a:ext cx="64008" cy="64008"/>
          </a:xfrm>
          <a:prstGeom prst="ellipse">
            <a:avLst/>
          </a:prstGeom>
          <a:solidFill>
            <a:srgbClr val="1F7A5C"/>
          </a:solidFill>
          <a:ln w="12700">
            <a:solidFill>
              <a:srgbClr val="1F7A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65487765" name="Text 5"/>
          <p:cNvSpPr/>
          <p:nvPr/>
        </p:nvSpPr>
        <p:spPr bwMode="auto">
          <a:xfrm>
            <a:off x="9015984" y="199339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16201F"/>
                </a:solidFill>
              </a:rPr>
              <a:t>Invoice claims are not financeable until buyer validation creates Due Value.</a:t>
            </a:r>
            <a:endParaRPr lang="en-US" sz="1050"/>
          </a:p>
        </p:txBody>
      </p:sp>
      <p:sp>
        <p:nvSpPr>
          <p:cNvPr id="1822469035" name="Shape 6"/>
          <p:cNvSpPr/>
          <p:nvPr/>
        </p:nvSpPr>
        <p:spPr bwMode="auto">
          <a:xfrm>
            <a:off x="8851392" y="2720340"/>
            <a:ext cx="64008" cy="64008"/>
          </a:xfrm>
          <a:prstGeom prst="ellipse">
            <a:avLst/>
          </a:prstGeom>
          <a:solidFill>
            <a:srgbClr val="1F7A5C"/>
          </a:solidFill>
          <a:ln w="12700">
            <a:solidFill>
              <a:srgbClr val="1F7A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28809916" name="Text 7"/>
          <p:cNvSpPr/>
          <p:nvPr/>
        </p:nvSpPr>
        <p:spPr bwMode="auto">
          <a:xfrm>
            <a:off x="9015984" y="26700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16201F"/>
                </a:solidFill>
              </a:rPr>
              <a:t>Circle wallets and USDC settlement make the cash movement programmable.</a:t>
            </a:r>
            <a:endParaRPr lang="en-US" sz="1050"/>
          </a:p>
        </p:txBody>
      </p:sp>
      <p:sp>
        <p:nvSpPr>
          <p:cNvPr id="478423609" name="Shape 8"/>
          <p:cNvSpPr/>
          <p:nvPr/>
        </p:nvSpPr>
        <p:spPr bwMode="auto">
          <a:xfrm>
            <a:off x="8851392" y="3396996"/>
            <a:ext cx="64008" cy="64008"/>
          </a:xfrm>
          <a:prstGeom prst="ellipse">
            <a:avLst/>
          </a:prstGeom>
          <a:solidFill>
            <a:srgbClr val="1F7A5C"/>
          </a:solidFill>
          <a:ln w="12700">
            <a:solidFill>
              <a:srgbClr val="1F7A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23159084" name="Text 9"/>
          <p:cNvSpPr/>
          <p:nvPr/>
        </p:nvSpPr>
        <p:spPr bwMode="auto">
          <a:xfrm>
            <a:off x="9015984" y="334670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16201F"/>
                </a:solidFill>
              </a:rPr>
              <a:t>Escrow state creates an auditable path from advance to maturity repayment.</a:t>
            </a:r>
            <a:endParaRPr lang="en-US" sz="1050"/>
          </a:p>
        </p:txBody>
      </p:sp>
      <p:sp>
        <p:nvSpPr>
          <p:cNvPr id="1468535779" name="Shape 10"/>
          <p:cNvSpPr/>
          <p:nvPr/>
        </p:nvSpPr>
        <p:spPr bwMode="auto">
          <a:xfrm>
            <a:off x="8851392" y="4073652"/>
            <a:ext cx="64008" cy="64008"/>
          </a:xfrm>
          <a:prstGeom prst="ellipse">
            <a:avLst/>
          </a:prstGeom>
          <a:solidFill>
            <a:srgbClr val="1F7A5C"/>
          </a:solidFill>
          <a:ln w="12700">
            <a:solidFill>
              <a:srgbClr val="1F7A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30152534" name="Text 11"/>
          <p:cNvSpPr/>
          <p:nvPr/>
        </p:nvSpPr>
        <p:spPr bwMode="auto">
          <a:xfrm>
            <a:off x="9015984" y="40233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16201F"/>
                </a:solidFill>
              </a:rPr>
              <a:t>Payment history becomes a reusable verifiable profile signal.</a:t>
            </a:r>
            <a:endParaRPr lang="en-US" sz="1050"/>
          </a:p>
        </p:txBody>
      </p:sp>
      <p:sp>
        <p:nvSpPr>
          <p:cNvPr id="766562687" name="Shape 12"/>
          <p:cNvSpPr/>
          <p:nvPr/>
        </p:nvSpPr>
        <p:spPr bwMode="auto">
          <a:xfrm>
            <a:off x="8732520" y="4965192"/>
            <a:ext cx="2697480" cy="676656"/>
          </a:xfrm>
          <a:prstGeom prst="roundRect">
            <a:avLst>
              <a:gd name="adj" fmla="val 5405"/>
            </a:avLst>
          </a:prstGeom>
          <a:solidFill>
            <a:srgbClr val="0E1B1A"/>
          </a:solidFill>
          <a:ln w="12700">
            <a:solidFill>
              <a:srgbClr val="0E1B1A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5745468" name="Text 13"/>
          <p:cNvSpPr/>
          <p:nvPr/>
        </p:nvSpPr>
        <p:spPr bwMode="auto">
          <a:xfrm>
            <a:off x="8942832" y="5184648"/>
            <a:ext cx="22677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FFFFFF"/>
                </a:solidFill>
              </a:rPr>
              <a:t>Required visual asset embedded</a:t>
            </a:r>
            <a:endParaRPr lang="en-US" sz="850"/>
          </a:p>
        </p:txBody>
      </p:sp>
      <p:sp>
        <p:nvSpPr>
          <p:cNvPr id="1360939164" name="Shape 14"/>
          <p:cNvSpPr/>
          <p:nvPr/>
        </p:nvSpPr>
        <p:spPr bwMode="auto">
          <a:xfrm>
            <a:off x="502920" y="6419088"/>
            <a:ext cx="11201400" cy="0"/>
          </a:xfrm>
          <a:prstGeom prst="line">
            <a:avLst/>
          </a:prstGeom>
          <a:noFill/>
          <a:ln w="10160">
            <a:solidFill>
              <a:srgbClr val="D7DFDA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2190976" name="Text 15"/>
          <p:cNvSpPr/>
          <p:nvPr/>
        </p:nvSpPr>
        <p:spPr bwMode="auto">
          <a:xfrm>
            <a:off x="502920" y="64739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750">
                <a:solidFill>
                  <a:srgbClr val="5D6A67"/>
                </a:solidFill>
                <a:latin typeface="Aptos"/>
                <a:ea typeface="Aptos"/>
                <a:cs typeface="Aptos"/>
              </a:rPr>
              <a:t>Smart Finux Labs · Verity SCF</a:t>
            </a:r>
            <a:endParaRPr lang="en-US" sz="750"/>
          </a:p>
        </p:txBody>
      </p:sp>
      <p:sp>
        <p:nvSpPr>
          <p:cNvPr id="872293445" name="Text 16"/>
          <p:cNvSpPr/>
          <p:nvPr/>
        </p:nvSpPr>
        <p:spPr bwMode="auto">
          <a:xfrm>
            <a:off x="1120140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750" b="1">
                <a:solidFill>
                  <a:srgbClr val="5D6A67"/>
                </a:solidFill>
                <a:latin typeface="Aptos"/>
                <a:ea typeface="Aptos"/>
                <a:cs typeface="Aptos"/>
              </a:rPr>
              <a:t>03</a:t>
            </a:r>
            <a:endParaRPr lang="en-US" sz="7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4814760" name="Text 0"/>
          <p:cNvSpPr/>
          <p:nvPr/>
        </p:nvSpPr>
        <p:spPr bwMode="auto">
          <a:xfrm>
            <a:off x="548640" y="34747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00" b="1">
                <a:solidFill>
                  <a:srgbClr val="1F7A5C"/>
                </a:solidFill>
                <a:latin typeface="Aptos"/>
                <a:ea typeface="Aptos"/>
                <a:cs typeface="Aptos"/>
              </a:rPr>
              <a:t>OPERATING WORKFLOW</a:t>
            </a:r>
            <a:endParaRPr lang="en-US" sz="800"/>
          </a:p>
        </p:txBody>
      </p:sp>
      <p:sp>
        <p:nvSpPr>
          <p:cNvPr id="1849202224" name="Text 1"/>
          <p:cNvSpPr/>
          <p:nvPr/>
        </p:nvSpPr>
        <p:spPr bwMode="auto">
          <a:xfrm>
            <a:off x="548640" y="621792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16201F"/>
                </a:solidFill>
                <a:latin typeface="Aptos Display"/>
                <a:ea typeface="Aptos Display"/>
                <a:cs typeface="Aptos Display"/>
              </a:rPr>
              <a:t>Three user surfaces converge on one accepted receivable marketplace.</a:t>
            </a:r>
            <a:endParaRPr lang="en-US" sz="2400"/>
          </a:p>
        </p:txBody>
      </p:sp>
      <p:sp>
        <p:nvSpPr>
          <p:cNvPr id="2030747544" name="Shape 2"/>
          <p:cNvSpPr/>
          <p:nvPr/>
        </p:nvSpPr>
        <p:spPr bwMode="auto">
          <a:xfrm>
            <a:off x="685800" y="1536192"/>
            <a:ext cx="3246120" cy="4069080"/>
          </a:xfrm>
          <a:prstGeom prst="roundRect">
            <a:avLst>
              <a:gd name="adj" fmla="val 1127"/>
            </a:avLst>
          </a:prstGeom>
          <a:solidFill>
            <a:srgbClr val="DDF3EA"/>
          </a:solidFill>
          <a:ln w="12700">
            <a:solidFill>
              <a:srgbClr val="1F7A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2492158" name="Text 3"/>
          <p:cNvSpPr/>
          <p:nvPr/>
        </p:nvSpPr>
        <p:spPr bwMode="auto">
          <a:xfrm>
            <a:off x="941832" y="181051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F7A5C"/>
                </a:solidFill>
              </a:rPr>
              <a:t>Supplier / SME</a:t>
            </a:r>
            <a:endParaRPr lang="en-US" sz="1300"/>
          </a:p>
        </p:txBody>
      </p:sp>
      <p:sp>
        <p:nvSpPr>
          <p:cNvPr id="1005797779" name="Shape 4"/>
          <p:cNvSpPr/>
          <p:nvPr/>
        </p:nvSpPr>
        <p:spPr bwMode="auto">
          <a:xfrm>
            <a:off x="978408" y="2514600"/>
            <a:ext cx="310896" cy="310896"/>
          </a:xfrm>
          <a:prstGeom prst="ellipse">
            <a:avLst/>
          </a:prstGeom>
          <a:solidFill>
            <a:srgbClr val="1F7A5C"/>
          </a:solidFill>
          <a:ln w="12700">
            <a:solidFill>
              <a:srgbClr val="1F7A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5724530" name="Text 5"/>
          <p:cNvSpPr/>
          <p:nvPr/>
        </p:nvSpPr>
        <p:spPr bwMode="auto">
          <a:xfrm>
            <a:off x="978408" y="260146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00" b="1">
                <a:solidFill>
                  <a:srgbClr val="FFFFFF"/>
                </a:solidFill>
              </a:rPr>
              <a:t>1</a:t>
            </a:r>
            <a:endParaRPr lang="en-US" sz="700"/>
          </a:p>
        </p:txBody>
      </p:sp>
      <p:sp>
        <p:nvSpPr>
          <p:cNvPr id="968116238" name="Text 6"/>
          <p:cNvSpPr/>
          <p:nvPr/>
        </p:nvSpPr>
        <p:spPr bwMode="auto">
          <a:xfrm>
            <a:off x="1435608" y="255117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16201F"/>
                </a:solidFill>
              </a:rPr>
              <a:t>Create invoice</a:t>
            </a:r>
            <a:endParaRPr lang="en-US" sz="1050"/>
          </a:p>
        </p:txBody>
      </p:sp>
      <p:sp>
        <p:nvSpPr>
          <p:cNvPr id="343263803" name="Shape 7"/>
          <p:cNvSpPr/>
          <p:nvPr/>
        </p:nvSpPr>
        <p:spPr bwMode="auto">
          <a:xfrm>
            <a:off x="978408" y="3300984"/>
            <a:ext cx="310896" cy="310896"/>
          </a:xfrm>
          <a:prstGeom prst="ellipse">
            <a:avLst/>
          </a:prstGeom>
          <a:solidFill>
            <a:srgbClr val="1F7A5C"/>
          </a:solidFill>
          <a:ln w="12700">
            <a:solidFill>
              <a:srgbClr val="1F7A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607670" name="Text 8"/>
          <p:cNvSpPr/>
          <p:nvPr/>
        </p:nvSpPr>
        <p:spPr bwMode="auto">
          <a:xfrm>
            <a:off x="978408" y="338785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00" b="1">
                <a:solidFill>
                  <a:srgbClr val="FFFFFF"/>
                </a:solidFill>
              </a:rPr>
              <a:t>2</a:t>
            </a:r>
            <a:endParaRPr lang="en-US" sz="700"/>
          </a:p>
        </p:txBody>
      </p:sp>
      <p:sp>
        <p:nvSpPr>
          <p:cNvPr id="2115287533" name="Text 9"/>
          <p:cNvSpPr/>
          <p:nvPr/>
        </p:nvSpPr>
        <p:spPr bwMode="auto">
          <a:xfrm>
            <a:off x="1435608" y="333756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16201F"/>
                </a:solidFill>
              </a:rPr>
              <a:t>Request factoring</a:t>
            </a:r>
            <a:endParaRPr lang="en-US" sz="1050"/>
          </a:p>
        </p:txBody>
      </p:sp>
      <p:sp>
        <p:nvSpPr>
          <p:cNvPr id="170371376" name="Shape 10"/>
          <p:cNvSpPr/>
          <p:nvPr/>
        </p:nvSpPr>
        <p:spPr bwMode="auto">
          <a:xfrm>
            <a:off x="978408" y="4087368"/>
            <a:ext cx="310896" cy="310896"/>
          </a:xfrm>
          <a:prstGeom prst="ellipse">
            <a:avLst/>
          </a:prstGeom>
          <a:solidFill>
            <a:srgbClr val="1F7A5C"/>
          </a:solidFill>
          <a:ln w="12700">
            <a:solidFill>
              <a:srgbClr val="1F7A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1120323" name="Text 11"/>
          <p:cNvSpPr/>
          <p:nvPr/>
        </p:nvSpPr>
        <p:spPr bwMode="auto">
          <a:xfrm>
            <a:off x="978408" y="4174235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00" b="1">
                <a:solidFill>
                  <a:srgbClr val="FFFFFF"/>
                </a:solidFill>
              </a:rPr>
              <a:t>3</a:t>
            </a:r>
            <a:endParaRPr lang="en-US" sz="700"/>
          </a:p>
        </p:txBody>
      </p:sp>
      <p:sp>
        <p:nvSpPr>
          <p:cNvPr id="302767901" name="Text 12"/>
          <p:cNvSpPr/>
          <p:nvPr/>
        </p:nvSpPr>
        <p:spPr bwMode="auto">
          <a:xfrm>
            <a:off x="1435608" y="4123944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16201F"/>
                </a:solidFill>
              </a:rPr>
              <a:t>Receive USDC advance</a:t>
            </a:r>
            <a:endParaRPr lang="en-US" sz="1050"/>
          </a:p>
        </p:txBody>
      </p:sp>
      <p:sp>
        <p:nvSpPr>
          <p:cNvPr id="218990662" name="Shape 13"/>
          <p:cNvSpPr/>
          <p:nvPr/>
        </p:nvSpPr>
        <p:spPr bwMode="auto">
          <a:xfrm>
            <a:off x="4498848" y="1536192"/>
            <a:ext cx="3246120" cy="4069080"/>
          </a:xfrm>
          <a:prstGeom prst="roundRect">
            <a:avLst>
              <a:gd name="adj" fmla="val 1127"/>
            </a:avLst>
          </a:prstGeom>
          <a:solidFill>
            <a:srgbClr val="E9F2FA"/>
          </a:solidFill>
          <a:ln w="12700">
            <a:solidFill>
              <a:srgbClr val="244D73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80999517" name="Text 14"/>
          <p:cNvSpPr/>
          <p:nvPr/>
        </p:nvSpPr>
        <p:spPr bwMode="auto">
          <a:xfrm>
            <a:off x="4754880" y="181051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244D73"/>
                </a:solidFill>
              </a:rPr>
              <a:t>Buyer / Enterprise</a:t>
            </a:r>
            <a:endParaRPr lang="en-US" sz="1300"/>
          </a:p>
        </p:txBody>
      </p:sp>
      <p:sp>
        <p:nvSpPr>
          <p:cNvPr id="860821158" name="Shape 15"/>
          <p:cNvSpPr/>
          <p:nvPr/>
        </p:nvSpPr>
        <p:spPr bwMode="auto">
          <a:xfrm>
            <a:off x="4791456" y="2514600"/>
            <a:ext cx="310896" cy="310896"/>
          </a:xfrm>
          <a:prstGeom prst="ellipse">
            <a:avLst/>
          </a:prstGeom>
          <a:solidFill>
            <a:srgbClr val="244D73"/>
          </a:solidFill>
          <a:ln w="12700">
            <a:solidFill>
              <a:srgbClr val="244D73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72534017" name="Text 16"/>
          <p:cNvSpPr/>
          <p:nvPr/>
        </p:nvSpPr>
        <p:spPr bwMode="auto">
          <a:xfrm>
            <a:off x="4791456" y="260146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00" b="1">
                <a:solidFill>
                  <a:srgbClr val="FFFFFF"/>
                </a:solidFill>
              </a:rPr>
              <a:t>1</a:t>
            </a:r>
            <a:endParaRPr lang="en-US" sz="700"/>
          </a:p>
        </p:txBody>
      </p:sp>
      <p:sp>
        <p:nvSpPr>
          <p:cNvPr id="327834354" name="Text 17"/>
          <p:cNvSpPr/>
          <p:nvPr/>
        </p:nvSpPr>
        <p:spPr bwMode="auto">
          <a:xfrm>
            <a:off x="5248656" y="255117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16201F"/>
                </a:solidFill>
              </a:rPr>
              <a:t>Review evidence</a:t>
            </a:r>
            <a:endParaRPr lang="en-US" sz="1050"/>
          </a:p>
        </p:txBody>
      </p:sp>
      <p:sp>
        <p:nvSpPr>
          <p:cNvPr id="2113899659" name="Shape 18"/>
          <p:cNvSpPr/>
          <p:nvPr/>
        </p:nvSpPr>
        <p:spPr bwMode="auto">
          <a:xfrm>
            <a:off x="4791456" y="3300984"/>
            <a:ext cx="310896" cy="310896"/>
          </a:xfrm>
          <a:prstGeom prst="ellipse">
            <a:avLst/>
          </a:prstGeom>
          <a:solidFill>
            <a:srgbClr val="244D73"/>
          </a:solidFill>
          <a:ln w="12700">
            <a:solidFill>
              <a:srgbClr val="244D73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83792329" name="Text 19"/>
          <p:cNvSpPr/>
          <p:nvPr/>
        </p:nvSpPr>
        <p:spPr bwMode="auto">
          <a:xfrm>
            <a:off x="4791456" y="338785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00" b="1">
                <a:solidFill>
                  <a:srgbClr val="FFFFFF"/>
                </a:solidFill>
              </a:rPr>
              <a:t>2</a:t>
            </a:r>
            <a:endParaRPr lang="en-US" sz="700"/>
          </a:p>
        </p:txBody>
      </p:sp>
      <p:sp>
        <p:nvSpPr>
          <p:cNvPr id="1517720922" name="Text 20"/>
          <p:cNvSpPr/>
          <p:nvPr/>
        </p:nvSpPr>
        <p:spPr bwMode="auto">
          <a:xfrm>
            <a:off x="5248656" y="333756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16201F"/>
                </a:solidFill>
              </a:rPr>
              <a:t>Accept Due Value</a:t>
            </a:r>
            <a:endParaRPr lang="en-US" sz="1050"/>
          </a:p>
        </p:txBody>
      </p:sp>
      <p:sp>
        <p:nvSpPr>
          <p:cNvPr id="1513766781" name="Shape 21"/>
          <p:cNvSpPr/>
          <p:nvPr/>
        </p:nvSpPr>
        <p:spPr bwMode="auto">
          <a:xfrm>
            <a:off x="4791456" y="4087368"/>
            <a:ext cx="310896" cy="310896"/>
          </a:xfrm>
          <a:prstGeom prst="ellipse">
            <a:avLst/>
          </a:prstGeom>
          <a:solidFill>
            <a:srgbClr val="244D73"/>
          </a:solidFill>
          <a:ln w="12700">
            <a:solidFill>
              <a:srgbClr val="244D73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617916" name="Text 22"/>
          <p:cNvSpPr/>
          <p:nvPr/>
        </p:nvSpPr>
        <p:spPr bwMode="auto">
          <a:xfrm>
            <a:off x="4791456" y="4174235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00" b="1">
                <a:solidFill>
                  <a:srgbClr val="FFFFFF"/>
                </a:solidFill>
              </a:rPr>
              <a:t>3</a:t>
            </a:r>
            <a:endParaRPr lang="en-US" sz="700"/>
          </a:p>
        </p:txBody>
      </p:sp>
      <p:sp>
        <p:nvSpPr>
          <p:cNvPr id="1412119958" name="Text 23"/>
          <p:cNvSpPr/>
          <p:nvPr/>
        </p:nvSpPr>
        <p:spPr bwMode="auto">
          <a:xfrm>
            <a:off x="5248656" y="4123944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16201F"/>
                </a:solidFill>
              </a:rPr>
              <a:t>Repay at maturity</a:t>
            </a:r>
            <a:endParaRPr lang="en-US" sz="1050"/>
          </a:p>
        </p:txBody>
      </p:sp>
      <p:sp>
        <p:nvSpPr>
          <p:cNvPr id="1822783277" name="Shape 24"/>
          <p:cNvSpPr/>
          <p:nvPr/>
        </p:nvSpPr>
        <p:spPr bwMode="auto">
          <a:xfrm>
            <a:off x="8311896" y="1536192"/>
            <a:ext cx="3246120" cy="4069080"/>
          </a:xfrm>
          <a:prstGeom prst="roundRect">
            <a:avLst>
              <a:gd name="adj" fmla="val 1127"/>
            </a:avLst>
          </a:prstGeom>
          <a:solidFill>
            <a:srgbClr val="F8E7C4"/>
          </a:solidFill>
          <a:ln w="12700">
            <a:solidFill>
              <a:srgbClr val="B9822D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84540520" name="Text 25"/>
          <p:cNvSpPr/>
          <p:nvPr/>
        </p:nvSpPr>
        <p:spPr bwMode="auto">
          <a:xfrm>
            <a:off x="8567928" y="181051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B9822D"/>
                </a:solidFill>
              </a:rPr>
              <a:t>Investor / Factor</a:t>
            </a:r>
            <a:endParaRPr lang="en-US" sz="1300"/>
          </a:p>
        </p:txBody>
      </p:sp>
      <p:sp>
        <p:nvSpPr>
          <p:cNvPr id="443029255" name="Shape 26"/>
          <p:cNvSpPr/>
          <p:nvPr/>
        </p:nvSpPr>
        <p:spPr bwMode="auto">
          <a:xfrm>
            <a:off x="8604504" y="2514600"/>
            <a:ext cx="310896" cy="310896"/>
          </a:xfrm>
          <a:prstGeom prst="ellipse">
            <a:avLst/>
          </a:prstGeom>
          <a:solidFill>
            <a:srgbClr val="B9822D"/>
          </a:solidFill>
          <a:ln w="12700">
            <a:solidFill>
              <a:srgbClr val="B9822D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51966822" name="Text 27"/>
          <p:cNvSpPr/>
          <p:nvPr/>
        </p:nvSpPr>
        <p:spPr bwMode="auto">
          <a:xfrm>
            <a:off x="8604504" y="260146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00" b="1">
                <a:solidFill>
                  <a:srgbClr val="FFFFFF"/>
                </a:solidFill>
              </a:rPr>
              <a:t>1</a:t>
            </a:r>
            <a:endParaRPr lang="en-US" sz="700"/>
          </a:p>
        </p:txBody>
      </p:sp>
      <p:sp>
        <p:nvSpPr>
          <p:cNvPr id="750632547" name="Text 28"/>
          <p:cNvSpPr/>
          <p:nvPr/>
        </p:nvSpPr>
        <p:spPr bwMode="auto">
          <a:xfrm>
            <a:off x="9061704" y="255117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16201F"/>
                </a:solidFill>
              </a:rPr>
              <a:t>Discover receivable</a:t>
            </a:r>
            <a:endParaRPr lang="en-US" sz="1050"/>
          </a:p>
        </p:txBody>
      </p:sp>
      <p:sp>
        <p:nvSpPr>
          <p:cNvPr id="500987040" name="Shape 29"/>
          <p:cNvSpPr/>
          <p:nvPr/>
        </p:nvSpPr>
        <p:spPr bwMode="auto">
          <a:xfrm>
            <a:off x="8604504" y="3300984"/>
            <a:ext cx="310896" cy="310896"/>
          </a:xfrm>
          <a:prstGeom prst="ellipse">
            <a:avLst/>
          </a:prstGeom>
          <a:solidFill>
            <a:srgbClr val="B9822D"/>
          </a:solidFill>
          <a:ln w="12700">
            <a:solidFill>
              <a:srgbClr val="B9822D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72669511" name="Text 30"/>
          <p:cNvSpPr/>
          <p:nvPr/>
        </p:nvSpPr>
        <p:spPr bwMode="auto">
          <a:xfrm>
            <a:off x="8604504" y="338785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00" b="1">
                <a:solidFill>
                  <a:srgbClr val="FFFFFF"/>
                </a:solidFill>
              </a:rPr>
              <a:t>2</a:t>
            </a:r>
            <a:endParaRPr lang="en-US" sz="700"/>
          </a:p>
        </p:txBody>
      </p:sp>
      <p:sp>
        <p:nvSpPr>
          <p:cNvPr id="377209929" name="Text 31"/>
          <p:cNvSpPr/>
          <p:nvPr/>
        </p:nvSpPr>
        <p:spPr bwMode="auto">
          <a:xfrm>
            <a:off x="9061704" y="333756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16201F"/>
                </a:solidFill>
              </a:rPr>
              <a:t>Fund escrow</a:t>
            </a:r>
            <a:endParaRPr lang="en-US" sz="1050"/>
          </a:p>
        </p:txBody>
      </p:sp>
      <p:sp>
        <p:nvSpPr>
          <p:cNvPr id="306117404" name="Shape 32"/>
          <p:cNvSpPr/>
          <p:nvPr/>
        </p:nvSpPr>
        <p:spPr bwMode="auto">
          <a:xfrm>
            <a:off x="8604504" y="4087368"/>
            <a:ext cx="310896" cy="310896"/>
          </a:xfrm>
          <a:prstGeom prst="ellipse">
            <a:avLst/>
          </a:prstGeom>
          <a:solidFill>
            <a:srgbClr val="B9822D"/>
          </a:solidFill>
          <a:ln w="12700">
            <a:solidFill>
              <a:srgbClr val="B9822D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9800704" name="Text 33"/>
          <p:cNvSpPr/>
          <p:nvPr/>
        </p:nvSpPr>
        <p:spPr bwMode="auto">
          <a:xfrm>
            <a:off x="8604504" y="4174235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00" b="1">
                <a:solidFill>
                  <a:srgbClr val="FFFFFF"/>
                </a:solidFill>
              </a:rPr>
              <a:t>3</a:t>
            </a:r>
            <a:endParaRPr lang="en-US" sz="700"/>
          </a:p>
        </p:txBody>
      </p:sp>
      <p:sp>
        <p:nvSpPr>
          <p:cNvPr id="146463811" name="Text 34"/>
          <p:cNvSpPr/>
          <p:nvPr/>
        </p:nvSpPr>
        <p:spPr bwMode="auto">
          <a:xfrm>
            <a:off x="9061704" y="4123944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16201F"/>
                </a:solidFill>
              </a:rPr>
              <a:t>Earn principal + yield</a:t>
            </a:r>
            <a:endParaRPr lang="en-US" sz="1050"/>
          </a:p>
        </p:txBody>
      </p:sp>
      <p:sp>
        <p:nvSpPr>
          <p:cNvPr id="459567877" name="Shape 35"/>
          <p:cNvSpPr/>
          <p:nvPr/>
        </p:nvSpPr>
        <p:spPr bwMode="auto">
          <a:xfrm>
            <a:off x="3977640" y="3566160"/>
            <a:ext cx="502920" cy="0"/>
          </a:xfrm>
          <a:prstGeom prst="line">
            <a:avLst/>
          </a:prstGeom>
          <a:noFill/>
          <a:ln w="25400">
            <a:solidFill>
              <a:srgbClr val="D7DFD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5209501" name="Shape 36"/>
          <p:cNvSpPr/>
          <p:nvPr/>
        </p:nvSpPr>
        <p:spPr bwMode="auto">
          <a:xfrm>
            <a:off x="7790687" y="3566160"/>
            <a:ext cx="502920" cy="0"/>
          </a:xfrm>
          <a:prstGeom prst="line">
            <a:avLst/>
          </a:prstGeom>
          <a:noFill/>
          <a:ln w="25400">
            <a:solidFill>
              <a:srgbClr val="D7DFD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28700495" name="Text 37"/>
          <p:cNvSpPr/>
          <p:nvPr/>
        </p:nvSpPr>
        <p:spPr bwMode="auto">
          <a:xfrm>
            <a:off x="3749040" y="595314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00" b="1">
                <a:solidFill>
                  <a:srgbClr val="C9533B"/>
                </a:solidFill>
              </a:rPr>
              <a:t>Control point</a:t>
            </a:r>
            <a:endParaRPr lang="en-US" sz="800"/>
          </a:p>
        </p:txBody>
      </p:sp>
      <p:sp>
        <p:nvSpPr>
          <p:cNvPr id="316200992" name="Text 38"/>
          <p:cNvSpPr/>
          <p:nvPr/>
        </p:nvSpPr>
        <p:spPr bwMode="auto">
          <a:xfrm>
            <a:off x="4489704" y="595314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5D6A67"/>
                </a:solidFill>
              </a:rPr>
              <a:t>Accepted value is separated from face value, making the financed asset auditable.</a:t>
            </a:r>
            <a:endParaRPr lang="en-US" sz="900"/>
          </a:p>
        </p:txBody>
      </p:sp>
      <p:sp>
        <p:nvSpPr>
          <p:cNvPr id="1913567858" name="Shape 39"/>
          <p:cNvSpPr/>
          <p:nvPr/>
        </p:nvSpPr>
        <p:spPr bwMode="auto">
          <a:xfrm>
            <a:off x="502920" y="6419088"/>
            <a:ext cx="11201400" cy="0"/>
          </a:xfrm>
          <a:prstGeom prst="line">
            <a:avLst/>
          </a:prstGeom>
          <a:noFill/>
          <a:ln w="10160">
            <a:solidFill>
              <a:srgbClr val="D7DFDA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7581207" name="Text 40"/>
          <p:cNvSpPr/>
          <p:nvPr/>
        </p:nvSpPr>
        <p:spPr bwMode="auto">
          <a:xfrm>
            <a:off x="502920" y="64739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750">
                <a:solidFill>
                  <a:srgbClr val="5D6A67"/>
                </a:solidFill>
                <a:latin typeface="Aptos"/>
                <a:ea typeface="Aptos"/>
                <a:cs typeface="Aptos"/>
              </a:rPr>
              <a:t>Smart Finux Labs · Verity SCF</a:t>
            </a:r>
            <a:endParaRPr lang="en-US" sz="750"/>
          </a:p>
        </p:txBody>
      </p:sp>
      <p:sp>
        <p:nvSpPr>
          <p:cNvPr id="529121946" name="Text 41"/>
          <p:cNvSpPr/>
          <p:nvPr/>
        </p:nvSpPr>
        <p:spPr bwMode="auto">
          <a:xfrm>
            <a:off x="1120140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750" b="1">
                <a:solidFill>
                  <a:srgbClr val="5D6A67"/>
                </a:solidFill>
                <a:latin typeface="Aptos"/>
                <a:ea typeface="Aptos"/>
                <a:cs typeface="Aptos"/>
              </a:rPr>
              <a:t>04</a:t>
            </a:r>
            <a:endParaRPr lang="en-US" sz="7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9FAF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5264048" name="Text 0"/>
          <p:cNvSpPr/>
          <p:nvPr/>
        </p:nvSpPr>
        <p:spPr bwMode="auto">
          <a:xfrm>
            <a:off x="548640" y="34747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00" b="1">
                <a:solidFill>
                  <a:srgbClr val="1F7A5C"/>
                </a:solidFill>
                <a:latin typeface="Aptos"/>
                <a:ea typeface="Aptos"/>
                <a:cs typeface="Aptos"/>
              </a:rPr>
              <a:t>ROADMAP</a:t>
            </a:r>
            <a:endParaRPr lang="en-US" sz="800"/>
          </a:p>
        </p:txBody>
      </p:sp>
      <p:sp>
        <p:nvSpPr>
          <p:cNvPr id="1475019780" name="Text 1"/>
          <p:cNvSpPr/>
          <p:nvPr/>
        </p:nvSpPr>
        <p:spPr bwMode="auto">
          <a:xfrm>
            <a:off x="548640" y="621792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16201F"/>
                </a:solidFill>
                <a:latin typeface="Aptos Display"/>
                <a:ea typeface="Aptos Display"/>
                <a:cs typeface="Aptos Display"/>
              </a:rPr>
              <a:t>MVP delivery proves the full Due Value-to-settlement loop.</a:t>
            </a:r>
            <a:endParaRPr lang="en-US" sz="2400"/>
          </a:p>
        </p:txBody>
      </p:sp>
      <p:sp>
        <p:nvSpPr>
          <p:cNvPr id="113695" name="Shape 2"/>
          <p:cNvSpPr/>
          <p:nvPr/>
        </p:nvSpPr>
        <p:spPr bwMode="auto">
          <a:xfrm>
            <a:off x="1042416" y="2212848"/>
            <a:ext cx="1444752" cy="0"/>
          </a:xfrm>
          <a:prstGeom prst="line">
            <a:avLst/>
          </a:prstGeom>
          <a:noFill/>
          <a:ln w="25400">
            <a:solidFill>
              <a:srgbClr val="D7DFDA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55611883" name="Shape 3"/>
          <p:cNvSpPr/>
          <p:nvPr/>
        </p:nvSpPr>
        <p:spPr bwMode="auto">
          <a:xfrm>
            <a:off x="658368" y="1920240"/>
            <a:ext cx="713232" cy="713232"/>
          </a:xfrm>
          <a:prstGeom prst="ellipse">
            <a:avLst/>
          </a:prstGeom>
          <a:solidFill>
            <a:srgbClr val="244D73"/>
          </a:solidFill>
          <a:ln w="12700">
            <a:solidFill>
              <a:srgbClr val="244D73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83139181" name="Text 4"/>
          <p:cNvSpPr/>
          <p:nvPr/>
        </p:nvSpPr>
        <p:spPr bwMode="auto">
          <a:xfrm>
            <a:off x="658368" y="212140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</a:rPr>
              <a:t>0</a:t>
            </a:r>
            <a:endParaRPr lang="en-US" sz="1200"/>
          </a:p>
        </p:txBody>
      </p:sp>
      <p:sp>
        <p:nvSpPr>
          <p:cNvPr id="374621940" name="Text 5"/>
          <p:cNvSpPr/>
          <p:nvPr/>
        </p:nvSpPr>
        <p:spPr bwMode="auto">
          <a:xfrm>
            <a:off x="566928" y="2907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244D73"/>
                </a:solidFill>
              </a:rPr>
              <a:t>Align</a:t>
            </a:r>
            <a:endParaRPr lang="en-US" sz="1050"/>
          </a:p>
        </p:txBody>
      </p:sp>
      <p:sp>
        <p:nvSpPr>
          <p:cNvPr id="287808686" name="Text 6"/>
          <p:cNvSpPr/>
          <p:nvPr/>
        </p:nvSpPr>
        <p:spPr bwMode="auto">
          <a:xfrm>
            <a:off x="566928" y="3236976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5D6A67"/>
                </a:solidFill>
              </a:rPr>
              <a:t>schemas, roles, state machine</a:t>
            </a:r>
            <a:endParaRPr lang="en-US" sz="850"/>
          </a:p>
        </p:txBody>
      </p:sp>
      <p:sp>
        <p:nvSpPr>
          <p:cNvPr id="28054216" name="Shape 7"/>
          <p:cNvSpPr/>
          <p:nvPr/>
        </p:nvSpPr>
        <p:spPr bwMode="auto">
          <a:xfrm>
            <a:off x="2916936" y="2212848"/>
            <a:ext cx="1444752" cy="0"/>
          </a:xfrm>
          <a:prstGeom prst="line">
            <a:avLst/>
          </a:prstGeom>
          <a:noFill/>
          <a:ln w="25400">
            <a:solidFill>
              <a:srgbClr val="D7DFDA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02577956" name="Shape 8"/>
          <p:cNvSpPr/>
          <p:nvPr/>
        </p:nvSpPr>
        <p:spPr bwMode="auto">
          <a:xfrm>
            <a:off x="2532888" y="1920240"/>
            <a:ext cx="713232" cy="713232"/>
          </a:xfrm>
          <a:prstGeom prst="ellipse">
            <a:avLst/>
          </a:prstGeom>
          <a:solidFill>
            <a:srgbClr val="1F7A5C"/>
          </a:solidFill>
          <a:ln w="12700">
            <a:solidFill>
              <a:srgbClr val="1F7A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9368702" name="Text 9"/>
          <p:cNvSpPr/>
          <p:nvPr/>
        </p:nvSpPr>
        <p:spPr bwMode="auto">
          <a:xfrm>
            <a:off x="2532888" y="212140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</a:rPr>
              <a:t>1</a:t>
            </a:r>
            <a:endParaRPr lang="en-US" sz="1200"/>
          </a:p>
        </p:txBody>
      </p:sp>
      <p:sp>
        <p:nvSpPr>
          <p:cNvPr id="565796830" name="Text 10"/>
          <p:cNvSpPr/>
          <p:nvPr/>
        </p:nvSpPr>
        <p:spPr bwMode="auto">
          <a:xfrm>
            <a:off x="2441448" y="2907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1F7A5C"/>
                </a:solidFill>
              </a:rPr>
              <a:t>Invoice truth</a:t>
            </a:r>
            <a:endParaRPr lang="en-US" sz="1050"/>
          </a:p>
        </p:txBody>
      </p:sp>
      <p:sp>
        <p:nvSpPr>
          <p:cNvPr id="517767733" name="Text 11"/>
          <p:cNvSpPr/>
          <p:nvPr/>
        </p:nvSpPr>
        <p:spPr bwMode="auto">
          <a:xfrm>
            <a:off x="2441448" y="3236976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5D6A67"/>
                </a:solidFill>
              </a:rPr>
              <a:t>supplier issue + buyer acceptance</a:t>
            </a:r>
            <a:endParaRPr lang="en-US" sz="850"/>
          </a:p>
        </p:txBody>
      </p:sp>
      <p:sp>
        <p:nvSpPr>
          <p:cNvPr id="594013839" name="Shape 12"/>
          <p:cNvSpPr/>
          <p:nvPr/>
        </p:nvSpPr>
        <p:spPr bwMode="auto">
          <a:xfrm>
            <a:off x="4791456" y="2212848"/>
            <a:ext cx="1444752" cy="0"/>
          </a:xfrm>
          <a:prstGeom prst="line">
            <a:avLst/>
          </a:prstGeom>
          <a:noFill/>
          <a:ln w="25400">
            <a:solidFill>
              <a:srgbClr val="D7DFDA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84715845" name="Shape 13"/>
          <p:cNvSpPr/>
          <p:nvPr/>
        </p:nvSpPr>
        <p:spPr bwMode="auto">
          <a:xfrm>
            <a:off x="4407408" y="1920240"/>
            <a:ext cx="713232" cy="713232"/>
          </a:xfrm>
          <a:prstGeom prst="ellipse">
            <a:avLst/>
          </a:prstGeom>
          <a:solidFill>
            <a:srgbClr val="B9822D"/>
          </a:solidFill>
          <a:ln w="12700">
            <a:solidFill>
              <a:srgbClr val="B9822D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4257559" name="Text 14"/>
          <p:cNvSpPr/>
          <p:nvPr/>
        </p:nvSpPr>
        <p:spPr bwMode="auto">
          <a:xfrm>
            <a:off x="4407408" y="212140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</a:rPr>
              <a:t>2</a:t>
            </a:r>
            <a:endParaRPr lang="en-US" sz="1200"/>
          </a:p>
        </p:txBody>
      </p:sp>
      <p:sp>
        <p:nvSpPr>
          <p:cNvPr id="1426406597" name="Text 15"/>
          <p:cNvSpPr/>
          <p:nvPr/>
        </p:nvSpPr>
        <p:spPr bwMode="auto">
          <a:xfrm>
            <a:off x="4315968" y="2907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B9822D"/>
                </a:solidFill>
              </a:rPr>
              <a:t>Marketplace</a:t>
            </a:r>
            <a:endParaRPr lang="en-US" sz="1050"/>
          </a:p>
        </p:txBody>
      </p:sp>
      <p:sp>
        <p:nvSpPr>
          <p:cNvPr id="2064086078" name="Text 16"/>
          <p:cNvSpPr/>
          <p:nvPr/>
        </p:nvSpPr>
        <p:spPr bwMode="auto">
          <a:xfrm>
            <a:off x="4315968" y="3236976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5D6A67"/>
                </a:solidFill>
              </a:rPr>
              <a:t>factoring request + investor funding</a:t>
            </a:r>
            <a:endParaRPr lang="en-US" sz="850"/>
          </a:p>
        </p:txBody>
      </p:sp>
      <p:sp>
        <p:nvSpPr>
          <p:cNvPr id="2067052672" name="Shape 17"/>
          <p:cNvSpPr/>
          <p:nvPr/>
        </p:nvSpPr>
        <p:spPr bwMode="auto">
          <a:xfrm>
            <a:off x="6665976" y="2212848"/>
            <a:ext cx="1444752" cy="0"/>
          </a:xfrm>
          <a:prstGeom prst="line">
            <a:avLst/>
          </a:prstGeom>
          <a:noFill/>
          <a:ln w="25400">
            <a:solidFill>
              <a:srgbClr val="D7DFDA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9284598" name="Shape 18"/>
          <p:cNvSpPr/>
          <p:nvPr/>
        </p:nvSpPr>
        <p:spPr bwMode="auto">
          <a:xfrm>
            <a:off x="6281928" y="1920240"/>
            <a:ext cx="713232" cy="713232"/>
          </a:xfrm>
          <a:prstGeom prst="ellipse">
            <a:avLst/>
          </a:prstGeom>
          <a:solidFill>
            <a:srgbClr val="C9533B"/>
          </a:solidFill>
          <a:ln w="12700">
            <a:solidFill>
              <a:srgbClr val="C9533B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5995048" name="Text 19"/>
          <p:cNvSpPr/>
          <p:nvPr/>
        </p:nvSpPr>
        <p:spPr bwMode="auto">
          <a:xfrm>
            <a:off x="6281928" y="212140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</a:rPr>
              <a:t>3</a:t>
            </a:r>
            <a:endParaRPr lang="en-US" sz="1200"/>
          </a:p>
        </p:txBody>
      </p:sp>
      <p:sp>
        <p:nvSpPr>
          <p:cNvPr id="1644901845" name="Text 20"/>
          <p:cNvSpPr/>
          <p:nvPr/>
        </p:nvSpPr>
        <p:spPr bwMode="auto">
          <a:xfrm>
            <a:off x="6190488" y="2907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C9533B"/>
                </a:solidFill>
              </a:rPr>
              <a:t>Escrow</a:t>
            </a:r>
            <a:endParaRPr lang="en-US" sz="1050"/>
          </a:p>
        </p:txBody>
      </p:sp>
      <p:sp>
        <p:nvSpPr>
          <p:cNvPr id="482853247" name="Text 21"/>
          <p:cNvSpPr/>
          <p:nvPr/>
        </p:nvSpPr>
        <p:spPr bwMode="auto">
          <a:xfrm>
            <a:off x="6190488" y="3236976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5D6A67"/>
                </a:solidFill>
              </a:rPr>
              <a:t>advance, retention, maturity settlement</a:t>
            </a:r>
            <a:endParaRPr lang="en-US" sz="850"/>
          </a:p>
        </p:txBody>
      </p:sp>
      <p:sp>
        <p:nvSpPr>
          <p:cNvPr id="1268259395" name="Shape 22"/>
          <p:cNvSpPr/>
          <p:nvPr/>
        </p:nvSpPr>
        <p:spPr bwMode="auto">
          <a:xfrm>
            <a:off x="8540496" y="2212848"/>
            <a:ext cx="1444752" cy="0"/>
          </a:xfrm>
          <a:prstGeom prst="line">
            <a:avLst/>
          </a:prstGeom>
          <a:noFill/>
          <a:ln w="25400">
            <a:solidFill>
              <a:srgbClr val="D7DFDA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971615" name="Shape 23"/>
          <p:cNvSpPr/>
          <p:nvPr/>
        </p:nvSpPr>
        <p:spPr bwMode="auto">
          <a:xfrm>
            <a:off x="8156448" y="1920240"/>
            <a:ext cx="713232" cy="713232"/>
          </a:xfrm>
          <a:prstGeom prst="ellipse">
            <a:avLst/>
          </a:prstGeom>
          <a:solidFill>
            <a:srgbClr val="244D73"/>
          </a:solidFill>
          <a:ln w="12700">
            <a:solidFill>
              <a:srgbClr val="244D73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58998773" name="Text 24"/>
          <p:cNvSpPr/>
          <p:nvPr/>
        </p:nvSpPr>
        <p:spPr bwMode="auto">
          <a:xfrm>
            <a:off x="8156448" y="212140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</a:rPr>
              <a:t>4</a:t>
            </a:r>
            <a:endParaRPr lang="en-US" sz="1200"/>
          </a:p>
        </p:txBody>
      </p:sp>
      <p:sp>
        <p:nvSpPr>
          <p:cNvPr id="1661825271" name="Text 25"/>
          <p:cNvSpPr/>
          <p:nvPr/>
        </p:nvSpPr>
        <p:spPr bwMode="auto">
          <a:xfrm>
            <a:off x="8065008" y="2907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244D73"/>
                </a:solidFill>
              </a:rPr>
              <a:t>Risk</a:t>
            </a:r>
            <a:endParaRPr lang="en-US" sz="1050"/>
          </a:p>
        </p:txBody>
      </p:sp>
      <p:sp>
        <p:nvSpPr>
          <p:cNvPr id="1881374944" name="Text 26"/>
          <p:cNvSpPr/>
          <p:nvPr/>
        </p:nvSpPr>
        <p:spPr bwMode="auto">
          <a:xfrm>
            <a:off x="8065008" y="3236976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5D6A67"/>
                </a:solidFill>
              </a:rPr>
              <a:t>delinquency + payment profile evidence</a:t>
            </a:r>
            <a:endParaRPr lang="en-US" sz="850"/>
          </a:p>
        </p:txBody>
      </p:sp>
      <p:sp>
        <p:nvSpPr>
          <p:cNvPr id="1493755211" name="Shape 27"/>
          <p:cNvSpPr/>
          <p:nvPr/>
        </p:nvSpPr>
        <p:spPr bwMode="auto">
          <a:xfrm>
            <a:off x="10415016" y="2212848"/>
            <a:ext cx="0" cy="0"/>
          </a:xfrm>
          <a:prstGeom prst="line">
            <a:avLst/>
          </a:prstGeom>
          <a:noFill/>
          <a:ln w="25400">
            <a:solidFill>
              <a:srgbClr val="D7DFDA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96789578" name="Shape 28"/>
          <p:cNvSpPr/>
          <p:nvPr/>
        </p:nvSpPr>
        <p:spPr bwMode="auto">
          <a:xfrm>
            <a:off x="10030968" y="1920240"/>
            <a:ext cx="713232" cy="713232"/>
          </a:xfrm>
          <a:prstGeom prst="ellipse">
            <a:avLst/>
          </a:prstGeom>
          <a:solidFill>
            <a:srgbClr val="1F7A5C"/>
          </a:solidFill>
          <a:ln w="12700">
            <a:solidFill>
              <a:srgbClr val="1F7A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03703032" name="Text 29"/>
          <p:cNvSpPr/>
          <p:nvPr/>
        </p:nvSpPr>
        <p:spPr bwMode="auto">
          <a:xfrm>
            <a:off x="10030968" y="212140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</a:rPr>
              <a:t>5</a:t>
            </a:r>
            <a:endParaRPr lang="en-US" sz="1200"/>
          </a:p>
        </p:txBody>
      </p:sp>
      <p:sp>
        <p:nvSpPr>
          <p:cNvPr id="1808134933" name="Text 30"/>
          <p:cNvSpPr/>
          <p:nvPr/>
        </p:nvSpPr>
        <p:spPr bwMode="auto">
          <a:xfrm>
            <a:off x="9939528" y="2907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1F7A5C"/>
                </a:solidFill>
              </a:rPr>
              <a:t>Demo</a:t>
            </a:r>
            <a:endParaRPr lang="en-US" sz="1050"/>
          </a:p>
        </p:txBody>
      </p:sp>
      <p:sp>
        <p:nvSpPr>
          <p:cNvPr id="746602973" name="Text 31"/>
          <p:cNvSpPr/>
          <p:nvPr/>
        </p:nvSpPr>
        <p:spPr bwMode="auto">
          <a:xfrm>
            <a:off x="9939528" y="3236976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5D6A67"/>
                </a:solidFill>
              </a:rPr>
              <a:t>end-to-end validation and polish</a:t>
            </a:r>
            <a:endParaRPr lang="en-US" sz="850"/>
          </a:p>
        </p:txBody>
      </p:sp>
      <p:sp>
        <p:nvSpPr>
          <p:cNvPr id="1684127161" name="Shape 32"/>
          <p:cNvSpPr/>
          <p:nvPr/>
        </p:nvSpPr>
        <p:spPr bwMode="auto">
          <a:xfrm>
            <a:off x="914400" y="4645152"/>
            <a:ext cx="4800600" cy="868680"/>
          </a:xfrm>
          <a:prstGeom prst="roundRect">
            <a:avLst>
              <a:gd name="adj" fmla="val 4211"/>
            </a:avLst>
          </a:prstGeom>
          <a:solidFill>
            <a:srgbClr val="0E1B1A"/>
          </a:solidFill>
          <a:ln w="12700">
            <a:solidFill>
              <a:srgbClr val="0E1B1A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3043974" name="Text 33"/>
          <p:cNvSpPr/>
          <p:nvPr/>
        </p:nvSpPr>
        <p:spPr bwMode="auto">
          <a:xfrm>
            <a:off x="1234440" y="488289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00" b="1">
                <a:solidFill>
                  <a:srgbClr val="9EE2C5"/>
                </a:solidFill>
              </a:rPr>
              <a:t>MVP acceptance rule</a:t>
            </a:r>
            <a:endParaRPr lang="en-US" sz="800"/>
          </a:p>
        </p:txBody>
      </p:sp>
      <p:sp>
        <p:nvSpPr>
          <p:cNvPr id="1671328867" name="Text 34"/>
          <p:cNvSpPr/>
          <p:nvPr/>
        </p:nvSpPr>
        <p:spPr bwMode="auto">
          <a:xfrm>
            <a:off x="2816352" y="4809744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FFFFFF"/>
                </a:solidFill>
              </a:rPr>
              <a:t>End-to-end demo must show accepted Due Value financed, advanced, repaid, and reconciled.</a:t>
            </a:r>
            <a:endParaRPr lang="en-US" sz="1000"/>
          </a:p>
        </p:txBody>
      </p:sp>
      <p:sp>
        <p:nvSpPr>
          <p:cNvPr id="244824920" name="Shape 35"/>
          <p:cNvSpPr/>
          <p:nvPr/>
        </p:nvSpPr>
        <p:spPr bwMode="auto">
          <a:xfrm>
            <a:off x="6144768" y="4645152"/>
            <a:ext cx="502920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DFDA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1880638" name="Text 36"/>
          <p:cNvSpPr/>
          <p:nvPr/>
        </p:nvSpPr>
        <p:spPr bwMode="auto">
          <a:xfrm>
            <a:off x="6437376" y="488289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00" b="1">
                <a:solidFill>
                  <a:srgbClr val="1F7A5C"/>
                </a:solidFill>
              </a:rPr>
              <a:t>Traceability</a:t>
            </a:r>
            <a:endParaRPr lang="en-US" sz="800"/>
          </a:p>
        </p:txBody>
      </p:sp>
      <p:sp>
        <p:nvSpPr>
          <p:cNvPr id="2014449773" name="Text 37"/>
          <p:cNvSpPr/>
          <p:nvPr/>
        </p:nvSpPr>
        <p:spPr bwMode="auto">
          <a:xfrm>
            <a:off x="7388352" y="4809744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6201F"/>
                </a:solidFill>
              </a:rPr>
              <a:t>Ideation -&gt; Use Cases -&gt; MVP Roadmap, with UC-001 through UC-014 validating the product thesis.</a:t>
            </a:r>
            <a:endParaRPr lang="en-US" sz="1000"/>
          </a:p>
        </p:txBody>
      </p:sp>
      <p:sp>
        <p:nvSpPr>
          <p:cNvPr id="319556874" name="Shape 38"/>
          <p:cNvSpPr/>
          <p:nvPr/>
        </p:nvSpPr>
        <p:spPr bwMode="auto">
          <a:xfrm>
            <a:off x="502920" y="6419088"/>
            <a:ext cx="11201400" cy="0"/>
          </a:xfrm>
          <a:prstGeom prst="line">
            <a:avLst/>
          </a:prstGeom>
          <a:noFill/>
          <a:ln w="10160">
            <a:solidFill>
              <a:srgbClr val="D7DFDA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3626611" name="Text 39"/>
          <p:cNvSpPr/>
          <p:nvPr/>
        </p:nvSpPr>
        <p:spPr bwMode="auto">
          <a:xfrm>
            <a:off x="502920" y="64739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750">
                <a:solidFill>
                  <a:srgbClr val="5D6A67"/>
                </a:solidFill>
                <a:latin typeface="Aptos"/>
                <a:ea typeface="Aptos"/>
                <a:cs typeface="Aptos"/>
              </a:rPr>
              <a:t>Smart Finux Labs · Verity SCF</a:t>
            </a:r>
            <a:endParaRPr lang="en-US" sz="750"/>
          </a:p>
        </p:txBody>
      </p:sp>
      <p:sp>
        <p:nvSpPr>
          <p:cNvPr id="951837087" name="Text 40"/>
          <p:cNvSpPr/>
          <p:nvPr/>
        </p:nvSpPr>
        <p:spPr bwMode="auto">
          <a:xfrm>
            <a:off x="1120140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750" b="1">
                <a:solidFill>
                  <a:srgbClr val="5D6A67"/>
                </a:solidFill>
                <a:latin typeface="Aptos"/>
                <a:ea typeface="Aptos"/>
                <a:cs typeface="Aptos"/>
              </a:rPr>
              <a:t>05</a:t>
            </a:r>
            <a:endParaRPr lang="en-US" sz="7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ONLYOFFICE/9.2.1.43</Application>
  <PresentationFormat>On-screen Show (4:3)</PresentationFormat>
  <Paragraphs>0</Paragraphs>
  <Slides>5</Slides>
  <Notes>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Theme 1</vt:lpstr>
      <vt:lpstr>Slide 1</vt:lpstr>
      <vt:lpstr>Slide 2</vt:lpstr>
      <vt:lpstr>Slide 3</vt:lpstr>
      <vt:lpstr>Slide 4</vt:lpstr>
      <vt:lpstr>Slide 5</vt:lpstr>
    </vt:vector>
  </TitlesOfParts>
  <Company>Smart Finux Labs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Verity Supply Chain Finance Overview</dc:title>
  <dc:subject>Verity on-chain supply chain finance overview</dc:subject>
  <dc:creator>Smart Finux Labs</dc:creator>
  <cp:lastModifiedBy/>
  <cp:revision>4</cp:revision>
  <dcterms:created xsi:type="dcterms:W3CDTF">2026-05-26T04:57:27Z</dcterms:created>
  <dcterms:modified xsi:type="dcterms:W3CDTF">2026-05-27T20:46:28Z</dcterms:modified>
</cp:coreProperties>
</file>