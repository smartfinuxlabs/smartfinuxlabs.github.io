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9ff2757ca74422" /><Relationship Type="http://schemas.openxmlformats.org/officeDocument/2006/relationships/extended-properties" Target="/docProps/app.xml" Id="Rf5115a33f76b44bf" /><Relationship Type="http://schemas.openxmlformats.org/officeDocument/2006/relationships/officeDocument" Target="/ppt/presentation.xml" Id="R4e5ebb41d17d4381" /></Relationships>
</file>

<file path=ppt/presentation.xml><?xml version="1.0" encoding="utf-8"?>
<p:presentation xmlns:p="http://schemas.openxmlformats.org/presentationml/2006/main">
  <p:sldMasterIdLst>
    <p:sldMasterId xmlns:r="http://schemas.openxmlformats.org/officeDocument/2006/relationships" id="2147483648" r:id="R46aa1bd8af004371"/>
  </p:sldMasterIdLst>
  <p:notesMasterIdLst>
    <p:notesMasterId xmlns:r="http://schemas.openxmlformats.org/officeDocument/2006/relationships" r:id="R93997976ace744f3"/>
  </p:notesMasterIdLst>
  <p:sldIdLst>
    <p:sldId xmlns:r="http://schemas.openxmlformats.org/officeDocument/2006/relationships" id="256" r:id="Rfe237f8506984089"/>
    <p:sldId xmlns:r="http://schemas.openxmlformats.org/officeDocument/2006/relationships" id="257" r:id="Rccd3393aa3d44bbb"/>
    <p:sldId xmlns:r="http://schemas.openxmlformats.org/officeDocument/2006/relationships" id="258" r:id="R7d5c990b28dc4c68"/>
    <p:sldId xmlns:r="http://schemas.openxmlformats.org/officeDocument/2006/relationships" id="259" r:id="R7391092be948414d"/>
    <p:sldId xmlns:r="http://schemas.openxmlformats.org/officeDocument/2006/relationships" id="260" r:id="R579fca6083684b82"/>
    <p:sldId xmlns:r="http://schemas.openxmlformats.org/officeDocument/2006/relationships" id="261" r:id="Re119a15d7ade4aff"/>
    <p:sldId xmlns:r="http://schemas.openxmlformats.org/officeDocument/2006/relationships" id="262" r:id="R30caa33833204121"/>
    <p:sldId xmlns:r="http://schemas.openxmlformats.org/officeDocument/2006/relationships" id="263" r:id="R53762bbb1b1f4f79"/>
    <p:sldId xmlns:r="http://schemas.openxmlformats.org/officeDocument/2006/relationships" id="264" r:id="R5e3da0391a1a4c56"/>
    <p:sldId xmlns:r="http://schemas.openxmlformats.org/officeDocument/2006/relationships" id="265" r:id="R76eba3c0707d4c92"/>
    <p:sldId xmlns:r="http://schemas.openxmlformats.org/officeDocument/2006/relationships" id="266" r:id="Rdf6c989fc8c344c6"/>
    <p:sldId xmlns:r="http://schemas.openxmlformats.org/officeDocument/2006/relationships" id="267" r:id="Rca1e4a777f074628"/>
    <p:sldId xmlns:r="http://schemas.openxmlformats.org/officeDocument/2006/relationships" id="268" r:id="R5d7c548547594184"/>
    <p:sldId xmlns:r="http://schemas.openxmlformats.org/officeDocument/2006/relationships" id="269" r:id="R65320a3ce5a04e30"/>
    <p:sldId xmlns:r="http://schemas.openxmlformats.org/officeDocument/2006/relationships" id="270" r:id="Rae9675619a104a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fc1e15bd914a75" /><Relationship Type="http://schemas.openxmlformats.org/officeDocument/2006/relationships/slideMaster" Target="/ppt/slideMasters/slideMaster1.xml" Id="R46aa1bd8af004371" /><Relationship Type="http://schemas.openxmlformats.org/officeDocument/2006/relationships/notesMaster" Target="/ppt/notesMasters/notesMaster1.xml" Id="R93997976ace744f3" /><Relationship Type="http://schemas.openxmlformats.org/officeDocument/2006/relationships/presProps" Target="/ppt/presProps.xml" Id="Rdfea60fff651407d" /><Relationship Type="http://schemas.openxmlformats.org/officeDocument/2006/relationships/tableStyles" Target="/ppt/tableStyles.xml" Id="Rb54cedcbdc684a2c" /><Relationship Type="http://schemas.openxmlformats.org/officeDocument/2006/relationships/slide" Target="/ppt/slides/slide1.xml" Id="Rfe237f8506984089" /><Relationship Type="http://schemas.openxmlformats.org/officeDocument/2006/relationships/slide" Target="/ppt/slides/slide2.xml" Id="Rccd3393aa3d44bbb" /><Relationship Type="http://schemas.openxmlformats.org/officeDocument/2006/relationships/slide" Target="/ppt/slides/slide3.xml" Id="R7d5c990b28dc4c68" /><Relationship Type="http://schemas.openxmlformats.org/officeDocument/2006/relationships/slide" Target="/ppt/slides/slide4.xml" Id="R7391092be948414d" /><Relationship Type="http://schemas.openxmlformats.org/officeDocument/2006/relationships/slide" Target="/ppt/slides/slide5.xml" Id="R579fca6083684b82" /><Relationship Type="http://schemas.openxmlformats.org/officeDocument/2006/relationships/slide" Target="/ppt/slides/slide6.xml" Id="Re119a15d7ade4aff" /><Relationship Type="http://schemas.openxmlformats.org/officeDocument/2006/relationships/slide" Target="/ppt/slides/slide7.xml" Id="R30caa33833204121" /><Relationship Type="http://schemas.openxmlformats.org/officeDocument/2006/relationships/slide" Target="/ppt/slides/slide8.xml" Id="R53762bbb1b1f4f79" /><Relationship Type="http://schemas.openxmlformats.org/officeDocument/2006/relationships/slide" Target="/ppt/slides/slide9.xml" Id="R5e3da0391a1a4c56" /><Relationship Type="http://schemas.openxmlformats.org/officeDocument/2006/relationships/slide" Target="/ppt/slides/slide10.xml" Id="R76eba3c0707d4c92" /><Relationship Type="http://schemas.openxmlformats.org/officeDocument/2006/relationships/slide" Target="/ppt/slides/slide11.xml" Id="Rdf6c989fc8c344c6" /><Relationship Type="http://schemas.openxmlformats.org/officeDocument/2006/relationships/slide" Target="/ppt/slides/slide12.xml" Id="Rca1e4a777f074628" /><Relationship Type="http://schemas.openxmlformats.org/officeDocument/2006/relationships/slide" Target="/ppt/slides/slide13.xml" Id="R5d7c548547594184" /><Relationship Type="http://schemas.openxmlformats.org/officeDocument/2006/relationships/slide" Target="/ppt/slides/slide14.xml" Id="R65320a3ce5a04e30" /><Relationship Type="http://schemas.openxmlformats.org/officeDocument/2006/relationships/slide" Target="/ppt/slides/slide15.xml" Id="Rae9675619a104a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60650cd37d47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7d7fb61cde44cd" /><Relationship Type="http://schemas.openxmlformats.org/officeDocument/2006/relationships/notesMaster" Target="/ppt/notesMasters/notesMaster1.xml" Id="R2b8bb0c125cf4f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3244a78cdf41ee" /><Relationship Type="http://schemas.openxmlformats.org/officeDocument/2006/relationships/notesMaster" Target="/ppt/notesMasters/notesMaster1.xml" Id="Rc0ad00ef18bd4a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8e1acfe7494c87" /><Relationship Type="http://schemas.openxmlformats.org/officeDocument/2006/relationships/notesMaster" Target="/ppt/notesMasters/notesMaster1.xml" Id="R3c6ae515c9ff4d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d3c1f46be54530" /><Relationship Type="http://schemas.openxmlformats.org/officeDocument/2006/relationships/notesMaster" Target="/ppt/notesMasters/notesMaster1.xml" Id="R778f3470fd8b44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b0b4e11c3e4f86" /><Relationship Type="http://schemas.openxmlformats.org/officeDocument/2006/relationships/notesMaster" Target="/ppt/notesMasters/notesMaster1.xml" Id="Rab6d1b6a1b354a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d7d79010aa479b" /><Relationship Type="http://schemas.openxmlformats.org/officeDocument/2006/relationships/notesMaster" Target="/ppt/notesMasters/notesMaster1.xml" Id="Rff36e7b3715441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90de0098e04871" /><Relationship Type="http://schemas.openxmlformats.org/officeDocument/2006/relationships/notesMaster" Target="/ppt/notesMasters/notesMaster1.xml" Id="R375367b70d3142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c96dc8a5d94c52" /><Relationship Type="http://schemas.openxmlformats.org/officeDocument/2006/relationships/notesMaster" Target="/ppt/notesMasters/notesMaster1.xml" Id="Reb523d1e596f4c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0e9dc07061462f" /><Relationship Type="http://schemas.openxmlformats.org/officeDocument/2006/relationships/notesMaster" Target="/ppt/notesMasters/notesMaster1.xml" Id="R8ec744ebddae4e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c9592a9744417a" /><Relationship Type="http://schemas.openxmlformats.org/officeDocument/2006/relationships/notesMaster" Target="/ppt/notesMasters/notesMaster1.xml" Id="R701eaee120ec49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786cf0394c45a1" /><Relationship Type="http://schemas.openxmlformats.org/officeDocument/2006/relationships/notesMaster" Target="/ppt/notesMasters/notesMaster1.xml" Id="R8e517ecfa9ec43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2ea8d2dda74079" /><Relationship Type="http://schemas.openxmlformats.org/officeDocument/2006/relationships/notesMaster" Target="/ppt/notesMasters/notesMaster1.xml" Id="Rd607c07641ee4e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07fe5bab7a4a92" /><Relationship Type="http://schemas.openxmlformats.org/officeDocument/2006/relationships/notesMaster" Target="/ppt/notesMasters/notesMaster1.xml" Id="R350c3c589eec4d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49ef0e168f48f3" /><Relationship Type="http://schemas.openxmlformats.org/officeDocument/2006/relationships/notesMaster" Target="/ppt/notesMasters/notesMaster1.xml" Id="R059a2f9af19043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0e9ac0ae4c40d9" /><Relationship Type="http://schemas.openxmlformats.org/officeDocument/2006/relationships/notesMaster" Target="/ppt/notesMasters/notesMaster1.xml" Id="Rc8db1d82c3c142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D-SHARE Concept. Depository Securities Homing Access to Receipted Equity is the founder-selected brand spelling. Connextium.xyz / Finux Labs seeks US$3m to build the first production receipt programme over a proposed 24-month horizon. The concept seeks global equity access through accountable institutions and approved stablecoin funding. The programme is pre-launch. USDC/USD is the first proposed route and HSBC RedCoin/HKD access is separately gated. No issuance, partnership, authorization or live integration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Price examples illustrate whole-share purchase costs, not company valuation, expected growth or investment recommendations. A hypothetical US$300 budget cannot purchase one whole share at any of the six displayed prices. Indicative USD quote feed, 30 October 2026: NVR 5,958.56, AZO 3,169.82, LLY 1,417.54, GWW 1,359.17, BLK 1,147.54, COST 1,012.28. Quote timestamps are from 30 October 2026 UTC and were checked again on 31 October 2026. Prices can change and should be refreshed before external use. Sources: ticker-specific finance market-data feed. Supporting quote/history pages: https://nvri.gcs-web.com/stock-information/stock-quote ; https://investors.autozone.com/investor-relations/stock-information ; https://stockanalysis.com/stocks/lly/history/ ; https://www.investing.com/equities/w-w-grainger-inc-historical-data ; https://stockanalysis.com/stocks/blk/history/ ; https://stockanalysis.com/stocks/cost/history/ . Existing fractional services address affordability for many investors, with availability varying by broker, client and security: https://www.investor.gov/introduction-investing/general-resources/news-alerts/alerts-bulletins/investor-bulletins/fractional-share-investing-buying-slice-instead-whole-share. Some international brokers accept residents from many countries, subject to eligibility and verification: https://www.interactivebrokers.com/en/accounts/individual.php. Overseas investing and funding rules differ by jurisdiction. India LRS permits overseas portfolio investment within applicable rules and is one example rather than a blanket emerging-market prohibition: https://www.rbi.org.in/Scripts/BS_ViewMasDirections.aspx?id=10192. D-SHARE must establish a permitted offering and local distribution route. The examples do not imply any company affiliation with D-SHARE.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Founder-provided mission and vision. Leading Payments Engineering to Capital Markets describes Connextium.xyz / Finux Labs expanding relevant payment integration, cash/FX orchestration, accounting and reconciliation capabilities into receipt programmes. It does not claim a licensed venue or live securities operation. World Bank Global Findex 2025 reports that digital merchant payment use among adults in low- and middle-income economies rose from 35% in 2021 to 42% in 2024: https://www.worldbank.org/en/news/press-release/2025/07/16/mobile-phone-technology-powers-saving-surge-in-developing-economies. This measures payments use, not brokerage access or investable wealth. Chainalysis reports 9.8% growth in Latin America crypto economic activity in the 12 months to June 2026 against the preceding 12 months: https://www.chainalysis.com/blog/2026-global-crypto-adoption-index/. That measure extends beyond DeFi. Global on-chain activity fell 1.6% in the same report, so the regional figure cannot establish universal growth. The inference is that familiarity with wallets and stablecoins may support eligible receipt distribution. Local product permission, customer demand and economics require direct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D-SHARE expands to Depository Securities Homing Access to Receipted Equity, the founder-selected brand spelling. Concept remains highlighted because this is a proposed product. The connecting word to is outside the acronym. A receipt carries programme-defined rights linked to deposited underlying shares. An approved ratio allows a smaller unit than one underlying share. One token records one receipt unit and does not create another equity claim. A custodian holds settled backing. The issuer and registrar govern issuance, rights, transfers, distributions and cancellation. Binding documents determine dividend, voting, redemption and insolvency rights. USDC and RedCoin are proposed cash funding assets, distinct from the receipt security. Category context: https://www.bny.com/corporate/global/en/solutions/platforms/global-depositary-receipts.html. Tokenized-securities regulatory context, without choosing or authorizing a jurisdiction: https://apps.sfc.hk/edistributionWeb/api/circular/list-content?lang=EN&amp;refNo=23EC52.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1, fictional GlobalTech GT-01 illustration. Underlying share price US$1,200 and receipt ratio 0.01 share per unit give an indicative receipt value of US$12. One underlying share supports 100 receipt units. The sponsor sets programme terms and rights, the custodian supplies evidence and approved intermediaries distribute to eligible investors. This does not represent an issued or authorized GlobalTech programme. Market quotes, spreads, fees, taxes and FX can change actual execution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2, fictional GlobalTech issuance. The authorized participant delivers 1,000 settled underlying shares to the custodian. At US$1,200 per share the backing has an indicative market value of US$1.2m. This creation inventory is separate from the startup US$3m operating raise. Custody evidence precedes issuer/registrar approval. At ratio 0.01, 1,000 shares support 100,000 receipt tokens. Dual authorization governs the mint instruction and the eligible AP account receives the units. Person icons identify institutional actors, linked blocks identify the DLT system and folded documents identify transferred securities or instructions/confirmations. Each actor stays in its column. The approved holder register must prevent double issuance. Redemption cancels and burns units before releasing backing.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 fictional investor purchase. HSDR was an earlier working name for the same D-SHARE receipt unit. An eligible investor buys 25 units at US$12 each, US$300 before fees. At ratio 0.01 the programme-defined economic exposure corresponds to 0.25 underlying share. A broker/liquidity partner supplies the receipt units. At assumed USDC/USD 1.00, funding is 300 USDC. An alternative approved RedCoin route would need 2,340 RedCoin at assumed RedCoin/HKD 1.00 and 7.80 HKD/USD. These are two alternative funding routes for one security claim. Actual execution quotes, FX, charges and finality checks precede holder-register delivery. The diagram summarizes logical interactions and does not assert atomic cross-network settlement. Secondary-purchase proceeds go to the seller or liquidity partner, rather than automatically funding newly created backing. USDC and RedCoin connections remain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4, positive hypothetical scenario, not reported performance or a forecast. GlobalTech share price increases US$1,200 to US$1,320, +10%. The investor keeps 25 receipts and ratio 0.01 stays unchanged. Indicative unit value rises US$12 to US$13.20. The holding rises US$300 to US$330, an unrealized US$30 gain before charges and tax. No extra tokens arise from price growth. Actual receipt execution prices can differ from indicative backing values and a sale/settlement realizes cash. HKD reporting case: 300 × 7.80 = 2,340 initially; 330 × 7.80 = 2,574 with unchanged FX; 330 × 7.82 = 2,580.60 with hypothetical later FX. The total increase is HK$240.60 or 10.282051%, rounded 10.28%. FX adds HK$6.60 relative to unchanged-FX equity growth. Both FX rates are illustrative, not current quotes. HKMA describes the linked-rate band 7.75-7.85 HKD/USD: https://www.hkma.gov.hk/eng/key-functions/money/linked-exchange-rate-system/. Equity, FX and liquidity changes can also reduce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architecture. Investors/brokers, APs/liquidity providers, issuer/registrar and custody/cash/FX partners connect to the D-SHARE controller. It checks eligibility, programme rights, issuance approvals, payment-asset evidence and executable FX. A permissioned receipt register records the legally recognized receipt state when allowed by the chosen structure. Private operational records retain identity, quotes and accounting. Custodians remain authoritative for underlying shares and cash providers for their payment evidence. Minting follows confirmed backing. Receipt transfers follow agreed cash finality and recovery rules. The registry must reconcile supply, locks, cancellations and holder positions without duplicate claims. A private data store and tamper-evident evidence references support reconciliation. Contract audits, key recovery, operational ownership and exception handling are production gates. USDC/USD and RedCoin/HKD adapters are proposed. Neither network availability nor token recording alone establishes securities rights. Context: https://apps.sfc.hk/edistributionWeb/api/circular/list-content?lang=EN&amp;refNo=23EC52. Cash-asset sources: https://www.circle.com/usdc and https://www.about.hsbc.com.hk/news-and-media/hsbc-redcoin-launches-today.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uncontracted business model. Target contracting customer is an issuer or sponsor. Distribution through brokers reaches eligible investors, while APs and liquidity partners arrange inventory, creation/redemption and quotes. Setup fee assumption US$150k for each new sponsor. Annual servicing assumption 0.30% of average serviced programme assets. Variable service cost assumption 0.15%, leaving a 0.15% contribution rate before fixed operating costs. At US$100m/500m/1bn average assets, gross fees are US$0.30m/1.50m/3.00m and contribution US$0.15m/0.75m/1.50m. Setup fees are excluded from the chart. At US$1.5m annual fixed spend, the recurring break-even requirement is US$1bn average assets at the assumed net margin. The proposed competitive focus combines receipt lifecycle operations, controlled token records and approved stablecoin cash/FX adapters. Established brokers, receipt banks and tokenization providers remain alternatives. Customer diligence must validate differentiation, service quality and economics. Stablecoin/FX charges, minimum fees and pass-through terms require priced partner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distribution strategy. First route: an approved native USDC network and qualified intermediaries in selected permitted markets. Separate RedCoin workstream: seek HSBC investment-product/channel access, interface acceptance and agreed HKD/USD FX terms. No Circle or HSBC partnership is claimed. USDC reference currency is USD: https://www.circle.com/usdc. HSBC RedCoin is HKD denominated and its launch materials discuss tokenized-asset ambitions, without granting D-SHARE access: https://www.about.hsbc.com.hk/news-and-media/hsbc-redcoin-launches-today. Target one sponsor, two brokers and two liquidity providers, subject to contracts and market readiness. LP means liquidity provider. Five series averaging US$20m each produce US$100m average serviced assets, an assumption rather than a market-size estimate or demand forecast. A launch ramp can make first-year average assets much lower. The adoption case supports the financial assumptions on slide 13. Offering, eligibility, product permissions and local foreign-exchange rules continue to apply.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Management-reported source-deck progress comprises receipt concept/lifecycle models, an executable trade and ledger test harness and a target stablecoin architecture. These are design/development foundations, not completed market authorization or production certification. Proposed schedule starts at funding close: months 0-6 secure sponsor mandate and programme/cash-rail terms, months 7-12 complete accepted USDC, custody and receipt certification, months 13-24 launch and expand eligible distribution. The five-series/two-broker/two-liquidity-provider scope is a planning target. Permissions and signed partner terms determine actual timing. Principal launch risks include legal rights and distribution permission, backing/supply reconciliation, liquidity/FX, cash-asset finality, smart contracts/key control and adoption. Named institutional and internal owners must approve evidence, audits, recovery rules, exception handling and incident rehearsals before production. RedCoin access remains separately gated. Receipt inventory, required capital and settlement/FX liquidity need funded partner arrangements outside the operating envelope.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cash model, unchanged from the extended deck. USD millions: opening raise 3.00 + customer revenue 0.45 - fixed spending 2.70 - variable service costs 0.15 = 0.60 closing cash at Month 24. Year 1 assumes no revenue or asset-based variable fees and US$1.20m fixed spending, leaving US$1.80m. Year 2 assumes US$100m average serviced assets. Servicing revenue 100m × 0.30% = US$300k, plus one US$150k setup fee gives US$450k. Variable partner/service costs 100m × 0.15% = US$150k. Fixed spending US$1.50m plus variable US$0.15m gives US$1.65m total costs and US$1.20m operating cash outflow in Year 2. The result is US$0.60m cash including the US$0.30m unspent reserve. The reserve is inside the balance, not additional cash above it. No-revenue case with zero serviced assets and no variable fees leaves US$0.30m after the same fixed spending. These are assumptions rather than contracted sales or guaranteed runway. Taxes, mandatory capital, working-capital timing and partner minimums are excluded. Fixed integration/readiness allowances must not double-count variable asset-based service fees. Itemized first-two-year budget appears on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itemized budget, not vendor quotes, signed contracts, audited costs or committed hires. USD thousands. Each row shows Year 1 / Year 2 / 24-month total: engineering delivery 300/300/600, product and integration lead 150/150/300, security audit/testing 60/120/180, cloud/data/tools 45/75/120, securities counsel/programme documents 240/120/360, compliance/licensing readiness 90/150/240, operations/reconciliation 90/150/240, partner certification/testing 60/150/210, partner development/account support 120/180/300, market launch/education 45/105/150. Totals 1,200/1,500/2,700. A US$300k contingency brings the funding envelope to US$3m and remains unspent in the model. Staffing and professional-service allowances require location, rate and scope validation. Fixed readiness/integration work excludes separately modeled asset-based service fees. Underlying inventory, mandatory capital, rail minimums and settlement/FX liquidity are outside this operating envelope. Year 3 is outside the funded 24 months and needs additional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US$3m expansion raise, with 24-month proposed horizon. Functional allocation of the same itemized fixed budget: product/security US$1.2m = engineering 600k + product lead 300k + audit/testing 180k + cloud/tools 120k. Programme structuring US$0.6m = securities counsel/docs 360k + compliance/licensing readiness 240k. Partner operations US$0.45m = operations/reconciliation 240k + certification/testing 210k. Distribution US$0.45m = partner development/account support 300k + launch/education 150k. Those four groups total US$2.7m. Add US$0.3m contingency to reach US$3m. US$2.7m/24 = US$112,500 average monthly fixed spend. US$0.3m/24 = US$12,500 reserve equivalent. Together the average monthly funding envelope is US$125,000. These are averages, not fixed monthly invoices or separate spending on top of the budget. The reserve stays unallocated/unspent in the planning cash model. The ask is investment capital plus an anchor sponsor mandate and accountable custody, distribution and liquidity relationships. Inventory, mandatory capital, cash-rail minimums and settlement/FX liquidity require separate arrangements. Funding targets a production product, with market permissions and signed partner acceptance as launch gates. Website: https://connextium.xyz/.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ad69ca161541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9db6c84f3646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635e0cf73344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c35a2a32a74e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cd395d8cc04a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90fa2e0d7246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D977E4-C731-40E7-B6B5-88BEDB4D34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ABF4CE-7FE4-4EF9-8BD5-874805922A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989992-249A-460F-B170-88E7DB645D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188256-1DAC-42CA-9EDE-88C009FE6A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1408254-107E-4E1A-B8AF-DCA03A7247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5EA23C-E0DA-402B-BB4F-B94259477D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8E89B5-E6E3-43E5-A2E0-B860984A8F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6E4C40-3572-4820-A3CE-B0D7A5CCA1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CF7B56-736C-4868-9A03-0A20F8115E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75FE5A-CECE-4DEF-B7E9-6320C1D4F7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82163cc4ac4ff1" /><Relationship Type="http://schemas.openxmlformats.org/officeDocument/2006/relationships/slideLayout" Target="/ppt/slideLayouts/slideLayout1.xml" Id="R1c985a698dfc4fa1" /><Relationship Type="http://schemas.openxmlformats.org/officeDocument/2006/relationships/slideLayout" Target="/ppt/slideLayouts/slideLayout2.xml" Id="Rce13330677e34fe9" /><Relationship Type="http://schemas.openxmlformats.org/officeDocument/2006/relationships/slideLayout" Target="/ppt/slideLayouts/slideLayout3.xml" Id="R9aada4d640f047e7" /><Relationship Type="http://schemas.openxmlformats.org/officeDocument/2006/relationships/slideLayout" Target="/ppt/slideLayouts/slideLayout4.xml" Id="R76015967100f4096" /><Relationship Type="http://schemas.openxmlformats.org/officeDocument/2006/relationships/slideLayout" Target="/ppt/slideLayouts/slideLayout5.xml" Id="R29b119b0b699429f" /><Relationship Type="http://schemas.openxmlformats.org/officeDocument/2006/relationships/slideLayout" Target="/ppt/slideLayouts/slideLayout6.xml" Id="R713c586db6a248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985a698dfc4fa1"/>
    <p:sldLayoutId xmlns:r="http://schemas.openxmlformats.org/officeDocument/2006/relationships" id="2147483650" r:id="Rce13330677e34fe9"/>
    <p:sldLayoutId xmlns:r="http://schemas.openxmlformats.org/officeDocument/2006/relationships" id="2147483651" r:id="R9aada4d640f047e7"/>
    <p:sldLayoutId xmlns:r="http://schemas.openxmlformats.org/officeDocument/2006/relationships" id="2147483652" r:id="R76015967100f4096"/>
    <p:sldLayoutId xmlns:r="http://schemas.openxmlformats.org/officeDocument/2006/relationships" id="2147483653" r:id="R29b119b0b699429f"/>
    <p:sldLayoutId xmlns:r="http://schemas.openxmlformats.org/officeDocument/2006/relationships" id="2147483654" r:id="R713c586db6a248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341e0e0f354055" /><Relationship Type="http://schemas.openxmlformats.org/officeDocument/2006/relationships/image" Target="/ppt/media/image.png" Id="R2e6e283a8081424c" /><Relationship Type="http://schemas.openxmlformats.org/officeDocument/2006/relationships/notesSlide" Target="/ppt/notesSlides/notesSlide1.xml" Id="R0759173a749f43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19e6c0aca5459f" /><Relationship Type="http://schemas.openxmlformats.org/officeDocument/2006/relationships/notesSlide" Target="/ppt/notesSlides/notesSlide2.xml" Id="Rfa45b5c90e0d41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f08dc37afa43c0" /><Relationship Type="http://schemas.openxmlformats.org/officeDocument/2006/relationships/notesSlide" Target="/ppt/notesSlides/notesSlide3.xml" Id="Rab48aae565d948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fe3d38b3d14738" /><Relationship Type="http://schemas.openxmlformats.org/officeDocument/2006/relationships/notesSlide" Target="/ppt/notesSlides/notesSlide4.xml" Id="R1bc54fb5c2fa43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0dfa50f5fe4ef7" /><Relationship Type="http://schemas.openxmlformats.org/officeDocument/2006/relationships/notesSlide" Target="/ppt/notesSlides/notesSlide5.xml" Id="Ra096ab4a2ef34b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3eb6a0c95f64b1a" /><Relationship Type="http://schemas.openxmlformats.org/officeDocument/2006/relationships/notesSlide" Target="/ppt/notesSlides/notesSlide6.xml" Id="Re7de7ea80cec40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1cbaceb192a4d28" /><Relationship Type="http://schemas.openxmlformats.org/officeDocument/2006/relationships/notesSlide" Target="/ppt/notesSlides/notesSlide7.xml" Id="Re33081bdcfd844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4591ea69ba44b0" /><Relationship Type="http://schemas.openxmlformats.org/officeDocument/2006/relationships/chart" Target="/ppt/slides/charts/chart1.xml" Id="Rce19052b578e4da9" /><Relationship Type="http://schemas.openxmlformats.org/officeDocument/2006/relationships/notesSlide" Target="/ppt/notesSlides/notesSlide8.xml" Id="R0fc6735eeff147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dfe30faf95941bc" /><Relationship Type="http://schemas.openxmlformats.org/officeDocument/2006/relationships/notesSlide" Target="/ppt/notesSlides/notesSlide9.xml" Id="R78735257d2264b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2edf12b3a374e4a" /><Relationship Type="http://schemas.openxmlformats.org/officeDocument/2006/relationships/chart" Target="/ppt/slides/charts/chart2.xml" Id="R353ae948d3d94031" /><Relationship Type="http://schemas.openxmlformats.org/officeDocument/2006/relationships/notesSlide" Target="/ppt/notesSlides/notesSlide10.xml" Id="R44b3a32d237f46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5498da46c04482" /><Relationship Type="http://schemas.openxmlformats.org/officeDocument/2006/relationships/chart" Target="/ppt/slides/charts/chart3.xml" Id="Rddce6dbf003e42da" /><Relationship Type="http://schemas.openxmlformats.org/officeDocument/2006/relationships/notesSlide" Target="/ppt/notesSlides/notesSlide11.xml" Id="R8543a5f511aa49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fef429961a4760" /><Relationship Type="http://schemas.openxmlformats.org/officeDocument/2006/relationships/notesSlide" Target="/ppt/notesSlides/notesSlide12.xml" Id="Rc9e87010b6c449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32e24ecd1c444f0" /><Relationship Type="http://schemas.openxmlformats.org/officeDocument/2006/relationships/notesSlide" Target="/ppt/notesSlides/notesSlide13.xml" Id="Rd5467f756fd144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67ea540daa846aa" /><Relationship Type="http://schemas.openxmlformats.org/officeDocument/2006/relationships/notesSlide" Target="/ppt/notesSlides/notesSlide14.xml" Id="Rb49aa543e32740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95448b9ab1d43d2" /><Relationship Type="http://schemas.openxmlformats.org/officeDocument/2006/relationships/chart" Target="/ppt/slides/charts/chart4.xml" Id="R362a9b5934f8447f" /><Relationship Type="http://schemas.openxmlformats.org/officeDocument/2006/relationships/notesSlide" Target="/ppt/notesSlides/notesSlide15.xml" Id="Ra5ec0c69f04c4e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Indicative holding value</c:v>
          </c:tx>
          <c:spPr>
            <a:solidFill xmlns:a="http://schemas.openxmlformats.org/drawingml/2006/main">
              <a:srgbClr val="176C6B"/>
            </a:solidFill>
          </c:spPr>
          <c:invertIfNegative val="0"/>
          <c:cat>
            <c:strRef>
              <c:f>'Chart Data'!$A$2:$A$3</c:f>
              <c:strCache>
                <c:ptCount val="2"/>
                <c:pt idx="0">
                  <c:v>At purchase</c:v>
                </c:pt>
                <c:pt idx="1">
                  <c:v>After +10%</c:v>
                </c:pt>
              </c:strCache>
            </c:strRef>
          </c:cat>
          <c:val>
            <c:numRef>
              <c:f>'Chart Data'!$B$2:$B$3</c:f>
              <c:numCache>
                <c:formatCode>"US$"0</c:formatCode>
                <c:ptCount val="2"/>
                <c:pt idx="0">
                  <c:v>300</c:v>
                </c:pt>
                <c:pt idx="1">
                  <c:v>330</c:v>
                </c:pt>
              </c:numCache>
            </c:numRef>
          </c:val>
        </c:ser>
        <c:dLbls>
          <c:numFmt formatCode="&quot;US$&quot;0" sourceLinked="0"/>
          <c:txPr>
            <a:bodyPr xmlns:a="http://schemas.openxmlformats.org/drawingml/2006/main" anchorCtr="1"/>
            <a:lstStyle xmlns:a="http://schemas.openxmlformats.org/drawingml/2006/main"/>
            <a:p xmlns:a="http://schemas.openxmlformats.org/drawingml/2006/main">
              <a:pPr>
                <a:defRPr sz="1875" b="1">
                  <a:solidFill>
                    <a:srgbClr val="183440"/>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D7D1"/>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crossAx val="48672768"/>
      </c:catAx>
      <c:valAx>
        <c:axId val="48672768"/>
        <c:scaling>
          <c:orientation val="minMax"/>
          <c:max val="400"/>
          <c:min val="0"/>
        </c:scaling>
        <c:delete val="0"/>
        <c:axPos val="l"/>
        <c:majorGridlines>
          <c:spPr>
            <a:ln xmlns:a="http://schemas.openxmlformats.org/drawingml/2006/main" w="9525">
              <a:solidFill>
                <a:srgbClr val="CFD7D1"/>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3676D"/>
                    </a:solidFill>
                    <a:latin typeface="Arial"/>
                    <a:ea typeface="Arial"/>
                    <a:cs typeface="Arial"/>
                  </a:rPr>
                  <a:t>Holding value in USD</a:t>
                </a:r>
              </a:p>
            </c:rich>
          </c:tx>
          <c:overlay val="0"/>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title>
        <c:numFmt formatCode="&quot;US$&quot;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crossAx val="48650112"/>
        <c:crossBetween val="between"/>
        <c:majorUnit val="10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Gross fees</c:v>
          </c:tx>
          <c:spPr>
            <a:solidFill xmlns:a="http://schemas.openxmlformats.org/drawingml/2006/main">
              <a:srgbClr val="537DA1"/>
            </a:solidFill>
          </c:spPr>
          <c:invertIfNegative val="0"/>
          <c:cat>
            <c:strRef>
              <c:f>'Chart Data'!$A$2:$A$4</c:f>
              <c:strCache>
                <c:ptCount val="3"/>
                <c:pt idx="0">
                  <c:v>US$100M</c:v>
                </c:pt>
                <c:pt idx="1">
                  <c:v>US$500M</c:v>
                </c:pt>
                <c:pt idx="2">
                  <c:v>US$1,000M</c:v>
                </c:pt>
              </c:strCache>
            </c:strRef>
          </c:cat>
          <c:val>
            <c:numRef>
              <c:f>'Chart Data'!$B$2:$B$4</c:f>
              <c:numCache>
                <c:formatCode>0.0</c:formatCode>
                <c:ptCount val="3"/>
                <c:pt idx="0">
                  <c:v>0.3</c:v>
                </c:pt>
                <c:pt idx="1">
                  <c:v>1.5</c:v>
                </c:pt>
                <c:pt idx="2">
                  <c:v>3</c:v>
                </c:pt>
              </c:numCache>
            </c:numRef>
          </c:val>
        </c:ser>
        <c:ser>
          <c:idx val="1"/>
          <c:order val="1"/>
          <c:tx>
            <c:v>Contribution</c:v>
          </c:tx>
          <c:spPr>
            <a:solidFill xmlns:a="http://schemas.openxmlformats.org/drawingml/2006/main">
              <a:srgbClr val="176C6B"/>
            </a:solidFill>
          </c:spPr>
          <c:invertIfNegative val="0"/>
          <c:cat>
            <c:strRef>
              <c:f>'Chart Data'!$C$2:$C$4</c:f>
              <c:strCache>
                <c:ptCount val="3"/>
                <c:pt idx="0">
                  <c:v>US$100M</c:v>
                </c:pt>
                <c:pt idx="1">
                  <c:v>US$500M</c:v>
                </c:pt>
                <c:pt idx="2">
                  <c:v>US$1,000M</c:v>
                </c:pt>
              </c:strCache>
            </c:strRef>
          </c:cat>
          <c:val>
            <c:numRef>
              <c:f>'Chart Data'!$D$2:$D$4</c:f>
              <c:numCache>
                <c:formatCode>0.0</c:formatCode>
                <c:ptCount val="3"/>
                <c:pt idx="0">
                  <c:v>0.15</c:v>
                </c:pt>
                <c:pt idx="1">
                  <c:v>0.75</c:v>
                </c:pt>
                <c:pt idx="2">
                  <c:v>1.5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8344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53676D"/>
                    </a:solidFill>
                    <a:latin typeface="Arial"/>
                    <a:ea typeface="Arial"/>
                    <a:cs typeface="Arial"/>
                  </a:rPr>
                  <a:t>Average programme assets</a:t>
                </a:r>
              </a:p>
            </c:rich>
          </c:tx>
          <c:overlay val="0"/>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title>
        <c:numFmt formatCode="General"/>
        <c:majorTickMark val="none"/>
        <c:minorTickMark val="none"/>
        <c:spPr>
          <a:ln xmlns:a="http://schemas.openxmlformats.org/drawingml/2006/main" w="9525">
            <a:solidFill>
              <a:srgbClr val="CFD7D1"/>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crossAx val="48672768"/>
      </c:catAx>
      <c:valAx>
        <c:axId val="48672768"/>
        <c:scaling>
          <c:orientation val="minMax"/>
          <c:max val="3.6"/>
          <c:min val="0"/>
        </c:scaling>
        <c:delete val="0"/>
        <c:axPos val="l"/>
        <c:majorGridlines>
          <c:spPr>
            <a:ln xmlns:a="http://schemas.openxmlformats.org/drawingml/2006/main" w="9525">
              <a:solidFill>
                <a:srgbClr val="CFD7D1"/>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3676D"/>
                    </a:solidFill>
                    <a:latin typeface="Arial"/>
                    <a:ea typeface="Arial"/>
                    <a:cs typeface="Arial"/>
                  </a:rPr>
                  <a:t>Annual US$ millions</a:t>
                </a:r>
              </a:p>
            </c:rich>
          </c:tx>
          <c:overlay val="0"/>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title>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crossAx val="48650112"/>
        <c:crossBetween val="between"/>
        <c:majorUnit val="1"/>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440"/>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programme assets</c:v>
          </c:tx>
          <c:spPr>
            <a:solidFill xmlns:a="http://schemas.openxmlformats.org/drawingml/2006/main">
              <a:srgbClr val="176C6B"/>
            </a:solidFill>
          </c:spPr>
          <c:invertIfNegative val="0"/>
          <c:cat>
            <c:strRef>
              <c:f>'Chart Data'!$A$2:$A$4</c:f>
              <c:strCache>
                <c:ptCount val="3"/>
                <c:pt idx="0">
                  <c:v>1 series</c:v>
                </c:pt>
                <c:pt idx="1">
                  <c:v>3 series</c:v>
                </c:pt>
                <c:pt idx="2">
                  <c:v>5 series</c:v>
                </c:pt>
              </c:strCache>
            </c:strRef>
          </c:cat>
          <c:val>
            <c:numRef>
              <c:f>'Chart Data'!$B$2:$B$4</c:f>
              <c:numCache>
                <c:formatCode>0</c:formatCode>
                <c:ptCount val="3"/>
                <c:pt idx="0">
                  <c:v>20</c:v>
                </c:pt>
                <c:pt idx="1">
                  <c:v>60</c:v>
                </c:pt>
                <c:pt idx="2">
                  <c:v>100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183440"/>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D7D1"/>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crossAx val="48672768"/>
      </c:catAx>
      <c:valAx>
        <c:axId val="48672768"/>
        <c:scaling>
          <c:orientation val="minMax"/>
          <c:max val="120"/>
          <c:min val="0"/>
        </c:scaling>
        <c:delete val="0"/>
        <c:axPos val="l"/>
        <c:majorGridlines>
          <c:spPr>
            <a:ln xmlns:a="http://schemas.openxmlformats.org/drawingml/2006/main" w="9525">
              <a:solidFill>
                <a:srgbClr val="CFD7D1"/>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3676D"/>
                    </a:solidFill>
                    <a:latin typeface="Arial"/>
                    <a:ea typeface="Arial"/>
                    <a:cs typeface="Arial"/>
                  </a:rPr>
                  <a:t>Average assets (US$ millions)</a:t>
                </a:r>
              </a:p>
            </c:rich>
          </c:tx>
          <c:overlay val="0"/>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title>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75">
                <a:solidFill>
                  <a:srgbClr val="53676D"/>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USD funding allocation</c:v>
          </c:tx>
          <c:spPr>
            <a:solidFill xmlns:a="http://schemas.openxmlformats.org/drawingml/2006/main">
              <a:srgbClr val="176C6B"/>
            </a:solidFill>
          </c:spPr>
          <c:invertIfNegative val="0"/>
          <c:cat>
            <c:strRef>
              <c:f>'Chart Data'!$A$2:$A$6</c:f>
              <c:strCache>
                <c:ptCount val="5"/>
                <c:pt idx="0">
                  <c:v>Product and security (40%)</c:v>
                </c:pt>
                <c:pt idx="1">
                  <c:v>Programme structuring (20%)</c:v>
                </c:pt>
                <c:pt idx="2">
                  <c:v>Partner operations (15%)</c:v>
                </c:pt>
                <c:pt idx="3">
                  <c:v>Distribution (15%)</c:v>
                </c:pt>
                <c:pt idx="4">
                  <c:v>Contingency (10%)</c:v>
                </c:pt>
              </c:strCache>
            </c:strRef>
          </c:cat>
          <c:val>
            <c:numRef>
              <c:f>'Chart Data'!$B$2:$B$6</c:f>
              <c:numCache>
                <c:formatCode>0.0</c:formatCode>
                <c:ptCount val="5"/>
                <c:pt idx="0">
                  <c:v>1.2</c:v>
                </c:pt>
                <c:pt idx="1">
                  <c:v>0.6</c:v>
                </c:pt>
                <c:pt idx="2">
                  <c:v>0.45</c:v>
                </c:pt>
                <c:pt idx="3">
                  <c:v>0.45</c:v>
                </c:pt>
                <c:pt idx="4">
                  <c:v>0.3</c:v>
                </c:pt>
              </c:numCache>
            </c:numRef>
          </c:val>
        </c:ser>
        <c:dLbls>
          <c:numFmt formatCode="&quot;US$&quot;0.00&quot;M&quot;" sourceLinked="0"/>
          <c:txPr>
            <a:bodyPr xmlns:a="http://schemas.openxmlformats.org/drawingml/2006/main" anchorCtr="1"/>
            <a:lstStyle xmlns:a="http://schemas.openxmlformats.org/drawingml/2006/main"/>
            <a:p xmlns:a="http://schemas.openxmlformats.org/drawingml/2006/main">
              <a:pPr>
                <a:defRPr sz="1650" b="1">
                  <a:solidFill>
                    <a:srgbClr val="18344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a:solidFill>
                  <a:srgbClr val="53676D"/>
                </a:solidFill>
                <a:latin typeface="Arial"/>
                <a:ea typeface="Arial"/>
                <a:cs typeface="Arial"/>
              </a:defRPr>
            </a:pPr>
          </a:p>
        </c:txPr>
        <c:crossAx val="48672768"/>
      </c:catAx>
      <c:valAx>
        <c:axId val="48672768"/>
        <c:scaling>
          <c:orientation val="minMax"/>
          <c:max val="1.6"/>
          <c:min val="0"/>
        </c:scaling>
        <c:delete val="1"/>
        <c:axPos val="b"/>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53676D"/>
                </a:solidFill>
                <a:latin typeface="Arial"/>
                <a:ea typeface="Arial"/>
                <a:cs typeface="Arial"/>
              </a:defRPr>
            </a:pPr>
          </a:p>
        </c:txPr>
        <c:crossAx val="48650112"/>
        <c:crossBetween val="between"/>
        <c:majorUnit val="0.4"/>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8D755A0-B2A4-463F-9CD0-C0BD30E71C8B}"/>
              </a:ext>
            </a:extLst>
          </p:cNvPr>
          <p:cNvPicPr>
            <a:picLocks xmlns:a="http://schemas.openxmlformats.org/drawingml/2006/main" noChangeAspect="1"/>
          </p:cNvPicPr>
          <p:nvPr/>
        </p:nvPicPr>
        <p:blipFill>
          <a:blip xmlns:r="http://schemas.openxmlformats.org/officeDocument/2006/relationships" xmlns:a="http://schemas.openxmlformats.org/drawingml/2006/main" r:embed="R2e6e283a8081424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8E311F8-CFC8-4620-91F8-65CC42CA6E10}"/>
              </a:ext>
            </a:extLst>
          </p:cNvPr>
          <p:cNvSpPr>
            <a:spLocks xmlns:a="http://schemas.openxmlformats.org/drawingml/2006/main" noGrp="1"/>
          </p:cNvSpPr>
          <p:nvPr/>
        </p:nvSpPr>
        <p:spPr>
          <a:xfrm xmlns:a="http://schemas.openxmlformats.org/drawingml/2006/main">
            <a:off x="609600" y="438150"/>
            <a:ext cx="600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76C6B"/>
                </a:solidFill>
                <a:latin typeface="Arial"/>
                <a:ea typeface="Arial"/>
                <a:cs typeface="Arial"/>
              </a:defRPr>
            </a:defPPr>
            <a:lvl1pPr algn="l">
              <a:buNone/>
              <a:defRPr sz="1350" b="1">
                <a:solidFill>
                  <a:srgbClr val="176C6B"/>
                </a:solidFill>
                <a:latin typeface="Arial"/>
                <a:ea typeface="Arial"/>
                <a:cs typeface="Arial"/>
              </a:defRPr>
            </a:lvl1pPr>
            <a:lvl2pPr algn="l">
              <a:buNone/>
              <a:defRPr sz="1350" b="1">
                <a:solidFill>
                  <a:srgbClr val="176C6B"/>
                </a:solidFill>
                <a:latin typeface="Arial"/>
                <a:ea typeface="Arial"/>
                <a:cs typeface="Arial"/>
              </a:defRPr>
            </a:lvl2pPr>
            <a:lvl3pPr algn="l">
              <a:buNone/>
              <a:defRPr sz="1350" b="1">
                <a:solidFill>
                  <a:srgbClr val="176C6B"/>
                </a:solidFill>
                <a:latin typeface="Arial"/>
                <a:ea typeface="Arial"/>
                <a:cs typeface="Arial"/>
              </a:defRPr>
            </a:lvl3pPr>
            <a:lvl4pPr algn="l">
              <a:buNone/>
              <a:defRPr sz="1350" b="1">
                <a:solidFill>
                  <a:srgbClr val="176C6B"/>
                </a:solidFill>
                <a:latin typeface="Arial"/>
                <a:ea typeface="Arial"/>
                <a:cs typeface="Arial"/>
              </a:defRPr>
            </a:lvl4pPr>
            <a:lvl5pPr algn="l">
              <a:buNone/>
              <a:defRPr sz="1350" b="1">
                <a:solidFill>
                  <a:srgbClr val="176C6B"/>
                </a:solidFill>
                <a:latin typeface="Arial"/>
                <a:ea typeface="Arial"/>
                <a:cs typeface="Arial"/>
              </a:defRPr>
            </a:lvl5pPr>
            <a:lvl6pPr algn="l">
              <a:buNone/>
              <a:defRPr sz="1350" b="1">
                <a:solidFill>
                  <a:srgbClr val="176C6B"/>
                </a:solidFill>
                <a:latin typeface="Arial"/>
                <a:ea typeface="Arial"/>
                <a:cs typeface="Arial"/>
              </a:defRPr>
            </a:lvl6pPr>
            <a:lvl7pPr algn="l">
              <a:buNone/>
              <a:defRPr sz="1350" b="1">
                <a:solidFill>
                  <a:srgbClr val="176C6B"/>
                </a:solidFill>
                <a:latin typeface="Arial"/>
                <a:ea typeface="Arial"/>
                <a:cs typeface="Arial"/>
              </a:defRPr>
            </a:lvl7pPr>
            <a:lvl8pPr algn="l">
              <a:buNone/>
              <a:defRPr sz="1350" b="1">
                <a:solidFill>
                  <a:srgbClr val="176C6B"/>
                </a:solidFill>
                <a:latin typeface="Arial"/>
                <a:ea typeface="Arial"/>
                <a:cs typeface="Arial"/>
              </a:defRPr>
            </a:lvl8pPr>
            <a:lvl9pPr algn="l">
              <a:buNone/>
              <a:defRPr sz="1350" b="1">
                <a:solidFill>
                  <a:srgbClr val="176C6B"/>
                </a:solidFill>
                <a:latin typeface="Arial"/>
                <a:ea typeface="Arial"/>
                <a:cs typeface="Arial"/>
              </a:defRPr>
            </a:lvl9pPr>
          </a:lstStyle>
          <a:p xmlns:a="http://schemas.openxmlformats.org/drawingml/2006/main">
            <a:pPr algn="l">
              <a:buNone/>
              <a:defRPr sz="1350" b="1">
                <a:solidFill>
                  <a:srgbClr val="176C6B"/>
                </a:solidFill>
                <a:latin typeface="Arial"/>
                <a:ea typeface="Arial"/>
                <a:cs typeface="Arial"/>
              </a:defRPr>
            </a:pPr>
            <a:r>
              <a:rPr sz="1350" b="1">
                <a:solidFill>
                  <a:srgbClr val="176C6B"/>
                </a:solidFill>
                <a:latin typeface="Arial"/>
                <a:ea typeface="Arial"/>
                <a:cs typeface="Arial"/>
              </a:rPr>
              <a:t>CONNEXTIUM.XYZ / FINUX LABS</a:t>
            </a:r>
          </a:p>
        </p:txBody>
      </p:sp>
      <p:sp>
        <p:nvSpPr>
          <p:cNvPr id="3" name="text-2">
            <a:extLst xmlns:a="http://schemas.openxmlformats.org/drawingml/2006/main">
              <a:ext uri="{FF2B5EF4-FFF2-40B4-BE49-F238E27FC236}">
                <a16:creationId xmlns:a16="http://schemas.microsoft.com/office/drawing/2014/main" id="{E24856CE-891D-4CAA-A18C-8F01398405E8}"/>
              </a:ext>
            </a:extLst>
          </p:cNvPr>
          <p:cNvSpPr>
            <a:spLocks xmlns:a="http://schemas.openxmlformats.org/drawingml/2006/main" noGrp="1"/>
          </p:cNvSpPr>
          <p:nvPr/>
        </p:nvSpPr>
        <p:spPr>
          <a:xfrm xmlns:a="http://schemas.openxmlformats.org/drawingml/2006/main">
            <a:off x="609600" y="1190625"/>
            <a:ext cx="4095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600" b="1">
                <a:solidFill>
                  <a:srgbClr val="183440"/>
                </a:solidFill>
                <a:latin typeface="Arial"/>
                <a:ea typeface="Arial"/>
                <a:cs typeface="Arial"/>
              </a:defRPr>
            </a:defPPr>
            <a:lvl1pPr algn="l">
              <a:buNone/>
              <a:defRPr sz="6600" b="1">
                <a:solidFill>
                  <a:srgbClr val="183440"/>
                </a:solidFill>
                <a:latin typeface="Arial"/>
                <a:ea typeface="Arial"/>
                <a:cs typeface="Arial"/>
              </a:defRPr>
            </a:lvl1pPr>
            <a:lvl2pPr algn="l">
              <a:buNone/>
              <a:defRPr sz="6600" b="1">
                <a:solidFill>
                  <a:srgbClr val="183440"/>
                </a:solidFill>
                <a:latin typeface="Arial"/>
                <a:ea typeface="Arial"/>
                <a:cs typeface="Arial"/>
              </a:defRPr>
            </a:lvl2pPr>
            <a:lvl3pPr algn="l">
              <a:buNone/>
              <a:defRPr sz="6600" b="1">
                <a:solidFill>
                  <a:srgbClr val="183440"/>
                </a:solidFill>
                <a:latin typeface="Arial"/>
                <a:ea typeface="Arial"/>
                <a:cs typeface="Arial"/>
              </a:defRPr>
            </a:lvl3pPr>
            <a:lvl4pPr algn="l">
              <a:buNone/>
              <a:defRPr sz="6600" b="1">
                <a:solidFill>
                  <a:srgbClr val="183440"/>
                </a:solidFill>
                <a:latin typeface="Arial"/>
                <a:ea typeface="Arial"/>
                <a:cs typeface="Arial"/>
              </a:defRPr>
            </a:lvl4pPr>
            <a:lvl5pPr algn="l">
              <a:buNone/>
              <a:defRPr sz="6600" b="1">
                <a:solidFill>
                  <a:srgbClr val="183440"/>
                </a:solidFill>
                <a:latin typeface="Arial"/>
                <a:ea typeface="Arial"/>
                <a:cs typeface="Arial"/>
              </a:defRPr>
            </a:lvl5pPr>
            <a:lvl6pPr algn="l">
              <a:buNone/>
              <a:defRPr sz="6600" b="1">
                <a:solidFill>
                  <a:srgbClr val="183440"/>
                </a:solidFill>
                <a:latin typeface="Arial"/>
                <a:ea typeface="Arial"/>
                <a:cs typeface="Arial"/>
              </a:defRPr>
            </a:lvl6pPr>
            <a:lvl7pPr algn="l">
              <a:buNone/>
              <a:defRPr sz="6600" b="1">
                <a:solidFill>
                  <a:srgbClr val="183440"/>
                </a:solidFill>
                <a:latin typeface="Arial"/>
                <a:ea typeface="Arial"/>
                <a:cs typeface="Arial"/>
              </a:defRPr>
            </a:lvl7pPr>
            <a:lvl8pPr algn="l">
              <a:buNone/>
              <a:defRPr sz="6600" b="1">
                <a:solidFill>
                  <a:srgbClr val="183440"/>
                </a:solidFill>
                <a:latin typeface="Arial"/>
                <a:ea typeface="Arial"/>
                <a:cs typeface="Arial"/>
              </a:defRPr>
            </a:lvl8pPr>
            <a:lvl9pPr algn="l">
              <a:buNone/>
              <a:defRPr sz="6600" b="1">
                <a:solidFill>
                  <a:srgbClr val="183440"/>
                </a:solidFill>
                <a:latin typeface="Arial"/>
                <a:ea typeface="Arial"/>
                <a:cs typeface="Arial"/>
              </a:defRPr>
            </a:lvl9pPr>
          </a:lstStyle>
          <a:p xmlns:a="http://schemas.openxmlformats.org/drawingml/2006/main">
            <a:pPr algn="l">
              <a:buNone/>
              <a:defRPr sz="6600" b="1">
                <a:solidFill>
                  <a:srgbClr val="183440"/>
                </a:solidFill>
                <a:latin typeface="Arial"/>
                <a:ea typeface="Arial"/>
                <a:cs typeface="Arial"/>
              </a:defRPr>
            </a:pPr>
            <a:r>
              <a:rPr sz="6600" b="1">
                <a:solidFill>
                  <a:srgbClr val="183440"/>
                </a:solidFill>
                <a:latin typeface="Arial"/>
                <a:ea typeface="Arial"/>
                <a:cs typeface="Arial"/>
              </a:rPr>
              <a:t>D-SHARE</a:t>
            </a:r>
          </a:p>
        </p:txBody>
      </p:sp>
      <p:sp>
        <p:nvSpPr>
          <p:cNvPr id="4" name="text-3">
            <a:extLst xmlns:a="http://schemas.openxmlformats.org/drawingml/2006/main">
              <a:ext uri="{FF2B5EF4-FFF2-40B4-BE49-F238E27FC236}">
                <a16:creationId xmlns:a16="http://schemas.microsoft.com/office/drawing/2014/main" id="{5034BBC4-74EC-4276-9077-5B475D698251}"/>
              </a:ext>
            </a:extLst>
          </p:cNvPr>
          <p:cNvSpPr>
            <a:spLocks xmlns:a="http://schemas.openxmlformats.org/drawingml/2006/main" noGrp="1"/>
          </p:cNvSpPr>
          <p:nvPr/>
        </p:nvSpPr>
        <p:spPr>
          <a:xfrm xmlns:a="http://schemas.openxmlformats.org/drawingml/2006/main">
            <a:off x="647700" y="2371725"/>
            <a:ext cx="5953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83440"/>
                </a:solidFill>
                <a:latin typeface="Arial"/>
                <a:ea typeface="Arial"/>
                <a:cs typeface="Arial"/>
              </a:defRPr>
            </a:defPPr>
            <a:lvl1pPr algn="l">
              <a:buNone/>
              <a:defRPr sz="3225" b="1">
                <a:solidFill>
                  <a:srgbClr val="183440"/>
                </a:solidFill>
                <a:latin typeface="Arial"/>
                <a:ea typeface="Arial"/>
                <a:cs typeface="Arial"/>
              </a:defRPr>
            </a:lvl1pPr>
            <a:lvl2pPr algn="l">
              <a:buNone/>
              <a:defRPr sz="3225" b="1">
                <a:solidFill>
                  <a:srgbClr val="183440"/>
                </a:solidFill>
                <a:latin typeface="Arial"/>
                <a:ea typeface="Arial"/>
                <a:cs typeface="Arial"/>
              </a:defRPr>
            </a:lvl2pPr>
            <a:lvl3pPr algn="l">
              <a:buNone/>
              <a:defRPr sz="3225" b="1">
                <a:solidFill>
                  <a:srgbClr val="183440"/>
                </a:solidFill>
                <a:latin typeface="Arial"/>
                <a:ea typeface="Arial"/>
                <a:cs typeface="Arial"/>
              </a:defRPr>
            </a:lvl3pPr>
            <a:lvl4pPr algn="l">
              <a:buNone/>
              <a:defRPr sz="3225" b="1">
                <a:solidFill>
                  <a:srgbClr val="183440"/>
                </a:solidFill>
                <a:latin typeface="Arial"/>
                <a:ea typeface="Arial"/>
                <a:cs typeface="Arial"/>
              </a:defRPr>
            </a:lvl4pPr>
            <a:lvl5pPr algn="l">
              <a:buNone/>
              <a:defRPr sz="3225" b="1">
                <a:solidFill>
                  <a:srgbClr val="183440"/>
                </a:solidFill>
                <a:latin typeface="Arial"/>
                <a:ea typeface="Arial"/>
                <a:cs typeface="Arial"/>
              </a:defRPr>
            </a:lvl5pPr>
            <a:lvl6pPr algn="l">
              <a:buNone/>
              <a:defRPr sz="3225" b="1">
                <a:solidFill>
                  <a:srgbClr val="183440"/>
                </a:solidFill>
                <a:latin typeface="Arial"/>
                <a:ea typeface="Arial"/>
                <a:cs typeface="Arial"/>
              </a:defRPr>
            </a:lvl6pPr>
            <a:lvl7pPr algn="l">
              <a:buNone/>
              <a:defRPr sz="3225" b="1">
                <a:solidFill>
                  <a:srgbClr val="183440"/>
                </a:solidFill>
                <a:latin typeface="Arial"/>
                <a:ea typeface="Arial"/>
                <a:cs typeface="Arial"/>
              </a:defRPr>
            </a:lvl7pPr>
            <a:lvl8pPr algn="l">
              <a:buNone/>
              <a:defRPr sz="3225" b="1">
                <a:solidFill>
                  <a:srgbClr val="183440"/>
                </a:solidFill>
                <a:latin typeface="Arial"/>
                <a:ea typeface="Arial"/>
                <a:cs typeface="Arial"/>
              </a:defRPr>
            </a:lvl8pPr>
            <a:lvl9pPr algn="l">
              <a:buNone/>
              <a:defRPr sz="3225" b="1">
                <a:solidFill>
                  <a:srgbClr val="183440"/>
                </a:solidFill>
                <a:latin typeface="Arial"/>
                <a:ea typeface="Arial"/>
                <a:cs typeface="Arial"/>
              </a:defRPr>
            </a:lvl9pPr>
          </a:lstStyle>
          <a:p xmlns:a="http://schemas.openxmlformats.org/drawingml/2006/main">
            <a:pPr algn="l">
              <a:buNone/>
              <a:defRPr sz="3225" b="1">
                <a:solidFill>
                  <a:srgbClr val="183440"/>
                </a:solidFill>
                <a:latin typeface="Arial"/>
                <a:ea typeface="Arial"/>
                <a:cs typeface="Arial"/>
              </a:defRPr>
            </a:pPr>
            <a:r>
              <a:rPr sz="3225" b="1">
                <a:solidFill>
                  <a:srgbClr val="183440"/>
                </a:solidFill>
                <a:latin typeface="Arial"/>
                <a:ea typeface="Arial"/>
                <a:cs typeface="Arial"/>
              </a:rPr>
              <a:t>Global equity.</a:t>
            </a:r>
          </a:p>
          <a:p xmlns:a="http://schemas.openxmlformats.org/drawingml/2006/main">
            <a:pPr algn="l">
              <a:buNone/>
              <a:defRPr sz="3225" b="1">
                <a:solidFill>
                  <a:srgbClr val="183440"/>
                </a:solidFill>
                <a:latin typeface="Arial"/>
                <a:ea typeface="Arial"/>
                <a:cs typeface="Arial"/>
              </a:defRPr>
            </a:pPr>
            <a:r>
              <a:rPr sz="3225" b="1">
                <a:solidFill>
                  <a:srgbClr val="183440"/>
                </a:solidFill>
                <a:latin typeface="Arial"/>
                <a:ea typeface="Arial"/>
                <a:cs typeface="Arial"/>
              </a:rPr>
              <a:t>Stablecoin access.</a:t>
            </a:r>
          </a:p>
        </p:txBody>
      </p:sp>
      <p:sp>
        <p:nvSpPr>
          <p:cNvPr id="5" name="text-4">
            <a:extLst xmlns:a="http://schemas.openxmlformats.org/drawingml/2006/main">
              <a:ext uri="{FF2B5EF4-FFF2-40B4-BE49-F238E27FC236}">
                <a16:creationId xmlns:a16="http://schemas.microsoft.com/office/drawing/2014/main" id="{CA9FA760-30FC-4039-9FD5-C18303893A79}"/>
              </a:ext>
            </a:extLst>
          </p:cNvPr>
          <p:cNvSpPr>
            <a:spLocks xmlns:a="http://schemas.openxmlformats.org/drawingml/2006/main" noGrp="1"/>
          </p:cNvSpPr>
          <p:nvPr/>
        </p:nvSpPr>
        <p:spPr>
          <a:xfrm xmlns:a="http://schemas.openxmlformats.org/drawingml/2006/main">
            <a:off x="647700" y="3724275"/>
            <a:ext cx="6477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3676D"/>
                </a:solidFill>
                <a:latin typeface="Arial"/>
                <a:ea typeface="Arial"/>
                <a:cs typeface="Arial"/>
              </a:defRPr>
            </a:defPPr>
            <a:lvl1pPr algn="l">
              <a:buNone/>
              <a:defRPr sz="2025" b="0">
                <a:solidFill>
                  <a:srgbClr val="53676D"/>
                </a:solidFill>
                <a:latin typeface="Arial"/>
                <a:ea typeface="Arial"/>
                <a:cs typeface="Arial"/>
              </a:defRPr>
            </a:lvl1pPr>
            <a:lvl2pPr algn="l">
              <a:buNone/>
              <a:defRPr sz="2025" b="0">
                <a:solidFill>
                  <a:srgbClr val="53676D"/>
                </a:solidFill>
                <a:latin typeface="Arial"/>
                <a:ea typeface="Arial"/>
                <a:cs typeface="Arial"/>
              </a:defRPr>
            </a:lvl2pPr>
            <a:lvl3pPr algn="l">
              <a:buNone/>
              <a:defRPr sz="2025" b="0">
                <a:solidFill>
                  <a:srgbClr val="53676D"/>
                </a:solidFill>
                <a:latin typeface="Arial"/>
                <a:ea typeface="Arial"/>
                <a:cs typeface="Arial"/>
              </a:defRPr>
            </a:lvl3pPr>
            <a:lvl4pPr algn="l">
              <a:buNone/>
              <a:defRPr sz="2025" b="0">
                <a:solidFill>
                  <a:srgbClr val="53676D"/>
                </a:solidFill>
                <a:latin typeface="Arial"/>
                <a:ea typeface="Arial"/>
                <a:cs typeface="Arial"/>
              </a:defRPr>
            </a:lvl4pPr>
            <a:lvl5pPr algn="l">
              <a:buNone/>
              <a:defRPr sz="2025" b="0">
                <a:solidFill>
                  <a:srgbClr val="53676D"/>
                </a:solidFill>
                <a:latin typeface="Arial"/>
                <a:ea typeface="Arial"/>
                <a:cs typeface="Arial"/>
              </a:defRPr>
            </a:lvl5pPr>
            <a:lvl6pPr algn="l">
              <a:buNone/>
              <a:defRPr sz="2025" b="0">
                <a:solidFill>
                  <a:srgbClr val="53676D"/>
                </a:solidFill>
                <a:latin typeface="Arial"/>
                <a:ea typeface="Arial"/>
                <a:cs typeface="Arial"/>
              </a:defRPr>
            </a:lvl6pPr>
            <a:lvl7pPr algn="l">
              <a:buNone/>
              <a:defRPr sz="2025" b="0">
                <a:solidFill>
                  <a:srgbClr val="53676D"/>
                </a:solidFill>
                <a:latin typeface="Arial"/>
                <a:ea typeface="Arial"/>
                <a:cs typeface="Arial"/>
              </a:defRPr>
            </a:lvl7pPr>
            <a:lvl8pPr algn="l">
              <a:buNone/>
              <a:defRPr sz="2025" b="0">
                <a:solidFill>
                  <a:srgbClr val="53676D"/>
                </a:solidFill>
                <a:latin typeface="Arial"/>
                <a:ea typeface="Arial"/>
                <a:cs typeface="Arial"/>
              </a:defRPr>
            </a:lvl8pPr>
            <a:lvl9pPr algn="l">
              <a:buNone/>
              <a:defRPr sz="2025" b="0">
                <a:solidFill>
                  <a:srgbClr val="53676D"/>
                </a:solidFill>
                <a:latin typeface="Arial"/>
                <a:ea typeface="Arial"/>
                <a:cs typeface="Arial"/>
              </a:defRPr>
            </a:lvl9pPr>
          </a:lstStyle>
          <a:p xmlns:a="http://schemas.openxmlformats.org/drawingml/2006/main">
            <a:pPr algn="l">
              <a:buNone/>
              <a:defRPr sz="2100" b="0">
                <a:solidFill>
                  <a:srgbClr val="53676D"/>
                </a:solidFill>
                <a:latin typeface="Arial"/>
                <a:ea typeface="Arial"/>
                <a:cs typeface="Arial"/>
              </a:defRPr>
            </a:pPr>
            <a:r>
              <a:rPr sz="2100" b="0">
                <a:solidFill>
                  <a:srgbClr val="53676D"/>
                </a:solidFill>
                <a:latin typeface="Arial"/>
                <a:ea typeface="Arial"/>
                <a:cs typeface="Arial"/>
              </a:rPr>
              <a:t>Tokenized depository receipts.</a:t>
            </a:r>
          </a:p>
          <a:p xmlns:a="http://schemas.openxmlformats.org/drawingml/2006/main">
            <a:pPr algn="l">
              <a:buNone/>
              <a:defRPr sz="2100" b="0">
                <a:solidFill>
                  <a:srgbClr val="53676D"/>
                </a:solidFill>
                <a:latin typeface="Arial"/>
                <a:ea typeface="Arial"/>
                <a:cs typeface="Arial"/>
              </a:defRPr>
            </a:pPr>
            <a:r>
              <a:rPr sz="2100" b="0">
                <a:solidFill>
                  <a:srgbClr val="53676D"/>
                </a:solidFill>
                <a:latin typeface="Arial"/>
                <a:ea typeface="Arial"/>
                <a:cs typeface="Arial"/>
              </a:rPr>
              <a:t>For USDC and HSBC RedCoin holders.</a:t>
            </a:r>
          </a:p>
        </p:txBody>
      </p:sp>
      <p:sp>
        <p:nvSpPr>
          <p:cNvPr id="6" name="text-5">
            <a:extLst xmlns:a="http://schemas.openxmlformats.org/drawingml/2006/main">
              <a:ext uri="{FF2B5EF4-FFF2-40B4-BE49-F238E27FC236}">
                <a16:creationId xmlns:a16="http://schemas.microsoft.com/office/drawing/2014/main" id="{6A374201-0B79-4BBB-BE1D-FED79F443E68}"/>
              </a:ext>
            </a:extLst>
          </p:cNvPr>
          <p:cNvSpPr>
            <a:spLocks xmlns:a="http://schemas.openxmlformats.org/drawingml/2006/main" noGrp="1"/>
          </p:cNvSpPr>
          <p:nvPr/>
        </p:nvSpPr>
        <p:spPr>
          <a:xfrm xmlns:a="http://schemas.openxmlformats.org/drawingml/2006/main">
            <a:off x="647700" y="5267325"/>
            <a:ext cx="6000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76C6B"/>
                </a:solidFill>
                <a:latin typeface="Arial"/>
                <a:ea typeface="Arial"/>
                <a:cs typeface="Arial"/>
              </a:defRPr>
            </a:defPPr>
            <a:lvl1pPr algn="l">
              <a:buNone/>
              <a:defRPr sz="2625" b="1">
                <a:solidFill>
                  <a:srgbClr val="176C6B"/>
                </a:solidFill>
                <a:latin typeface="Arial"/>
                <a:ea typeface="Arial"/>
                <a:cs typeface="Arial"/>
              </a:defRPr>
            </a:lvl1pPr>
            <a:lvl2pPr algn="l">
              <a:buNone/>
              <a:defRPr sz="2625" b="1">
                <a:solidFill>
                  <a:srgbClr val="176C6B"/>
                </a:solidFill>
                <a:latin typeface="Arial"/>
                <a:ea typeface="Arial"/>
                <a:cs typeface="Arial"/>
              </a:defRPr>
            </a:lvl2pPr>
            <a:lvl3pPr algn="l">
              <a:buNone/>
              <a:defRPr sz="2625" b="1">
                <a:solidFill>
                  <a:srgbClr val="176C6B"/>
                </a:solidFill>
                <a:latin typeface="Arial"/>
                <a:ea typeface="Arial"/>
                <a:cs typeface="Arial"/>
              </a:defRPr>
            </a:lvl3pPr>
            <a:lvl4pPr algn="l">
              <a:buNone/>
              <a:defRPr sz="2625" b="1">
                <a:solidFill>
                  <a:srgbClr val="176C6B"/>
                </a:solidFill>
                <a:latin typeface="Arial"/>
                <a:ea typeface="Arial"/>
                <a:cs typeface="Arial"/>
              </a:defRPr>
            </a:lvl4pPr>
            <a:lvl5pPr algn="l">
              <a:buNone/>
              <a:defRPr sz="2625" b="1">
                <a:solidFill>
                  <a:srgbClr val="176C6B"/>
                </a:solidFill>
                <a:latin typeface="Arial"/>
                <a:ea typeface="Arial"/>
                <a:cs typeface="Arial"/>
              </a:defRPr>
            </a:lvl5pPr>
            <a:lvl6pPr algn="l">
              <a:buNone/>
              <a:defRPr sz="2625" b="1">
                <a:solidFill>
                  <a:srgbClr val="176C6B"/>
                </a:solidFill>
                <a:latin typeface="Arial"/>
                <a:ea typeface="Arial"/>
                <a:cs typeface="Arial"/>
              </a:defRPr>
            </a:lvl6pPr>
            <a:lvl7pPr algn="l">
              <a:buNone/>
              <a:defRPr sz="2625" b="1">
                <a:solidFill>
                  <a:srgbClr val="176C6B"/>
                </a:solidFill>
                <a:latin typeface="Arial"/>
                <a:ea typeface="Arial"/>
                <a:cs typeface="Arial"/>
              </a:defRPr>
            </a:lvl7pPr>
            <a:lvl8pPr algn="l">
              <a:buNone/>
              <a:defRPr sz="2625" b="1">
                <a:solidFill>
                  <a:srgbClr val="176C6B"/>
                </a:solidFill>
                <a:latin typeface="Arial"/>
                <a:ea typeface="Arial"/>
                <a:cs typeface="Arial"/>
              </a:defRPr>
            </a:lvl8pPr>
            <a:lvl9pPr algn="l">
              <a:buNone/>
              <a:defRPr sz="2625" b="1">
                <a:solidFill>
                  <a:srgbClr val="176C6B"/>
                </a:solidFill>
                <a:latin typeface="Arial"/>
                <a:ea typeface="Arial"/>
                <a:cs typeface="Arial"/>
              </a:defRPr>
            </a:lvl9pPr>
          </a:lstStyle>
          <a:p xmlns:a="http://schemas.openxmlformats.org/drawingml/2006/main">
            <a:pPr algn="l">
              <a:buNone/>
              <a:defRPr sz="2625" b="1">
                <a:solidFill>
                  <a:srgbClr val="176C6B"/>
                </a:solidFill>
                <a:latin typeface="Arial"/>
                <a:ea typeface="Arial"/>
                <a:cs typeface="Arial"/>
              </a:defRPr>
            </a:pPr>
            <a:r>
              <a:rPr sz="2625" b="1">
                <a:solidFill>
                  <a:srgbClr val="176C6B"/>
                </a:solidFill>
                <a:latin typeface="Arial"/>
                <a:ea typeface="Arial"/>
                <a:cs typeface="Arial"/>
              </a:rPr>
              <a:t>Raising US$3 million</a:t>
            </a:r>
          </a:p>
        </p:txBody>
      </p:sp>
      <p:sp>
        <p:nvSpPr>
          <p:cNvPr id="7" name="text-6">
            <a:extLst xmlns:a="http://schemas.openxmlformats.org/drawingml/2006/main">
              <a:ext uri="{FF2B5EF4-FFF2-40B4-BE49-F238E27FC236}">
                <a16:creationId xmlns:a16="http://schemas.microsoft.com/office/drawing/2014/main" id="{09DE0231-E776-4975-8778-546A2CE4DE3A}"/>
              </a:ext>
            </a:extLst>
          </p:cNvPr>
          <p:cNvSpPr>
            <a:spLocks xmlns:a="http://schemas.openxmlformats.org/drawingml/2006/main" noGrp="1"/>
          </p:cNvSpPr>
          <p:nvPr/>
        </p:nvSpPr>
        <p:spPr>
          <a:xfrm xmlns:a="http://schemas.openxmlformats.org/drawingml/2006/main">
            <a:off x="647700" y="579120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83440"/>
                </a:solidFill>
                <a:latin typeface="Arial"/>
                <a:ea typeface="Arial"/>
                <a:cs typeface="Arial"/>
              </a:defRPr>
            </a:defPPr>
            <a:lvl1pPr algn="l">
              <a:buNone/>
              <a:defRPr sz="1725" b="0">
                <a:solidFill>
                  <a:srgbClr val="53676D"/>
                </a:solidFill>
                <a:latin typeface="Arial"/>
                <a:ea typeface="Arial"/>
                <a:cs typeface="Arial"/>
              </a:defRPr>
            </a:lvl1pPr>
            <a:lvl2pPr algn="l">
              <a:buNone/>
              <a:defRPr sz="1725" b="0">
                <a:solidFill>
                  <a:srgbClr val="53676D"/>
                </a:solidFill>
                <a:latin typeface="Arial"/>
                <a:ea typeface="Arial"/>
                <a:cs typeface="Arial"/>
              </a:defRPr>
            </a:lvl2pPr>
            <a:lvl3pPr algn="l">
              <a:buNone/>
              <a:defRPr sz="1725" b="0">
                <a:solidFill>
                  <a:srgbClr val="53676D"/>
                </a:solidFill>
                <a:latin typeface="Arial"/>
                <a:ea typeface="Arial"/>
                <a:cs typeface="Arial"/>
              </a:defRPr>
            </a:lvl3pPr>
            <a:lvl4pPr algn="l">
              <a:buNone/>
              <a:defRPr sz="1725" b="0">
                <a:solidFill>
                  <a:srgbClr val="53676D"/>
                </a:solidFill>
                <a:latin typeface="Arial"/>
                <a:ea typeface="Arial"/>
                <a:cs typeface="Arial"/>
              </a:defRPr>
            </a:lvl4pPr>
            <a:lvl5pPr algn="l">
              <a:buNone/>
              <a:defRPr sz="1725" b="0">
                <a:solidFill>
                  <a:srgbClr val="53676D"/>
                </a:solidFill>
                <a:latin typeface="Arial"/>
                <a:ea typeface="Arial"/>
                <a:cs typeface="Arial"/>
              </a:defRPr>
            </a:lvl5pPr>
            <a:lvl6pPr algn="l">
              <a:buNone/>
              <a:defRPr sz="1725" b="0">
                <a:solidFill>
                  <a:srgbClr val="53676D"/>
                </a:solidFill>
                <a:latin typeface="Arial"/>
                <a:ea typeface="Arial"/>
                <a:cs typeface="Arial"/>
              </a:defRPr>
            </a:lvl6pPr>
            <a:lvl7pPr algn="l">
              <a:buNone/>
              <a:defRPr sz="1725" b="0">
                <a:solidFill>
                  <a:srgbClr val="53676D"/>
                </a:solidFill>
                <a:latin typeface="Arial"/>
                <a:ea typeface="Arial"/>
                <a:cs typeface="Arial"/>
              </a:defRPr>
            </a:lvl7pPr>
            <a:lvl8pPr algn="l">
              <a:buNone/>
              <a:defRPr sz="1725" b="0">
                <a:solidFill>
                  <a:srgbClr val="53676D"/>
                </a:solidFill>
                <a:latin typeface="Arial"/>
                <a:ea typeface="Arial"/>
                <a:cs typeface="Arial"/>
              </a:defRPr>
            </a:lvl8pPr>
            <a:lvl9pPr algn="l">
              <a:buNone/>
              <a:defRPr sz="1725" b="0">
                <a:solidFill>
                  <a:srgbClr val="53676D"/>
                </a:solidFill>
                <a:latin typeface="Arial"/>
                <a:ea typeface="Arial"/>
                <a:cs typeface="Arial"/>
              </a:defRPr>
            </a:lvl9pPr>
          </a:lstStyle>
          <a:p xmlns:a="http://schemas.openxmlformats.org/drawingml/2006/main">
            <a:pPr algn="l">
              <a:buNone/>
              <a:defRPr sz="1725" b="0">
                <a:solidFill>
                  <a:srgbClr val="53676D"/>
                </a:solidFill>
                <a:latin typeface="Arial"/>
                <a:ea typeface="Arial"/>
                <a:cs typeface="Arial"/>
              </a:defRPr>
            </a:pPr>
            <a:r>
              <a:rPr sz="1725" b="0">
                <a:solidFill>
                  <a:srgbClr val="183440"/>
                </a:solidFill>
                <a:latin typeface="Arial"/>
                <a:ea typeface="Arial"/>
                <a:cs typeface="Arial"/>
              </a:rPr>
              <a:t>Prime edition</a:t>
            </a:r>
          </a:p>
        </p:txBody>
      </p:sp>
      <p:sp>
        <p:nvSpPr>
          <p:cNvPr id="8" name="text-7">
            <a:extLst xmlns:a="http://schemas.openxmlformats.org/drawingml/2006/main">
              <a:ext uri="{FF2B5EF4-FFF2-40B4-BE49-F238E27FC236}">
                <a16:creationId xmlns:a16="http://schemas.microsoft.com/office/drawing/2014/main" id="{665266CC-CF1C-4E4E-A5E8-B6D4F2F7E43C}"/>
              </a:ext>
            </a:extLst>
          </p:cNvPr>
          <p:cNvSpPr>
            <a:spLocks xmlns:a="http://schemas.openxmlformats.org/drawingml/2006/main" noGrp="1"/>
          </p:cNvSpPr>
          <p:nvPr/>
        </p:nvSpPr>
        <p:spPr>
          <a:xfrm xmlns:a="http://schemas.openxmlformats.org/drawingml/2006/main">
            <a:off x="647700" y="6410325"/>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3676D"/>
                </a:solidFill>
                <a:latin typeface="Arial"/>
                <a:ea typeface="Arial"/>
                <a:cs typeface="Arial"/>
              </a:defRPr>
            </a:defPPr>
            <a:lvl1pPr algn="l">
              <a:buNone/>
              <a:defRPr sz="1275" b="0">
                <a:solidFill>
                  <a:srgbClr val="53676D"/>
                </a:solidFill>
                <a:latin typeface="Arial"/>
                <a:ea typeface="Arial"/>
                <a:cs typeface="Arial"/>
              </a:defRPr>
            </a:lvl1pPr>
            <a:lvl2pPr algn="l">
              <a:buNone/>
              <a:defRPr sz="1275" b="0">
                <a:solidFill>
                  <a:srgbClr val="53676D"/>
                </a:solidFill>
                <a:latin typeface="Arial"/>
                <a:ea typeface="Arial"/>
                <a:cs typeface="Arial"/>
              </a:defRPr>
            </a:lvl2pPr>
            <a:lvl3pPr algn="l">
              <a:buNone/>
              <a:defRPr sz="1275" b="0">
                <a:solidFill>
                  <a:srgbClr val="53676D"/>
                </a:solidFill>
                <a:latin typeface="Arial"/>
                <a:ea typeface="Arial"/>
                <a:cs typeface="Arial"/>
              </a:defRPr>
            </a:lvl3pPr>
            <a:lvl4pPr algn="l">
              <a:buNone/>
              <a:defRPr sz="1275" b="0">
                <a:solidFill>
                  <a:srgbClr val="53676D"/>
                </a:solidFill>
                <a:latin typeface="Arial"/>
                <a:ea typeface="Arial"/>
                <a:cs typeface="Arial"/>
              </a:defRPr>
            </a:lvl4pPr>
            <a:lvl5pPr algn="l">
              <a:buNone/>
              <a:defRPr sz="1275" b="0">
                <a:solidFill>
                  <a:srgbClr val="53676D"/>
                </a:solidFill>
                <a:latin typeface="Arial"/>
                <a:ea typeface="Arial"/>
                <a:cs typeface="Arial"/>
              </a:defRPr>
            </a:lvl5pPr>
            <a:lvl6pPr algn="l">
              <a:buNone/>
              <a:defRPr sz="1275" b="0">
                <a:solidFill>
                  <a:srgbClr val="53676D"/>
                </a:solidFill>
                <a:latin typeface="Arial"/>
                <a:ea typeface="Arial"/>
                <a:cs typeface="Arial"/>
              </a:defRPr>
            </a:lvl6pPr>
            <a:lvl7pPr algn="l">
              <a:buNone/>
              <a:defRPr sz="1275" b="0">
                <a:solidFill>
                  <a:srgbClr val="53676D"/>
                </a:solidFill>
                <a:latin typeface="Arial"/>
                <a:ea typeface="Arial"/>
                <a:cs typeface="Arial"/>
              </a:defRPr>
            </a:lvl7pPr>
            <a:lvl8pPr algn="l">
              <a:buNone/>
              <a:defRPr sz="1275" b="0">
                <a:solidFill>
                  <a:srgbClr val="53676D"/>
                </a:solidFill>
                <a:latin typeface="Arial"/>
                <a:ea typeface="Arial"/>
                <a:cs typeface="Arial"/>
              </a:defRPr>
            </a:lvl8pPr>
            <a:lvl9pPr algn="l">
              <a:buNone/>
              <a:defRPr sz="1275" b="0">
                <a:solidFill>
                  <a:srgbClr val="53676D"/>
                </a:solidFill>
                <a:latin typeface="Arial"/>
                <a:ea typeface="Arial"/>
                <a:cs typeface="Arial"/>
              </a:defRPr>
            </a:lvl9pPr>
          </a:lstStyle>
          <a:p xmlns:a="http://schemas.openxmlformats.org/drawingml/2006/main">
            <a:pPr algn="l">
              <a:buNone/>
              <a:defRPr sz="1275" b="0">
                <a:solidFill>
                  <a:srgbClr val="53676D"/>
                </a:solidFill>
                <a:latin typeface="Arial"/>
                <a:ea typeface="Arial"/>
                <a:cs typeface="Arial"/>
              </a:defRPr>
            </a:pPr>
            <a:r>
              <a:rPr sz="1275" b="0">
                <a:solidFill>
                  <a:srgbClr val="53676D"/>
                </a:solidFill>
                <a:latin typeface="Arial"/>
                <a:ea typeface="Arial"/>
                <a:cs typeface="Arial"/>
              </a:rPr>
              <a:t>USDC / USD    HSBC RedCoin / HKD</a:t>
            </a:r>
          </a:p>
        </p:txBody>
      </p:sp>
      <p:sp>
        <p:nvSpPr>
          <p:cNvPr id="10" name="budget-revision-text-1">
            <a:extLst xmlns:a="http://schemas.openxmlformats.org/drawingml/2006/main">
              <a:ext uri="{FF2B5EF4-FFF2-40B4-BE49-F238E27FC236}">
                <a16:creationId xmlns:a16="http://schemas.microsoft.com/office/drawing/2014/main" id="{B612F436-E4CE-4E4A-AC54-292E04C12D65}"/>
              </a:ext>
            </a:extLst>
          </p:cNvPr>
          <p:cNvSpPr>
            <a:spLocks xmlns:a="http://schemas.openxmlformats.org/drawingml/2006/main" noGrp="1"/>
          </p:cNvSpPr>
          <p:nvPr/>
        </p:nvSpPr>
        <p:spPr>
          <a:xfrm xmlns:a="http://schemas.openxmlformats.org/drawingml/2006/main">
            <a:off x="5029200" y="164782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AC8743"/>
                </a:solidFill>
                <a:latin typeface="Arial"/>
                <a:ea typeface="Arial"/>
                <a:cs typeface="Arial"/>
              </a:defRPr>
            </a:defPPr>
            <a:lvl1pPr algn="l">
              <a:buNone/>
              <a:defRPr sz="2400" b="1">
                <a:solidFill>
                  <a:srgbClr val="AC8743"/>
                </a:solidFill>
                <a:latin typeface="Arial"/>
                <a:ea typeface="Arial"/>
                <a:cs typeface="Arial"/>
              </a:defRPr>
            </a:lvl1pPr>
            <a:lvl2pPr algn="l">
              <a:buNone/>
              <a:defRPr sz="2400" b="1">
                <a:solidFill>
                  <a:srgbClr val="AC8743"/>
                </a:solidFill>
                <a:latin typeface="Arial"/>
                <a:ea typeface="Arial"/>
                <a:cs typeface="Arial"/>
              </a:defRPr>
            </a:lvl2pPr>
            <a:lvl3pPr algn="l">
              <a:buNone/>
              <a:defRPr sz="2400" b="1">
                <a:solidFill>
                  <a:srgbClr val="AC8743"/>
                </a:solidFill>
                <a:latin typeface="Arial"/>
                <a:ea typeface="Arial"/>
                <a:cs typeface="Arial"/>
              </a:defRPr>
            </a:lvl3pPr>
            <a:lvl4pPr algn="l">
              <a:buNone/>
              <a:defRPr sz="2400" b="1">
                <a:solidFill>
                  <a:srgbClr val="AC8743"/>
                </a:solidFill>
                <a:latin typeface="Arial"/>
                <a:ea typeface="Arial"/>
                <a:cs typeface="Arial"/>
              </a:defRPr>
            </a:lvl4pPr>
            <a:lvl5pPr algn="l">
              <a:buNone/>
              <a:defRPr sz="2400" b="1">
                <a:solidFill>
                  <a:srgbClr val="AC8743"/>
                </a:solidFill>
                <a:latin typeface="Arial"/>
                <a:ea typeface="Arial"/>
                <a:cs typeface="Arial"/>
              </a:defRPr>
            </a:lvl5pPr>
            <a:lvl6pPr algn="l">
              <a:buNone/>
              <a:defRPr sz="2400" b="1">
                <a:solidFill>
                  <a:srgbClr val="AC8743"/>
                </a:solidFill>
                <a:latin typeface="Arial"/>
                <a:ea typeface="Arial"/>
                <a:cs typeface="Arial"/>
              </a:defRPr>
            </a:lvl6pPr>
            <a:lvl7pPr algn="l">
              <a:buNone/>
              <a:defRPr sz="2400" b="1">
                <a:solidFill>
                  <a:srgbClr val="AC8743"/>
                </a:solidFill>
                <a:latin typeface="Arial"/>
                <a:ea typeface="Arial"/>
                <a:cs typeface="Arial"/>
              </a:defRPr>
            </a:lvl7pPr>
            <a:lvl8pPr algn="l">
              <a:buNone/>
              <a:defRPr sz="2400" b="1">
                <a:solidFill>
                  <a:srgbClr val="AC8743"/>
                </a:solidFill>
                <a:latin typeface="Arial"/>
                <a:ea typeface="Arial"/>
                <a:cs typeface="Arial"/>
              </a:defRPr>
            </a:lvl8pPr>
            <a:lvl9pPr algn="l">
              <a:buNone/>
              <a:defRPr sz="2400" b="1">
                <a:solidFill>
                  <a:srgbClr val="AC8743"/>
                </a:solidFill>
                <a:latin typeface="Arial"/>
                <a:ea typeface="Arial"/>
                <a:cs typeface="Arial"/>
              </a:defRPr>
            </a:lvl9pPr>
          </a:lstStyle>
          <a:p xmlns:a="http://schemas.openxmlformats.org/drawingml/2006/main">
            <a:pPr algn="l">
              <a:buNone/>
              <a:defRPr sz="2400" b="1">
                <a:solidFill>
                  <a:srgbClr val="AC8743"/>
                </a:solidFill>
                <a:latin typeface="Arial"/>
                <a:ea typeface="Arial"/>
                <a:cs typeface="Arial"/>
              </a:defRPr>
            </a:pPr>
            <a:r>
              <a:rPr sz="2400" b="1">
                <a:solidFill>
                  <a:srgbClr val="AC8743"/>
                </a:solidFill>
                <a:latin typeface="Arial"/>
                <a:ea typeface="Arial"/>
                <a:cs typeface="Arial"/>
              </a:rPr>
              <a:t>Concept</a:t>
            </a:r>
          </a:p>
        </p:txBody>
      </p:sp>
      <p:sp>
        <p:nvSpPr>
          <p:cNvPr id="11" name="budget-revision-text-2">
            <a:extLst xmlns:a="http://schemas.openxmlformats.org/drawingml/2006/main">
              <a:ext uri="{FF2B5EF4-FFF2-40B4-BE49-F238E27FC236}">
                <a16:creationId xmlns:a16="http://schemas.microsoft.com/office/drawing/2014/main" id="{0F70FBF0-19EA-4419-8063-CD18689AFE33}"/>
              </a:ext>
            </a:extLst>
          </p:cNvPr>
          <p:cNvSpPr>
            <a:spLocks xmlns:a="http://schemas.openxmlformats.org/drawingml/2006/main" noGrp="1"/>
          </p:cNvSpPr>
          <p:nvPr/>
        </p:nvSpPr>
        <p:spPr>
          <a:xfrm xmlns:a="http://schemas.openxmlformats.org/drawingml/2006/main">
            <a:off x="647700" y="4572000"/>
            <a:ext cx="6953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3676D"/>
                </a:solidFill>
                <a:latin typeface="Arial"/>
                <a:ea typeface="Arial"/>
                <a:cs typeface="Arial"/>
              </a:defRPr>
            </a:defPPr>
            <a:lvl1pPr algn="l">
              <a:buNone/>
              <a:defRPr sz="1725" b="0">
                <a:solidFill>
                  <a:srgbClr val="53676D"/>
                </a:solidFill>
                <a:latin typeface="Arial"/>
                <a:ea typeface="Arial"/>
                <a:cs typeface="Arial"/>
              </a:defRPr>
            </a:lvl1pPr>
            <a:lvl2pPr algn="l">
              <a:buNone/>
              <a:defRPr sz="1725" b="0">
                <a:solidFill>
                  <a:srgbClr val="53676D"/>
                </a:solidFill>
                <a:latin typeface="Arial"/>
                <a:ea typeface="Arial"/>
                <a:cs typeface="Arial"/>
              </a:defRPr>
            </a:lvl2pPr>
            <a:lvl3pPr algn="l">
              <a:buNone/>
              <a:defRPr sz="1725" b="0">
                <a:solidFill>
                  <a:srgbClr val="53676D"/>
                </a:solidFill>
                <a:latin typeface="Arial"/>
                <a:ea typeface="Arial"/>
                <a:cs typeface="Arial"/>
              </a:defRPr>
            </a:lvl3pPr>
            <a:lvl4pPr algn="l">
              <a:buNone/>
              <a:defRPr sz="1725" b="0">
                <a:solidFill>
                  <a:srgbClr val="53676D"/>
                </a:solidFill>
                <a:latin typeface="Arial"/>
                <a:ea typeface="Arial"/>
                <a:cs typeface="Arial"/>
              </a:defRPr>
            </a:lvl4pPr>
            <a:lvl5pPr algn="l">
              <a:buNone/>
              <a:defRPr sz="1725" b="0">
                <a:solidFill>
                  <a:srgbClr val="53676D"/>
                </a:solidFill>
                <a:latin typeface="Arial"/>
                <a:ea typeface="Arial"/>
                <a:cs typeface="Arial"/>
              </a:defRPr>
            </a:lvl5pPr>
            <a:lvl6pPr algn="l">
              <a:buNone/>
              <a:defRPr sz="1725" b="0">
                <a:solidFill>
                  <a:srgbClr val="53676D"/>
                </a:solidFill>
                <a:latin typeface="Arial"/>
                <a:ea typeface="Arial"/>
                <a:cs typeface="Arial"/>
              </a:defRPr>
            </a:lvl6pPr>
            <a:lvl7pPr algn="l">
              <a:buNone/>
              <a:defRPr sz="1725" b="0">
                <a:solidFill>
                  <a:srgbClr val="53676D"/>
                </a:solidFill>
                <a:latin typeface="Arial"/>
                <a:ea typeface="Arial"/>
                <a:cs typeface="Arial"/>
              </a:defRPr>
            </a:lvl7pPr>
            <a:lvl8pPr algn="l">
              <a:buNone/>
              <a:defRPr sz="1725" b="0">
                <a:solidFill>
                  <a:srgbClr val="53676D"/>
                </a:solidFill>
                <a:latin typeface="Arial"/>
                <a:ea typeface="Arial"/>
                <a:cs typeface="Arial"/>
              </a:defRPr>
            </a:lvl8pPr>
            <a:lvl9pPr algn="l">
              <a:buNone/>
              <a:defRPr sz="1725" b="0">
                <a:solidFill>
                  <a:srgbClr val="53676D"/>
                </a:solidFill>
                <a:latin typeface="Arial"/>
                <a:ea typeface="Arial"/>
                <a:cs typeface="Arial"/>
              </a:defRPr>
            </a:lvl9pPr>
          </a:lstStyle>
          <a:p xmlns:a="http://schemas.openxmlformats.org/drawingml/2006/main">
            <a:pPr algn="l">
              <a:buNone/>
              <a:defRPr sz="1725" b="0">
                <a:solidFill>
                  <a:srgbClr val="53676D"/>
                </a:solidFill>
                <a:latin typeface="Arial"/>
                <a:ea typeface="Arial"/>
                <a:cs typeface="Arial"/>
              </a:defRPr>
            </a:pPr>
            <a:r>
              <a:rPr sz="1725" b="0">
                <a:solidFill>
                  <a:srgbClr val="53676D"/>
                </a:solidFill>
                <a:latin typeface="Arial"/>
                <a:ea typeface="Arial"/>
                <a:cs typeface="Arial"/>
              </a:rPr>
              <a:t>Depository Securities Homing Access</a:t>
            </a:r>
          </a:p>
          <a:p xmlns:a="http://schemas.openxmlformats.org/drawingml/2006/main">
            <a:pPr algn="l">
              <a:buNone/>
              <a:defRPr sz="1725" b="0">
                <a:solidFill>
                  <a:srgbClr val="53676D"/>
                </a:solidFill>
                <a:latin typeface="Arial"/>
                <a:ea typeface="Arial"/>
                <a:cs typeface="Arial"/>
              </a:defRPr>
            </a:pPr>
            <a:r>
              <a:rPr sz="1725" b="0">
                <a:solidFill>
                  <a:srgbClr val="53676D"/>
                </a:solidFill>
                <a:latin typeface="Arial"/>
                <a:ea typeface="Arial"/>
                <a:cs typeface="Arial"/>
              </a:rPr>
              <a:t>to Receipted Equity</a:t>
            </a:r>
          </a:p>
        </p:txBody>
      </p:sp>
    </p:spTree>
    <p:extLst>
      <p:ext uri="{BB962C8B-B14F-4D97-AF65-F5344CB8AC3E}">
        <p14:creationId xmlns:p14="http://schemas.microsoft.com/office/powerpoint/2010/main" val="557331428"/>
      </p:ext>
    </p:extLst>
  </p:cSld>
</p:sld>
</file>

<file path=ppt/slides/slide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0" name="prime-text-1">
            <a:extLst xmlns:a="http://schemas.openxmlformats.org/drawingml/2006/main">
              <a:ext uri="{FF2B5EF4-FFF2-40B4-BE49-F238E27FC236}">
                <a16:creationId xmlns:a16="http://schemas.microsoft.com/office/drawing/2014/main" id="{BD2355D6-BDC1-453D-8002-D7220528DE63}"/>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xmlns:a="http://schemas.openxmlformats.org/drawingml/2006/main">
            <a:pPr algn="l">
              <a:defRPr sz="3300" b="1">
                <a:solidFill>
                  <a:srgbClr val="183440"/>
                </a:solidFill>
                <a:latin typeface="Arial"/>
                <a:ea typeface="Arial"/>
                <a:cs typeface="Arial"/>
              </a:defRPr>
            </a:pPr>
            <a:r>
              <a:rPr sz="3300" b="1">
                <a:solidFill>
                  <a:srgbClr val="183440"/>
                </a:solidFill>
                <a:latin typeface="Arial"/>
                <a:ea typeface="Arial"/>
                <a:cs typeface="Arial"/>
              </a:rPr>
              <a:t>High share prices and uneven global access</a:t>
            </a:r>
          </a:p>
        </p:txBody>
      </p:sp>
      <p:sp>
        <p:nvSpPr>
          <p:cNvPr id="2" name="prime-text-2">
            <a:extLst xmlns:a="http://schemas.openxmlformats.org/drawingml/2006/main">
              <a:ext uri="{FF2B5EF4-FFF2-40B4-BE49-F238E27FC236}">
                <a16:creationId xmlns:a16="http://schemas.microsoft.com/office/drawing/2014/main" id="{AA03878B-627C-41A6-AC7F-6387303EFF74}"/>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defRPr sz="1875" b="0">
                <a:solidFill>
                  <a:srgbClr val="53676D"/>
                </a:solidFill>
                <a:latin typeface="Arial"/>
                <a:ea typeface="Arial"/>
                <a:cs typeface="Arial"/>
              </a:defRPr>
            </a:lvl1pPr>
            <a:lvl2pPr algn="l">
              <a:defRPr sz="1875" b="0">
                <a:solidFill>
                  <a:srgbClr val="53676D"/>
                </a:solidFill>
                <a:latin typeface="Arial"/>
                <a:ea typeface="Arial"/>
                <a:cs typeface="Arial"/>
              </a:defRPr>
            </a:lvl2pPr>
            <a:lvl3pPr algn="l">
              <a:defRPr sz="1875" b="0">
                <a:solidFill>
                  <a:srgbClr val="53676D"/>
                </a:solidFill>
                <a:latin typeface="Arial"/>
                <a:ea typeface="Arial"/>
                <a:cs typeface="Arial"/>
              </a:defRPr>
            </a:lvl3pPr>
            <a:lvl4pPr algn="l">
              <a:defRPr sz="1875" b="0">
                <a:solidFill>
                  <a:srgbClr val="53676D"/>
                </a:solidFill>
                <a:latin typeface="Arial"/>
                <a:ea typeface="Arial"/>
                <a:cs typeface="Arial"/>
              </a:defRPr>
            </a:lvl4pPr>
            <a:lvl5pPr algn="l">
              <a:defRPr sz="1875" b="0">
                <a:solidFill>
                  <a:srgbClr val="53676D"/>
                </a:solidFill>
                <a:latin typeface="Arial"/>
                <a:ea typeface="Arial"/>
                <a:cs typeface="Arial"/>
              </a:defRPr>
            </a:lvl5pPr>
            <a:lvl6pPr algn="l">
              <a:defRPr sz="1875" b="0">
                <a:solidFill>
                  <a:srgbClr val="53676D"/>
                </a:solidFill>
                <a:latin typeface="Arial"/>
                <a:ea typeface="Arial"/>
                <a:cs typeface="Arial"/>
              </a:defRPr>
            </a:lvl6pPr>
            <a:lvl7pPr algn="l">
              <a:defRPr sz="1875" b="0">
                <a:solidFill>
                  <a:srgbClr val="53676D"/>
                </a:solidFill>
                <a:latin typeface="Arial"/>
                <a:ea typeface="Arial"/>
                <a:cs typeface="Arial"/>
              </a:defRPr>
            </a:lvl7pPr>
            <a:lvl8pPr algn="l">
              <a:defRPr sz="1875" b="0">
                <a:solidFill>
                  <a:srgbClr val="53676D"/>
                </a:solidFill>
                <a:latin typeface="Arial"/>
                <a:ea typeface="Arial"/>
                <a:cs typeface="Arial"/>
              </a:defRPr>
            </a:lvl8pPr>
            <a:lvl9pPr algn="l">
              <a:defRPr sz="1875" b="0">
                <a:solidFill>
                  <a:srgbClr val="53676D"/>
                </a:solidFill>
                <a:latin typeface="Arial"/>
                <a:ea typeface="Arial"/>
                <a:cs typeface="Arial"/>
              </a:defRPr>
            </a:lvl9pPr>
          </a:lstStyle>
          <a:p xmlns:a="http://schemas.openxmlformats.org/drawingml/2006/main">
            <a:pPr algn="l">
              <a:defRPr sz="1875" b="0">
                <a:solidFill>
                  <a:srgbClr val="53676D"/>
                </a:solidFill>
                <a:latin typeface="Arial"/>
                <a:ea typeface="Arial"/>
                <a:cs typeface="Arial"/>
              </a:defRPr>
            </a:pPr>
            <a:r>
              <a:rPr sz="1875" b="0">
                <a:solidFill>
                  <a:srgbClr val="53676D"/>
                </a:solidFill>
                <a:latin typeface="Arial"/>
                <a:ea typeface="Arial"/>
                <a:cs typeface="Arial"/>
              </a:rPr>
              <a:t>Six US-listed examples above US$1,000. Indicative quote snapshot, 30 October 2026.</a:t>
            </a:r>
          </a:p>
        </p:txBody>
      </p:sp>
      <p:sp>
        <p:nvSpPr>
          <p:cNvPr id="3" name="prime-text-3">
            <a:extLst xmlns:a="http://schemas.openxmlformats.org/drawingml/2006/main">
              <a:ext uri="{FF2B5EF4-FFF2-40B4-BE49-F238E27FC236}">
                <a16:creationId xmlns:a16="http://schemas.microsoft.com/office/drawing/2014/main" id="{C3A15B63-10B6-4CCE-B35F-79C575E15520}"/>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xmlns:a="http://schemas.openxmlformats.org/drawingml/2006/main">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prime-text-4">
            <a:extLst xmlns:a="http://schemas.openxmlformats.org/drawingml/2006/main">
              <a:ext uri="{FF2B5EF4-FFF2-40B4-BE49-F238E27FC236}">
                <a16:creationId xmlns:a16="http://schemas.microsoft.com/office/drawing/2014/main" id="{2E0458E1-7ACE-4F4A-A5DD-2BF0CBEE6EE1}"/>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xmlns:a="http://schemas.openxmlformats.org/drawingml/2006/main">
            <a:pPr algn="r">
              <a:defRPr sz="1200" b="0">
                <a:solidFill>
                  <a:srgbClr val="53676D"/>
                </a:solidFill>
                <a:latin typeface="Arial"/>
                <a:ea typeface="Arial"/>
                <a:cs typeface="Arial"/>
              </a:defRPr>
            </a:pPr>
            <a:r>
              <a:rPr sz="1200" b="0">
                <a:solidFill>
                  <a:srgbClr val="53676D"/>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3CF190B2-BB65-4E57-8129-492076684400}"/>
              </a:ext>
            </a:extLst>
          </p:cNvPr>
          <p:cNvGraphicFramePr/>
          <p:nvPr/>
        </p:nvGraphicFramePr>
        <p:xfrm>
          <a:off xmlns:a="http://schemas.openxmlformats.org/drawingml/2006/main" x="609600" y="2209800"/>
          <a:ext xmlns:a="http://schemas.openxmlformats.org/drawingml/2006/main" cx="5715000" cy="3171825"/>
        </p:xfrm>
        <a:graphic xmlns:a="http://schemas.openxmlformats.org/drawingml/2006/main">
          <a:graphicData uri="http://schemas.openxmlformats.org/drawingml/2006/table">
            <a:tbl>
              <a:tblPr firstRow="1" bandRow="0"/>
              <a:tblGrid>
                <a:gridCol w="2647950"/>
                <a:gridCol w="1143000"/>
                <a:gridCol w="1924050"/>
              </a:tblGrid>
              <a:tr h="453118">
                <a:tc>
                  <a:txBody>
                    <a:bodyPr lIns="95250" tIns="19050" rIns="95250" bIns="19050"/>
                    <a:lstStyle/>
                    <a:p>
                      <a:r>
                        <a:rPr sz="1725" b="1">
                          <a:solidFill>
                            <a:srgbClr val="FFFFFF"/>
                          </a:solidFill>
                          <a:latin typeface="Arial"/>
                          <a:ea typeface="Arial"/>
                          <a:cs typeface="Arial"/>
                        </a:rPr>
                        <a:t>Company</a:t>
                      </a:r>
                    </a:p>
                  </a:txBody>
                  <a:tcPr marL="91440" marR="91440" marT="45720" marB="45720" anchor="ctr">
                    <a:lnL w="9525">
                      <a:solidFill>
                        <a:srgbClr val="CFD7D1"/>
                      </a:solidFill>
                      <a:prstDash val="solid"/>
                    </a:lnL>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c>
                  <a:txBody>
                    <a:bodyPr lIns="95250" tIns="19050" rIns="95250" bIns="19050"/>
                    <a:lstStyle/>
                    <a:p>
                      <a:r>
                        <a:rPr sz="1725" b="1">
                          <a:solidFill>
                            <a:srgbClr val="FFFFFF"/>
                          </a:solidFill>
                          <a:latin typeface="Arial"/>
                          <a:ea typeface="Arial"/>
                          <a:cs typeface="Arial"/>
                        </a:rPr>
                        <a:t>Ticker</a:t>
                      </a:r>
                    </a:p>
                  </a:txBody>
                  <a:tcPr marL="91440" marR="91440" marT="45720" marB="45720" anchor="ctr">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c>
                  <a:txBody>
                    <a:bodyPr lIns="95250" tIns="19050" rIns="95250" bIns="19050"/>
                    <a:lstStyle/>
                    <a:p>
                      <a:r>
                        <a:rPr sz="1725" b="1">
                          <a:solidFill>
                            <a:srgbClr val="FFFFFF"/>
                          </a:solidFill>
                          <a:latin typeface="Arial"/>
                          <a:ea typeface="Arial"/>
                          <a:cs typeface="Arial"/>
                        </a:rPr>
                        <a:t>US$ / share</a:t>
                      </a:r>
                    </a:p>
                  </a:txBody>
                  <a:tcPr marL="91440" marR="91440" marT="45720" marB="45720" anchor="ctr">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r>
              <a:tr h="453118">
                <a:tc>
                  <a:txBody>
                    <a:bodyPr lIns="95250" tIns="19050" rIns="95250" bIns="19050"/>
                    <a:lstStyle/>
                    <a:p>
                      <a:r>
                        <a:rPr sz="1800" b="0">
                          <a:solidFill>
                            <a:srgbClr val="183440"/>
                          </a:solidFill>
                          <a:latin typeface="Arial"/>
                          <a:ea typeface="Arial"/>
                          <a:cs typeface="Arial"/>
                        </a:rPr>
                        <a:t>NVR</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NVR</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5,958.56</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453118">
                <a:tc>
                  <a:txBody>
                    <a:bodyPr lIns="95250" tIns="19050" rIns="95250" bIns="19050"/>
                    <a:lstStyle/>
                    <a:p>
                      <a:r>
                        <a:rPr sz="1800" b="0">
                          <a:solidFill>
                            <a:srgbClr val="183440"/>
                          </a:solidFill>
                          <a:latin typeface="Arial"/>
                          <a:ea typeface="Arial"/>
                          <a:cs typeface="Arial"/>
                        </a:rPr>
                        <a:t>AutoZone</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AZO</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3,169.82</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453118">
                <a:tc>
                  <a:txBody>
                    <a:bodyPr lIns="95250" tIns="19050" rIns="95250" bIns="19050"/>
                    <a:lstStyle/>
                    <a:p>
                      <a:r>
                        <a:rPr sz="1800" b="0">
                          <a:solidFill>
                            <a:srgbClr val="183440"/>
                          </a:solidFill>
                          <a:latin typeface="Arial"/>
                          <a:ea typeface="Arial"/>
                          <a:cs typeface="Arial"/>
                        </a:rPr>
                        <a:t>Eli Lilly</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LLY</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1,417.54</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453118">
                <a:tc>
                  <a:txBody>
                    <a:bodyPr lIns="95250" tIns="19050" rIns="95250" bIns="19050"/>
                    <a:lstStyle/>
                    <a:p>
                      <a:r>
                        <a:rPr sz="1800" b="0">
                          <a:solidFill>
                            <a:srgbClr val="183440"/>
                          </a:solidFill>
                          <a:latin typeface="Arial"/>
                          <a:ea typeface="Arial"/>
                          <a:cs typeface="Arial"/>
                        </a:rPr>
                        <a:t>W.W. Grainger</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GWW</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1,359.17</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453118">
                <a:tc>
                  <a:txBody>
                    <a:bodyPr lIns="95250" tIns="19050" rIns="95250" bIns="19050"/>
                    <a:lstStyle/>
                    <a:p>
                      <a:r>
                        <a:rPr sz="1800" b="0">
                          <a:solidFill>
                            <a:srgbClr val="183440"/>
                          </a:solidFill>
                          <a:latin typeface="Arial"/>
                          <a:ea typeface="Arial"/>
                          <a:cs typeface="Arial"/>
                        </a:rPr>
                        <a:t>BlackRock</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BLK</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1,147.54</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453118">
                <a:tc>
                  <a:txBody>
                    <a:bodyPr lIns="95250" tIns="19050" rIns="95250" bIns="19050"/>
                    <a:lstStyle/>
                    <a:p>
                      <a:r>
                        <a:rPr sz="1800" b="0">
                          <a:solidFill>
                            <a:srgbClr val="183440"/>
                          </a:solidFill>
                          <a:latin typeface="Arial"/>
                          <a:ea typeface="Arial"/>
                          <a:cs typeface="Arial"/>
                        </a:rPr>
                        <a:t>Costco</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COST</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1,012.28</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bl>
          </a:graphicData>
        </a:graphic>
      </p:graphicFrame>
      <p:sp>
        <p:nvSpPr>
          <p:cNvPr id="6" name="prime-text-5">
            <a:extLst xmlns:a="http://schemas.openxmlformats.org/drawingml/2006/main">
              <a:ext uri="{FF2B5EF4-FFF2-40B4-BE49-F238E27FC236}">
                <a16:creationId xmlns:a16="http://schemas.microsoft.com/office/drawing/2014/main" id="{3D0BA623-3A77-4212-96C6-1499933E05E6}"/>
              </a:ext>
            </a:extLst>
          </p:cNvPr>
          <p:cNvSpPr>
            <a:spLocks xmlns:a="http://schemas.openxmlformats.org/drawingml/2006/main" noGrp="1"/>
          </p:cNvSpPr>
          <p:nvPr/>
        </p:nvSpPr>
        <p:spPr>
          <a:xfrm xmlns:a="http://schemas.openxmlformats.org/drawingml/2006/main">
            <a:off x="6953250" y="2247900"/>
            <a:ext cx="462915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6C6B"/>
                </a:solidFill>
                <a:latin typeface="Arial"/>
                <a:ea typeface="Arial"/>
                <a:cs typeface="Arial"/>
              </a:defRPr>
            </a:defPPr>
            <a:lvl1pPr algn="l">
              <a:defRPr sz="2325" b="1">
                <a:solidFill>
                  <a:srgbClr val="176C6B"/>
                </a:solidFill>
                <a:latin typeface="Arial"/>
                <a:ea typeface="Arial"/>
                <a:cs typeface="Arial"/>
              </a:defRPr>
            </a:lvl1pPr>
            <a:lvl2pPr algn="l">
              <a:defRPr sz="2325" b="1">
                <a:solidFill>
                  <a:srgbClr val="176C6B"/>
                </a:solidFill>
                <a:latin typeface="Arial"/>
                <a:ea typeface="Arial"/>
                <a:cs typeface="Arial"/>
              </a:defRPr>
            </a:lvl2pPr>
            <a:lvl3pPr algn="l">
              <a:defRPr sz="2325" b="1">
                <a:solidFill>
                  <a:srgbClr val="176C6B"/>
                </a:solidFill>
                <a:latin typeface="Arial"/>
                <a:ea typeface="Arial"/>
                <a:cs typeface="Arial"/>
              </a:defRPr>
            </a:lvl3pPr>
            <a:lvl4pPr algn="l">
              <a:defRPr sz="2325" b="1">
                <a:solidFill>
                  <a:srgbClr val="176C6B"/>
                </a:solidFill>
                <a:latin typeface="Arial"/>
                <a:ea typeface="Arial"/>
                <a:cs typeface="Arial"/>
              </a:defRPr>
            </a:lvl4pPr>
            <a:lvl5pPr algn="l">
              <a:defRPr sz="2325" b="1">
                <a:solidFill>
                  <a:srgbClr val="176C6B"/>
                </a:solidFill>
                <a:latin typeface="Arial"/>
                <a:ea typeface="Arial"/>
                <a:cs typeface="Arial"/>
              </a:defRPr>
            </a:lvl5pPr>
            <a:lvl6pPr algn="l">
              <a:defRPr sz="2325" b="1">
                <a:solidFill>
                  <a:srgbClr val="176C6B"/>
                </a:solidFill>
                <a:latin typeface="Arial"/>
                <a:ea typeface="Arial"/>
                <a:cs typeface="Arial"/>
              </a:defRPr>
            </a:lvl6pPr>
            <a:lvl7pPr algn="l">
              <a:defRPr sz="2325" b="1">
                <a:solidFill>
                  <a:srgbClr val="176C6B"/>
                </a:solidFill>
                <a:latin typeface="Arial"/>
                <a:ea typeface="Arial"/>
                <a:cs typeface="Arial"/>
              </a:defRPr>
            </a:lvl7pPr>
            <a:lvl8pPr algn="l">
              <a:defRPr sz="2325" b="1">
                <a:solidFill>
                  <a:srgbClr val="176C6B"/>
                </a:solidFill>
                <a:latin typeface="Arial"/>
                <a:ea typeface="Arial"/>
                <a:cs typeface="Arial"/>
              </a:defRPr>
            </a:lvl8pPr>
            <a:lvl9pPr algn="l">
              <a:defRPr sz="2325" b="1">
                <a:solidFill>
                  <a:srgbClr val="176C6B"/>
                </a:solidFill>
                <a:latin typeface="Arial"/>
                <a:ea typeface="Arial"/>
                <a:cs typeface="Arial"/>
              </a:defRPr>
            </a:lvl9pPr>
          </a:lstStyle>
          <a:p xmlns:a="http://schemas.openxmlformats.org/drawingml/2006/main">
            <a:pPr algn="l">
              <a:defRPr sz="2325" b="1">
                <a:solidFill>
                  <a:srgbClr val="176C6B"/>
                </a:solidFill>
                <a:latin typeface="Arial"/>
                <a:ea typeface="Arial"/>
                <a:cs typeface="Arial"/>
              </a:defRPr>
            </a:pPr>
            <a:r>
              <a:rPr sz="2325" b="1">
                <a:solidFill>
                  <a:srgbClr val="176C6B"/>
                </a:solidFill>
                <a:latin typeface="Arial"/>
                <a:ea typeface="Arial"/>
                <a:cs typeface="Arial"/>
              </a:rPr>
              <a:t>A US$300 budget cannot buy</a:t>
            </a:r>
          </a:p>
          <a:p xmlns:a="http://schemas.openxmlformats.org/drawingml/2006/main">
            <a:pPr algn="l">
              <a:defRPr sz="2325" b="1">
                <a:solidFill>
                  <a:srgbClr val="176C6B"/>
                </a:solidFill>
                <a:latin typeface="Arial"/>
                <a:ea typeface="Arial"/>
                <a:cs typeface="Arial"/>
              </a:defRPr>
            </a:pPr>
            <a:r>
              <a:rPr sz="2325" b="1">
                <a:solidFill>
                  <a:srgbClr val="176C6B"/>
                </a:solidFill>
                <a:latin typeface="Arial"/>
                <a:ea typeface="Arial"/>
                <a:cs typeface="Arial"/>
              </a:rPr>
              <a:t>one whole share in these examples</a:t>
            </a:r>
          </a:p>
        </p:txBody>
      </p:sp>
      <p:sp>
        <p:nvSpPr>
          <p:cNvPr id="7" name="prime-text-6">
            <a:extLst xmlns:a="http://schemas.openxmlformats.org/drawingml/2006/main">
              <a:ext uri="{FF2B5EF4-FFF2-40B4-BE49-F238E27FC236}">
                <a16:creationId xmlns:a16="http://schemas.microsoft.com/office/drawing/2014/main" id="{169ED47F-B4C1-4E9B-AE0A-842010526EED}"/>
              </a:ext>
            </a:extLst>
          </p:cNvPr>
          <p:cNvSpPr>
            <a:spLocks xmlns:a="http://schemas.openxmlformats.org/drawingml/2006/main" noGrp="1"/>
          </p:cNvSpPr>
          <p:nvPr/>
        </p:nvSpPr>
        <p:spPr>
          <a:xfrm xmlns:a="http://schemas.openxmlformats.org/drawingml/2006/main">
            <a:off x="6953250" y="3667125"/>
            <a:ext cx="4629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AC8743"/>
                </a:solidFill>
                <a:latin typeface="Arial"/>
                <a:ea typeface="Arial"/>
                <a:cs typeface="Arial"/>
              </a:defRPr>
            </a:defPPr>
            <a:lvl1pPr algn="l">
              <a:defRPr sz="2175" b="1">
                <a:solidFill>
                  <a:srgbClr val="AC8743"/>
                </a:solidFill>
                <a:latin typeface="Arial"/>
                <a:ea typeface="Arial"/>
                <a:cs typeface="Arial"/>
              </a:defRPr>
            </a:lvl1pPr>
            <a:lvl2pPr algn="l">
              <a:defRPr sz="2175" b="1">
                <a:solidFill>
                  <a:srgbClr val="AC8743"/>
                </a:solidFill>
                <a:latin typeface="Arial"/>
                <a:ea typeface="Arial"/>
                <a:cs typeface="Arial"/>
              </a:defRPr>
            </a:lvl2pPr>
            <a:lvl3pPr algn="l">
              <a:defRPr sz="2175" b="1">
                <a:solidFill>
                  <a:srgbClr val="AC8743"/>
                </a:solidFill>
                <a:latin typeface="Arial"/>
                <a:ea typeface="Arial"/>
                <a:cs typeface="Arial"/>
              </a:defRPr>
            </a:lvl3pPr>
            <a:lvl4pPr algn="l">
              <a:defRPr sz="2175" b="1">
                <a:solidFill>
                  <a:srgbClr val="AC8743"/>
                </a:solidFill>
                <a:latin typeface="Arial"/>
                <a:ea typeface="Arial"/>
                <a:cs typeface="Arial"/>
              </a:defRPr>
            </a:lvl4pPr>
            <a:lvl5pPr algn="l">
              <a:defRPr sz="2175" b="1">
                <a:solidFill>
                  <a:srgbClr val="AC8743"/>
                </a:solidFill>
                <a:latin typeface="Arial"/>
                <a:ea typeface="Arial"/>
                <a:cs typeface="Arial"/>
              </a:defRPr>
            </a:lvl5pPr>
            <a:lvl6pPr algn="l">
              <a:defRPr sz="2175" b="1">
                <a:solidFill>
                  <a:srgbClr val="AC8743"/>
                </a:solidFill>
                <a:latin typeface="Arial"/>
                <a:ea typeface="Arial"/>
                <a:cs typeface="Arial"/>
              </a:defRPr>
            </a:lvl6pPr>
            <a:lvl7pPr algn="l">
              <a:defRPr sz="2175" b="1">
                <a:solidFill>
                  <a:srgbClr val="AC8743"/>
                </a:solidFill>
                <a:latin typeface="Arial"/>
                <a:ea typeface="Arial"/>
                <a:cs typeface="Arial"/>
              </a:defRPr>
            </a:lvl7pPr>
            <a:lvl8pPr algn="l">
              <a:defRPr sz="2175" b="1">
                <a:solidFill>
                  <a:srgbClr val="AC8743"/>
                </a:solidFill>
                <a:latin typeface="Arial"/>
                <a:ea typeface="Arial"/>
                <a:cs typeface="Arial"/>
              </a:defRPr>
            </a:lvl8pPr>
            <a:lvl9pPr algn="l">
              <a:defRPr sz="2175" b="1">
                <a:solidFill>
                  <a:srgbClr val="AC8743"/>
                </a:solidFill>
                <a:latin typeface="Arial"/>
                <a:ea typeface="Arial"/>
                <a:cs typeface="Arial"/>
              </a:defRPr>
            </a:lvl9pPr>
          </a:lstStyle>
          <a:p xmlns:a="http://schemas.openxmlformats.org/drawingml/2006/main">
            <a:pPr algn="l">
              <a:defRPr sz="2175" b="1">
                <a:solidFill>
                  <a:srgbClr val="AC8743"/>
                </a:solidFill>
                <a:latin typeface="Arial"/>
                <a:ea typeface="Arial"/>
                <a:cs typeface="Arial"/>
              </a:defRPr>
            </a:pPr>
            <a:r>
              <a:rPr sz="2175" b="1">
                <a:solidFill>
                  <a:srgbClr val="AC8743"/>
                </a:solidFill>
                <a:latin typeface="Arial"/>
                <a:ea typeface="Arial"/>
                <a:cs typeface="Arial"/>
              </a:rPr>
              <a:t>Local access varies</a:t>
            </a:r>
          </a:p>
        </p:txBody>
      </p:sp>
      <p:sp>
        <p:nvSpPr>
          <p:cNvPr id="8" name="prime-text-7">
            <a:extLst xmlns:a="http://schemas.openxmlformats.org/drawingml/2006/main">
              <a:ext uri="{FF2B5EF4-FFF2-40B4-BE49-F238E27FC236}">
                <a16:creationId xmlns:a16="http://schemas.microsoft.com/office/drawing/2014/main" id="{E12A52C6-C4C8-471F-82FB-5303AF85CC7A}"/>
              </a:ext>
            </a:extLst>
          </p:cNvPr>
          <p:cNvSpPr>
            <a:spLocks xmlns:a="http://schemas.openxmlformats.org/drawingml/2006/main" noGrp="1"/>
          </p:cNvSpPr>
          <p:nvPr/>
        </p:nvSpPr>
        <p:spPr>
          <a:xfrm xmlns:a="http://schemas.openxmlformats.org/drawingml/2006/main">
            <a:off x="6953250" y="4257675"/>
            <a:ext cx="46291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xmlns:a="http://schemas.openxmlformats.org/drawingml/2006/main">
            <a:pPr algn="l">
              <a:defRPr sz="2100" b="0">
                <a:solidFill>
                  <a:srgbClr val="183440"/>
                </a:solidFill>
                <a:latin typeface="Arial"/>
                <a:ea typeface="Arial"/>
                <a:cs typeface="Arial"/>
              </a:defRPr>
            </a:pPr>
            <a:r>
              <a:rPr sz="2100" b="0">
                <a:solidFill>
                  <a:srgbClr val="183440"/>
                </a:solidFill>
                <a:latin typeface="Arial"/>
                <a:ea typeface="Arial"/>
                <a:cs typeface="Arial"/>
              </a:rPr>
              <a:t>Eligible accounts, overseas funding rules and local product coverage can limit global investing access.</a:t>
            </a:r>
          </a:p>
        </p:txBody>
      </p:sp>
      <p:sp>
        <p:nvSpPr>
          <p:cNvPr id="9" name="prime-text-8">
            <a:extLst xmlns:a="http://schemas.openxmlformats.org/drawingml/2006/main">
              <a:ext uri="{FF2B5EF4-FFF2-40B4-BE49-F238E27FC236}">
                <a16:creationId xmlns:a16="http://schemas.microsoft.com/office/drawing/2014/main" id="{648E005F-2DEB-4A01-A9F5-1AEA8CBF4FB5}"/>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xmlns:a="http://schemas.openxmlformats.org/drawingml/2006/main">
            <a:pPr algn="l">
              <a:defRPr sz="1500" b="0">
                <a:solidFill>
                  <a:srgbClr val="53676D"/>
                </a:solidFill>
                <a:latin typeface="Arial"/>
                <a:ea typeface="Arial"/>
                <a:cs typeface="Arial"/>
              </a:defRPr>
            </a:pPr>
            <a:r>
              <a:rPr sz="1500" b="0">
                <a:solidFill>
                  <a:srgbClr val="53676D"/>
                </a:solidFill>
                <a:latin typeface="Arial"/>
                <a:ea typeface="Arial"/>
                <a:cs typeface="Arial"/>
              </a:rPr>
              <a:t>Fractional brokerage already helps some investors. Broker, customer and product eligibility still vary.</a:t>
            </a:r>
          </a:p>
        </p:txBody>
      </p:sp>
    </p:spTree>
    <p:extLst>
      <p:ext uri="{BB962C8B-B14F-4D97-AF65-F5344CB8AC3E}">
        <p14:creationId xmlns:p14="http://schemas.microsoft.com/office/powerpoint/2010/main" val="1102637322"/>
      </p:ext>
    </p:extLst>
  </p:cSld>
</p:sld>
</file>

<file path=ppt/slides/slide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3" name="prime-text-9">
            <a:extLst xmlns:a="http://schemas.openxmlformats.org/drawingml/2006/main">
              <a:ext uri="{FF2B5EF4-FFF2-40B4-BE49-F238E27FC236}">
                <a16:creationId xmlns:a16="http://schemas.microsoft.com/office/drawing/2014/main" id="{3580332F-072D-4DB8-A207-B5FA763A04B3}"/>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xmlns:a="http://schemas.openxmlformats.org/drawingml/2006/main">
            <a:pPr algn="l">
              <a:defRPr sz="3300" b="1">
                <a:solidFill>
                  <a:srgbClr val="183440"/>
                </a:solidFill>
                <a:latin typeface="Arial"/>
                <a:ea typeface="Arial"/>
                <a:cs typeface="Arial"/>
              </a:defRPr>
            </a:pPr>
            <a:r>
              <a:rPr sz="3300" b="1">
                <a:solidFill>
                  <a:srgbClr val="183440"/>
                </a:solidFill>
                <a:latin typeface="Arial"/>
                <a:ea typeface="Arial"/>
                <a:cs typeface="Arial"/>
              </a:rPr>
              <a:t>Global equity access for stablecoin adoption</a:t>
            </a:r>
          </a:p>
        </p:txBody>
      </p:sp>
      <p:sp>
        <p:nvSpPr>
          <p:cNvPr id="2" name="prime-text-10">
            <a:extLst xmlns:a="http://schemas.openxmlformats.org/drawingml/2006/main">
              <a:ext uri="{FF2B5EF4-FFF2-40B4-BE49-F238E27FC236}">
                <a16:creationId xmlns:a16="http://schemas.microsoft.com/office/drawing/2014/main" id="{A5C24361-A919-46EF-8C00-E65E509C7A0C}"/>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xmlns:a="http://schemas.openxmlformats.org/drawingml/2006/main">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3" name="prime-text-11">
            <a:extLst xmlns:a="http://schemas.openxmlformats.org/drawingml/2006/main">
              <a:ext uri="{FF2B5EF4-FFF2-40B4-BE49-F238E27FC236}">
                <a16:creationId xmlns:a16="http://schemas.microsoft.com/office/drawing/2014/main" id="{4F536C32-695F-41C7-88F5-70300243989B}"/>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xmlns:a="http://schemas.openxmlformats.org/drawingml/2006/main">
            <a:pPr algn="r">
              <a:defRPr sz="1200" b="0">
                <a:solidFill>
                  <a:srgbClr val="53676D"/>
                </a:solidFill>
                <a:latin typeface="Arial"/>
                <a:ea typeface="Arial"/>
                <a:cs typeface="Arial"/>
              </a:defRPr>
            </a:pPr>
            <a:r>
              <a:rPr sz="1200" b="0">
                <a:solidFill>
                  <a:srgbClr val="53676D"/>
                </a:solidFill>
                <a:latin typeface="Arial"/>
                <a:ea typeface="Arial"/>
                <a:cs typeface="Arial"/>
              </a:rPr>
              <a:t>03</a:t>
            </a:r>
          </a:p>
        </p:txBody>
      </p:sp>
      <p:sp>
        <p:nvSpPr>
          <p:cNvPr id="4" name="prime-text-12">
            <a:extLst xmlns:a="http://schemas.openxmlformats.org/drawingml/2006/main">
              <a:ext uri="{FF2B5EF4-FFF2-40B4-BE49-F238E27FC236}">
                <a16:creationId xmlns:a16="http://schemas.microsoft.com/office/drawing/2014/main" id="{F30EEBC9-03B8-454F-B29B-22552E3FDAAF}"/>
              </a:ext>
            </a:extLst>
          </p:cNvPr>
          <p:cNvSpPr>
            <a:spLocks xmlns:a="http://schemas.openxmlformats.org/drawingml/2006/main" noGrp="1"/>
          </p:cNvSpPr>
          <p:nvPr/>
        </p:nvSpPr>
        <p:spPr>
          <a:xfrm xmlns:a="http://schemas.openxmlformats.org/drawingml/2006/main">
            <a:off x="609600" y="140970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xmlns:a="http://schemas.openxmlformats.org/drawingml/2006/main">
            <a:pPr algn="l">
              <a:defRPr sz="2250" b="1">
                <a:solidFill>
                  <a:srgbClr val="176C6B"/>
                </a:solidFill>
                <a:latin typeface="Arial"/>
                <a:ea typeface="Arial"/>
                <a:cs typeface="Arial"/>
              </a:defRPr>
            </a:pPr>
            <a:r>
              <a:rPr sz="2250" b="1">
                <a:solidFill>
                  <a:srgbClr val="176C6B"/>
                </a:solidFill>
                <a:latin typeface="Arial"/>
                <a:ea typeface="Arial"/>
                <a:cs typeface="Arial"/>
              </a:rPr>
              <a:t>Leading payments engineering to capital markets</a:t>
            </a:r>
          </a:p>
        </p:txBody>
      </p:sp>
      <p:sp>
        <p:nvSpPr>
          <p:cNvPr id="5" name="prime-text-13">
            <a:extLst xmlns:a="http://schemas.openxmlformats.org/drawingml/2006/main">
              <a:ext uri="{FF2B5EF4-FFF2-40B4-BE49-F238E27FC236}">
                <a16:creationId xmlns:a16="http://schemas.microsoft.com/office/drawing/2014/main" id="{05E237C0-848A-47F8-A7A4-9087241CB8A9}"/>
              </a:ext>
            </a:extLst>
          </p:cNvPr>
          <p:cNvSpPr>
            <a:spLocks xmlns:a="http://schemas.openxmlformats.org/drawingml/2006/main" noGrp="1"/>
          </p:cNvSpPr>
          <p:nvPr/>
        </p:nvSpPr>
        <p:spPr>
          <a:xfrm xmlns:a="http://schemas.openxmlformats.org/drawingml/2006/main">
            <a:off x="609600" y="2276475"/>
            <a:ext cx="5191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1">
                <a:solidFill>
                  <a:srgbClr val="176C6B"/>
                </a:solidFill>
                <a:latin typeface="Arial"/>
                <a:ea typeface="Arial"/>
                <a:cs typeface="Arial"/>
              </a:defRPr>
            </a:defPPr>
            <a:lvl1pPr algn="l">
              <a:defRPr sz="3825" b="1">
                <a:solidFill>
                  <a:srgbClr val="176C6B"/>
                </a:solidFill>
                <a:latin typeface="Arial"/>
                <a:ea typeface="Arial"/>
                <a:cs typeface="Arial"/>
              </a:defRPr>
            </a:lvl1pPr>
            <a:lvl2pPr algn="l">
              <a:defRPr sz="3825" b="1">
                <a:solidFill>
                  <a:srgbClr val="176C6B"/>
                </a:solidFill>
                <a:latin typeface="Arial"/>
                <a:ea typeface="Arial"/>
                <a:cs typeface="Arial"/>
              </a:defRPr>
            </a:lvl2pPr>
            <a:lvl3pPr algn="l">
              <a:defRPr sz="3825" b="1">
                <a:solidFill>
                  <a:srgbClr val="176C6B"/>
                </a:solidFill>
                <a:latin typeface="Arial"/>
                <a:ea typeface="Arial"/>
                <a:cs typeface="Arial"/>
              </a:defRPr>
            </a:lvl3pPr>
            <a:lvl4pPr algn="l">
              <a:defRPr sz="3825" b="1">
                <a:solidFill>
                  <a:srgbClr val="176C6B"/>
                </a:solidFill>
                <a:latin typeface="Arial"/>
                <a:ea typeface="Arial"/>
                <a:cs typeface="Arial"/>
              </a:defRPr>
            </a:lvl4pPr>
            <a:lvl5pPr algn="l">
              <a:defRPr sz="3825" b="1">
                <a:solidFill>
                  <a:srgbClr val="176C6B"/>
                </a:solidFill>
                <a:latin typeface="Arial"/>
                <a:ea typeface="Arial"/>
                <a:cs typeface="Arial"/>
              </a:defRPr>
            </a:lvl5pPr>
            <a:lvl6pPr algn="l">
              <a:defRPr sz="3825" b="1">
                <a:solidFill>
                  <a:srgbClr val="176C6B"/>
                </a:solidFill>
                <a:latin typeface="Arial"/>
                <a:ea typeface="Arial"/>
                <a:cs typeface="Arial"/>
              </a:defRPr>
            </a:lvl6pPr>
            <a:lvl7pPr algn="l">
              <a:defRPr sz="3825" b="1">
                <a:solidFill>
                  <a:srgbClr val="176C6B"/>
                </a:solidFill>
                <a:latin typeface="Arial"/>
                <a:ea typeface="Arial"/>
                <a:cs typeface="Arial"/>
              </a:defRPr>
            </a:lvl7pPr>
            <a:lvl8pPr algn="l">
              <a:defRPr sz="3825" b="1">
                <a:solidFill>
                  <a:srgbClr val="176C6B"/>
                </a:solidFill>
                <a:latin typeface="Arial"/>
                <a:ea typeface="Arial"/>
                <a:cs typeface="Arial"/>
              </a:defRPr>
            </a:lvl8pPr>
            <a:lvl9pPr algn="l">
              <a:defRPr sz="3825" b="1">
                <a:solidFill>
                  <a:srgbClr val="176C6B"/>
                </a:solidFill>
                <a:latin typeface="Arial"/>
                <a:ea typeface="Arial"/>
                <a:cs typeface="Arial"/>
              </a:defRPr>
            </a:lvl9pPr>
          </a:lstStyle>
          <a:p xmlns:a="http://schemas.openxmlformats.org/drawingml/2006/main">
            <a:pPr algn="l">
              <a:defRPr sz="3825" b="1">
                <a:solidFill>
                  <a:srgbClr val="176C6B"/>
                </a:solidFill>
                <a:latin typeface="Arial"/>
                <a:ea typeface="Arial"/>
                <a:cs typeface="Arial"/>
              </a:defRPr>
            </a:pPr>
            <a:r>
              <a:rPr sz="3825" b="1">
                <a:solidFill>
                  <a:srgbClr val="176C6B"/>
                </a:solidFill>
                <a:latin typeface="Arial"/>
                <a:ea typeface="Arial"/>
                <a:cs typeface="Arial"/>
              </a:rPr>
              <a:t>35% to 42%</a:t>
            </a:r>
          </a:p>
        </p:txBody>
      </p:sp>
      <p:sp>
        <p:nvSpPr>
          <p:cNvPr id="6" name="prime-text-14">
            <a:extLst xmlns:a="http://schemas.openxmlformats.org/drawingml/2006/main">
              <a:ext uri="{FF2B5EF4-FFF2-40B4-BE49-F238E27FC236}">
                <a16:creationId xmlns:a16="http://schemas.microsoft.com/office/drawing/2014/main" id="{9B1CE3EE-5663-47AD-98AE-DC0A7ACC4E84}"/>
              </a:ext>
            </a:extLst>
          </p:cNvPr>
          <p:cNvSpPr>
            <a:spLocks xmlns:a="http://schemas.openxmlformats.org/drawingml/2006/main" noGrp="1"/>
          </p:cNvSpPr>
          <p:nvPr/>
        </p:nvSpPr>
        <p:spPr>
          <a:xfrm xmlns:a="http://schemas.openxmlformats.org/drawingml/2006/main">
            <a:off x="609600" y="3171825"/>
            <a:ext cx="51911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xmlns:a="http://schemas.openxmlformats.org/drawingml/2006/main">
            <a:pPr algn="l">
              <a:defRPr sz="2100" b="0">
                <a:solidFill>
                  <a:srgbClr val="183440"/>
                </a:solidFill>
                <a:latin typeface="Arial"/>
                <a:ea typeface="Arial"/>
                <a:cs typeface="Arial"/>
              </a:defRPr>
            </a:pPr>
            <a:r>
              <a:rPr sz="2100" b="0">
                <a:solidFill>
                  <a:srgbClr val="183440"/>
                </a:solidFill>
                <a:latin typeface="Arial"/>
                <a:ea typeface="Arial"/>
                <a:cs typeface="Arial"/>
              </a:rPr>
              <a:t>Digital merchant payments among adults</a:t>
            </a:r>
          </a:p>
          <a:p xmlns:a="http://schemas.openxmlformats.org/drawingml/2006/main">
            <a:pPr algn="l">
              <a:defRPr sz="2100" b="0">
                <a:solidFill>
                  <a:srgbClr val="183440"/>
                </a:solidFill>
                <a:latin typeface="Arial"/>
                <a:ea typeface="Arial"/>
                <a:cs typeface="Arial"/>
              </a:defRPr>
            </a:pPr>
            <a:r>
              <a:rPr sz="2100" b="0">
                <a:solidFill>
                  <a:srgbClr val="183440"/>
                </a:solidFill>
                <a:latin typeface="Arial"/>
                <a:ea typeface="Arial"/>
                <a:cs typeface="Arial"/>
              </a:rPr>
              <a:t>in low- and middle-income countries,</a:t>
            </a:r>
          </a:p>
          <a:p xmlns:a="http://schemas.openxmlformats.org/drawingml/2006/main">
            <a:pPr algn="l">
              <a:defRPr sz="2100" b="0">
                <a:solidFill>
                  <a:srgbClr val="183440"/>
                </a:solidFill>
                <a:latin typeface="Arial"/>
                <a:ea typeface="Arial"/>
                <a:cs typeface="Arial"/>
              </a:defRPr>
            </a:pPr>
            <a:r>
              <a:rPr sz="2100" b="0">
                <a:solidFill>
                  <a:srgbClr val="183440"/>
                </a:solidFill>
                <a:latin typeface="Arial"/>
                <a:ea typeface="Arial"/>
                <a:cs typeface="Arial"/>
              </a:rPr>
              <a:t>2021 to 2024</a:t>
            </a:r>
          </a:p>
        </p:txBody>
      </p:sp>
      <p:sp>
        <p:nvSpPr>
          <p:cNvPr id="7" name="prime-text-15">
            <a:extLst xmlns:a="http://schemas.openxmlformats.org/drawingml/2006/main">
              <a:ext uri="{FF2B5EF4-FFF2-40B4-BE49-F238E27FC236}">
                <a16:creationId xmlns:a16="http://schemas.microsoft.com/office/drawing/2014/main" id="{4870D63D-579A-45BA-BFBF-65739970F5DD}"/>
              </a:ext>
            </a:extLst>
          </p:cNvPr>
          <p:cNvSpPr>
            <a:spLocks xmlns:a="http://schemas.openxmlformats.org/drawingml/2006/main" noGrp="1"/>
          </p:cNvSpPr>
          <p:nvPr/>
        </p:nvSpPr>
        <p:spPr>
          <a:xfrm xmlns:a="http://schemas.openxmlformats.org/drawingml/2006/main">
            <a:off x="609600" y="4505325"/>
            <a:ext cx="51911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xmlns:a="http://schemas.openxmlformats.org/drawingml/2006/main">
            <a:pPr algn="l">
              <a:defRPr sz="1650" b="0">
                <a:solidFill>
                  <a:srgbClr val="53676D"/>
                </a:solidFill>
                <a:latin typeface="Arial"/>
                <a:ea typeface="Arial"/>
                <a:cs typeface="Arial"/>
              </a:defRPr>
            </a:pPr>
            <a:r>
              <a:rPr sz="1650" b="0">
                <a:solidFill>
                  <a:srgbClr val="53676D"/>
                </a:solidFill>
                <a:latin typeface="Arial"/>
                <a:ea typeface="Arial"/>
                <a:cs typeface="Arial"/>
              </a:rPr>
              <a:t>World Bank Global Findex 2025</a:t>
            </a:r>
          </a:p>
        </p:txBody>
      </p:sp>
      <p:sp>
        <p:nvSpPr>
          <p:cNvPr id="8" name="prime-text-16">
            <a:extLst xmlns:a="http://schemas.openxmlformats.org/drawingml/2006/main">
              <a:ext uri="{FF2B5EF4-FFF2-40B4-BE49-F238E27FC236}">
                <a16:creationId xmlns:a16="http://schemas.microsoft.com/office/drawing/2014/main" id="{9816510C-8E03-42CA-BA5D-04129A02B2B0}"/>
              </a:ext>
            </a:extLst>
          </p:cNvPr>
          <p:cNvSpPr>
            <a:spLocks xmlns:a="http://schemas.openxmlformats.org/drawingml/2006/main" noGrp="1"/>
          </p:cNvSpPr>
          <p:nvPr/>
        </p:nvSpPr>
        <p:spPr>
          <a:xfrm xmlns:a="http://schemas.openxmlformats.org/drawingml/2006/main">
            <a:off x="6496050" y="2276475"/>
            <a:ext cx="5086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1">
                <a:solidFill>
                  <a:srgbClr val="176C6B"/>
                </a:solidFill>
                <a:latin typeface="Arial"/>
                <a:ea typeface="Arial"/>
                <a:cs typeface="Arial"/>
              </a:defRPr>
            </a:defPPr>
            <a:lvl1pPr algn="l">
              <a:defRPr sz="3825" b="1">
                <a:solidFill>
                  <a:srgbClr val="176C6B"/>
                </a:solidFill>
                <a:latin typeface="Arial"/>
                <a:ea typeface="Arial"/>
                <a:cs typeface="Arial"/>
              </a:defRPr>
            </a:lvl1pPr>
            <a:lvl2pPr algn="l">
              <a:defRPr sz="3825" b="1">
                <a:solidFill>
                  <a:srgbClr val="176C6B"/>
                </a:solidFill>
                <a:latin typeface="Arial"/>
                <a:ea typeface="Arial"/>
                <a:cs typeface="Arial"/>
              </a:defRPr>
            </a:lvl2pPr>
            <a:lvl3pPr algn="l">
              <a:defRPr sz="3825" b="1">
                <a:solidFill>
                  <a:srgbClr val="176C6B"/>
                </a:solidFill>
                <a:latin typeface="Arial"/>
                <a:ea typeface="Arial"/>
                <a:cs typeface="Arial"/>
              </a:defRPr>
            </a:lvl3pPr>
            <a:lvl4pPr algn="l">
              <a:defRPr sz="3825" b="1">
                <a:solidFill>
                  <a:srgbClr val="176C6B"/>
                </a:solidFill>
                <a:latin typeface="Arial"/>
                <a:ea typeface="Arial"/>
                <a:cs typeface="Arial"/>
              </a:defRPr>
            </a:lvl4pPr>
            <a:lvl5pPr algn="l">
              <a:defRPr sz="3825" b="1">
                <a:solidFill>
                  <a:srgbClr val="176C6B"/>
                </a:solidFill>
                <a:latin typeface="Arial"/>
                <a:ea typeface="Arial"/>
                <a:cs typeface="Arial"/>
              </a:defRPr>
            </a:lvl5pPr>
            <a:lvl6pPr algn="l">
              <a:defRPr sz="3825" b="1">
                <a:solidFill>
                  <a:srgbClr val="176C6B"/>
                </a:solidFill>
                <a:latin typeface="Arial"/>
                <a:ea typeface="Arial"/>
                <a:cs typeface="Arial"/>
              </a:defRPr>
            </a:lvl6pPr>
            <a:lvl7pPr algn="l">
              <a:defRPr sz="3825" b="1">
                <a:solidFill>
                  <a:srgbClr val="176C6B"/>
                </a:solidFill>
                <a:latin typeface="Arial"/>
                <a:ea typeface="Arial"/>
                <a:cs typeface="Arial"/>
              </a:defRPr>
            </a:lvl7pPr>
            <a:lvl8pPr algn="l">
              <a:defRPr sz="3825" b="1">
                <a:solidFill>
                  <a:srgbClr val="176C6B"/>
                </a:solidFill>
                <a:latin typeface="Arial"/>
                <a:ea typeface="Arial"/>
                <a:cs typeface="Arial"/>
              </a:defRPr>
            </a:lvl8pPr>
            <a:lvl9pPr algn="l">
              <a:defRPr sz="3825" b="1">
                <a:solidFill>
                  <a:srgbClr val="176C6B"/>
                </a:solidFill>
                <a:latin typeface="Arial"/>
                <a:ea typeface="Arial"/>
                <a:cs typeface="Arial"/>
              </a:defRPr>
            </a:lvl9pPr>
          </a:lstStyle>
          <a:p xmlns:a="http://schemas.openxmlformats.org/drawingml/2006/main">
            <a:pPr algn="l">
              <a:defRPr sz="3825" b="1">
                <a:solidFill>
                  <a:srgbClr val="176C6B"/>
                </a:solidFill>
                <a:latin typeface="Arial"/>
                <a:ea typeface="Arial"/>
                <a:cs typeface="Arial"/>
              </a:defRPr>
            </a:pPr>
            <a:r>
              <a:rPr sz="3825" b="1">
                <a:solidFill>
                  <a:srgbClr val="176C6B"/>
                </a:solidFill>
                <a:latin typeface="Arial"/>
                <a:ea typeface="Arial"/>
                <a:cs typeface="Arial"/>
              </a:rPr>
              <a:t>+9.8%</a:t>
            </a:r>
          </a:p>
        </p:txBody>
      </p:sp>
      <p:sp>
        <p:nvSpPr>
          <p:cNvPr id="9" name="prime-text-17">
            <a:extLst xmlns:a="http://schemas.openxmlformats.org/drawingml/2006/main">
              <a:ext uri="{FF2B5EF4-FFF2-40B4-BE49-F238E27FC236}">
                <a16:creationId xmlns:a16="http://schemas.microsoft.com/office/drawing/2014/main" id="{72F00AC4-1765-474A-8DE2-80EC01E255EC}"/>
              </a:ext>
            </a:extLst>
          </p:cNvPr>
          <p:cNvSpPr>
            <a:spLocks xmlns:a="http://schemas.openxmlformats.org/drawingml/2006/main" noGrp="1"/>
          </p:cNvSpPr>
          <p:nvPr/>
        </p:nvSpPr>
        <p:spPr>
          <a:xfrm xmlns:a="http://schemas.openxmlformats.org/drawingml/2006/main">
            <a:off x="6496050" y="3171825"/>
            <a:ext cx="508635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xmlns:a="http://schemas.openxmlformats.org/drawingml/2006/main">
            <a:pPr algn="l">
              <a:defRPr sz="2100" b="0">
                <a:solidFill>
                  <a:srgbClr val="183440"/>
                </a:solidFill>
                <a:latin typeface="Arial"/>
                <a:ea typeface="Arial"/>
                <a:cs typeface="Arial"/>
              </a:defRPr>
            </a:pPr>
            <a:r>
              <a:rPr sz="2100" b="0">
                <a:solidFill>
                  <a:srgbClr val="183440"/>
                </a:solidFill>
                <a:latin typeface="Arial"/>
                <a:ea typeface="Arial"/>
                <a:cs typeface="Arial"/>
              </a:rPr>
              <a:t>Latin America crypto economic activity,</a:t>
            </a:r>
          </a:p>
          <a:p xmlns:a="http://schemas.openxmlformats.org/drawingml/2006/main">
            <a:pPr algn="l">
              <a:defRPr sz="2100" b="0">
                <a:solidFill>
                  <a:srgbClr val="183440"/>
                </a:solidFill>
                <a:latin typeface="Arial"/>
                <a:ea typeface="Arial"/>
                <a:cs typeface="Arial"/>
              </a:defRPr>
            </a:pPr>
            <a:r>
              <a:rPr sz="2100" b="0">
                <a:solidFill>
                  <a:srgbClr val="183440"/>
                </a:solidFill>
                <a:latin typeface="Arial"/>
                <a:ea typeface="Arial"/>
                <a:cs typeface="Arial"/>
              </a:rPr>
              <a:t>12 months to June 2026 versus the</a:t>
            </a:r>
          </a:p>
          <a:p xmlns:a="http://schemas.openxmlformats.org/drawingml/2006/main">
            <a:pPr algn="l">
              <a:defRPr sz="2100" b="0">
                <a:solidFill>
                  <a:srgbClr val="183440"/>
                </a:solidFill>
                <a:latin typeface="Arial"/>
                <a:ea typeface="Arial"/>
                <a:cs typeface="Arial"/>
              </a:defRPr>
            </a:pPr>
            <a:r>
              <a:rPr sz="2100" b="0">
                <a:solidFill>
                  <a:srgbClr val="183440"/>
                </a:solidFill>
                <a:latin typeface="Arial"/>
                <a:ea typeface="Arial"/>
                <a:cs typeface="Arial"/>
              </a:rPr>
              <a:t>previous 12 months</a:t>
            </a:r>
          </a:p>
        </p:txBody>
      </p:sp>
      <p:sp>
        <p:nvSpPr>
          <p:cNvPr id="10" name="prime-text-18">
            <a:extLst xmlns:a="http://schemas.openxmlformats.org/drawingml/2006/main">
              <a:ext uri="{FF2B5EF4-FFF2-40B4-BE49-F238E27FC236}">
                <a16:creationId xmlns:a16="http://schemas.microsoft.com/office/drawing/2014/main" id="{6588383E-8493-46AF-8EC9-502C65C78C46}"/>
              </a:ext>
            </a:extLst>
          </p:cNvPr>
          <p:cNvSpPr>
            <a:spLocks xmlns:a="http://schemas.openxmlformats.org/drawingml/2006/main" noGrp="1"/>
          </p:cNvSpPr>
          <p:nvPr/>
        </p:nvSpPr>
        <p:spPr>
          <a:xfrm xmlns:a="http://schemas.openxmlformats.org/drawingml/2006/main">
            <a:off x="6496050" y="4505325"/>
            <a:ext cx="5086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xmlns:a="http://schemas.openxmlformats.org/drawingml/2006/main">
            <a:pPr algn="l">
              <a:defRPr sz="1650" b="0">
                <a:solidFill>
                  <a:srgbClr val="53676D"/>
                </a:solidFill>
                <a:latin typeface="Arial"/>
                <a:ea typeface="Arial"/>
                <a:cs typeface="Arial"/>
              </a:defRPr>
            </a:pPr>
            <a:r>
              <a:rPr sz="1650" b="0">
                <a:solidFill>
                  <a:srgbClr val="53676D"/>
                </a:solidFill>
                <a:latin typeface="Arial"/>
                <a:ea typeface="Arial"/>
                <a:cs typeface="Arial"/>
              </a:rPr>
              <a:t>Chainalysis 2026 adoption report</a:t>
            </a:r>
          </a:p>
        </p:txBody>
      </p:sp>
      <p:sp>
        <p:nvSpPr>
          <p:cNvPr id="11" name="prime-text-19">
            <a:extLst xmlns:a="http://schemas.openxmlformats.org/drawingml/2006/main">
              <a:ext uri="{FF2B5EF4-FFF2-40B4-BE49-F238E27FC236}">
                <a16:creationId xmlns:a16="http://schemas.microsoft.com/office/drawing/2014/main" id="{C756EF2A-4E2F-490C-92EA-A166BD89753A}"/>
              </a:ext>
            </a:extLst>
          </p:cNvPr>
          <p:cNvSpPr>
            <a:spLocks xmlns:a="http://schemas.openxmlformats.org/drawingml/2006/main" noGrp="1"/>
          </p:cNvSpPr>
          <p:nvPr/>
        </p:nvSpPr>
        <p:spPr>
          <a:xfrm xmlns:a="http://schemas.openxmlformats.org/drawingml/2006/main">
            <a:off x="609600" y="52387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83440"/>
                </a:solidFill>
                <a:latin typeface="Arial"/>
                <a:ea typeface="Arial"/>
                <a:cs typeface="Arial"/>
              </a:defRPr>
            </a:defPPr>
            <a:lvl1pPr algn="l">
              <a:defRPr sz="2175" b="1">
                <a:solidFill>
                  <a:srgbClr val="183440"/>
                </a:solidFill>
                <a:latin typeface="Arial"/>
                <a:ea typeface="Arial"/>
                <a:cs typeface="Arial"/>
              </a:defRPr>
            </a:lvl1pPr>
            <a:lvl2pPr algn="l">
              <a:defRPr sz="2175" b="1">
                <a:solidFill>
                  <a:srgbClr val="183440"/>
                </a:solidFill>
                <a:latin typeface="Arial"/>
                <a:ea typeface="Arial"/>
                <a:cs typeface="Arial"/>
              </a:defRPr>
            </a:lvl2pPr>
            <a:lvl3pPr algn="l">
              <a:defRPr sz="2175" b="1">
                <a:solidFill>
                  <a:srgbClr val="183440"/>
                </a:solidFill>
                <a:latin typeface="Arial"/>
                <a:ea typeface="Arial"/>
                <a:cs typeface="Arial"/>
              </a:defRPr>
            </a:lvl3pPr>
            <a:lvl4pPr algn="l">
              <a:defRPr sz="2175" b="1">
                <a:solidFill>
                  <a:srgbClr val="183440"/>
                </a:solidFill>
                <a:latin typeface="Arial"/>
                <a:ea typeface="Arial"/>
                <a:cs typeface="Arial"/>
              </a:defRPr>
            </a:lvl4pPr>
            <a:lvl5pPr algn="l">
              <a:defRPr sz="2175" b="1">
                <a:solidFill>
                  <a:srgbClr val="183440"/>
                </a:solidFill>
                <a:latin typeface="Arial"/>
                <a:ea typeface="Arial"/>
                <a:cs typeface="Arial"/>
              </a:defRPr>
            </a:lvl5pPr>
            <a:lvl6pPr algn="l">
              <a:defRPr sz="2175" b="1">
                <a:solidFill>
                  <a:srgbClr val="183440"/>
                </a:solidFill>
                <a:latin typeface="Arial"/>
                <a:ea typeface="Arial"/>
                <a:cs typeface="Arial"/>
              </a:defRPr>
            </a:lvl6pPr>
            <a:lvl7pPr algn="l">
              <a:defRPr sz="2175" b="1">
                <a:solidFill>
                  <a:srgbClr val="183440"/>
                </a:solidFill>
                <a:latin typeface="Arial"/>
                <a:ea typeface="Arial"/>
                <a:cs typeface="Arial"/>
              </a:defRPr>
            </a:lvl7pPr>
            <a:lvl8pPr algn="l">
              <a:defRPr sz="2175" b="1">
                <a:solidFill>
                  <a:srgbClr val="183440"/>
                </a:solidFill>
                <a:latin typeface="Arial"/>
                <a:ea typeface="Arial"/>
                <a:cs typeface="Arial"/>
              </a:defRPr>
            </a:lvl8pPr>
            <a:lvl9pPr algn="l">
              <a:defRPr sz="2175" b="1">
                <a:solidFill>
                  <a:srgbClr val="183440"/>
                </a:solidFill>
                <a:latin typeface="Arial"/>
                <a:ea typeface="Arial"/>
                <a:cs typeface="Arial"/>
              </a:defRPr>
            </a:lvl9pPr>
          </a:lstStyle>
          <a:p xmlns:a="http://schemas.openxmlformats.org/drawingml/2006/main">
            <a:pPr algn="l">
              <a:defRPr sz="2175" b="1">
                <a:solidFill>
                  <a:srgbClr val="183440"/>
                </a:solidFill>
                <a:latin typeface="Arial"/>
                <a:ea typeface="Arial"/>
                <a:cs typeface="Arial"/>
              </a:defRPr>
            </a:pPr>
            <a:r>
              <a:rPr sz="2175" b="1">
                <a:solidFill>
                  <a:srgbClr val="183440"/>
                </a:solidFill>
                <a:latin typeface="Arial"/>
                <a:ea typeface="Arial"/>
                <a:cs typeface="Arial"/>
              </a:rPr>
              <a:t>Market adoption of stablecoin to invest in global equity</a:t>
            </a:r>
          </a:p>
          <a:p xmlns:a="http://schemas.openxmlformats.org/drawingml/2006/main">
            <a:pPr algn="l">
              <a:defRPr sz="2175" b="1">
                <a:solidFill>
                  <a:srgbClr val="183440"/>
                </a:solidFill>
                <a:latin typeface="Arial"/>
                <a:ea typeface="Arial"/>
                <a:cs typeface="Arial"/>
              </a:defRPr>
            </a:pPr>
            <a:r>
              <a:rPr sz="2175" b="1">
                <a:solidFill>
                  <a:srgbClr val="183440"/>
                </a:solidFill>
                <a:latin typeface="Arial"/>
                <a:ea typeface="Arial"/>
                <a:cs typeface="Arial"/>
              </a:rPr>
              <a:t>through accountable financial structure.</a:t>
            </a:r>
          </a:p>
        </p:txBody>
      </p:sp>
      <p:sp>
        <p:nvSpPr>
          <p:cNvPr id="12" name="prime-text-20">
            <a:extLst xmlns:a="http://schemas.openxmlformats.org/drawingml/2006/main">
              <a:ext uri="{FF2B5EF4-FFF2-40B4-BE49-F238E27FC236}">
                <a16:creationId xmlns:a16="http://schemas.microsoft.com/office/drawing/2014/main" id="{50653CE0-BB80-4D2F-A439-786E4D840E7E}"/>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3676D"/>
                </a:solidFill>
                <a:latin typeface="Arial"/>
                <a:ea typeface="Arial"/>
                <a:cs typeface="Arial"/>
              </a:defRPr>
            </a:defPPr>
            <a:lvl1pPr algn="l">
              <a:defRPr sz="1425" b="0">
                <a:solidFill>
                  <a:srgbClr val="53676D"/>
                </a:solidFill>
                <a:latin typeface="Arial"/>
                <a:ea typeface="Arial"/>
                <a:cs typeface="Arial"/>
              </a:defRPr>
            </a:lvl1pPr>
            <a:lvl2pPr algn="l">
              <a:defRPr sz="1425" b="0">
                <a:solidFill>
                  <a:srgbClr val="53676D"/>
                </a:solidFill>
                <a:latin typeface="Arial"/>
                <a:ea typeface="Arial"/>
                <a:cs typeface="Arial"/>
              </a:defRPr>
            </a:lvl2pPr>
            <a:lvl3pPr algn="l">
              <a:defRPr sz="1425" b="0">
                <a:solidFill>
                  <a:srgbClr val="53676D"/>
                </a:solidFill>
                <a:latin typeface="Arial"/>
                <a:ea typeface="Arial"/>
                <a:cs typeface="Arial"/>
              </a:defRPr>
            </a:lvl3pPr>
            <a:lvl4pPr algn="l">
              <a:defRPr sz="1425" b="0">
                <a:solidFill>
                  <a:srgbClr val="53676D"/>
                </a:solidFill>
                <a:latin typeface="Arial"/>
                <a:ea typeface="Arial"/>
                <a:cs typeface="Arial"/>
              </a:defRPr>
            </a:lvl4pPr>
            <a:lvl5pPr algn="l">
              <a:defRPr sz="1425" b="0">
                <a:solidFill>
                  <a:srgbClr val="53676D"/>
                </a:solidFill>
                <a:latin typeface="Arial"/>
                <a:ea typeface="Arial"/>
                <a:cs typeface="Arial"/>
              </a:defRPr>
            </a:lvl5pPr>
            <a:lvl6pPr algn="l">
              <a:defRPr sz="1425" b="0">
                <a:solidFill>
                  <a:srgbClr val="53676D"/>
                </a:solidFill>
                <a:latin typeface="Arial"/>
                <a:ea typeface="Arial"/>
                <a:cs typeface="Arial"/>
              </a:defRPr>
            </a:lvl6pPr>
            <a:lvl7pPr algn="l">
              <a:defRPr sz="1425" b="0">
                <a:solidFill>
                  <a:srgbClr val="53676D"/>
                </a:solidFill>
                <a:latin typeface="Arial"/>
                <a:ea typeface="Arial"/>
                <a:cs typeface="Arial"/>
              </a:defRPr>
            </a:lvl7pPr>
            <a:lvl8pPr algn="l">
              <a:defRPr sz="1425" b="0">
                <a:solidFill>
                  <a:srgbClr val="53676D"/>
                </a:solidFill>
                <a:latin typeface="Arial"/>
                <a:ea typeface="Arial"/>
                <a:cs typeface="Arial"/>
              </a:defRPr>
            </a:lvl8pPr>
            <a:lvl9pPr algn="l">
              <a:defRPr sz="1425" b="0">
                <a:solidFill>
                  <a:srgbClr val="53676D"/>
                </a:solidFill>
                <a:latin typeface="Arial"/>
                <a:ea typeface="Arial"/>
                <a:cs typeface="Arial"/>
              </a:defRPr>
            </a:lvl9pPr>
          </a:lstStyle>
          <a:p xmlns:a="http://schemas.openxmlformats.org/drawingml/2006/main">
            <a:pPr algn="l">
              <a:defRPr sz="1425" b="0">
                <a:solidFill>
                  <a:srgbClr val="53676D"/>
                </a:solidFill>
                <a:latin typeface="Arial"/>
                <a:ea typeface="Arial"/>
                <a:cs typeface="Arial"/>
              </a:defRPr>
            </a:pPr>
            <a:r>
              <a:rPr sz="1425" b="0">
                <a:solidFill>
                  <a:srgbClr val="53676D"/>
                </a:solidFill>
                <a:latin typeface="Arial"/>
                <a:ea typeface="Arial"/>
                <a:cs typeface="Arial"/>
              </a:rPr>
              <a:t>Payments and crypto indicators support the thesis. Local DeFi use and D-SHARE demand need direct validation.</a:t>
            </a:r>
          </a:p>
        </p:txBody>
      </p:sp>
    </p:spTree>
    <p:extLst>
      <p:ext uri="{BB962C8B-B14F-4D97-AF65-F5344CB8AC3E}">
        <p14:creationId xmlns:p14="http://schemas.microsoft.com/office/powerpoint/2010/main" val="1377930100"/>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0" name="budget-revision-text-3">
            <a:extLst xmlns:a="http://schemas.openxmlformats.org/drawingml/2006/main">
              <a:ext uri="{FF2B5EF4-FFF2-40B4-BE49-F238E27FC236}">
                <a16:creationId xmlns:a16="http://schemas.microsoft.com/office/drawing/2014/main" id="{00AD08ED-DC6B-440D-9137-92894B7F4D10}"/>
              </a:ext>
            </a:extLst>
          </p:cNvPr>
          <p:cNvSpPr>
            <a:spLocks xmlns:a="http://schemas.openxmlformats.org/drawingml/2006/main" noGrp="1"/>
          </p:cNvSpPr>
          <p:nvPr/>
        </p:nvSpPr>
        <p:spPr>
          <a:xfrm xmlns:a="http://schemas.openxmlformats.org/drawingml/2006/main">
            <a:off x="609600" y="504825"/>
            <a:ext cx="57150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xmlns:a="http://schemas.openxmlformats.org/drawingml/2006/main">
            <a:pPr algn="l">
              <a:buNone/>
              <a:defRPr sz="3300" b="1">
                <a:solidFill>
                  <a:srgbClr val="183440"/>
                </a:solidFill>
                <a:latin typeface="Arial"/>
                <a:ea typeface="Arial"/>
                <a:cs typeface="Arial"/>
              </a:defRPr>
            </a:pPr>
            <a:r>
              <a:rPr sz="3300" b="1">
                <a:solidFill>
                  <a:srgbClr val="183440"/>
                </a:solidFill>
                <a:latin typeface="Arial"/>
                <a:ea typeface="Arial"/>
                <a:cs typeface="Arial"/>
              </a:rPr>
              <a:t>D-SHARE</a:t>
            </a:r>
          </a:p>
        </p:txBody>
      </p:sp>
      <p:sp>
        <p:nvSpPr>
          <p:cNvPr id="2" name="budget-revision-text-4">
            <a:extLst xmlns:a="http://schemas.openxmlformats.org/drawingml/2006/main">
              <a:ext uri="{FF2B5EF4-FFF2-40B4-BE49-F238E27FC236}">
                <a16:creationId xmlns:a16="http://schemas.microsoft.com/office/drawing/2014/main" id="{E594218D-3AE6-48B2-AFEB-9748606B6F45}"/>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xmlns:a="http://schemas.openxmlformats.org/drawingml/2006/main">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3" name="budget-revision-text-5">
            <a:extLst xmlns:a="http://schemas.openxmlformats.org/drawingml/2006/main">
              <a:ext uri="{FF2B5EF4-FFF2-40B4-BE49-F238E27FC236}">
                <a16:creationId xmlns:a16="http://schemas.microsoft.com/office/drawing/2014/main" id="{F5F05D26-E8E6-41E3-8751-20E3ADFDA083}"/>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xmlns:a="http://schemas.openxmlformats.org/drawingml/2006/main">
            <a:pPr algn="r">
              <a:buNone/>
              <a:defRPr sz="1200" b="0">
                <a:solidFill>
                  <a:srgbClr val="53676D"/>
                </a:solidFill>
                <a:latin typeface="Arial"/>
                <a:ea typeface="Arial"/>
                <a:cs typeface="Arial"/>
              </a:defRPr>
            </a:pPr>
            <a:r>
              <a:rPr sz="1200" b="0">
                <a:solidFill>
                  <a:srgbClr val="53676D"/>
                </a:solidFill>
                <a:latin typeface="Arial"/>
                <a:ea typeface="Arial"/>
                <a:cs typeface="Arial"/>
              </a:rPr>
              <a:t>04</a:t>
            </a:r>
          </a:p>
        </p:txBody>
      </p:sp>
      <p:sp>
        <p:nvSpPr>
          <p:cNvPr id="4" name="budget-revision-text-6">
            <a:extLst xmlns:a="http://schemas.openxmlformats.org/drawingml/2006/main">
              <a:ext uri="{FF2B5EF4-FFF2-40B4-BE49-F238E27FC236}">
                <a16:creationId xmlns:a16="http://schemas.microsoft.com/office/drawing/2014/main" id="{05F7AAF5-CD2E-48F0-84D0-165F5002F5A7}"/>
              </a:ext>
            </a:extLst>
          </p:cNvPr>
          <p:cNvSpPr>
            <a:spLocks xmlns:a="http://schemas.openxmlformats.org/drawingml/2006/main" noGrp="1"/>
          </p:cNvSpPr>
          <p:nvPr/>
        </p:nvSpPr>
        <p:spPr>
          <a:xfrm xmlns:a="http://schemas.openxmlformats.org/drawingml/2006/main">
            <a:off x="8572500" y="571500"/>
            <a:ext cx="3009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300" b="1">
                <a:solidFill>
                  <a:srgbClr val="AC8743"/>
                </a:solidFill>
                <a:latin typeface="Arial"/>
                <a:ea typeface="Arial"/>
                <a:cs typeface="Arial"/>
              </a:defRPr>
            </a:defPPr>
            <a:lvl1pPr algn="r">
              <a:buNone/>
              <a:defRPr sz="3300" b="1">
                <a:solidFill>
                  <a:srgbClr val="AC8743"/>
                </a:solidFill>
                <a:latin typeface="Arial"/>
                <a:ea typeface="Arial"/>
                <a:cs typeface="Arial"/>
              </a:defRPr>
            </a:lvl1pPr>
            <a:lvl2pPr algn="r">
              <a:buNone/>
              <a:defRPr sz="3300" b="1">
                <a:solidFill>
                  <a:srgbClr val="AC8743"/>
                </a:solidFill>
                <a:latin typeface="Arial"/>
                <a:ea typeface="Arial"/>
                <a:cs typeface="Arial"/>
              </a:defRPr>
            </a:lvl2pPr>
            <a:lvl3pPr algn="r">
              <a:buNone/>
              <a:defRPr sz="3300" b="1">
                <a:solidFill>
                  <a:srgbClr val="AC8743"/>
                </a:solidFill>
                <a:latin typeface="Arial"/>
                <a:ea typeface="Arial"/>
                <a:cs typeface="Arial"/>
              </a:defRPr>
            </a:lvl3pPr>
            <a:lvl4pPr algn="r">
              <a:buNone/>
              <a:defRPr sz="3300" b="1">
                <a:solidFill>
                  <a:srgbClr val="AC8743"/>
                </a:solidFill>
                <a:latin typeface="Arial"/>
                <a:ea typeface="Arial"/>
                <a:cs typeface="Arial"/>
              </a:defRPr>
            </a:lvl4pPr>
            <a:lvl5pPr algn="r">
              <a:buNone/>
              <a:defRPr sz="3300" b="1">
                <a:solidFill>
                  <a:srgbClr val="AC8743"/>
                </a:solidFill>
                <a:latin typeface="Arial"/>
                <a:ea typeface="Arial"/>
                <a:cs typeface="Arial"/>
              </a:defRPr>
            </a:lvl5pPr>
            <a:lvl6pPr algn="r">
              <a:buNone/>
              <a:defRPr sz="3300" b="1">
                <a:solidFill>
                  <a:srgbClr val="AC8743"/>
                </a:solidFill>
                <a:latin typeface="Arial"/>
                <a:ea typeface="Arial"/>
                <a:cs typeface="Arial"/>
              </a:defRPr>
            </a:lvl6pPr>
            <a:lvl7pPr algn="r">
              <a:buNone/>
              <a:defRPr sz="3300" b="1">
                <a:solidFill>
                  <a:srgbClr val="AC8743"/>
                </a:solidFill>
                <a:latin typeface="Arial"/>
                <a:ea typeface="Arial"/>
                <a:cs typeface="Arial"/>
              </a:defRPr>
            </a:lvl7pPr>
            <a:lvl8pPr algn="r">
              <a:buNone/>
              <a:defRPr sz="3300" b="1">
                <a:solidFill>
                  <a:srgbClr val="AC8743"/>
                </a:solidFill>
                <a:latin typeface="Arial"/>
                <a:ea typeface="Arial"/>
                <a:cs typeface="Arial"/>
              </a:defRPr>
            </a:lvl8pPr>
            <a:lvl9pPr algn="r">
              <a:buNone/>
              <a:defRPr sz="3300" b="1">
                <a:solidFill>
                  <a:srgbClr val="AC8743"/>
                </a:solidFill>
                <a:latin typeface="Arial"/>
                <a:ea typeface="Arial"/>
                <a:cs typeface="Arial"/>
              </a:defRPr>
            </a:lvl9pPr>
          </a:lstStyle>
          <a:p xmlns:a="http://schemas.openxmlformats.org/drawingml/2006/main">
            <a:pPr algn="r">
              <a:buNone/>
              <a:defRPr sz="3300" b="1">
                <a:solidFill>
                  <a:srgbClr val="AC8743"/>
                </a:solidFill>
                <a:latin typeface="Arial"/>
                <a:ea typeface="Arial"/>
                <a:cs typeface="Arial"/>
              </a:defRPr>
            </a:pPr>
            <a:r>
              <a:rPr sz="3300" b="1">
                <a:solidFill>
                  <a:srgbClr val="AC8743"/>
                </a:solidFill>
                <a:latin typeface="Arial"/>
                <a:ea typeface="Arial"/>
                <a:cs typeface="Arial"/>
              </a:rPr>
              <a:t>Concept</a:t>
            </a:r>
          </a:p>
        </p:txBody>
      </p:sp>
      <p:sp>
        <p:nvSpPr>
          <p:cNvPr id="5" name="budget-revision-text-7">
            <a:extLst xmlns:a="http://schemas.openxmlformats.org/drawingml/2006/main">
              <a:ext uri="{FF2B5EF4-FFF2-40B4-BE49-F238E27FC236}">
                <a16:creationId xmlns:a16="http://schemas.microsoft.com/office/drawing/2014/main" id="{691D23A7-7871-44E0-9878-56768F1F29C0}"/>
              </a:ext>
            </a:extLst>
          </p:cNvPr>
          <p:cNvSpPr>
            <a:spLocks xmlns:a="http://schemas.openxmlformats.org/drawingml/2006/main" noGrp="1"/>
          </p:cNvSpPr>
          <p:nvPr/>
        </p:nvSpPr>
        <p:spPr>
          <a:xfrm xmlns:a="http://schemas.openxmlformats.org/drawingml/2006/main">
            <a:off x="609600" y="1409700"/>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6C6B"/>
                </a:solidFill>
                <a:latin typeface="Arial"/>
                <a:ea typeface="Arial"/>
                <a:cs typeface="Arial"/>
              </a:defRPr>
            </a:defPPr>
            <a:lvl1pPr algn="l">
              <a:buNone/>
              <a:defRPr sz="2025" b="1">
                <a:solidFill>
                  <a:srgbClr val="176C6B"/>
                </a:solidFill>
                <a:latin typeface="Arial"/>
                <a:ea typeface="Arial"/>
                <a:cs typeface="Arial"/>
              </a:defRPr>
            </a:lvl1pPr>
            <a:lvl2pPr algn="l">
              <a:buNone/>
              <a:defRPr sz="2025" b="1">
                <a:solidFill>
                  <a:srgbClr val="176C6B"/>
                </a:solidFill>
                <a:latin typeface="Arial"/>
                <a:ea typeface="Arial"/>
                <a:cs typeface="Arial"/>
              </a:defRPr>
            </a:lvl2pPr>
            <a:lvl3pPr algn="l">
              <a:buNone/>
              <a:defRPr sz="2025" b="1">
                <a:solidFill>
                  <a:srgbClr val="176C6B"/>
                </a:solidFill>
                <a:latin typeface="Arial"/>
                <a:ea typeface="Arial"/>
                <a:cs typeface="Arial"/>
              </a:defRPr>
            </a:lvl3pPr>
            <a:lvl4pPr algn="l">
              <a:buNone/>
              <a:defRPr sz="2025" b="1">
                <a:solidFill>
                  <a:srgbClr val="176C6B"/>
                </a:solidFill>
                <a:latin typeface="Arial"/>
                <a:ea typeface="Arial"/>
                <a:cs typeface="Arial"/>
              </a:defRPr>
            </a:lvl4pPr>
            <a:lvl5pPr algn="l">
              <a:buNone/>
              <a:defRPr sz="2025" b="1">
                <a:solidFill>
                  <a:srgbClr val="176C6B"/>
                </a:solidFill>
                <a:latin typeface="Arial"/>
                <a:ea typeface="Arial"/>
                <a:cs typeface="Arial"/>
              </a:defRPr>
            </a:lvl5pPr>
            <a:lvl6pPr algn="l">
              <a:buNone/>
              <a:defRPr sz="2025" b="1">
                <a:solidFill>
                  <a:srgbClr val="176C6B"/>
                </a:solidFill>
                <a:latin typeface="Arial"/>
                <a:ea typeface="Arial"/>
                <a:cs typeface="Arial"/>
              </a:defRPr>
            </a:lvl6pPr>
            <a:lvl7pPr algn="l">
              <a:buNone/>
              <a:defRPr sz="2025" b="1">
                <a:solidFill>
                  <a:srgbClr val="176C6B"/>
                </a:solidFill>
                <a:latin typeface="Arial"/>
                <a:ea typeface="Arial"/>
                <a:cs typeface="Arial"/>
              </a:defRPr>
            </a:lvl7pPr>
            <a:lvl8pPr algn="l">
              <a:buNone/>
              <a:defRPr sz="2025" b="1">
                <a:solidFill>
                  <a:srgbClr val="176C6B"/>
                </a:solidFill>
                <a:latin typeface="Arial"/>
                <a:ea typeface="Arial"/>
                <a:cs typeface="Arial"/>
              </a:defRPr>
            </a:lvl8pPr>
            <a:lvl9pPr algn="l">
              <a:buNone/>
              <a:defRPr sz="2025" b="1">
                <a:solidFill>
                  <a:srgbClr val="176C6B"/>
                </a:solidFill>
                <a:latin typeface="Arial"/>
                <a:ea typeface="Arial"/>
                <a:cs typeface="Arial"/>
              </a:defRPr>
            </a:lvl9pPr>
          </a:lstStyle>
          <a:p xmlns:a="http://schemas.openxmlformats.org/drawingml/2006/main">
            <a:pPr algn="l">
              <a:buNone/>
              <a:defRPr sz="2025" b="1">
                <a:solidFill>
                  <a:srgbClr val="176C6B"/>
                </a:solidFill>
                <a:latin typeface="Arial"/>
                <a:ea typeface="Arial"/>
                <a:cs typeface="Arial"/>
              </a:defRPr>
            </a:pPr>
            <a:r>
              <a:rPr sz="2025" b="1">
                <a:solidFill>
                  <a:srgbClr val="176C6B"/>
                </a:solidFill>
                <a:latin typeface="Arial"/>
                <a:ea typeface="Arial"/>
                <a:cs typeface="Arial"/>
              </a:rPr>
              <a:t>Share-backed equity receipts for eligible investors</a:t>
            </a:r>
          </a:p>
        </p:txBody>
      </p:sp>
      <p:sp>
        <p:nvSpPr>
          <p:cNvPr id="6" name="budget-revision-text-8">
            <a:extLst xmlns:a="http://schemas.openxmlformats.org/drawingml/2006/main">
              <a:ext uri="{FF2B5EF4-FFF2-40B4-BE49-F238E27FC236}">
                <a16:creationId xmlns:a16="http://schemas.microsoft.com/office/drawing/2014/main" id="{252E4B56-EE50-4981-B1AC-B56D09DF054E}"/>
              </a:ext>
            </a:extLst>
          </p:cNvPr>
          <p:cNvSpPr>
            <a:spLocks xmlns:a="http://schemas.openxmlformats.org/drawingml/2006/main" noGrp="1"/>
          </p:cNvSpPr>
          <p:nvPr/>
        </p:nvSpPr>
        <p:spPr>
          <a:xfrm xmlns:a="http://schemas.openxmlformats.org/drawingml/2006/main">
            <a:off x="609600" y="202882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83440"/>
                </a:solidFill>
                <a:latin typeface="Arial"/>
                <a:ea typeface="Arial"/>
                <a:cs typeface="Arial"/>
              </a:defRPr>
            </a:defPPr>
            <a:lvl1pPr algn="l">
              <a:buNone/>
              <a:defRPr sz="2400" b="1">
                <a:solidFill>
                  <a:srgbClr val="183440"/>
                </a:solidFill>
                <a:latin typeface="Arial"/>
                <a:ea typeface="Arial"/>
                <a:cs typeface="Arial"/>
              </a:defRPr>
            </a:lvl1pPr>
            <a:lvl2pPr algn="l">
              <a:buNone/>
              <a:defRPr sz="2400" b="1">
                <a:solidFill>
                  <a:srgbClr val="183440"/>
                </a:solidFill>
                <a:latin typeface="Arial"/>
                <a:ea typeface="Arial"/>
                <a:cs typeface="Arial"/>
              </a:defRPr>
            </a:lvl2pPr>
            <a:lvl3pPr algn="l">
              <a:buNone/>
              <a:defRPr sz="2400" b="1">
                <a:solidFill>
                  <a:srgbClr val="183440"/>
                </a:solidFill>
                <a:latin typeface="Arial"/>
                <a:ea typeface="Arial"/>
                <a:cs typeface="Arial"/>
              </a:defRPr>
            </a:lvl3pPr>
            <a:lvl4pPr algn="l">
              <a:buNone/>
              <a:defRPr sz="2400" b="1">
                <a:solidFill>
                  <a:srgbClr val="183440"/>
                </a:solidFill>
                <a:latin typeface="Arial"/>
                <a:ea typeface="Arial"/>
                <a:cs typeface="Arial"/>
              </a:defRPr>
            </a:lvl4pPr>
            <a:lvl5pPr algn="l">
              <a:buNone/>
              <a:defRPr sz="2400" b="1">
                <a:solidFill>
                  <a:srgbClr val="183440"/>
                </a:solidFill>
                <a:latin typeface="Arial"/>
                <a:ea typeface="Arial"/>
                <a:cs typeface="Arial"/>
              </a:defRPr>
            </a:lvl5pPr>
            <a:lvl6pPr algn="l">
              <a:buNone/>
              <a:defRPr sz="2400" b="1">
                <a:solidFill>
                  <a:srgbClr val="183440"/>
                </a:solidFill>
                <a:latin typeface="Arial"/>
                <a:ea typeface="Arial"/>
                <a:cs typeface="Arial"/>
              </a:defRPr>
            </a:lvl6pPr>
            <a:lvl7pPr algn="l">
              <a:buNone/>
              <a:defRPr sz="2400" b="1">
                <a:solidFill>
                  <a:srgbClr val="183440"/>
                </a:solidFill>
                <a:latin typeface="Arial"/>
                <a:ea typeface="Arial"/>
                <a:cs typeface="Arial"/>
              </a:defRPr>
            </a:lvl7pPr>
            <a:lvl8pPr algn="l">
              <a:buNone/>
              <a:defRPr sz="2400" b="1">
                <a:solidFill>
                  <a:srgbClr val="183440"/>
                </a:solidFill>
                <a:latin typeface="Arial"/>
                <a:ea typeface="Arial"/>
                <a:cs typeface="Arial"/>
              </a:defRPr>
            </a:lvl8pPr>
            <a:lvl9pPr algn="l">
              <a:buNone/>
              <a:defRPr sz="2400" b="1">
                <a:solidFill>
                  <a:srgbClr val="183440"/>
                </a:solidFill>
                <a:latin typeface="Arial"/>
                <a:ea typeface="Arial"/>
                <a:cs typeface="Arial"/>
              </a:defRPr>
            </a:lvl9pPr>
          </a:lstStyle>
          <a:p xmlns:a="http://schemas.openxmlformats.org/drawingml/2006/main">
            <a:pPr algn="l">
              <a:buNone/>
              <a:defRPr sz="2400" b="1">
                <a:solidFill>
                  <a:srgbClr val="183440"/>
                </a:solidFill>
                <a:latin typeface="Arial"/>
                <a:ea typeface="Arial"/>
                <a:cs typeface="Arial"/>
              </a:defRPr>
            </a:pPr>
            <a:r>
              <a:rPr sz="2400" b="1">
                <a:solidFill>
                  <a:srgbClr val="183440"/>
                </a:solidFill>
                <a:latin typeface="Arial"/>
                <a:ea typeface="Arial"/>
                <a:cs typeface="Arial"/>
              </a:rPr>
              <a:t>Depository Securities Homing Access to Receipted Equity</a:t>
            </a:r>
          </a:p>
        </p:txBody>
      </p:sp>
      <p:sp>
        <p:nvSpPr>
          <p:cNvPr id="7" name="budget-revision-text-9">
            <a:extLst xmlns:a="http://schemas.openxmlformats.org/drawingml/2006/main">
              <a:ext uri="{FF2B5EF4-FFF2-40B4-BE49-F238E27FC236}">
                <a16:creationId xmlns:a16="http://schemas.microsoft.com/office/drawing/2014/main" id="{C219451C-C976-47D9-812B-9DFC91976DEF}"/>
              </a:ext>
            </a:extLst>
          </p:cNvPr>
          <p:cNvSpPr>
            <a:spLocks xmlns:a="http://schemas.openxmlformats.org/drawingml/2006/main" noGrp="1"/>
          </p:cNvSpPr>
          <p:nvPr/>
        </p:nvSpPr>
        <p:spPr>
          <a:xfrm xmlns:a="http://schemas.openxmlformats.org/drawingml/2006/main">
            <a:off x="609600" y="2771775"/>
            <a:ext cx="781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xmlns:a="http://schemas.openxmlformats.org/drawingml/2006/main">
            <a:pPr algn="l">
              <a:buNone/>
              <a:defRPr sz="4050" b="1">
                <a:solidFill>
                  <a:srgbClr val="176C6B"/>
                </a:solidFill>
                <a:latin typeface="Arial"/>
                <a:ea typeface="Arial"/>
                <a:cs typeface="Arial"/>
              </a:defRPr>
            </a:pPr>
            <a:r>
              <a:rPr sz="4050" b="1">
                <a:solidFill>
                  <a:srgbClr val="176C6B"/>
                </a:solidFill>
                <a:latin typeface="Arial"/>
                <a:ea typeface="Arial"/>
                <a:cs typeface="Arial"/>
              </a:rPr>
              <a:t>D</a:t>
            </a:r>
          </a:p>
        </p:txBody>
      </p:sp>
      <p:sp>
        <p:nvSpPr>
          <p:cNvPr id="8" name="budget-revision-text-10">
            <a:extLst xmlns:a="http://schemas.openxmlformats.org/drawingml/2006/main">
              <a:ext uri="{FF2B5EF4-FFF2-40B4-BE49-F238E27FC236}">
                <a16:creationId xmlns:a16="http://schemas.microsoft.com/office/drawing/2014/main" id="{16CD4F15-EBD8-47E6-AEF5-FB272B4DC0B0}"/>
              </a:ext>
            </a:extLst>
          </p:cNvPr>
          <p:cNvSpPr>
            <a:spLocks xmlns:a="http://schemas.openxmlformats.org/drawingml/2006/main" noGrp="1"/>
          </p:cNvSpPr>
          <p:nvPr/>
        </p:nvSpPr>
        <p:spPr>
          <a:xfrm xmlns:a="http://schemas.openxmlformats.org/drawingml/2006/main">
            <a:off x="1638300" y="2933700"/>
            <a:ext cx="4057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xmlns:a="http://schemas.openxmlformats.org/drawingml/2006/main">
            <a:pPr algn="l">
              <a:buNone/>
              <a:defRPr sz="2550" b="1">
                <a:solidFill>
                  <a:srgbClr val="183440"/>
                </a:solidFill>
                <a:latin typeface="Arial"/>
                <a:ea typeface="Arial"/>
                <a:cs typeface="Arial"/>
              </a:defRPr>
            </a:pPr>
            <a:r>
              <a:rPr sz="2550" b="1">
                <a:solidFill>
                  <a:srgbClr val="183440"/>
                </a:solidFill>
                <a:latin typeface="Arial"/>
                <a:ea typeface="Arial"/>
                <a:cs typeface="Arial"/>
              </a:rPr>
              <a:t>Depository</a:t>
            </a:r>
          </a:p>
        </p:txBody>
      </p:sp>
      <p:sp>
        <p:nvSpPr>
          <p:cNvPr id="9" name="budget-revision-text-11">
            <a:extLst xmlns:a="http://schemas.openxmlformats.org/drawingml/2006/main">
              <a:ext uri="{FF2B5EF4-FFF2-40B4-BE49-F238E27FC236}">
                <a16:creationId xmlns:a16="http://schemas.microsoft.com/office/drawing/2014/main" id="{F84CCE26-BFB3-4624-8CD2-8CC23ECF2F8D}"/>
              </a:ext>
            </a:extLst>
          </p:cNvPr>
          <p:cNvSpPr>
            <a:spLocks xmlns:a="http://schemas.openxmlformats.org/drawingml/2006/main" noGrp="1"/>
          </p:cNvSpPr>
          <p:nvPr/>
        </p:nvSpPr>
        <p:spPr>
          <a:xfrm xmlns:a="http://schemas.openxmlformats.org/drawingml/2006/main">
            <a:off x="6496050" y="2771775"/>
            <a:ext cx="781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xmlns:a="http://schemas.openxmlformats.org/drawingml/2006/main">
            <a:pPr algn="l">
              <a:buNone/>
              <a:defRPr sz="4050" b="1">
                <a:solidFill>
                  <a:srgbClr val="176C6B"/>
                </a:solidFill>
                <a:latin typeface="Arial"/>
                <a:ea typeface="Arial"/>
                <a:cs typeface="Arial"/>
              </a:defRPr>
            </a:pPr>
            <a:r>
              <a:rPr sz="4050" b="1">
                <a:solidFill>
                  <a:srgbClr val="176C6B"/>
                </a:solidFill>
                <a:latin typeface="Arial"/>
                <a:ea typeface="Arial"/>
                <a:cs typeface="Arial"/>
              </a:rPr>
              <a:t>S</a:t>
            </a:r>
          </a:p>
        </p:txBody>
      </p:sp>
      <p:sp>
        <p:nvSpPr>
          <p:cNvPr id="10" name="budget-revision-text-12">
            <a:extLst xmlns:a="http://schemas.openxmlformats.org/drawingml/2006/main">
              <a:ext uri="{FF2B5EF4-FFF2-40B4-BE49-F238E27FC236}">
                <a16:creationId xmlns:a16="http://schemas.microsoft.com/office/drawing/2014/main" id="{73F6B5F0-B7E8-4CCF-BEEB-C5E7BCAD9A31}"/>
              </a:ext>
            </a:extLst>
          </p:cNvPr>
          <p:cNvSpPr>
            <a:spLocks xmlns:a="http://schemas.openxmlformats.org/drawingml/2006/main" noGrp="1"/>
          </p:cNvSpPr>
          <p:nvPr/>
        </p:nvSpPr>
        <p:spPr>
          <a:xfrm xmlns:a="http://schemas.openxmlformats.org/drawingml/2006/main">
            <a:off x="7524750" y="2933700"/>
            <a:ext cx="4057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xmlns:a="http://schemas.openxmlformats.org/drawingml/2006/main">
            <a:pPr algn="l">
              <a:buNone/>
              <a:defRPr sz="2550" b="1">
                <a:solidFill>
                  <a:srgbClr val="183440"/>
                </a:solidFill>
                <a:latin typeface="Arial"/>
                <a:ea typeface="Arial"/>
                <a:cs typeface="Arial"/>
              </a:defRPr>
            </a:pPr>
            <a:r>
              <a:rPr sz="2550" b="1">
                <a:solidFill>
                  <a:srgbClr val="183440"/>
                </a:solidFill>
                <a:latin typeface="Arial"/>
                <a:ea typeface="Arial"/>
                <a:cs typeface="Arial"/>
              </a:rPr>
              <a:t>Securities</a:t>
            </a:r>
          </a:p>
        </p:txBody>
      </p:sp>
      <p:sp>
        <p:nvSpPr>
          <p:cNvPr id="11" name="budget-revision-text-13">
            <a:extLst xmlns:a="http://schemas.openxmlformats.org/drawingml/2006/main">
              <a:ext uri="{FF2B5EF4-FFF2-40B4-BE49-F238E27FC236}">
                <a16:creationId xmlns:a16="http://schemas.microsoft.com/office/drawing/2014/main" id="{DF0723C2-F276-43DA-A23A-23704389A845}"/>
              </a:ext>
            </a:extLst>
          </p:cNvPr>
          <p:cNvSpPr>
            <a:spLocks xmlns:a="http://schemas.openxmlformats.org/drawingml/2006/main" noGrp="1"/>
          </p:cNvSpPr>
          <p:nvPr/>
        </p:nvSpPr>
        <p:spPr>
          <a:xfrm xmlns:a="http://schemas.openxmlformats.org/drawingml/2006/main">
            <a:off x="609600" y="3800475"/>
            <a:ext cx="781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xmlns:a="http://schemas.openxmlformats.org/drawingml/2006/main">
            <a:pPr algn="l">
              <a:buNone/>
              <a:defRPr sz="4050" b="1">
                <a:solidFill>
                  <a:srgbClr val="176C6B"/>
                </a:solidFill>
                <a:latin typeface="Arial"/>
                <a:ea typeface="Arial"/>
                <a:cs typeface="Arial"/>
              </a:defRPr>
            </a:pPr>
            <a:r>
              <a:rPr sz="4050" b="1">
                <a:solidFill>
                  <a:srgbClr val="176C6B"/>
                </a:solidFill>
                <a:latin typeface="Arial"/>
                <a:ea typeface="Arial"/>
                <a:cs typeface="Arial"/>
              </a:rPr>
              <a:t>H</a:t>
            </a:r>
          </a:p>
        </p:txBody>
      </p:sp>
      <p:sp>
        <p:nvSpPr>
          <p:cNvPr id="12" name="budget-revision-text-14">
            <a:extLst xmlns:a="http://schemas.openxmlformats.org/drawingml/2006/main">
              <a:ext uri="{FF2B5EF4-FFF2-40B4-BE49-F238E27FC236}">
                <a16:creationId xmlns:a16="http://schemas.microsoft.com/office/drawing/2014/main" id="{C057FC8A-06EE-4655-8E67-42A31FDCB1F7}"/>
              </a:ext>
            </a:extLst>
          </p:cNvPr>
          <p:cNvSpPr>
            <a:spLocks xmlns:a="http://schemas.openxmlformats.org/drawingml/2006/main" noGrp="1"/>
          </p:cNvSpPr>
          <p:nvPr/>
        </p:nvSpPr>
        <p:spPr>
          <a:xfrm xmlns:a="http://schemas.openxmlformats.org/drawingml/2006/main">
            <a:off x="1638300" y="3962400"/>
            <a:ext cx="4057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xmlns:a="http://schemas.openxmlformats.org/drawingml/2006/main">
            <a:pPr algn="l">
              <a:buNone/>
              <a:defRPr sz="2550" b="1">
                <a:solidFill>
                  <a:srgbClr val="183440"/>
                </a:solidFill>
                <a:latin typeface="Arial"/>
                <a:ea typeface="Arial"/>
                <a:cs typeface="Arial"/>
              </a:defRPr>
            </a:pPr>
            <a:r>
              <a:rPr sz="2550" b="1">
                <a:solidFill>
                  <a:srgbClr val="183440"/>
                </a:solidFill>
                <a:latin typeface="Arial"/>
                <a:ea typeface="Arial"/>
                <a:cs typeface="Arial"/>
              </a:rPr>
              <a:t>Homing</a:t>
            </a:r>
          </a:p>
        </p:txBody>
      </p:sp>
      <p:sp>
        <p:nvSpPr>
          <p:cNvPr id="13" name="budget-revision-text-15">
            <a:extLst xmlns:a="http://schemas.openxmlformats.org/drawingml/2006/main">
              <a:ext uri="{FF2B5EF4-FFF2-40B4-BE49-F238E27FC236}">
                <a16:creationId xmlns:a16="http://schemas.microsoft.com/office/drawing/2014/main" id="{9C76022A-E04D-489B-BD5D-413904BD78CF}"/>
              </a:ext>
            </a:extLst>
          </p:cNvPr>
          <p:cNvSpPr>
            <a:spLocks xmlns:a="http://schemas.openxmlformats.org/drawingml/2006/main" noGrp="1"/>
          </p:cNvSpPr>
          <p:nvPr/>
        </p:nvSpPr>
        <p:spPr>
          <a:xfrm xmlns:a="http://schemas.openxmlformats.org/drawingml/2006/main">
            <a:off x="6496050" y="3800475"/>
            <a:ext cx="781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xmlns:a="http://schemas.openxmlformats.org/drawingml/2006/main">
            <a:pPr algn="l">
              <a:buNone/>
              <a:defRPr sz="4050" b="1">
                <a:solidFill>
                  <a:srgbClr val="176C6B"/>
                </a:solidFill>
                <a:latin typeface="Arial"/>
                <a:ea typeface="Arial"/>
                <a:cs typeface="Arial"/>
              </a:defRPr>
            </a:pPr>
            <a:r>
              <a:rPr sz="4050" b="1">
                <a:solidFill>
                  <a:srgbClr val="176C6B"/>
                </a:solidFill>
                <a:latin typeface="Arial"/>
                <a:ea typeface="Arial"/>
                <a:cs typeface="Arial"/>
              </a:rPr>
              <a:t>A</a:t>
            </a:r>
          </a:p>
        </p:txBody>
      </p:sp>
      <p:sp>
        <p:nvSpPr>
          <p:cNvPr id="14" name="budget-revision-text-16">
            <a:extLst xmlns:a="http://schemas.openxmlformats.org/drawingml/2006/main">
              <a:ext uri="{FF2B5EF4-FFF2-40B4-BE49-F238E27FC236}">
                <a16:creationId xmlns:a16="http://schemas.microsoft.com/office/drawing/2014/main" id="{72A7800E-2B19-47CD-A849-9BD6075BDE31}"/>
              </a:ext>
            </a:extLst>
          </p:cNvPr>
          <p:cNvSpPr>
            <a:spLocks xmlns:a="http://schemas.openxmlformats.org/drawingml/2006/main" noGrp="1"/>
          </p:cNvSpPr>
          <p:nvPr/>
        </p:nvSpPr>
        <p:spPr>
          <a:xfrm xmlns:a="http://schemas.openxmlformats.org/drawingml/2006/main">
            <a:off x="7524750" y="3962400"/>
            <a:ext cx="4057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xmlns:a="http://schemas.openxmlformats.org/drawingml/2006/main">
            <a:pPr algn="l">
              <a:buNone/>
              <a:defRPr sz="2550" b="1">
                <a:solidFill>
                  <a:srgbClr val="183440"/>
                </a:solidFill>
                <a:latin typeface="Arial"/>
                <a:ea typeface="Arial"/>
                <a:cs typeface="Arial"/>
              </a:defRPr>
            </a:pPr>
            <a:r>
              <a:rPr sz="2550" b="1">
                <a:solidFill>
                  <a:srgbClr val="183440"/>
                </a:solidFill>
                <a:latin typeface="Arial"/>
                <a:ea typeface="Arial"/>
                <a:cs typeface="Arial"/>
              </a:rPr>
              <a:t>Access</a:t>
            </a:r>
          </a:p>
        </p:txBody>
      </p:sp>
      <p:sp>
        <p:nvSpPr>
          <p:cNvPr id="15" name="budget-revision-text-17">
            <a:extLst xmlns:a="http://schemas.openxmlformats.org/drawingml/2006/main">
              <a:ext uri="{FF2B5EF4-FFF2-40B4-BE49-F238E27FC236}">
                <a16:creationId xmlns:a16="http://schemas.microsoft.com/office/drawing/2014/main" id="{5A166A2F-606A-46FA-BC1B-0B131209A18E}"/>
              </a:ext>
            </a:extLst>
          </p:cNvPr>
          <p:cNvSpPr>
            <a:spLocks xmlns:a="http://schemas.openxmlformats.org/drawingml/2006/main" noGrp="1"/>
          </p:cNvSpPr>
          <p:nvPr/>
        </p:nvSpPr>
        <p:spPr>
          <a:xfrm xmlns:a="http://schemas.openxmlformats.org/drawingml/2006/main">
            <a:off x="609600" y="4829175"/>
            <a:ext cx="781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xmlns:a="http://schemas.openxmlformats.org/drawingml/2006/main">
            <a:pPr algn="l">
              <a:buNone/>
              <a:defRPr sz="4050" b="1">
                <a:solidFill>
                  <a:srgbClr val="176C6B"/>
                </a:solidFill>
                <a:latin typeface="Arial"/>
                <a:ea typeface="Arial"/>
                <a:cs typeface="Arial"/>
              </a:defRPr>
            </a:pPr>
            <a:r>
              <a:rPr sz="4050" b="1">
                <a:solidFill>
                  <a:srgbClr val="176C6B"/>
                </a:solidFill>
                <a:latin typeface="Arial"/>
                <a:ea typeface="Arial"/>
                <a:cs typeface="Arial"/>
              </a:rPr>
              <a:t>R</a:t>
            </a:r>
          </a:p>
        </p:txBody>
      </p:sp>
      <p:sp>
        <p:nvSpPr>
          <p:cNvPr id="16" name="budget-revision-text-18">
            <a:extLst xmlns:a="http://schemas.openxmlformats.org/drawingml/2006/main">
              <a:ext uri="{FF2B5EF4-FFF2-40B4-BE49-F238E27FC236}">
                <a16:creationId xmlns:a16="http://schemas.microsoft.com/office/drawing/2014/main" id="{FE71CFA4-3EA8-4C68-B883-BB79DDB1C0EA}"/>
              </a:ext>
            </a:extLst>
          </p:cNvPr>
          <p:cNvSpPr>
            <a:spLocks xmlns:a="http://schemas.openxmlformats.org/drawingml/2006/main" noGrp="1"/>
          </p:cNvSpPr>
          <p:nvPr/>
        </p:nvSpPr>
        <p:spPr>
          <a:xfrm xmlns:a="http://schemas.openxmlformats.org/drawingml/2006/main">
            <a:off x="1638300" y="4991100"/>
            <a:ext cx="4057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xmlns:a="http://schemas.openxmlformats.org/drawingml/2006/main">
            <a:pPr algn="l">
              <a:buNone/>
              <a:defRPr sz="2550" b="1">
                <a:solidFill>
                  <a:srgbClr val="183440"/>
                </a:solidFill>
                <a:latin typeface="Arial"/>
                <a:ea typeface="Arial"/>
                <a:cs typeface="Arial"/>
              </a:defRPr>
            </a:pPr>
            <a:r>
              <a:rPr sz="2550" b="1">
                <a:solidFill>
                  <a:srgbClr val="183440"/>
                </a:solidFill>
                <a:latin typeface="Arial"/>
                <a:ea typeface="Arial"/>
                <a:cs typeface="Arial"/>
              </a:rPr>
              <a:t>Receipted</a:t>
            </a:r>
          </a:p>
        </p:txBody>
      </p:sp>
      <p:sp>
        <p:nvSpPr>
          <p:cNvPr id="17" name="budget-revision-text-19">
            <a:extLst xmlns:a="http://schemas.openxmlformats.org/drawingml/2006/main">
              <a:ext uri="{FF2B5EF4-FFF2-40B4-BE49-F238E27FC236}">
                <a16:creationId xmlns:a16="http://schemas.microsoft.com/office/drawing/2014/main" id="{8ABDE137-EF01-4380-942E-D60A2FA6C5ED}"/>
              </a:ext>
            </a:extLst>
          </p:cNvPr>
          <p:cNvSpPr>
            <a:spLocks xmlns:a="http://schemas.openxmlformats.org/drawingml/2006/main" noGrp="1"/>
          </p:cNvSpPr>
          <p:nvPr/>
        </p:nvSpPr>
        <p:spPr>
          <a:xfrm xmlns:a="http://schemas.openxmlformats.org/drawingml/2006/main">
            <a:off x="6496050" y="4829175"/>
            <a:ext cx="781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xmlns:a="http://schemas.openxmlformats.org/drawingml/2006/main">
            <a:pPr algn="l">
              <a:buNone/>
              <a:defRPr sz="4050" b="1">
                <a:solidFill>
                  <a:srgbClr val="176C6B"/>
                </a:solidFill>
                <a:latin typeface="Arial"/>
                <a:ea typeface="Arial"/>
                <a:cs typeface="Arial"/>
              </a:defRPr>
            </a:pPr>
            <a:r>
              <a:rPr sz="4050" b="1">
                <a:solidFill>
                  <a:srgbClr val="176C6B"/>
                </a:solidFill>
                <a:latin typeface="Arial"/>
                <a:ea typeface="Arial"/>
                <a:cs typeface="Arial"/>
              </a:rPr>
              <a:t>E</a:t>
            </a:r>
          </a:p>
        </p:txBody>
      </p:sp>
      <p:sp>
        <p:nvSpPr>
          <p:cNvPr id="18" name="budget-revision-text-20">
            <a:extLst xmlns:a="http://schemas.openxmlformats.org/drawingml/2006/main">
              <a:ext uri="{FF2B5EF4-FFF2-40B4-BE49-F238E27FC236}">
                <a16:creationId xmlns:a16="http://schemas.microsoft.com/office/drawing/2014/main" id="{A08FA6FB-A105-4CFF-A216-0BF270D9983D}"/>
              </a:ext>
            </a:extLst>
          </p:cNvPr>
          <p:cNvSpPr>
            <a:spLocks xmlns:a="http://schemas.openxmlformats.org/drawingml/2006/main" noGrp="1"/>
          </p:cNvSpPr>
          <p:nvPr/>
        </p:nvSpPr>
        <p:spPr>
          <a:xfrm xmlns:a="http://schemas.openxmlformats.org/drawingml/2006/main">
            <a:off x="7524750" y="4991100"/>
            <a:ext cx="4057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xmlns:a="http://schemas.openxmlformats.org/drawingml/2006/main">
            <a:pPr algn="l">
              <a:buNone/>
              <a:defRPr sz="2550" b="1">
                <a:solidFill>
                  <a:srgbClr val="183440"/>
                </a:solidFill>
                <a:latin typeface="Arial"/>
                <a:ea typeface="Arial"/>
                <a:cs typeface="Arial"/>
              </a:defRPr>
            </a:pPr>
            <a:r>
              <a:rPr sz="2550" b="1">
                <a:solidFill>
                  <a:srgbClr val="183440"/>
                </a:solidFill>
                <a:latin typeface="Arial"/>
                <a:ea typeface="Arial"/>
                <a:cs typeface="Arial"/>
              </a:rPr>
              <a:t>Equity</a:t>
            </a:r>
          </a:p>
        </p:txBody>
      </p:sp>
      <p:sp>
        <p:nvSpPr>
          <p:cNvPr id="19" name="budget-revision-text-21">
            <a:extLst xmlns:a="http://schemas.openxmlformats.org/drawingml/2006/main">
              <a:ext uri="{FF2B5EF4-FFF2-40B4-BE49-F238E27FC236}">
                <a16:creationId xmlns:a16="http://schemas.microsoft.com/office/drawing/2014/main" id="{EDF5D84B-0A01-4F7E-B20F-FD10838917CA}"/>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xmlns:a="http://schemas.openxmlformats.org/drawingml/2006/main">
            <a:pPr algn="l">
              <a:buNone/>
              <a:defRPr sz="1500" b="0">
                <a:solidFill>
                  <a:srgbClr val="53676D"/>
                </a:solidFill>
                <a:latin typeface="Arial"/>
                <a:ea typeface="Arial"/>
                <a:cs typeface="Arial"/>
              </a:defRPr>
            </a:pPr>
            <a:r>
              <a:rPr sz="1500" b="0">
                <a:solidFill>
                  <a:srgbClr val="53676D"/>
                </a:solidFill>
                <a:latin typeface="Arial"/>
                <a:ea typeface="Arial"/>
                <a:cs typeface="Arial"/>
              </a:rPr>
              <a:t>One token records one receipt unit. Custody and programme documents establish backing and holder rights.</a:t>
            </a:r>
          </a:p>
        </p:txBody>
      </p:sp>
    </p:spTree>
    <p:extLst>
      <p:ext uri="{BB962C8B-B14F-4D97-AF65-F5344CB8AC3E}">
        <p14:creationId xmlns:p14="http://schemas.microsoft.com/office/powerpoint/2010/main" val="1552627168"/>
      </p:ext>
    </p:extLst>
  </p:cSld>
</p:sld>
</file>

<file path=ppt/slides/slide5.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6" name="access-revision-text-59">
            <a:extLst xmlns:a="http://schemas.openxmlformats.org/drawingml/2006/main">
              <a:ext uri="{FF2B5EF4-FFF2-40B4-BE49-F238E27FC236}">
                <a16:creationId xmlns:a16="http://schemas.microsoft.com/office/drawing/2014/main" id="{8C002FB7-243F-4BBD-BF49-E2F104608154}"/>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xmlns:a="http://schemas.openxmlformats.org/drawingml/2006/main">
            <a:pPr algn="l">
              <a:buNone/>
              <a:defRPr sz="3300" b="1">
                <a:solidFill>
                  <a:srgbClr val="183440"/>
                </a:solidFill>
                <a:latin typeface="Arial"/>
                <a:ea typeface="Arial"/>
                <a:cs typeface="Arial"/>
              </a:defRPr>
            </a:pPr>
            <a:r>
              <a:rPr sz="3300" b="1">
                <a:solidFill>
                  <a:srgbClr val="183440"/>
                </a:solidFill>
                <a:latin typeface="Arial"/>
                <a:ea typeface="Arial"/>
                <a:cs typeface="Arial"/>
              </a:rPr>
              <a:t>1. Create the product</a:t>
            </a:r>
          </a:p>
        </p:txBody>
      </p:sp>
      <p:sp>
        <p:nvSpPr>
          <p:cNvPr id="2" name="access-revision-text-60">
            <a:extLst xmlns:a="http://schemas.openxmlformats.org/drawingml/2006/main">
              <a:ext uri="{FF2B5EF4-FFF2-40B4-BE49-F238E27FC236}">
                <a16:creationId xmlns:a16="http://schemas.microsoft.com/office/drawing/2014/main" id="{F9FDBCF7-B739-4728-AEE3-FD4D83D19CC2}"/>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buNone/>
              <a:defRPr sz="1875" b="0">
                <a:solidFill>
                  <a:srgbClr val="53676D"/>
                </a:solidFill>
                <a:latin typeface="Arial"/>
                <a:ea typeface="Arial"/>
                <a:cs typeface="Arial"/>
              </a:defRPr>
            </a:lvl1pPr>
            <a:lvl2pPr algn="l">
              <a:buNone/>
              <a:defRPr sz="1875" b="0">
                <a:solidFill>
                  <a:srgbClr val="53676D"/>
                </a:solidFill>
                <a:latin typeface="Arial"/>
                <a:ea typeface="Arial"/>
                <a:cs typeface="Arial"/>
              </a:defRPr>
            </a:lvl2pPr>
            <a:lvl3pPr algn="l">
              <a:buNone/>
              <a:defRPr sz="1875" b="0">
                <a:solidFill>
                  <a:srgbClr val="53676D"/>
                </a:solidFill>
                <a:latin typeface="Arial"/>
                <a:ea typeface="Arial"/>
                <a:cs typeface="Arial"/>
              </a:defRPr>
            </a:lvl3pPr>
            <a:lvl4pPr algn="l">
              <a:buNone/>
              <a:defRPr sz="1875" b="0">
                <a:solidFill>
                  <a:srgbClr val="53676D"/>
                </a:solidFill>
                <a:latin typeface="Arial"/>
                <a:ea typeface="Arial"/>
                <a:cs typeface="Arial"/>
              </a:defRPr>
            </a:lvl4pPr>
            <a:lvl5pPr algn="l">
              <a:buNone/>
              <a:defRPr sz="1875" b="0">
                <a:solidFill>
                  <a:srgbClr val="53676D"/>
                </a:solidFill>
                <a:latin typeface="Arial"/>
                <a:ea typeface="Arial"/>
                <a:cs typeface="Arial"/>
              </a:defRPr>
            </a:lvl5pPr>
            <a:lvl6pPr algn="l">
              <a:buNone/>
              <a:defRPr sz="1875" b="0">
                <a:solidFill>
                  <a:srgbClr val="53676D"/>
                </a:solidFill>
                <a:latin typeface="Arial"/>
                <a:ea typeface="Arial"/>
                <a:cs typeface="Arial"/>
              </a:defRPr>
            </a:lvl6pPr>
            <a:lvl7pPr algn="l">
              <a:buNone/>
              <a:defRPr sz="1875" b="0">
                <a:solidFill>
                  <a:srgbClr val="53676D"/>
                </a:solidFill>
                <a:latin typeface="Arial"/>
                <a:ea typeface="Arial"/>
                <a:cs typeface="Arial"/>
              </a:defRPr>
            </a:lvl7pPr>
            <a:lvl8pPr algn="l">
              <a:buNone/>
              <a:defRPr sz="1875" b="0">
                <a:solidFill>
                  <a:srgbClr val="53676D"/>
                </a:solidFill>
                <a:latin typeface="Arial"/>
                <a:ea typeface="Arial"/>
                <a:cs typeface="Arial"/>
              </a:defRPr>
            </a:lvl8pPr>
            <a:lvl9pPr algn="l">
              <a:buNone/>
              <a:defRPr sz="1875" b="0">
                <a:solidFill>
                  <a:srgbClr val="53676D"/>
                </a:solidFill>
                <a:latin typeface="Arial"/>
                <a:ea typeface="Arial"/>
                <a:cs typeface="Arial"/>
              </a:defRPr>
            </a:lvl9pPr>
          </a:lstStyle>
          <a:p xmlns:a="http://schemas.openxmlformats.org/drawingml/2006/main">
            <a:pPr algn="l">
              <a:buNone/>
              <a:defRPr sz="1875" b="0">
                <a:solidFill>
                  <a:srgbClr val="53676D"/>
                </a:solidFill>
                <a:latin typeface="Arial"/>
                <a:ea typeface="Arial"/>
                <a:cs typeface="Arial"/>
              </a:defRPr>
            </a:pPr>
            <a:r>
              <a:rPr sz="1875" b="0">
                <a:solidFill>
                  <a:srgbClr val="53676D"/>
                </a:solidFill>
                <a:latin typeface="Arial"/>
                <a:ea typeface="Arial"/>
                <a:cs typeface="Arial"/>
              </a:rPr>
              <a:t>Fictional GlobalTech series GT-01. One token records one programme receipt unit.</a:t>
            </a:r>
          </a:p>
        </p:txBody>
      </p:sp>
      <p:sp>
        <p:nvSpPr>
          <p:cNvPr id="3" name="access-revision-text-61">
            <a:extLst xmlns:a="http://schemas.openxmlformats.org/drawingml/2006/main">
              <a:ext uri="{FF2B5EF4-FFF2-40B4-BE49-F238E27FC236}">
                <a16:creationId xmlns:a16="http://schemas.microsoft.com/office/drawing/2014/main" id="{7A091B05-051A-45B7-A78C-631287F278BB}"/>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xmlns:a="http://schemas.openxmlformats.org/drawingml/2006/main">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access-revision-text-62">
            <a:extLst xmlns:a="http://schemas.openxmlformats.org/drawingml/2006/main">
              <a:ext uri="{FF2B5EF4-FFF2-40B4-BE49-F238E27FC236}">
                <a16:creationId xmlns:a16="http://schemas.microsoft.com/office/drawing/2014/main" id="{293FB90B-ECD6-4B53-AAF6-CD7221D7158F}"/>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xmlns:a="http://schemas.openxmlformats.org/drawingml/2006/main">
            <a:pPr algn="r">
              <a:buNone/>
              <a:defRPr sz="1200" b="0">
                <a:solidFill>
                  <a:srgbClr val="53676D"/>
                </a:solidFill>
                <a:latin typeface="Arial"/>
                <a:ea typeface="Arial"/>
                <a:cs typeface="Arial"/>
              </a:defRPr>
            </a:pPr>
            <a:r>
              <a:rPr sz="1200" b="0">
                <a:solidFill>
                  <a:srgbClr val="53676D"/>
                </a:solidFill>
                <a:latin typeface="Arial"/>
                <a:ea typeface="Arial"/>
                <a:cs typeface="Arial"/>
              </a:rPr>
              <a:t>05</a:t>
            </a:r>
          </a:p>
        </p:txBody>
      </p:sp>
      <p:sp>
        <p:nvSpPr>
          <p:cNvPr id="5" name="access-revision-text-63">
            <a:extLst xmlns:a="http://schemas.openxmlformats.org/drawingml/2006/main">
              <a:ext uri="{FF2B5EF4-FFF2-40B4-BE49-F238E27FC236}">
                <a16:creationId xmlns:a16="http://schemas.microsoft.com/office/drawing/2014/main" id="{6900E10B-BEE6-4992-A0BA-DFEF1F1BE05F}"/>
              </a:ext>
            </a:extLst>
          </p:cNvPr>
          <p:cNvSpPr>
            <a:spLocks xmlns:a="http://schemas.openxmlformats.org/drawingml/2006/main" noGrp="1"/>
          </p:cNvSpPr>
          <p:nvPr/>
        </p:nvSpPr>
        <p:spPr>
          <a:xfrm xmlns:a="http://schemas.openxmlformats.org/drawingml/2006/main">
            <a:off x="609600" y="224790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183440"/>
                </a:solidFill>
                <a:latin typeface="Arial"/>
                <a:ea typeface="Arial"/>
                <a:cs typeface="Arial"/>
              </a:defRPr>
            </a:defPPr>
            <a:lvl1pPr algn="l">
              <a:buNone/>
              <a:defRPr sz="4125" b="1">
                <a:solidFill>
                  <a:srgbClr val="183440"/>
                </a:solidFill>
                <a:latin typeface="Arial"/>
                <a:ea typeface="Arial"/>
                <a:cs typeface="Arial"/>
              </a:defRPr>
            </a:lvl1pPr>
            <a:lvl2pPr algn="l">
              <a:buNone/>
              <a:defRPr sz="4125" b="1">
                <a:solidFill>
                  <a:srgbClr val="183440"/>
                </a:solidFill>
                <a:latin typeface="Arial"/>
                <a:ea typeface="Arial"/>
                <a:cs typeface="Arial"/>
              </a:defRPr>
            </a:lvl2pPr>
            <a:lvl3pPr algn="l">
              <a:buNone/>
              <a:defRPr sz="4125" b="1">
                <a:solidFill>
                  <a:srgbClr val="183440"/>
                </a:solidFill>
                <a:latin typeface="Arial"/>
                <a:ea typeface="Arial"/>
                <a:cs typeface="Arial"/>
              </a:defRPr>
            </a:lvl3pPr>
            <a:lvl4pPr algn="l">
              <a:buNone/>
              <a:defRPr sz="4125" b="1">
                <a:solidFill>
                  <a:srgbClr val="183440"/>
                </a:solidFill>
                <a:latin typeface="Arial"/>
                <a:ea typeface="Arial"/>
                <a:cs typeface="Arial"/>
              </a:defRPr>
            </a:lvl4pPr>
            <a:lvl5pPr algn="l">
              <a:buNone/>
              <a:defRPr sz="4125" b="1">
                <a:solidFill>
                  <a:srgbClr val="183440"/>
                </a:solidFill>
                <a:latin typeface="Arial"/>
                <a:ea typeface="Arial"/>
                <a:cs typeface="Arial"/>
              </a:defRPr>
            </a:lvl5pPr>
            <a:lvl6pPr algn="l">
              <a:buNone/>
              <a:defRPr sz="4125" b="1">
                <a:solidFill>
                  <a:srgbClr val="183440"/>
                </a:solidFill>
                <a:latin typeface="Arial"/>
                <a:ea typeface="Arial"/>
                <a:cs typeface="Arial"/>
              </a:defRPr>
            </a:lvl6pPr>
            <a:lvl7pPr algn="l">
              <a:buNone/>
              <a:defRPr sz="4125" b="1">
                <a:solidFill>
                  <a:srgbClr val="183440"/>
                </a:solidFill>
                <a:latin typeface="Arial"/>
                <a:ea typeface="Arial"/>
                <a:cs typeface="Arial"/>
              </a:defRPr>
            </a:lvl7pPr>
            <a:lvl8pPr algn="l">
              <a:buNone/>
              <a:defRPr sz="4125" b="1">
                <a:solidFill>
                  <a:srgbClr val="183440"/>
                </a:solidFill>
                <a:latin typeface="Arial"/>
                <a:ea typeface="Arial"/>
                <a:cs typeface="Arial"/>
              </a:defRPr>
            </a:lvl8pPr>
            <a:lvl9pPr algn="l">
              <a:buNone/>
              <a:defRPr sz="4125" b="1">
                <a:solidFill>
                  <a:srgbClr val="183440"/>
                </a:solidFill>
                <a:latin typeface="Arial"/>
                <a:ea typeface="Arial"/>
                <a:cs typeface="Arial"/>
              </a:defRPr>
            </a:lvl9pPr>
          </a:lstStyle>
          <a:p xmlns:a="http://schemas.openxmlformats.org/drawingml/2006/main">
            <a:pPr algn="l">
              <a:buNone/>
              <a:defRPr sz="4125" b="1">
                <a:solidFill>
                  <a:srgbClr val="183440"/>
                </a:solidFill>
                <a:latin typeface="Arial"/>
                <a:ea typeface="Arial"/>
                <a:cs typeface="Arial"/>
              </a:defRPr>
            </a:pPr>
            <a:r>
              <a:rPr sz="4125" b="1">
                <a:solidFill>
                  <a:srgbClr val="183440"/>
                </a:solidFill>
                <a:latin typeface="Arial"/>
                <a:ea typeface="Arial"/>
                <a:cs typeface="Arial"/>
              </a:rPr>
              <a:t>US$1,200</a:t>
            </a:r>
          </a:p>
        </p:txBody>
      </p:sp>
      <p:sp>
        <p:nvSpPr>
          <p:cNvPr id="6" name="access-revision-text-64">
            <a:extLst xmlns:a="http://schemas.openxmlformats.org/drawingml/2006/main">
              <a:ext uri="{FF2B5EF4-FFF2-40B4-BE49-F238E27FC236}">
                <a16:creationId xmlns:a16="http://schemas.microsoft.com/office/drawing/2014/main" id="{5218855F-51CE-4EF9-BA45-02A48BB759E4}"/>
              </a:ext>
            </a:extLst>
          </p:cNvPr>
          <p:cNvSpPr>
            <a:spLocks xmlns:a="http://schemas.openxmlformats.org/drawingml/2006/main" noGrp="1"/>
          </p:cNvSpPr>
          <p:nvPr/>
        </p:nvSpPr>
        <p:spPr>
          <a:xfrm xmlns:a="http://schemas.openxmlformats.org/drawingml/2006/main">
            <a:off x="609600" y="3114675"/>
            <a:ext cx="3333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3676D"/>
                </a:solidFill>
                <a:latin typeface="Arial"/>
                <a:ea typeface="Arial"/>
                <a:cs typeface="Arial"/>
              </a:defRPr>
            </a:defPPr>
            <a:lvl1pPr algn="l">
              <a:buNone/>
              <a:defRPr sz="2025" b="0">
                <a:solidFill>
                  <a:srgbClr val="53676D"/>
                </a:solidFill>
                <a:latin typeface="Arial"/>
                <a:ea typeface="Arial"/>
                <a:cs typeface="Arial"/>
              </a:defRPr>
            </a:lvl1pPr>
            <a:lvl2pPr algn="l">
              <a:buNone/>
              <a:defRPr sz="2025" b="0">
                <a:solidFill>
                  <a:srgbClr val="53676D"/>
                </a:solidFill>
                <a:latin typeface="Arial"/>
                <a:ea typeface="Arial"/>
                <a:cs typeface="Arial"/>
              </a:defRPr>
            </a:lvl2pPr>
            <a:lvl3pPr algn="l">
              <a:buNone/>
              <a:defRPr sz="2025" b="0">
                <a:solidFill>
                  <a:srgbClr val="53676D"/>
                </a:solidFill>
                <a:latin typeface="Arial"/>
                <a:ea typeface="Arial"/>
                <a:cs typeface="Arial"/>
              </a:defRPr>
            </a:lvl3pPr>
            <a:lvl4pPr algn="l">
              <a:buNone/>
              <a:defRPr sz="2025" b="0">
                <a:solidFill>
                  <a:srgbClr val="53676D"/>
                </a:solidFill>
                <a:latin typeface="Arial"/>
                <a:ea typeface="Arial"/>
                <a:cs typeface="Arial"/>
              </a:defRPr>
            </a:lvl4pPr>
            <a:lvl5pPr algn="l">
              <a:buNone/>
              <a:defRPr sz="2025" b="0">
                <a:solidFill>
                  <a:srgbClr val="53676D"/>
                </a:solidFill>
                <a:latin typeface="Arial"/>
                <a:ea typeface="Arial"/>
                <a:cs typeface="Arial"/>
              </a:defRPr>
            </a:lvl5pPr>
            <a:lvl6pPr algn="l">
              <a:buNone/>
              <a:defRPr sz="2025" b="0">
                <a:solidFill>
                  <a:srgbClr val="53676D"/>
                </a:solidFill>
                <a:latin typeface="Arial"/>
                <a:ea typeface="Arial"/>
                <a:cs typeface="Arial"/>
              </a:defRPr>
            </a:lvl6pPr>
            <a:lvl7pPr algn="l">
              <a:buNone/>
              <a:defRPr sz="2025" b="0">
                <a:solidFill>
                  <a:srgbClr val="53676D"/>
                </a:solidFill>
                <a:latin typeface="Arial"/>
                <a:ea typeface="Arial"/>
                <a:cs typeface="Arial"/>
              </a:defRPr>
            </a:lvl7pPr>
            <a:lvl8pPr algn="l">
              <a:buNone/>
              <a:defRPr sz="2025" b="0">
                <a:solidFill>
                  <a:srgbClr val="53676D"/>
                </a:solidFill>
                <a:latin typeface="Arial"/>
                <a:ea typeface="Arial"/>
                <a:cs typeface="Arial"/>
              </a:defRPr>
            </a:lvl8pPr>
            <a:lvl9pPr algn="l">
              <a:buNone/>
              <a:defRPr sz="2025" b="0">
                <a:solidFill>
                  <a:srgbClr val="53676D"/>
                </a:solidFill>
                <a:latin typeface="Arial"/>
                <a:ea typeface="Arial"/>
                <a:cs typeface="Arial"/>
              </a:defRPr>
            </a:lvl9pPr>
          </a:lstStyle>
          <a:p xmlns:a="http://schemas.openxmlformats.org/drawingml/2006/main">
            <a:pPr algn="l">
              <a:buNone/>
              <a:defRPr sz="2025" b="0">
                <a:solidFill>
                  <a:srgbClr val="53676D"/>
                </a:solidFill>
                <a:latin typeface="Arial"/>
                <a:ea typeface="Arial"/>
                <a:cs typeface="Arial"/>
              </a:defRPr>
            </a:pPr>
            <a:r>
              <a:rPr sz="2025" b="0">
                <a:solidFill>
                  <a:srgbClr val="53676D"/>
                </a:solidFill>
                <a:latin typeface="Arial"/>
                <a:ea typeface="Arial"/>
                <a:cs typeface="Arial"/>
              </a:rPr>
              <a:t>Underlying share price</a:t>
            </a:r>
          </a:p>
        </p:txBody>
      </p:sp>
      <p:sp>
        <p:nvSpPr>
          <p:cNvPr id="7" name="access-revision-text-65">
            <a:extLst xmlns:a="http://schemas.openxmlformats.org/drawingml/2006/main">
              <a:ext uri="{FF2B5EF4-FFF2-40B4-BE49-F238E27FC236}">
                <a16:creationId xmlns:a16="http://schemas.microsoft.com/office/drawing/2014/main" id="{78CF035F-3776-485C-95E2-73CA2543F783}"/>
              </a:ext>
            </a:extLst>
          </p:cNvPr>
          <p:cNvSpPr>
            <a:spLocks xmlns:a="http://schemas.openxmlformats.org/drawingml/2006/main" noGrp="1"/>
          </p:cNvSpPr>
          <p:nvPr/>
        </p:nvSpPr>
        <p:spPr>
          <a:xfrm xmlns:a="http://schemas.openxmlformats.org/drawingml/2006/main">
            <a:off x="4638675" y="224790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176C6B"/>
                </a:solidFill>
                <a:latin typeface="Arial"/>
                <a:ea typeface="Arial"/>
                <a:cs typeface="Arial"/>
              </a:defRPr>
            </a:defPPr>
            <a:lvl1pPr algn="l">
              <a:buNone/>
              <a:defRPr sz="4125" b="1">
                <a:solidFill>
                  <a:srgbClr val="176C6B"/>
                </a:solidFill>
                <a:latin typeface="Arial"/>
                <a:ea typeface="Arial"/>
                <a:cs typeface="Arial"/>
              </a:defRPr>
            </a:lvl1pPr>
            <a:lvl2pPr algn="l">
              <a:buNone/>
              <a:defRPr sz="4125" b="1">
                <a:solidFill>
                  <a:srgbClr val="176C6B"/>
                </a:solidFill>
                <a:latin typeface="Arial"/>
                <a:ea typeface="Arial"/>
                <a:cs typeface="Arial"/>
              </a:defRPr>
            </a:lvl2pPr>
            <a:lvl3pPr algn="l">
              <a:buNone/>
              <a:defRPr sz="4125" b="1">
                <a:solidFill>
                  <a:srgbClr val="176C6B"/>
                </a:solidFill>
                <a:latin typeface="Arial"/>
                <a:ea typeface="Arial"/>
                <a:cs typeface="Arial"/>
              </a:defRPr>
            </a:lvl3pPr>
            <a:lvl4pPr algn="l">
              <a:buNone/>
              <a:defRPr sz="4125" b="1">
                <a:solidFill>
                  <a:srgbClr val="176C6B"/>
                </a:solidFill>
                <a:latin typeface="Arial"/>
                <a:ea typeface="Arial"/>
                <a:cs typeface="Arial"/>
              </a:defRPr>
            </a:lvl4pPr>
            <a:lvl5pPr algn="l">
              <a:buNone/>
              <a:defRPr sz="4125" b="1">
                <a:solidFill>
                  <a:srgbClr val="176C6B"/>
                </a:solidFill>
                <a:latin typeface="Arial"/>
                <a:ea typeface="Arial"/>
                <a:cs typeface="Arial"/>
              </a:defRPr>
            </a:lvl5pPr>
            <a:lvl6pPr algn="l">
              <a:buNone/>
              <a:defRPr sz="4125" b="1">
                <a:solidFill>
                  <a:srgbClr val="176C6B"/>
                </a:solidFill>
                <a:latin typeface="Arial"/>
                <a:ea typeface="Arial"/>
                <a:cs typeface="Arial"/>
              </a:defRPr>
            </a:lvl6pPr>
            <a:lvl7pPr algn="l">
              <a:buNone/>
              <a:defRPr sz="4125" b="1">
                <a:solidFill>
                  <a:srgbClr val="176C6B"/>
                </a:solidFill>
                <a:latin typeface="Arial"/>
                <a:ea typeface="Arial"/>
                <a:cs typeface="Arial"/>
              </a:defRPr>
            </a:lvl7pPr>
            <a:lvl8pPr algn="l">
              <a:buNone/>
              <a:defRPr sz="4125" b="1">
                <a:solidFill>
                  <a:srgbClr val="176C6B"/>
                </a:solidFill>
                <a:latin typeface="Arial"/>
                <a:ea typeface="Arial"/>
                <a:cs typeface="Arial"/>
              </a:defRPr>
            </a:lvl8pPr>
            <a:lvl9pPr algn="l">
              <a:buNone/>
              <a:defRPr sz="4125" b="1">
                <a:solidFill>
                  <a:srgbClr val="176C6B"/>
                </a:solidFill>
                <a:latin typeface="Arial"/>
                <a:ea typeface="Arial"/>
                <a:cs typeface="Arial"/>
              </a:defRPr>
            </a:lvl9pPr>
          </a:lstStyle>
          <a:p xmlns:a="http://schemas.openxmlformats.org/drawingml/2006/main">
            <a:pPr algn="l">
              <a:buNone/>
              <a:defRPr sz="4125" b="1">
                <a:solidFill>
                  <a:srgbClr val="176C6B"/>
                </a:solidFill>
                <a:latin typeface="Arial"/>
                <a:ea typeface="Arial"/>
                <a:cs typeface="Arial"/>
              </a:defRPr>
            </a:pPr>
            <a:r>
              <a:rPr sz="4125" b="1">
                <a:solidFill>
                  <a:srgbClr val="176C6B"/>
                </a:solidFill>
                <a:latin typeface="Arial"/>
                <a:ea typeface="Arial"/>
                <a:cs typeface="Arial"/>
              </a:rPr>
              <a:t>0.01</a:t>
            </a:r>
          </a:p>
        </p:txBody>
      </p:sp>
      <p:sp>
        <p:nvSpPr>
          <p:cNvPr id="8" name="access-revision-text-66">
            <a:extLst xmlns:a="http://schemas.openxmlformats.org/drawingml/2006/main">
              <a:ext uri="{FF2B5EF4-FFF2-40B4-BE49-F238E27FC236}">
                <a16:creationId xmlns:a16="http://schemas.microsoft.com/office/drawing/2014/main" id="{3AFEFB75-EC80-4F06-B6E3-415859B4A7D8}"/>
              </a:ext>
            </a:extLst>
          </p:cNvPr>
          <p:cNvSpPr>
            <a:spLocks xmlns:a="http://schemas.openxmlformats.org/drawingml/2006/main" noGrp="1"/>
          </p:cNvSpPr>
          <p:nvPr/>
        </p:nvSpPr>
        <p:spPr>
          <a:xfrm xmlns:a="http://schemas.openxmlformats.org/drawingml/2006/main">
            <a:off x="4638675" y="3114675"/>
            <a:ext cx="285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3676D"/>
                </a:solidFill>
                <a:latin typeface="Arial"/>
                <a:ea typeface="Arial"/>
                <a:cs typeface="Arial"/>
              </a:defRPr>
            </a:defPPr>
            <a:lvl1pPr algn="l">
              <a:buNone/>
              <a:defRPr sz="2025" b="0">
                <a:solidFill>
                  <a:srgbClr val="53676D"/>
                </a:solidFill>
                <a:latin typeface="Arial"/>
                <a:ea typeface="Arial"/>
                <a:cs typeface="Arial"/>
              </a:defRPr>
            </a:lvl1pPr>
            <a:lvl2pPr algn="l">
              <a:buNone/>
              <a:defRPr sz="2025" b="0">
                <a:solidFill>
                  <a:srgbClr val="53676D"/>
                </a:solidFill>
                <a:latin typeface="Arial"/>
                <a:ea typeface="Arial"/>
                <a:cs typeface="Arial"/>
              </a:defRPr>
            </a:lvl2pPr>
            <a:lvl3pPr algn="l">
              <a:buNone/>
              <a:defRPr sz="2025" b="0">
                <a:solidFill>
                  <a:srgbClr val="53676D"/>
                </a:solidFill>
                <a:latin typeface="Arial"/>
                <a:ea typeface="Arial"/>
                <a:cs typeface="Arial"/>
              </a:defRPr>
            </a:lvl3pPr>
            <a:lvl4pPr algn="l">
              <a:buNone/>
              <a:defRPr sz="2025" b="0">
                <a:solidFill>
                  <a:srgbClr val="53676D"/>
                </a:solidFill>
                <a:latin typeface="Arial"/>
                <a:ea typeface="Arial"/>
                <a:cs typeface="Arial"/>
              </a:defRPr>
            </a:lvl4pPr>
            <a:lvl5pPr algn="l">
              <a:buNone/>
              <a:defRPr sz="2025" b="0">
                <a:solidFill>
                  <a:srgbClr val="53676D"/>
                </a:solidFill>
                <a:latin typeface="Arial"/>
                <a:ea typeface="Arial"/>
                <a:cs typeface="Arial"/>
              </a:defRPr>
            </a:lvl5pPr>
            <a:lvl6pPr algn="l">
              <a:buNone/>
              <a:defRPr sz="2025" b="0">
                <a:solidFill>
                  <a:srgbClr val="53676D"/>
                </a:solidFill>
                <a:latin typeface="Arial"/>
                <a:ea typeface="Arial"/>
                <a:cs typeface="Arial"/>
              </a:defRPr>
            </a:lvl6pPr>
            <a:lvl7pPr algn="l">
              <a:buNone/>
              <a:defRPr sz="2025" b="0">
                <a:solidFill>
                  <a:srgbClr val="53676D"/>
                </a:solidFill>
                <a:latin typeface="Arial"/>
                <a:ea typeface="Arial"/>
                <a:cs typeface="Arial"/>
              </a:defRPr>
            </a:lvl7pPr>
            <a:lvl8pPr algn="l">
              <a:buNone/>
              <a:defRPr sz="2025" b="0">
                <a:solidFill>
                  <a:srgbClr val="53676D"/>
                </a:solidFill>
                <a:latin typeface="Arial"/>
                <a:ea typeface="Arial"/>
                <a:cs typeface="Arial"/>
              </a:defRPr>
            </a:lvl8pPr>
            <a:lvl9pPr algn="l">
              <a:buNone/>
              <a:defRPr sz="2025" b="0">
                <a:solidFill>
                  <a:srgbClr val="53676D"/>
                </a:solidFill>
                <a:latin typeface="Arial"/>
                <a:ea typeface="Arial"/>
                <a:cs typeface="Arial"/>
              </a:defRPr>
            </a:lvl9pPr>
          </a:lstStyle>
          <a:p xmlns:a="http://schemas.openxmlformats.org/drawingml/2006/main">
            <a:pPr algn="l">
              <a:buNone/>
              <a:defRPr sz="2025" b="0">
                <a:solidFill>
                  <a:srgbClr val="53676D"/>
                </a:solidFill>
                <a:latin typeface="Arial"/>
                <a:ea typeface="Arial"/>
                <a:cs typeface="Arial"/>
              </a:defRPr>
            </a:pPr>
            <a:r>
              <a:rPr sz="2025" b="0">
                <a:solidFill>
                  <a:srgbClr val="53676D"/>
                </a:solidFill>
                <a:latin typeface="Arial"/>
                <a:ea typeface="Arial"/>
                <a:cs typeface="Arial"/>
              </a:rPr>
              <a:t>Share per receipt</a:t>
            </a:r>
          </a:p>
        </p:txBody>
      </p:sp>
      <p:sp>
        <p:nvSpPr>
          <p:cNvPr id="9" name="access-revision-text-67">
            <a:extLst xmlns:a="http://schemas.openxmlformats.org/drawingml/2006/main">
              <a:ext uri="{FF2B5EF4-FFF2-40B4-BE49-F238E27FC236}">
                <a16:creationId xmlns:a16="http://schemas.microsoft.com/office/drawing/2014/main" id="{6971F284-DFEE-4743-B199-D31F343FE7B9}"/>
              </a:ext>
            </a:extLst>
          </p:cNvPr>
          <p:cNvSpPr>
            <a:spLocks xmlns:a="http://schemas.openxmlformats.org/drawingml/2006/main" noGrp="1"/>
          </p:cNvSpPr>
          <p:nvPr/>
        </p:nvSpPr>
        <p:spPr>
          <a:xfrm xmlns:a="http://schemas.openxmlformats.org/drawingml/2006/main">
            <a:off x="8477250" y="2247900"/>
            <a:ext cx="3105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183440"/>
                </a:solidFill>
                <a:latin typeface="Arial"/>
                <a:ea typeface="Arial"/>
                <a:cs typeface="Arial"/>
              </a:defRPr>
            </a:defPPr>
            <a:lvl1pPr algn="l">
              <a:buNone/>
              <a:defRPr sz="4125" b="1">
                <a:solidFill>
                  <a:srgbClr val="183440"/>
                </a:solidFill>
                <a:latin typeface="Arial"/>
                <a:ea typeface="Arial"/>
                <a:cs typeface="Arial"/>
              </a:defRPr>
            </a:lvl1pPr>
            <a:lvl2pPr algn="l">
              <a:buNone/>
              <a:defRPr sz="4125" b="1">
                <a:solidFill>
                  <a:srgbClr val="183440"/>
                </a:solidFill>
                <a:latin typeface="Arial"/>
                <a:ea typeface="Arial"/>
                <a:cs typeface="Arial"/>
              </a:defRPr>
            </a:lvl2pPr>
            <a:lvl3pPr algn="l">
              <a:buNone/>
              <a:defRPr sz="4125" b="1">
                <a:solidFill>
                  <a:srgbClr val="183440"/>
                </a:solidFill>
                <a:latin typeface="Arial"/>
                <a:ea typeface="Arial"/>
                <a:cs typeface="Arial"/>
              </a:defRPr>
            </a:lvl3pPr>
            <a:lvl4pPr algn="l">
              <a:buNone/>
              <a:defRPr sz="4125" b="1">
                <a:solidFill>
                  <a:srgbClr val="183440"/>
                </a:solidFill>
                <a:latin typeface="Arial"/>
                <a:ea typeface="Arial"/>
                <a:cs typeface="Arial"/>
              </a:defRPr>
            </a:lvl4pPr>
            <a:lvl5pPr algn="l">
              <a:buNone/>
              <a:defRPr sz="4125" b="1">
                <a:solidFill>
                  <a:srgbClr val="183440"/>
                </a:solidFill>
                <a:latin typeface="Arial"/>
                <a:ea typeface="Arial"/>
                <a:cs typeface="Arial"/>
              </a:defRPr>
            </a:lvl5pPr>
            <a:lvl6pPr algn="l">
              <a:buNone/>
              <a:defRPr sz="4125" b="1">
                <a:solidFill>
                  <a:srgbClr val="183440"/>
                </a:solidFill>
                <a:latin typeface="Arial"/>
                <a:ea typeface="Arial"/>
                <a:cs typeface="Arial"/>
              </a:defRPr>
            </a:lvl6pPr>
            <a:lvl7pPr algn="l">
              <a:buNone/>
              <a:defRPr sz="4125" b="1">
                <a:solidFill>
                  <a:srgbClr val="183440"/>
                </a:solidFill>
                <a:latin typeface="Arial"/>
                <a:ea typeface="Arial"/>
                <a:cs typeface="Arial"/>
              </a:defRPr>
            </a:lvl7pPr>
            <a:lvl8pPr algn="l">
              <a:buNone/>
              <a:defRPr sz="4125" b="1">
                <a:solidFill>
                  <a:srgbClr val="183440"/>
                </a:solidFill>
                <a:latin typeface="Arial"/>
                <a:ea typeface="Arial"/>
                <a:cs typeface="Arial"/>
              </a:defRPr>
            </a:lvl8pPr>
            <a:lvl9pPr algn="l">
              <a:buNone/>
              <a:defRPr sz="4125" b="1">
                <a:solidFill>
                  <a:srgbClr val="183440"/>
                </a:solidFill>
                <a:latin typeface="Arial"/>
                <a:ea typeface="Arial"/>
                <a:cs typeface="Arial"/>
              </a:defRPr>
            </a:lvl9pPr>
          </a:lstStyle>
          <a:p xmlns:a="http://schemas.openxmlformats.org/drawingml/2006/main">
            <a:pPr algn="l">
              <a:buNone/>
              <a:defRPr sz="4125" b="1">
                <a:solidFill>
                  <a:srgbClr val="183440"/>
                </a:solidFill>
                <a:latin typeface="Arial"/>
                <a:ea typeface="Arial"/>
                <a:cs typeface="Arial"/>
              </a:defRPr>
            </a:pPr>
            <a:r>
              <a:rPr sz="4125" b="1">
                <a:solidFill>
                  <a:srgbClr val="183440"/>
                </a:solidFill>
                <a:latin typeface="Arial"/>
                <a:ea typeface="Arial"/>
                <a:cs typeface="Arial"/>
              </a:rPr>
              <a:t>US$12</a:t>
            </a:r>
          </a:p>
        </p:txBody>
      </p:sp>
      <p:sp>
        <p:nvSpPr>
          <p:cNvPr id="10" name="access-revision-text-68">
            <a:extLst xmlns:a="http://schemas.openxmlformats.org/drawingml/2006/main">
              <a:ext uri="{FF2B5EF4-FFF2-40B4-BE49-F238E27FC236}">
                <a16:creationId xmlns:a16="http://schemas.microsoft.com/office/drawing/2014/main" id="{6431A7BB-86D1-4EA9-8BDC-A19143EAFB20}"/>
              </a:ext>
            </a:extLst>
          </p:cNvPr>
          <p:cNvSpPr>
            <a:spLocks xmlns:a="http://schemas.openxmlformats.org/drawingml/2006/main" noGrp="1"/>
          </p:cNvSpPr>
          <p:nvPr/>
        </p:nvSpPr>
        <p:spPr>
          <a:xfrm xmlns:a="http://schemas.openxmlformats.org/drawingml/2006/main">
            <a:off x="8477250" y="3114675"/>
            <a:ext cx="3105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3676D"/>
                </a:solidFill>
                <a:latin typeface="Arial"/>
                <a:ea typeface="Arial"/>
                <a:cs typeface="Arial"/>
              </a:defRPr>
            </a:defPPr>
            <a:lvl1pPr algn="l">
              <a:buNone/>
              <a:defRPr sz="2025" b="0">
                <a:solidFill>
                  <a:srgbClr val="53676D"/>
                </a:solidFill>
                <a:latin typeface="Arial"/>
                <a:ea typeface="Arial"/>
                <a:cs typeface="Arial"/>
              </a:defRPr>
            </a:lvl1pPr>
            <a:lvl2pPr algn="l">
              <a:buNone/>
              <a:defRPr sz="2025" b="0">
                <a:solidFill>
                  <a:srgbClr val="53676D"/>
                </a:solidFill>
                <a:latin typeface="Arial"/>
                <a:ea typeface="Arial"/>
                <a:cs typeface="Arial"/>
              </a:defRPr>
            </a:lvl2pPr>
            <a:lvl3pPr algn="l">
              <a:buNone/>
              <a:defRPr sz="2025" b="0">
                <a:solidFill>
                  <a:srgbClr val="53676D"/>
                </a:solidFill>
                <a:latin typeface="Arial"/>
                <a:ea typeface="Arial"/>
                <a:cs typeface="Arial"/>
              </a:defRPr>
            </a:lvl3pPr>
            <a:lvl4pPr algn="l">
              <a:buNone/>
              <a:defRPr sz="2025" b="0">
                <a:solidFill>
                  <a:srgbClr val="53676D"/>
                </a:solidFill>
                <a:latin typeface="Arial"/>
                <a:ea typeface="Arial"/>
                <a:cs typeface="Arial"/>
              </a:defRPr>
            </a:lvl4pPr>
            <a:lvl5pPr algn="l">
              <a:buNone/>
              <a:defRPr sz="2025" b="0">
                <a:solidFill>
                  <a:srgbClr val="53676D"/>
                </a:solidFill>
                <a:latin typeface="Arial"/>
                <a:ea typeface="Arial"/>
                <a:cs typeface="Arial"/>
              </a:defRPr>
            </a:lvl5pPr>
            <a:lvl6pPr algn="l">
              <a:buNone/>
              <a:defRPr sz="2025" b="0">
                <a:solidFill>
                  <a:srgbClr val="53676D"/>
                </a:solidFill>
                <a:latin typeface="Arial"/>
                <a:ea typeface="Arial"/>
                <a:cs typeface="Arial"/>
              </a:defRPr>
            </a:lvl6pPr>
            <a:lvl7pPr algn="l">
              <a:buNone/>
              <a:defRPr sz="2025" b="0">
                <a:solidFill>
                  <a:srgbClr val="53676D"/>
                </a:solidFill>
                <a:latin typeface="Arial"/>
                <a:ea typeface="Arial"/>
                <a:cs typeface="Arial"/>
              </a:defRPr>
            </a:lvl7pPr>
            <a:lvl8pPr algn="l">
              <a:buNone/>
              <a:defRPr sz="2025" b="0">
                <a:solidFill>
                  <a:srgbClr val="53676D"/>
                </a:solidFill>
                <a:latin typeface="Arial"/>
                <a:ea typeface="Arial"/>
                <a:cs typeface="Arial"/>
              </a:defRPr>
            </a:lvl8pPr>
            <a:lvl9pPr algn="l">
              <a:buNone/>
              <a:defRPr sz="2025" b="0">
                <a:solidFill>
                  <a:srgbClr val="53676D"/>
                </a:solidFill>
                <a:latin typeface="Arial"/>
                <a:ea typeface="Arial"/>
                <a:cs typeface="Arial"/>
              </a:defRPr>
            </a:lvl9pPr>
          </a:lstStyle>
          <a:p xmlns:a="http://schemas.openxmlformats.org/drawingml/2006/main">
            <a:pPr algn="l">
              <a:buNone/>
              <a:defRPr sz="2025" b="0">
                <a:solidFill>
                  <a:srgbClr val="53676D"/>
                </a:solidFill>
                <a:latin typeface="Arial"/>
                <a:ea typeface="Arial"/>
                <a:cs typeface="Arial"/>
              </a:defRPr>
            </a:pPr>
            <a:r>
              <a:rPr sz="2025" b="0">
                <a:solidFill>
                  <a:srgbClr val="53676D"/>
                </a:solidFill>
                <a:latin typeface="Arial"/>
                <a:ea typeface="Arial"/>
                <a:cs typeface="Arial"/>
              </a:rPr>
              <a:t>Indicative receipt value</a:t>
            </a:r>
          </a:p>
        </p:txBody>
      </p:sp>
      <p:sp>
        <p:nvSpPr>
          <p:cNvPr id="11" name="access-diagram-line-69">
            <a:extLst xmlns:a="http://schemas.openxmlformats.org/drawingml/2006/main">
              <a:ext uri="{FF2B5EF4-FFF2-40B4-BE49-F238E27FC236}">
                <a16:creationId xmlns:a16="http://schemas.microsoft.com/office/drawing/2014/main" id="{E613DD89-5BBF-425D-8603-5D57A65FAF8D}"/>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2383">
            <a:solidFill>
              <a:srgbClr val="CFD7D1"/>
            </a:solidFill>
            <a:prstDash val="solid"/>
          </a:ln>
        </p:spPr>
      </p:sp>
      <p:sp>
        <p:nvSpPr>
          <p:cNvPr id="12" name="access-revision-text-70">
            <a:extLst xmlns:a="http://schemas.openxmlformats.org/drawingml/2006/main">
              <a:ext uri="{FF2B5EF4-FFF2-40B4-BE49-F238E27FC236}">
                <a16:creationId xmlns:a16="http://schemas.microsoft.com/office/drawing/2014/main" id="{1C91BC44-7939-4794-8899-421E0DBB07A5}"/>
              </a:ext>
            </a:extLst>
          </p:cNvPr>
          <p:cNvSpPr>
            <a:spLocks xmlns:a="http://schemas.openxmlformats.org/drawingml/2006/main" noGrp="1"/>
          </p:cNvSpPr>
          <p:nvPr/>
        </p:nvSpPr>
        <p:spPr>
          <a:xfrm xmlns:a="http://schemas.openxmlformats.org/drawingml/2006/main">
            <a:off x="609600" y="39528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C6B"/>
                </a:solidFill>
                <a:latin typeface="Arial"/>
                <a:ea typeface="Arial"/>
                <a:cs typeface="Arial"/>
              </a:defRPr>
            </a:defPPr>
            <a:lvl1pPr algn="l">
              <a:buNone/>
              <a:defRPr sz="2475" b="1">
                <a:solidFill>
                  <a:srgbClr val="176C6B"/>
                </a:solidFill>
                <a:latin typeface="Arial"/>
                <a:ea typeface="Arial"/>
                <a:cs typeface="Arial"/>
              </a:defRPr>
            </a:lvl1pPr>
            <a:lvl2pPr algn="l">
              <a:buNone/>
              <a:defRPr sz="2475" b="1">
                <a:solidFill>
                  <a:srgbClr val="176C6B"/>
                </a:solidFill>
                <a:latin typeface="Arial"/>
                <a:ea typeface="Arial"/>
                <a:cs typeface="Arial"/>
              </a:defRPr>
            </a:lvl2pPr>
            <a:lvl3pPr algn="l">
              <a:buNone/>
              <a:defRPr sz="2475" b="1">
                <a:solidFill>
                  <a:srgbClr val="176C6B"/>
                </a:solidFill>
                <a:latin typeface="Arial"/>
                <a:ea typeface="Arial"/>
                <a:cs typeface="Arial"/>
              </a:defRPr>
            </a:lvl3pPr>
            <a:lvl4pPr algn="l">
              <a:buNone/>
              <a:defRPr sz="2475" b="1">
                <a:solidFill>
                  <a:srgbClr val="176C6B"/>
                </a:solidFill>
                <a:latin typeface="Arial"/>
                <a:ea typeface="Arial"/>
                <a:cs typeface="Arial"/>
              </a:defRPr>
            </a:lvl4pPr>
            <a:lvl5pPr algn="l">
              <a:buNone/>
              <a:defRPr sz="2475" b="1">
                <a:solidFill>
                  <a:srgbClr val="176C6B"/>
                </a:solidFill>
                <a:latin typeface="Arial"/>
                <a:ea typeface="Arial"/>
                <a:cs typeface="Arial"/>
              </a:defRPr>
            </a:lvl5pPr>
            <a:lvl6pPr algn="l">
              <a:buNone/>
              <a:defRPr sz="2475" b="1">
                <a:solidFill>
                  <a:srgbClr val="176C6B"/>
                </a:solidFill>
                <a:latin typeface="Arial"/>
                <a:ea typeface="Arial"/>
                <a:cs typeface="Arial"/>
              </a:defRPr>
            </a:lvl6pPr>
            <a:lvl7pPr algn="l">
              <a:buNone/>
              <a:defRPr sz="2475" b="1">
                <a:solidFill>
                  <a:srgbClr val="176C6B"/>
                </a:solidFill>
                <a:latin typeface="Arial"/>
                <a:ea typeface="Arial"/>
                <a:cs typeface="Arial"/>
              </a:defRPr>
            </a:lvl7pPr>
            <a:lvl8pPr algn="l">
              <a:buNone/>
              <a:defRPr sz="2475" b="1">
                <a:solidFill>
                  <a:srgbClr val="176C6B"/>
                </a:solidFill>
                <a:latin typeface="Arial"/>
                <a:ea typeface="Arial"/>
                <a:cs typeface="Arial"/>
              </a:defRPr>
            </a:lvl8pPr>
            <a:lvl9pPr algn="l">
              <a:buNone/>
              <a:defRPr sz="2475" b="1">
                <a:solidFill>
                  <a:srgbClr val="176C6B"/>
                </a:solidFill>
                <a:latin typeface="Arial"/>
                <a:ea typeface="Arial"/>
                <a:cs typeface="Arial"/>
              </a:defRPr>
            </a:lvl9pPr>
          </a:lstStyle>
          <a:p xmlns:a="http://schemas.openxmlformats.org/drawingml/2006/main">
            <a:pPr algn="l">
              <a:buNone/>
              <a:defRPr sz="2475" b="1">
                <a:solidFill>
                  <a:srgbClr val="176C6B"/>
                </a:solidFill>
                <a:latin typeface="Arial"/>
                <a:ea typeface="Arial"/>
                <a:cs typeface="Arial"/>
              </a:defRPr>
            </a:pPr>
            <a:r>
              <a:rPr sz="2475" b="1">
                <a:solidFill>
                  <a:srgbClr val="176C6B"/>
                </a:solidFill>
                <a:latin typeface="Arial"/>
                <a:ea typeface="Arial"/>
                <a:cs typeface="Arial"/>
              </a:rPr>
              <a:t>100 receipts represent one underlying share</a:t>
            </a:r>
          </a:p>
        </p:txBody>
      </p:sp>
      <p:sp>
        <p:nvSpPr>
          <p:cNvPr id="13" name="access-revision-text-71">
            <a:extLst xmlns:a="http://schemas.openxmlformats.org/drawingml/2006/main">
              <a:ext uri="{FF2B5EF4-FFF2-40B4-BE49-F238E27FC236}">
                <a16:creationId xmlns:a16="http://schemas.microsoft.com/office/drawing/2014/main" id="{C59AD4B2-9A93-467D-A8E5-F8E15D8D0C7D}"/>
              </a:ext>
            </a:extLst>
          </p:cNvPr>
          <p:cNvSpPr>
            <a:spLocks xmlns:a="http://schemas.openxmlformats.org/drawingml/2006/main" noGrp="1"/>
          </p:cNvSpPr>
          <p:nvPr/>
        </p:nvSpPr>
        <p:spPr>
          <a:xfrm xmlns:a="http://schemas.openxmlformats.org/drawingml/2006/main">
            <a:off x="609600" y="4791075"/>
            <a:ext cx="333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AC8743"/>
                </a:solidFill>
                <a:latin typeface="Arial"/>
                <a:ea typeface="Arial"/>
                <a:cs typeface="Arial"/>
              </a:defRPr>
            </a:defPPr>
            <a:lvl1pPr algn="l">
              <a:buNone/>
              <a:defRPr sz="2100" b="1">
                <a:solidFill>
                  <a:srgbClr val="AC8743"/>
                </a:solidFill>
                <a:latin typeface="Arial"/>
                <a:ea typeface="Arial"/>
                <a:cs typeface="Arial"/>
              </a:defRPr>
            </a:lvl1pPr>
            <a:lvl2pPr algn="l">
              <a:buNone/>
              <a:defRPr sz="2100" b="1">
                <a:solidFill>
                  <a:srgbClr val="AC8743"/>
                </a:solidFill>
                <a:latin typeface="Arial"/>
                <a:ea typeface="Arial"/>
                <a:cs typeface="Arial"/>
              </a:defRPr>
            </a:lvl2pPr>
            <a:lvl3pPr algn="l">
              <a:buNone/>
              <a:defRPr sz="2100" b="1">
                <a:solidFill>
                  <a:srgbClr val="AC8743"/>
                </a:solidFill>
                <a:latin typeface="Arial"/>
                <a:ea typeface="Arial"/>
                <a:cs typeface="Arial"/>
              </a:defRPr>
            </a:lvl3pPr>
            <a:lvl4pPr algn="l">
              <a:buNone/>
              <a:defRPr sz="2100" b="1">
                <a:solidFill>
                  <a:srgbClr val="AC8743"/>
                </a:solidFill>
                <a:latin typeface="Arial"/>
                <a:ea typeface="Arial"/>
                <a:cs typeface="Arial"/>
              </a:defRPr>
            </a:lvl4pPr>
            <a:lvl5pPr algn="l">
              <a:buNone/>
              <a:defRPr sz="2100" b="1">
                <a:solidFill>
                  <a:srgbClr val="AC8743"/>
                </a:solidFill>
                <a:latin typeface="Arial"/>
                <a:ea typeface="Arial"/>
                <a:cs typeface="Arial"/>
              </a:defRPr>
            </a:lvl5pPr>
            <a:lvl6pPr algn="l">
              <a:buNone/>
              <a:defRPr sz="2100" b="1">
                <a:solidFill>
                  <a:srgbClr val="AC8743"/>
                </a:solidFill>
                <a:latin typeface="Arial"/>
                <a:ea typeface="Arial"/>
                <a:cs typeface="Arial"/>
              </a:defRPr>
            </a:lvl6pPr>
            <a:lvl7pPr algn="l">
              <a:buNone/>
              <a:defRPr sz="2100" b="1">
                <a:solidFill>
                  <a:srgbClr val="AC8743"/>
                </a:solidFill>
                <a:latin typeface="Arial"/>
                <a:ea typeface="Arial"/>
                <a:cs typeface="Arial"/>
              </a:defRPr>
            </a:lvl7pPr>
            <a:lvl8pPr algn="l">
              <a:buNone/>
              <a:defRPr sz="2100" b="1">
                <a:solidFill>
                  <a:srgbClr val="AC8743"/>
                </a:solidFill>
                <a:latin typeface="Arial"/>
                <a:ea typeface="Arial"/>
                <a:cs typeface="Arial"/>
              </a:defRPr>
            </a:lvl8pPr>
            <a:lvl9pPr algn="l">
              <a:buNone/>
              <a:defRPr sz="2100" b="1">
                <a:solidFill>
                  <a:srgbClr val="AC8743"/>
                </a:solidFill>
                <a:latin typeface="Arial"/>
                <a:ea typeface="Arial"/>
                <a:cs typeface="Arial"/>
              </a:defRPr>
            </a:lvl9pPr>
          </a:lstStyle>
          <a:p xmlns:a="http://schemas.openxmlformats.org/drawingml/2006/main">
            <a:pPr algn="l">
              <a:buNone/>
              <a:defRPr sz="2100" b="1">
                <a:solidFill>
                  <a:srgbClr val="AC8743"/>
                </a:solidFill>
                <a:latin typeface="Arial"/>
                <a:ea typeface="Arial"/>
                <a:cs typeface="Arial"/>
              </a:defRPr>
            </a:pPr>
            <a:r>
              <a:rPr sz="2100" b="1">
                <a:solidFill>
                  <a:srgbClr val="AC8743"/>
                </a:solidFill>
                <a:latin typeface="Arial"/>
                <a:ea typeface="Arial"/>
                <a:cs typeface="Arial"/>
              </a:rPr>
              <a:t>Programme design</a:t>
            </a:r>
          </a:p>
        </p:txBody>
      </p:sp>
      <p:sp>
        <p:nvSpPr>
          <p:cNvPr id="14" name="access-revision-text-72">
            <a:extLst xmlns:a="http://schemas.openxmlformats.org/drawingml/2006/main">
              <a:ext uri="{FF2B5EF4-FFF2-40B4-BE49-F238E27FC236}">
                <a16:creationId xmlns:a16="http://schemas.microsoft.com/office/drawing/2014/main" id="{93843E1A-AD43-46AE-A68B-023F97EBC546}"/>
              </a:ext>
            </a:extLst>
          </p:cNvPr>
          <p:cNvSpPr>
            <a:spLocks xmlns:a="http://schemas.openxmlformats.org/drawingml/2006/main" noGrp="1"/>
          </p:cNvSpPr>
          <p:nvPr/>
        </p:nvSpPr>
        <p:spPr>
          <a:xfrm xmlns:a="http://schemas.openxmlformats.org/drawingml/2006/main">
            <a:off x="4638675" y="4762500"/>
            <a:ext cx="69437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83440"/>
                </a:solidFill>
                <a:latin typeface="Arial"/>
                <a:ea typeface="Arial"/>
                <a:cs typeface="Arial"/>
              </a:defRPr>
            </a:defPPr>
            <a:lvl1pPr algn="l">
              <a:buNone/>
              <a:defRPr sz="2100" b="0">
                <a:solidFill>
                  <a:srgbClr val="183440"/>
                </a:solidFill>
                <a:latin typeface="Arial"/>
                <a:ea typeface="Arial"/>
                <a:cs typeface="Arial"/>
              </a:defRPr>
            </a:lvl1pPr>
            <a:lvl2pPr algn="l">
              <a:buNone/>
              <a:defRPr sz="2100" b="0">
                <a:solidFill>
                  <a:srgbClr val="183440"/>
                </a:solidFill>
                <a:latin typeface="Arial"/>
                <a:ea typeface="Arial"/>
                <a:cs typeface="Arial"/>
              </a:defRPr>
            </a:lvl2pPr>
            <a:lvl3pPr algn="l">
              <a:buNone/>
              <a:defRPr sz="2100" b="0">
                <a:solidFill>
                  <a:srgbClr val="183440"/>
                </a:solidFill>
                <a:latin typeface="Arial"/>
                <a:ea typeface="Arial"/>
                <a:cs typeface="Arial"/>
              </a:defRPr>
            </a:lvl3pPr>
            <a:lvl4pPr algn="l">
              <a:buNone/>
              <a:defRPr sz="2100" b="0">
                <a:solidFill>
                  <a:srgbClr val="183440"/>
                </a:solidFill>
                <a:latin typeface="Arial"/>
                <a:ea typeface="Arial"/>
                <a:cs typeface="Arial"/>
              </a:defRPr>
            </a:lvl4pPr>
            <a:lvl5pPr algn="l">
              <a:buNone/>
              <a:defRPr sz="2100" b="0">
                <a:solidFill>
                  <a:srgbClr val="183440"/>
                </a:solidFill>
                <a:latin typeface="Arial"/>
                <a:ea typeface="Arial"/>
                <a:cs typeface="Arial"/>
              </a:defRPr>
            </a:lvl5pPr>
            <a:lvl6pPr algn="l">
              <a:buNone/>
              <a:defRPr sz="2100" b="0">
                <a:solidFill>
                  <a:srgbClr val="183440"/>
                </a:solidFill>
                <a:latin typeface="Arial"/>
                <a:ea typeface="Arial"/>
                <a:cs typeface="Arial"/>
              </a:defRPr>
            </a:lvl6pPr>
            <a:lvl7pPr algn="l">
              <a:buNone/>
              <a:defRPr sz="2100" b="0">
                <a:solidFill>
                  <a:srgbClr val="183440"/>
                </a:solidFill>
                <a:latin typeface="Arial"/>
                <a:ea typeface="Arial"/>
                <a:cs typeface="Arial"/>
              </a:defRPr>
            </a:lvl7pPr>
            <a:lvl8pPr algn="l">
              <a:buNone/>
              <a:defRPr sz="2100" b="0">
                <a:solidFill>
                  <a:srgbClr val="183440"/>
                </a:solidFill>
                <a:latin typeface="Arial"/>
                <a:ea typeface="Arial"/>
                <a:cs typeface="Arial"/>
              </a:defRPr>
            </a:lvl8pPr>
            <a:lvl9pPr algn="l">
              <a:buNone/>
              <a:defRPr sz="2100" b="0">
                <a:solidFill>
                  <a:srgbClr val="183440"/>
                </a:solidFill>
                <a:latin typeface="Arial"/>
                <a:ea typeface="Arial"/>
                <a:cs typeface="Arial"/>
              </a:defRPr>
            </a:lvl9pPr>
          </a:lstStyle>
          <a:p xmlns:a="http://schemas.openxmlformats.org/drawingml/2006/main">
            <a:pPr algn="l">
              <a:buNone/>
              <a:defRPr sz="2100" b="0">
                <a:solidFill>
                  <a:srgbClr val="183440"/>
                </a:solidFill>
                <a:latin typeface="Arial"/>
                <a:ea typeface="Arial"/>
                <a:cs typeface="Arial"/>
              </a:defRPr>
            </a:pPr>
            <a:r>
              <a:rPr sz="2100" b="0">
                <a:solidFill>
                  <a:srgbClr val="183440"/>
                </a:solidFill>
                <a:latin typeface="Arial"/>
                <a:ea typeface="Arial"/>
                <a:cs typeface="Arial"/>
              </a:rPr>
              <a:t>The sponsor sets the ratio and holder rights. Custody evidence supports issuance. Brokers distribute to eligible investors.</a:t>
            </a:r>
          </a:p>
        </p:txBody>
      </p:sp>
      <p:sp>
        <p:nvSpPr>
          <p:cNvPr id="15" name="access-revision-text-73">
            <a:extLst xmlns:a="http://schemas.openxmlformats.org/drawingml/2006/main">
              <a:ext uri="{FF2B5EF4-FFF2-40B4-BE49-F238E27FC236}">
                <a16:creationId xmlns:a16="http://schemas.microsoft.com/office/drawing/2014/main" id="{E73D004F-DBD0-4AAC-8C93-10634495EC2B}"/>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xmlns:a="http://schemas.openxmlformats.org/drawingml/2006/main">
            <a:pPr algn="l">
              <a:buNone/>
              <a:defRPr sz="1500" b="0">
                <a:solidFill>
                  <a:srgbClr val="53676D"/>
                </a:solidFill>
                <a:latin typeface="Arial"/>
                <a:ea typeface="Arial"/>
                <a:cs typeface="Arial"/>
              </a:defRPr>
            </a:pPr>
            <a:r>
              <a:rPr sz="1500" b="0">
                <a:solidFill>
                  <a:srgbClr val="53676D"/>
                </a:solidFill>
                <a:latin typeface="Arial"/>
                <a:ea typeface="Arial"/>
                <a:cs typeface="Arial"/>
              </a:rPr>
              <a:t>Illustrative value = share price × receipt ratio. Market quotes, fees, taxes and FX can change the actual price.</a:t>
            </a:r>
          </a:p>
        </p:txBody>
      </p:sp>
    </p:spTree>
    <p:extLst>
      <p:ext uri="{BB962C8B-B14F-4D97-AF65-F5344CB8AC3E}">
        <p14:creationId xmlns:p14="http://schemas.microsoft.com/office/powerpoint/2010/main" val="1067912610"/>
      </p:ext>
    </p:extLst>
  </p:cSld>
</p:sld>
</file>

<file path=ppt/slides/slide6.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34" name="dlt-text-33">
            <a:extLst xmlns:a="http://schemas.openxmlformats.org/drawingml/2006/main">
              <a:ext uri="{FF2B5EF4-FFF2-40B4-BE49-F238E27FC236}">
                <a16:creationId xmlns:a16="http://schemas.microsoft.com/office/drawing/2014/main" id="{EB922E65-62A5-40E4-A0FB-6CA5B94D43B2}"/>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xmlns:a="http://schemas.openxmlformats.org/drawingml/2006/main">
            <a:pPr algn="l">
              <a:buNone/>
              <a:defRPr sz="3300" b="1">
                <a:solidFill>
                  <a:srgbClr val="183440"/>
                </a:solidFill>
                <a:latin typeface="Arial"/>
                <a:ea typeface="Arial"/>
                <a:cs typeface="Arial"/>
              </a:defRPr>
            </a:pPr>
            <a:r>
              <a:rPr sz="3300" b="1">
                <a:solidFill>
                  <a:srgbClr val="183440"/>
                </a:solidFill>
                <a:latin typeface="Arial"/>
                <a:ea typeface="Arial"/>
                <a:cs typeface="Arial"/>
              </a:rPr>
              <a:t>2. Issue receipts backed by shares</a:t>
            </a:r>
          </a:p>
        </p:txBody>
      </p:sp>
      <p:sp>
        <p:nvSpPr>
          <p:cNvPr id="2" name="dlt-text-34">
            <a:extLst xmlns:a="http://schemas.openxmlformats.org/drawingml/2006/main">
              <a:ext uri="{FF2B5EF4-FFF2-40B4-BE49-F238E27FC236}">
                <a16:creationId xmlns:a16="http://schemas.microsoft.com/office/drawing/2014/main" id="{9D86B5F0-1179-4AFE-8BB1-B2B72F067778}"/>
              </a:ext>
            </a:extLst>
          </p:cNvPr>
          <p:cNvSpPr>
            <a:spLocks xmlns:a="http://schemas.openxmlformats.org/drawingml/2006/main" noGrp="1"/>
          </p:cNvSpPr>
          <p:nvPr/>
        </p:nvSpPr>
        <p:spPr>
          <a:xfrm xmlns:a="http://schemas.openxmlformats.org/drawingml/2006/main">
            <a:off x="609600" y="14097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buNone/>
              <a:defRPr sz="1875" b="0">
                <a:solidFill>
                  <a:srgbClr val="53676D"/>
                </a:solidFill>
                <a:latin typeface="Arial"/>
                <a:ea typeface="Arial"/>
                <a:cs typeface="Arial"/>
              </a:defRPr>
            </a:lvl1pPr>
            <a:lvl2pPr algn="l">
              <a:buNone/>
              <a:defRPr sz="1875" b="0">
                <a:solidFill>
                  <a:srgbClr val="53676D"/>
                </a:solidFill>
                <a:latin typeface="Arial"/>
                <a:ea typeface="Arial"/>
                <a:cs typeface="Arial"/>
              </a:defRPr>
            </a:lvl2pPr>
            <a:lvl3pPr algn="l">
              <a:buNone/>
              <a:defRPr sz="1875" b="0">
                <a:solidFill>
                  <a:srgbClr val="53676D"/>
                </a:solidFill>
                <a:latin typeface="Arial"/>
                <a:ea typeface="Arial"/>
                <a:cs typeface="Arial"/>
              </a:defRPr>
            </a:lvl3pPr>
            <a:lvl4pPr algn="l">
              <a:buNone/>
              <a:defRPr sz="1875" b="0">
                <a:solidFill>
                  <a:srgbClr val="53676D"/>
                </a:solidFill>
                <a:latin typeface="Arial"/>
                <a:ea typeface="Arial"/>
                <a:cs typeface="Arial"/>
              </a:defRPr>
            </a:lvl4pPr>
            <a:lvl5pPr algn="l">
              <a:buNone/>
              <a:defRPr sz="1875" b="0">
                <a:solidFill>
                  <a:srgbClr val="53676D"/>
                </a:solidFill>
                <a:latin typeface="Arial"/>
                <a:ea typeface="Arial"/>
                <a:cs typeface="Arial"/>
              </a:defRPr>
            </a:lvl5pPr>
            <a:lvl6pPr algn="l">
              <a:buNone/>
              <a:defRPr sz="1875" b="0">
                <a:solidFill>
                  <a:srgbClr val="53676D"/>
                </a:solidFill>
                <a:latin typeface="Arial"/>
                <a:ea typeface="Arial"/>
                <a:cs typeface="Arial"/>
              </a:defRPr>
            </a:lvl6pPr>
            <a:lvl7pPr algn="l">
              <a:buNone/>
              <a:defRPr sz="1875" b="0">
                <a:solidFill>
                  <a:srgbClr val="53676D"/>
                </a:solidFill>
                <a:latin typeface="Arial"/>
                <a:ea typeface="Arial"/>
                <a:cs typeface="Arial"/>
              </a:defRPr>
            </a:lvl7pPr>
            <a:lvl8pPr algn="l">
              <a:buNone/>
              <a:defRPr sz="1875" b="0">
                <a:solidFill>
                  <a:srgbClr val="53676D"/>
                </a:solidFill>
                <a:latin typeface="Arial"/>
                <a:ea typeface="Arial"/>
                <a:cs typeface="Arial"/>
              </a:defRPr>
            </a:lvl8pPr>
            <a:lvl9pPr algn="l">
              <a:buNone/>
              <a:defRPr sz="1875" b="0">
                <a:solidFill>
                  <a:srgbClr val="53676D"/>
                </a:solidFill>
                <a:latin typeface="Arial"/>
                <a:ea typeface="Arial"/>
                <a:cs typeface="Arial"/>
              </a:defRPr>
            </a:lvl9pPr>
          </a:lstStyle>
          <a:p xmlns:a="http://schemas.openxmlformats.org/drawingml/2006/main">
            <a:pPr algn="l">
              <a:buNone/>
              <a:defRPr sz="1875" b="0">
                <a:solidFill>
                  <a:srgbClr val="53676D"/>
                </a:solidFill>
                <a:latin typeface="Arial"/>
                <a:ea typeface="Arial"/>
                <a:cs typeface="Arial"/>
              </a:defRPr>
            </a:pPr>
            <a:r>
              <a:rPr sz="1875" b="0">
                <a:solidFill>
                  <a:srgbClr val="53676D"/>
                </a:solidFill>
                <a:latin typeface="Arial"/>
                <a:ea typeface="Arial"/>
                <a:cs typeface="Arial"/>
              </a:rPr>
              <a:t>Illustrative: 1,000 shares / 0.01 share per receipt = 100,000 receipt tokens.</a:t>
            </a:r>
          </a:p>
        </p:txBody>
      </p:sp>
      <p:sp>
        <p:nvSpPr>
          <p:cNvPr id="3" name="dlt-text-35">
            <a:extLst xmlns:a="http://schemas.openxmlformats.org/drawingml/2006/main">
              <a:ext uri="{FF2B5EF4-FFF2-40B4-BE49-F238E27FC236}">
                <a16:creationId xmlns:a16="http://schemas.microsoft.com/office/drawing/2014/main" id="{7B3410B5-1DBC-4B4C-84BB-F1BE4849C4E8}"/>
              </a:ext>
            </a:extLst>
          </p:cNvPr>
          <p:cNvSpPr>
            <a:spLocks xmlns:a="http://schemas.openxmlformats.org/drawingml/2006/main" noGrp="1"/>
          </p:cNvSpPr>
          <p:nvPr/>
        </p:nvSpPr>
        <p:spPr>
          <a:xfrm xmlns:a="http://schemas.openxmlformats.org/drawingml/2006/main">
            <a:off x="609600" y="64389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xmlns:a="http://schemas.openxmlformats.org/drawingml/2006/main">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dlt-text-36">
            <a:extLst xmlns:a="http://schemas.openxmlformats.org/drawingml/2006/main">
              <a:ext uri="{FF2B5EF4-FFF2-40B4-BE49-F238E27FC236}">
                <a16:creationId xmlns:a16="http://schemas.microsoft.com/office/drawing/2014/main" id="{E60889CF-2E8E-4F3E-80FC-CB15C83A3218}"/>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xmlns:a="http://schemas.openxmlformats.org/drawingml/2006/main">
            <a:pPr algn="r">
              <a:buNone/>
              <a:defRPr sz="1200" b="0">
                <a:solidFill>
                  <a:srgbClr val="53676D"/>
                </a:solidFill>
                <a:latin typeface="Arial"/>
                <a:ea typeface="Arial"/>
                <a:cs typeface="Arial"/>
              </a:defRPr>
            </a:pPr>
            <a:r>
              <a:rPr sz="1200" b="0">
                <a:solidFill>
                  <a:srgbClr val="53676D"/>
                </a:solidFill>
                <a:latin typeface="Arial"/>
                <a:ea typeface="Arial"/>
                <a:cs typeface="Arial"/>
              </a:rPr>
              <a:t>06</a:t>
            </a:r>
          </a:p>
        </p:txBody>
      </p:sp>
      <p:sp>
        <p:nvSpPr>
          <p:cNvPr id="5" name="dlt-text-37">
            <a:extLst xmlns:a="http://schemas.openxmlformats.org/drawingml/2006/main">
              <a:ext uri="{FF2B5EF4-FFF2-40B4-BE49-F238E27FC236}">
                <a16:creationId xmlns:a16="http://schemas.microsoft.com/office/drawing/2014/main" id="{E6EC9DA5-FDB0-471D-A14E-79A64441A27F}"/>
              </a:ext>
            </a:extLst>
          </p:cNvPr>
          <p:cNvSpPr>
            <a:spLocks xmlns:a="http://schemas.openxmlformats.org/drawingml/2006/main" noGrp="1"/>
          </p:cNvSpPr>
          <p:nvPr/>
        </p:nvSpPr>
        <p:spPr>
          <a:xfrm xmlns:a="http://schemas.openxmlformats.org/drawingml/2006/main">
            <a:off x="609600" y="18192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xmlns:a="http://schemas.openxmlformats.org/drawingml/2006/main">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p>
        </p:txBody>
      </p:sp>
      <p:sp>
        <p:nvSpPr>
          <p:cNvPr id="6" name="dlt-text-38">
            <a:extLst xmlns:a="http://schemas.openxmlformats.org/drawingml/2006/main">
              <a:ext uri="{FF2B5EF4-FFF2-40B4-BE49-F238E27FC236}">
                <a16:creationId xmlns:a16="http://schemas.microsoft.com/office/drawing/2014/main" id="{E3576E0D-F26A-4919-9BFA-DED8838652DE}"/>
              </a:ext>
            </a:extLst>
          </p:cNvPr>
          <p:cNvSpPr>
            <a:spLocks xmlns:a="http://schemas.openxmlformats.org/drawingml/2006/main" noGrp="1"/>
          </p:cNvSpPr>
          <p:nvPr/>
        </p:nvSpPr>
        <p:spPr>
          <a:xfrm xmlns:a="http://schemas.openxmlformats.org/drawingml/2006/main">
            <a:off x="3276600" y="1819275"/>
            <a:ext cx="5000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xmlns:a="http://schemas.openxmlformats.org/drawingml/2006/main">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p>
        </p:txBody>
      </p:sp>
      <p:sp>
        <p:nvSpPr>
          <p:cNvPr id="7" name="dlt-text-39">
            <a:extLst xmlns:a="http://schemas.openxmlformats.org/drawingml/2006/main">
              <a:ext uri="{FF2B5EF4-FFF2-40B4-BE49-F238E27FC236}">
                <a16:creationId xmlns:a16="http://schemas.microsoft.com/office/drawing/2014/main" id="{35FDB574-F002-44F6-98BE-A74E90520ECF}"/>
              </a:ext>
            </a:extLst>
          </p:cNvPr>
          <p:cNvSpPr>
            <a:spLocks xmlns:a="http://schemas.openxmlformats.org/drawingml/2006/main" noGrp="1"/>
          </p:cNvSpPr>
          <p:nvPr/>
        </p:nvSpPr>
        <p:spPr>
          <a:xfrm xmlns:a="http://schemas.openxmlformats.org/drawingml/2006/main">
            <a:off x="8705850" y="1819275"/>
            <a:ext cx="2876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xmlns:a="http://schemas.openxmlformats.org/drawingml/2006/main">
            <a:pPr algn="l">
              <a:buNone/>
              <a:defRPr sz="1500" b="0">
                <a:solidFill>
                  <a:srgbClr val="41826F"/>
                </a:solidFill>
                <a:latin typeface="Arial"/>
                <a:ea typeface="Arial"/>
                <a:cs typeface="Arial"/>
              </a:defRPr>
            </a:pPr>
            <a:r>
              <a:rPr sz="1500" b="0">
                <a:solidFill>
                  <a:srgbClr val="41826F"/>
                </a:solidFill>
                <a:latin typeface="Arial"/>
                <a:ea typeface="Arial"/>
                <a:cs typeface="Arial"/>
              </a:rPr>
              <a:t>Green = stablecoin cash</a:t>
            </a:r>
          </a:p>
        </p:txBody>
      </p:sp>
      <p:sp>
        <p:nvSpPr>
          <p:cNvPr id="8" name="participant-head-40">
            <a:extLst xmlns:a="http://schemas.openxmlformats.org/drawingml/2006/main">
              <a:ext uri="{FF2B5EF4-FFF2-40B4-BE49-F238E27FC236}">
                <a16:creationId xmlns:a16="http://schemas.microsoft.com/office/drawing/2014/main" id="{4AB2BFDE-5CAF-4DF4-B504-3A1B84ABBE52}"/>
              </a:ext>
            </a:extLst>
          </p:cNvPr>
          <p:cNvSpPr>
            <a:spLocks xmlns:a="http://schemas.openxmlformats.org/drawingml/2006/main" noGrp="1"/>
          </p:cNvSpPr>
          <p:nvPr/>
        </p:nvSpPr>
        <p:spPr>
          <a:xfrm xmlns:a="http://schemas.openxmlformats.org/drawingml/2006/main">
            <a:off x="1885950" y="2143125"/>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9" name="participant-body-41">
            <a:extLst xmlns:a="http://schemas.openxmlformats.org/drawingml/2006/main">
              <a:ext uri="{FF2B5EF4-FFF2-40B4-BE49-F238E27FC236}">
                <a16:creationId xmlns:a16="http://schemas.microsoft.com/office/drawing/2014/main" id="{77D66363-B845-4606-A2DE-045B200906B2}"/>
              </a:ext>
            </a:extLst>
          </p:cNvPr>
          <p:cNvSpPr>
            <a:spLocks xmlns:a="http://schemas.openxmlformats.org/drawingml/2006/main" noGrp="1"/>
          </p:cNvSpPr>
          <p:nvPr/>
        </p:nvSpPr>
        <p:spPr>
          <a:xfrm xmlns:a="http://schemas.openxmlformats.org/drawingml/2006/main">
            <a:off x="1809750" y="2362200"/>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0" name="dlt-text-42">
            <a:extLst xmlns:a="http://schemas.openxmlformats.org/drawingml/2006/main">
              <a:ext uri="{FF2B5EF4-FFF2-40B4-BE49-F238E27FC236}">
                <a16:creationId xmlns:a16="http://schemas.microsoft.com/office/drawing/2014/main" id="{EA0F8547-F8B1-4898-B3D7-E7B1E9D6FE02}"/>
              </a:ext>
            </a:extLst>
          </p:cNvPr>
          <p:cNvSpPr>
            <a:spLocks xmlns:a="http://schemas.openxmlformats.org/drawingml/2006/main" noGrp="1"/>
          </p:cNvSpPr>
          <p:nvPr/>
        </p:nvSpPr>
        <p:spPr>
          <a:xfrm xmlns:a="http://schemas.openxmlformats.org/drawingml/2006/main">
            <a:off x="781050" y="26003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Authorized</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participant</a:t>
            </a:r>
          </a:p>
        </p:txBody>
      </p:sp>
      <p:sp>
        <p:nvSpPr>
          <p:cNvPr id="11" name="diagram-line-43">
            <a:extLst xmlns:a="http://schemas.openxmlformats.org/drawingml/2006/main">
              <a:ext uri="{FF2B5EF4-FFF2-40B4-BE49-F238E27FC236}">
                <a16:creationId xmlns:a16="http://schemas.microsoft.com/office/drawing/2014/main" id="{413156C3-ED44-4F74-B0FF-D7C82D5C326F}"/>
              </a:ext>
            </a:extLst>
          </p:cNvPr>
          <p:cNvSpPr>
            <a:spLocks xmlns:a="http://schemas.openxmlformats.org/drawingml/2006/main" noGrp="1"/>
          </p:cNvSpPr>
          <p:nvPr/>
        </p:nvSpPr>
        <p:spPr>
          <a:xfrm xmlns:a="http://schemas.openxmlformats.org/drawingml/2006/main">
            <a:off x="1981200" y="3171825"/>
            <a:ext cx="0" cy="2686050"/>
          </a:xfrm>
          <a:prstGeom xmlns:a="http://schemas.openxmlformats.org/drawingml/2006/main" prst="line">
            <a:avLst/>
          </a:prstGeom>
          <a:noFill xmlns:a="http://schemas.openxmlformats.org/drawingml/2006/main"/>
          <a:ln xmlns:a="http://schemas.openxmlformats.org/drawingml/2006/main" w="10478">
            <a:solidFill>
              <a:srgbClr val="CFD7D1"/>
            </a:solidFill>
            <a:prstDash val="dash"/>
          </a:ln>
        </p:spPr>
      </p:sp>
      <p:sp>
        <p:nvSpPr>
          <p:cNvPr id="12" name="participant-head-44">
            <a:extLst xmlns:a="http://schemas.openxmlformats.org/drawingml/2006/main">
              <a:ext uri="{FF2B5EF4-FFF2-40B4-BE49-F238E27FC236}">
                <a16:creationId xmlns:a16="http://schemas.microsoft.com/office/drawing/2014/main" id="{2E245ECE-15D9-4B70-876F-69EB08B9A5FB}"/>
              </a:ext>
            </a:extLst>
          </p:cNvPr>
          <p:cNvSpPr>
            <a:spLocks xmlns:a="http://schemas.openxmlformats.org/drawingml/2006/main" noGrp="1"/>
          </p:cNvSpPr>
          <p:nvPr/>
        </p:nvSpPr>
        <p:spPr>
          <a:xfrm xmlns:a="http://schemas.openxmlformats.org/drawingml/2006/main">
            <a:off x="4629150" y="2143125"/>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13" name="participant-body-45">
            <a:extLst xmlns:a="http://schemas.openxmlformats.org/drawingml/2006/main">
              <a:ext uri="{FF2B5EF4-FFF2-40B4-BE49-F238E27FC236}">
                <a16:creationId xmlns:a16="http://schemas.microsoft.com/office/drawing/2014/main" id="{3DE9D95F-1B6A-437D-8390-B98937922A8A}"/>
              </a:ext>
            </a:extLst>
          </p:cNvPr>
          <p:cNvSpPr>
            <a:spLocks xmlns:a="http://schemas.openxmlformats.org/drawingml/2006/main" noGrp="1"/>
          </p:cNvSpPr>
          <p:nvPr/>
        </p:nvSpPr>
        <p:spPr>
          <a:xfrm xmlns:a="http://schemas.openxmlformats.org/drawingml/2006/main">
            <a:off x="4552950" y="2362200"/>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4" name="dlt-text-46">
            <a:extLst xmlns:a="http://schemas.openxmlformats.org/drawingml/2006/main">
              <a:ext uri="{FF2B5EF4-FFF2-40B4-BE49-F238E27FC236}">
                <a16:creationId xmlns:a16="http://schemas.microsoft.com/office/drawing/2014/main" id="{F0C108D9-0A4E-4932-8DF3-4F33520542C5}"/>
              </a:ext>
            </a:extLst>
          </p:cNvPr>
          <p:cNvSpPr>
            <a:spLocks xmlns:a="http://schemas.openxmlformats.org/drawingml/2006/main" noGrp="1"/>
          </p:cNvSpPr>
          <p:nvPr/>
        </p:nvSpPr>
        <p:spPr>
          <a:xfrm xmlns:a="http://schemas.openxmlformats.org/drawingml/2006/main">
            <a:off x="3524250" y="26003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custodian</a:t>
            </a:r>
          </a:p>
        </p:txBody>
      </p:sp>
      <p:sp>
        <p:nvSpPr>
          <p:cNvPr id="15" name="diagram-line-47">
            <a:extLst xmlns:a="http://schemas.openxmlformats.org/drawingml/2006/main">
              <a:ext uri="{FF2B5EF4-FFF2-40B4-BE49-F238E27FC236}">
                <a16:creationId xmlns:a16="http://schemas.microsoft.com/office/drawing/2014/main" id="{FACF13AF-2921-42B3-9F8A-7227F33BA2F7}"/>
              </a:ext>
            </a:extLst>
          </p:cNvPr>
          <p:cNvSpPr>
            <a:spLocks xmlns:a="http://schemas.openxmlformats.org/drawingml/2006/main" noGrp="1"/>
          </p:cNvSpPr>
          <p:nvPr/>
        </p:nvSpPr>
        <p:spPr>
          <a:xfrm xmlns:a="http://schemas.openxmlformats.org/drawingml/2006/main">
            <a:off x="4724400" y="3171825"/>
            <a:ext cx="0" cy="2686050"/>
          </a:xfrm>
          <a:prstGeom xmlns:a="http://schemas.openxmlformats.org/drawingml/2006/main" prst="line">
            <a:avLst/>
          </a:prstGeom>
          <a:noFill xmlns:a="http://schemas.openxmlformats.org/drawingml/2006/main"/>
          <a:ln xmlns:a="http://schemas.openxmlformats.org/drawingml/2006/main" w="10478">
            <a:solidFill>
              <a:srgbClr val="CFD7D1"/>
            </a:solidFill>
            <a:prstDash val="dash"/>
          </a:ln>
        </p:spPr>
      </p:sp>
      <p:sp>
        <p:nvSpPr>
          <p:cNvPr id="16" name="participant-head-48">
            <a:extLst xmlns:a="http://schemas.openxmlformats.org/drawingml/2006/main">
              <a:ext uri="{FF2B5EF4-FFF2-40B4-BE49-F238E27FC236}">
                <a16:creationId xmlns:a16="http://schemas.microsoft.com/office/drawing/2014/main" id="{08A0A442-D405-418D-A242-A008153F9C93}"/>
              </a:ext>
            </a:extLst>
          </p:cNvPr>
          <p:cNvSpPr>
            <a:spLocks xmlns:a="http://schemas.openxmlformats.org/drawingml/2006/main" noGrp="1"/>
          </p:cNvSpPr>
          <p:nvPr/>
        </p:nvSpPr>
        <p:spPr>
          <a:xfrm xmlns:a="http://schemas.openxmlformats.org/drawingml/2006/main">
            <a:off x="7372350" y="2143125"/>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17" name="participant-body-49">
            <a:extLst xmlns:a="http://schemas.openxmlformats.org/drawingml/2006/main">
              <a:ext uri="{FF2B5EF4-FFF2-40B4-BE49-F238E27FC236}">
                <a16:creationId xmlns:a16="http://schemas.microsoft.com/office/drawing/2014/main" id="{4E41099A-8293-4796-86A4-DEF9C5D42D03}"/>
              </a:ext>
            </a:extLst>
          </p:cNvPr>
          <p:cNvSpPr>
            <a:spLocks xmlns:a="http://schemas.openxmlformats.org/drawingml/2006/main" noGrp="1"/>
          </p:cNvSpPr>
          <p:nvPr/>
        </p:nvSpPr>
        <p:spPr>
          <a:xfrm xmlns:a="http://schemas.openxmlformats.org/drawingml/2006/main">
            <a:off x="7296150" y="2362200"/>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8" name="dlt-text-50">
            <a:extLst xmlns:a="http://schemas.openxmlformats.org/drawingml/2006/main">
              <a:ext uri="{FF2B5EF4-FFF2-40B4-BE49-F238E27FC236}">
                <a16:creationId xmlns:a16="http://schemas.microsoft.com/office/drawing/2014/main" id="{A5BDAED5-6C37-41E2-BA1E-96C197F9AFCA}"/>
              </a:ext>
            </a:extLst>
          </p:cNvPr>
          <p:cNvSpPr>
            <a:spLocks xmlns:a="http://schemas.openxmlformats.org/drawingml/2006/main" noGrp="1"/>
          </p:cNvSpPr>
          <p:nvPr/>
        </p:nvSpPr>
        <p:spPr>
          <a:xfrm xmlns:a="http://schemas.openxmlformats.org/drawingml/2006/main">
            <a:off x="6267450" y="26003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p>
        </p:txBody>
      </p:sp>
      <p:sp>
        <p:nvSpPr>
          <p:cNvPr id="19" name="diagram-line-51">
            <a:extLst xmlns:a="http://schemas.openxmlformats.org/drawingml/2006/main">
              <a:ext uri="{FF2B5EF4-FFF2-40B4-BE49-F238E27FC236}">
                <a16:creationId xmlns:a16="http://schemas.microsoft.com/office/drawing/2014/main" id="{681F61A8-01BB-4249-86C2-2DC6FE2A31CF}"/>
              </a:ext>
            </a:extLst>
          </p:cNvPr>
          <p:cNvSpPr>
            <a:spLocks xmlns:a="http://schemas.openxmlformats.org/drawingml/2006/main" noGrp="1"/>
          </p:cNvSpPr>
          <p:nvPr/>
        </p:nvSpPr>
        <p:spPr>
          <a:xfrm xmlns:a="http://schemas.openxmlformats.org/drawingml/2006/main">
            <a:off x="7467600" y="3171825"/>
            <a:ext cx="0" cy="2686050"/>
          </a:xfrm>
          <a:prstGeom xmlns:a="http://schemas.openxmlformats.org/drawingml/2006/main" prst="line">
            <a:avLst/>
          </a:prstGeom>
          <a:noFill xmlns:a="http://schemas.openxmlformats.org/drawingml/2006/main"/>
          <a:ln xmlns:a="http://schemas.openxmlformats.org/drawingml/2006/main" w="10478">
            <a:solidFill>
              <a:srgbClr val="CFD7D1"/>
            </a:solidFill>
            <a:prstDash val="dash"/>
          </a:ln>
        </p:spPr>
      </p:sp>
      <p:sp>
        <p:nvSpPr>
          <p:cNvPr id="20" name="ledger-node-52">
            <a:extLst xmlns:a="http://schemas.openxmlformats.org/drawingml/2006/main">
              <a:ext uri="{FF2B5EF4-FFF2-40B4-BE49-F238E27FC236}">
                <a16:creationId xmlns:a16="http://schemas.microsoft.com/office/drawing/2014/main" id="{6C33C1A7-BC46-4EC2-9A08-CDC4CD3662EA}"/>
              </a:ext>
            </a:extLst>
          </p:cNvPr>
          <p:cNvSpPr>
            <a:spLocks xmlns:a="http://schemas.openxmlformats.org/drawingml/2006/main" noGrp="1"/>
          </p:cNvSpPr>
          <p:nvPr/>
        </p:nvSpPr>
        <p:spPr>
          <a:xfrm xmlns:a="http://schemas.openxmlformats.org/drawingml/2006/main">
            <a:off x="9972675" y="2200275"/>
            <a:ext cx="190500" cy="238125"/>
          </a:xfrm>
          <a:prstGeom xmlns:a="http://schemas.openxmlformats.org/drawingml/2006/main" prst="rect">
            <a:avLst/>
          </a:prstGeom>
          <a:solidFill xmlns:a="http://schemas.openxmlformats.org/drawingml/2006/main">
            <a:srgbClr val="EEF3F7"/>
          </a:solidFill>
          <a:ln xmlns:a="http://schemas.openxmlformats.org/drawingml/2006/main" w="13335">
            <a:solidFill>
              <a:srgbClr val="537DA1"/>
            </a:solidFill>
            <a:prstDash val="solid"/>
          </a:ln>
        </p:spPr>
      </p:sp>
      <p:sp>
        <p:nvSpPr>
          <p:cNvPr id="21" name="ledger-node-53">
            <a:extLst xmlns:a="http://schemas.openxmlformats.org/drawingml/2006/main">
              <a:ext uri="{FF2B5EF4-FFF2-40B4-BE49-F238E27FC236}">
                <a16:creationId xmlns:a16="http://schemas.microsoft.com/office/drawing/2014/main" id="{476B4383-595E-4051-A901-59018E6945BA}"/>
              </a:ext>
            </a:extLst>
          </p:cNvPr>
          <p:cNvSpPr>
            <a:spLocks xmlns:a="http://schemas.openxmlformats.org/drawingml/2006/main" noGrp="1"/>
          </p:cNvSpPr>
          <p:nvPr/>
        </p:nvSpPr>
        <p:spPr>
          <a:xfrm xmlns:a="http://schemas.openxmlformats.org/drawingml/2006/main">
            <a:off x="10267950" y="2200275"/>
            <a:ext cx="190500" cy="238125"/>
          </a:xfrm>
          <a:prstGeom xmlns:a="http://schemas.openxmlformats.org/drawingml/2006/main" prst="rect">
            <a:avLst/>
          </a:prstGeom>
          <a:solidFill xmlns:a="http://schemas.openxmlformats.org/drawingml/2006/main">
            <a:srgbClr val="EEF3F7"/>
          </a:solidFill>
          <a:ln xmlns:a="http://schemas.openxmlformats.org/drawingml/2006/main" w="13335">
            <a:solidFill>
              <a:srgbClr val="537DA1"/>
            </a:solidFill>
            <a:prstDash val="solid"/>
          </a:ln>
        </p:spPr>
      </p:sp>
      <p:sp>
        <p:nvSpPr>
          <p:cNvPr id="22" name="diagram-line-54">
            <a:extLst xmlns:a="http://schemas.openxmlformats.org/drawingml/2006/main">
              <a:ext uri="{FF2B5EF4-FFF2-40B4-BE49-F238E27FC236}">
                <a16:creationId xmlns:a16="http://schemas.microsoft.com/office/drawing/2014/main" id="{5130A1B9-34BC-4071-96CE-7EC9ACA2F108}"/>
              </a:ext>
            </a:extLst>
          </p:cNvPr>
          <p:cNvSpPr>
            <a:spLocks xmlns:a="http://schemas.openxmlformats.org/drawingml/2006/main" noGrp="1"/>
          </p:cNvSpPr>
          <p:nvPr/>
        </p:nvSpPr>
        <p:spPr>
          <a:xfrm xmlns:a="http://schemas.openxmlformats.org/drawingml/2006/main">
            <a:off x="10172700" y="2314575"/>
            <a:ext cx="85725" cy="0"/>
          </a:xfrm>
          <a:prstGeom xmlns:a="http://schemas.openxmlformats.org/drawingml/2006/main" prst="line">
            <a:avLst/>
          </a:prstGeom>
          <a:noFill xmlns:a="http://schemas.openxmlformats.org/drawingml/2006/main"/>
          <a:ln xmlns:a="http://schemas.openxmlformats.org/drawingml/2006/main" w="14288">
            <a:solidFill>
              <a:srgbClr val="537DA1"/>
            </a:solidFill>
            <a:prstDash val="solid"/>
          </a:ln>
        </p:spPr>
      </p:sp>
      <p:sp>
        <p:nvSpPr>
          <p:cNvPr id="23" name="dlt-text-55">
            <a:extLst xmlns:a="http://schemas.openxmlformats.org/drawingml/2006/main">
              <a:ext uri="{FF2B5EF4-FFF2-40B4-BE49-F238E27FC236}">
                <a16:creationId xmlns:a16="http://schemas.microsoft.com/office/drawing/2014/main" id="{17A9585E-4E9E-4060-B09B-97307CB84BE3}"/>
              </a:ext>
            </a:extLst>
          </p:cNvPr>
          <p:cNvSpPr>
            <a:spLocks xmlns:a="http://schemas.openxmlformats.org/drawingml/2006/main" noGrp="1"/>
          </p:cNvSpPr>
          <p:nvPr/>
        </p:nvSpPr>
        <p:spPr>
          <a:xfrm xmlns:a="http://schemas.openxmlformats.org/drawingml/2006/main">
            <a:off x="9010650" y="26003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p>
        </p:txBody>
      </p:sp>
      <p:sp>
        <p:nvSpPr>
          <p:cNvPr id="24" name="diagram-line-56">
            <a:extLst xmlns:a="http://schemas.openxmlformats.org/drawingml/2006/main">
              <a:ext uri="{FF2B5EF4-FFF2-40B4-BE49-F238E27FC236}">
                <a16:creationId xmlns:a16="http://schemas.microsoft.com/office/drawing/2014/main" id="{03D08A47-0DAB-4110-A54B-997E26F47D76}"/>
              </a:ext>
            </a:extLst>
          </p:cNvPr>
          <p:cNvSpPr>
            <a:spLocks xmlns:a="http://schemas.openxmlformats.org/drawingml/2006/main" noGrp="1"/>
          </p:cNvSpPr>
          <p:nvPr/>
        </p:nvSpPr>
        <p:spPr>
          <a:xfrm xmlns:a="http://schemas.openxmlformats.org/drawingml/2006/main">
            <a:off x="10210800" y="3171825"/>
            <a:ext cx="0" cy="2686050"/>
          </a:xfrm>
          <a:prstGeom xmlns:a="http://schemas.openxmlformats.org/drawingml/2006/main" prst="line">
            <a:avLst/>
          </a:prstGeom>
          <a:noFill xmlns:a="http://schemas.openxmlformats.org/drawingml/2006/main"/>
          <a:ln xmlns:a="http://schemas.openxmlformats.org/drawingml/2006/main" w="10478">
            <a:solidFill>
              <a:srgbClr val="CFD7D1"/>
            </a:solidFill>
            <a:prstDash val="dash"/>
          </a:ln>
        </p:spPr>
      </p:sp>
      <p:cxnSp>
        <p:nvCxnSpPr>
          <p:cNvPr id="25" name="diagram-line-57">
            <a:extLst xmlns:a="http://schemas.openxmlformats.org/drawingml/2006/main">
              <a:ext uri="{FF2B5EF4-FFF2-40B4-BE49-F238E27FC236}">
                <a16:creationId xmlns:a16="http://schemas.microsoft.com/office/drawing/2014/main" id="{5205BABF-534E-4936-A4D7-E84D394421A2}"/>
              </a:ext>
            </a:extLst>
          </p:cNvPr>
          <p:cNvCxnSpPr/>
          <p:nvPr/>
        </p:nvCxnSpPr>
        <p:spPr>
          <a:xfrm xmlns:a="http://schemas.openxmlformats.org/drawingml/2006/main">
            <a:off x="1981200" y="3429000"/>
            <a:ext cx="2743200" cy="0"/>
          </a:xfrm>
          <a:prstGeom xmlns:a="http://schemas.openxmlformats.org/drawingml/2006/main" prst="straightConnector1">
            <a:avLst/>
          </a:prstGeom>
          <a:ln xmlns:a="http://schemas.openxmlformats.org/drawingml/2006/main" w="22860">
            <a:solidFill>
              <a:srgbClr val="537DA1"/>
            </a:solidFill>
            <a:prstDash val="solid"/>
            <a:tailEnd type="triangle" w="sm" len="sm"/>
          </a:ln>
        </p:spPr>
      </p:cxnSp>
      <p:sp>
        <p:nvSpPr>
          <p:cNvPr id="26" name="data-object-58">
            <a:extLst xmlns:a="http://schemas.openxmlformats.org/drawingml/2006/main">
              <a:ext uri="{FF2B5EF4-FFF2-40B4-BE49-F238E27FC236}">
                <a16:creationId xmlns:a16="http://schemas.microsoft.com/office/drawing/2014/main" id="{87C8C76A-B6E2-42CA-90EB-E2CEE795CD6E}"/>
              </a:ext>
            </a:extLst>
          </p:cNvPr>
          <p:cNvSpPr>
            <a:spLocks xmlns:a="http://schemas.openxmlformats.org/drawingml/2006/main" noGrp="1"/>
          </p:cNvSpPr>
          <p:nvPr/>
        </p:nvSpPr>
        <p:spPr>
          <a:xfrm xmlns:a="http://schemas.openxmlformats.org/drawingml/2006/main">
            <a:off x="2143125" y="3248025"/>
            <a:ext cx="2419350" cy="361950"/>
          </a:xfrm>
          <a:prstGeom xmlns:a="http://schemas.openxmlformats.org/drawingml/2006/main" prst="foldedCorner">
            <a:avLst/>
          </a:prstGeom>
          <a:solidFill xmlns:a="http://schemas.openxmlformats.org/drawingml/2006/main">
            <a:srgbClr val="EEF3F7"/>
          </a:solidFill>
          <a:ln xmlns:a="http://schemas.openxmlformats.org/drawingml/2006/main" w="10478">
            <a:solidFill>
              <a:srgbClr val="537DA1"/>
            </a:solidFill>
            <a:prstDash val="solid"/>
          </a:ln>
        </p:spPr>
        <p:txBody>
          <a:bodyPr xmlns:a="http://schemas.openxmlformats.org/drawingml/2006/main" wrap="none" lIns="85725" tIns="28575" rIns="123825" bIns="28575" anchor="ctr">
            <a:noAutofit/>
          </a:bodyPr>
          <a:lstStyle xmlns:a="http://schemas.openxmlformats.org/drawingml/2006/main">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xmlns:a="http://schemas.openxmlformats.org/drawingml/2006/main">
            <a:pPr algn="ctr">
              <a:buNone/>
              <a:defRPr sz="1500" b="0">
                <a:solidFill>
                  <a:srgbClr val="183440"/>
                </a:solidFill>
                <a:latin typeface="Arial"/>
                <a:ea typeface="Arial"/>
                <a:cs typeface="Arial"/>
              </a:defRPr>
            </a:pPr>
            <a:r>
              <a:rPr sz="1500" b="0">
                <a:solidFill>
                  <a:srgbClr val="183440"/>
                </a:solidFill>
                <a:latin typeface="Arial"/>
                <a:ea typeface="Arial"/>
                <a:cs typeface="Arial"/>
              </a:rPr>
              <a:t>1. 1,000 foreign shares</a:t>
            </a:r>
          </a:p>
        </p:txBody>
      </p:sp>
      <p:cxnSp>
        <p:nvCxnSpPr>
          <p:cNvPr id="27" name="diagram-line-59">
            <a:extLst xmlns:a="http://schemas.openxmlformats.org/drawingml/2006/main">
              <a:ext uri="{FF2B5EF4-FFF2-40B4-BE49-F238E27FC236}">
                <a16:creationId xmlns:a16="http://schemas.microsoft.com/office/drawing/2014/main" id="{1C889B03-C0A8-44E0-8BF3-2D73475EF5DC}"/>
              </a:ext>
            </a:extLst>
          </p:cNvPr>
          <p:cNvCxnSpPr/>
          <p:nvPr/>
        </p:nvCxnSpPr>
        <p:spPr>
          <a:xfrm xmlns:a="http://schemas.openxmlformats.org/drawingml/2006/main">
            <a:off x="4724400" y="4191000"/>
            <a:ext cx="2743200" cy="0"/>
          </a:xfrm>
          <a:prstGeom xmlns:a="http://schemas.openxmlformats.org/drawingml/2006/main" prst="straightConnector1">
            <a:avLst/>
          </a:prstGeom>
          <a:ln xmlns:a="http://schemas.openxmlformats.org/drawingml/2006/main" w="22860">
            <a:solidFill>
              <a:srgbClr val="83739D"/>
            </a:solidFill>
            <a:prstDash val="solid"/>
            <a:tailEnd type="triangle" w="sm" len="sm"/>
          </a:ln>
        </p:spPr>
      </p:cxnSp>
      <p:sp>
        <p:nvSpPr>
          <p:cNvPr id="28" name="data-object-60">
            <a:extLst xmlns:a="http://schemas.openxmlformats.org/drawingml/2006/main">
              <a:ext uri="{FF2B5EF4-FFF2-40B4-BE49-F238E27FC236}">
                <a16:creationId xmlns:a16="http://schemas.microsoft.com/office/drawing/2014/main" id="{C29A6A64-EE71-4F36-9741-733DFC06B24C}"/>
              </a:ext>
            </a:extLst>
          </p:cNvPr>
          <p:cNvSpPr>
            <a:spLocks xmlns:a="http://schemas.openxmlformats.org/drawingml/2006/main" noGrp="1"/>
          </p:cNvSpPr>
          <p:nvPr/>
        </p:nvSpPr>
        <p:spPr>
          <a:xfrm xmlns:a="http://schemas.openxmlformats.org/drawingml/2006/main">
            <a:off x="4848225" y="4010025"/>
            <a:ext cx="2495550" cy="361950"/>
          </a:xfrm>
          <a:prstGeom xmlns:a="http://schemas.openxmlformats.org/drawingml/2006/main" prst="foldedCorner">
            <a:avLst/>
          </a:prstGeom>
          <a:solidFill xmlns:a="http://schemas.openxmlformats.org/drawingml/2006/main">
            <a:srgbClr val="F0EDF5"/>
          </a:solidFill>
          <a:ln xmlns:a="http://schemas.openxmlformats.org/drawingml/2006/main" w="10478">
            <a:solidFill>
              <a:srgbClr val="83739D"/>
            </a:solidFill>
            <a:prstDash val="solid"/>
          </a:ln>
        </p:spPr>
        <p:txBody>
          <a:bodyPr xmlns:a="http://schemas.openxmlformats.org/drawingml/2006/main" wrap="none" lIns="85725" tIns="28575" rIns="123825" bIns="28575" anchor="ctr">
            <a:noAutofit/>
          </a:bodyPr>
          <a:lstStyle xmlns:a="http://schemas.openxmlformats.org/drawingml/2006/main">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xmlns:a="http://schemas.openxmlformats.org/drawingml/2006/main">
            <a:pPr algn="ctr">
              <a:buNone/>
              <a:defRPr sz="1500" b="0">
                <a:solidFill>
                  <a:srgbClr val="183440"/>
                </a:solidFill>
                <a:latin typeface="Arial"/>
                <a:ea typeface="Arial"/>
                <a:cs typeface="Arial"/>
              </a:defRPr>
            </a:pPr>
            <a:r>
              <a:rPr sz="1500" b="0">
                <a:solidFill>
                  <a:srgbClr val="183440"/>
                </a:solidFill>
                <a:latin typeface="Arial"/>
                <a:ea typeface="Arial"/>
                <a:cs typeface="Arial"/>
              </a:rPr>
              <a:t>2. Settled backing proof</a:t>
            </a:r>
          </a:p>
        </p:txBody>
      </p:sp>
      <p:cxnSp>
        <p:nvCxnSpPr>
          <p:cNvPr id="29" name="diagram-line-61">
            <a:extLst xmlns:a="http://schemas.openxmlformats.org/drawingml/2006/main">
              <a:ext uri="{FF2B5EF4-FFF2-40B4-BE49-F238E27FC236}">
                <a16:creationId xmlns:a16="http://schemas.microsoft.com/office/drawing/2014/main" id="{CE9722FB-3E83-4147-B07F-AE29B69E9CB4}"/>
              </a:ext>
            </a:extLst>
          </p:cNvPr>
          <p:cNvCxnSpPr/>
          <p:nvPr/>
        </p:nvCxnSpPr>
        <p:spPr>
          <a:xfrm xmlns:a="http://schemas.openxmlformats.org/drawingml/2006/main">
            <a:off x="7467600" y="4953000"/>
            <a:ext cx="2743200" cy="0"/>
          </a:xfrm>
          <a:prstGeom xmlns:a="http://schemas.openxmlformats.org/drawingml/2006/main" prst="straightConnector1">
            <a:avLst/>
          </a:prstGeom>
          <a:ln xmlns:a="http://schemas.openxmlformats.org/drawingml/2006/main" w="22860">
            <a:solidFill>
              <a:srgbClr val="83739D"/>
            </a:solidFill>
            <a:prstDash val="solid"/>
            <a:tailEnd type="triangle" w="sm" len="sm"/>
          </a:ln>
        </p:spPr>
      </p:cxnSp>
      <p:sp>
        <p:nvSpPr>
          <p:cNvPr id="30" name="data-object-62">
            <a:extLst xmlns:a="http://schemas.openxmlformats.org/drawingml/2006/main">
              <a:ext uri="{FF2B5EF4-FFF2-40B4-BE49-F238E27FC236}">
                <a16:creationId xmlns:a16="http://schemas.microsoft.com/office/drawing/2014/main" id="{C763E77C-1AED-4635-A910-036F208B380E}"/>
              </a:ext>
            </a:extLst>
          </p:cNvPr>
          <p:cNvSpPr>
            <a:spLocks xmlns:a="http://schemas.openxmlformats.org/drawingml/2006/main" noGrp="1"/>
          </p:cNvSpPr>
          <p:nvPr/>
        </p:nvSpPr>
        <p:spPr>
          <a:xfrm xmlns:a="http://schemas.openxmlformats.org/drawingml/2006/main">
            <a:off x="7629525" y="4772025"/>
            <a:ext cx="2419350" cy="361950"/>
          </a:xfrm>
          <a:prstGeom xmlns:a="http://schemas.openxmlformats.org/drawingml/2006/main" prst="foldedCorner">
            <a:avLst/>
          </a:prstGeom>
          <a:solidFill xmlns:a="http://schemas.openxmlformats.org/drawingml/2006/main">
            <a:srgbClr val="F0EDF5"/>
          </a:solidFill>
          <a:ln xmlns:a="http://schemas.openxmlformats.org/drawingml/2006/main" w="10478">
            <a:solidFill>
              <a:srgbClr val="83739D"/>
            </a:solidFill>
            <a:prstDash val="solid"/>
          </a:ln>
        </p:spPr>
        <p:txBody>
          <a:bodyPr xmlns:a="http://schemas.openxmlformats.org/drawingml/2006/main" wrap="none" lIns="85725" tIns="28575" rIns="123825" bIns="28575" anchor="ctr">
            <a:noAutofit/>
          </a:bodyPr>
          <a:lstStyle xmlns:a="http://schemas.openxmlformats.org/drawingml/2006/main">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xmlns:a="http://schemas.openxmlformats.org/drawingml/2006/main">
            <a:pPr algn="ctr">
              <a:buNone/>
              <a:defRPr sz="1500" b="0">
                <a:solidFill>
                  <a:srgbClr val="183440"/>
                </a:solidFill>
                <a:latin typeface="Arial"/>
                <a:ea typeface="Arial"/>
                <a:cs typeface="Arial"/>
              </a:defRPr>
            </a:pPr>
            <a:r>
              <a:rPr sz="1500" b="0">
                <a:solidFill>
                  <a:srgbClr val="183440"/>
                </a:solidFill>
                <a:latin typeface="Arial"/>
                <a:ea typeface="Arial"/>
                <a:cs typeface="Arial"/>
              </a:rPr>
              <a:t>3. Signed mint approval</a:t>
            </a:r>
          </a:p>
        </p:txBody>
      </p:sp>
      <p:cxnSp>
        <p:nvCxnSpPr>
          <p:cNvPr id="31" name="diagram-line-63">
            <a:extLst xmlns:a="http://schemas.openxmlformats.org/drawingml/2006/main">
              <a:ext uri="{FF2B5EF4-FFF2-40B4-BE49-F238E27FC236}">
                <a16:creationId xmlns:a16="http://schemas.microsoft.com/office/drawing/2014/main" id="{A8444394-F498-488C-879F-79C2B2CB0E20}"/>
              </a:ext>
            </a:extLst>
          </p:cNvPr>
          <p:cNvCxnSpPr/>
          <p:nvPr/>
        </p:nvCxnSpPr>
        <p:spPr>
          <a:xfrm xmlns:a="http://schemas.openxmlformats.org/drawingml/2006/main">
            <a:off x="1981200" y="5715000"/>
            <a:ext cx="8229600" cy="0"/>
          </a:xfrm>
          <a:prstGeom xmlns:a="http://schemas.openxmlformats.org/drawingml/2006/main" prst="straightConnector1">
            <a:avLst/>
          </a:prstGeom>
          <a:ln xmlns:a="http://schemas.openxmlformats.org/drawingml/2006/main" w="22860">
            <a:solidFill>
              <a:srgbClr val="537DA1"/>
            </a:solidFill>
            <a:prstDash val="solid"/>
            <a:headEnd type="triangle" w="sm" len="sm"/>
          </a:ln>
        </p:spPr>
      </p:cxnSp>
      <p:sp>
        <p:nvSpPr>
          <p:cNvPr id="32" name="data-object-64">
            <a:extLst xmlns:a="http://schemas.openxmlformats.org/drawingml/2006/main">
              <a:ext uri="{FF2B5EF4-FFF2-40B4-BE49-F238E27FC236}">
                <a16:creationId xmlns:a16="http://schemas.microsoft.com/office/drawing/2014/main" id="{C483CA05-0BB5-4E1A-8B38-75E340F38EB9}"/>
              </a:ext>
            </a:extLst>
          </p:cNvPr>
          <p:cNvSpPr>
            <a:spLocks xmlns:a="http://schemas.openxmlformats.org/drawingml/2006/main" noGrp="1"/>
          </p:cNvSpPr>
          <p:nvPr/>
        </p:nvSpPr>
        <p:spPr>
          <a:xfrm xmlns:a="http://schemas.openxmlformats.org/drawingml/2006/main">
            <a:off x="3309938" y="5534025"/>
            <a:ext cx="5572125" cy="361950"/>
          </a:xfrm>
          <a:prstGeom xmlns:a="http://schemas.openxmlformats.org/drawingml/2006/main" prst="foldedCorner">
            <a:avLst/>
          </a:prstGeom>
          <a:solidFill xmlns:a="http://schemas.openxmlformats.org/drawingml/2006/main">
            <a:srgbClr val="EEF3F7"/>
          </a:solidFill>
          <a:ln xmlns:a="http://schemas.openxmlformats.org/drawingml/2006/main" w="10478">
            <a:solidFill>
              <a:srgbClr val="537DA1"/>
            </a:solidFill>
            <a:prstDash val="solid"/>
          </a:ln>
        </p:spPr>
        <p:txBody>
          <a:bodyPr xmlns:a="http://schemas.openxmlformats.org/drawingml/2006/main" wrap="none" lIns="85725" tIns="28575" rIns="123825" bIns="28575" anchor="ctr">
            <a:noAutofit/>
          </a:bodyPr>
          <a:lstStyle xmlns:a="http://schemas.openxmlformats.org/drawingml/2006/main">
            <a:defPPr algn="ctr">
              <a:defRPr sz="1425"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xmlns:a="http://schemas.openxmlformats.org/drawingml/2006/main">
            <a:pPr algn="ctr">
              <a:buNone/>
              <a:defRPr sz="1500" b="0">
                <a:solidFill>
                  <a:srgbClr val="183440"/>
                </a:solidFill>
                <a:latin typeface="Arial"/>
                <a:ea typeface="Arial"/>
                <a:cs typeface="Arial"/>
              </a:defRPr>
            </a:pPr>
            <a:r>
              <a:rPr sz="1425" b="0">
                <a:solidFill>
                  <a:srgbClr val="183440"/>
                </a:solidFill>
                <a:latin typeface="Arial"/>
                <a:ea typeface="Arial"/>
                <a:cs typeface="Arial"/>
              </a:rPr>
              <a:t>4. 100,000 receipt tokens to the AP’s eligible account</a:t>
            </a:r>
          </a:p>
        </p:txBody>
      </p:sp>
      <p:sp>
        <p:nvSpPr>
          <p:cNvPr id="33" name="dlt-text-65">
            <a:extLst xmlns:a="http://schemas.openxmlformats.org/drawingml/2006/main">
              <a:ext uri="{FF2B5EF4-FFF2-40B4-BE49-F238E27FC236}">
                <a16:creationId xmlns:a16="http://schemas.microsoft.com/office/drawing/2014/main" id="{141C500C-EDEE-4AD3-8E52-50634DC19728}"/>
              </a:ext>
            </a:extLst>
          </p:cNvPr>
          <p:cNvSpPr>
            <a:spLocks xmlns:a="http://schemas.openxmlformats.org/drawingml/2006/main" noGrp="1"/>
          </p:cNvSpPr>
          <p:nvPr/>
        </p:nvSpPr>
        <p:spPr>
          <a:xfrm xmlns:a="http://schemas.openxmlformats.org/drawingml/2006/main">
            <a:off x="609600" y="605790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xmlns:a="http://schemas.openxmlformats.org/drawingml/2006/main">
            <a:pPr algn="l">
              <a:buNone/>
              <a:defRPr sz="1650" b="0">
                <a:solidFill>
                  <a:srgbClr val="53676D"/>
                </a:solidFill>
                <a:latin typeface="Arial"/>
                <a:ea typeface="Arial"/>
                <a:cs typeface="Arial"/>
              </a:defRPr>
            </a:pPr>
            <a:r>
              <a:rPr sz="1650" b="0">
                <a:solidFill>
                  <a:srgbClr val="53676D"/>
                </a:solidFill>
                <a:latin typeface="Arial"/>
                <a:ea typeface="Arial"/>
                <a:cs typeface="Arial"/>
              </a:rPr>
              <a:t>Redemption: lock and cancel receipt units, burn tokens, then release the backing.</a:t>
            </a:r>
          </a:p>
        </p:txBody>
      </p:sp>
    </p:spTree>
    <p:extLst>
      <p:ext uri="{BB962C8B-B14F-4D97-AF65-F5344CB8AC3E}">
        <p14:creationId xmlns:p14="http://schemas.microsoft.com/office/powerpoint/2010/main" val="117083521"/>
      </p:ext>
    </p:extLst>
  </p:cSld>
</p:sld>
</file>

<file path=ppt/slides/slide7.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36" name="access-revision-text-74">
            <a:extLst xmlns:a="http://schemas.openxmlformats.org/drawingml/2006/main">
              <a:ext uri="{FF2B5EF4-FFF2-40B4-BE49-F238E27FC236}">
                <a16:creationId xmlns:a16="http://schemas.microsoft.com/office/drawing/2014/main" id="{9091D5AD-1A3B-4E20-87A5-D9F85F79E8B3}"/>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xmlns:a="http://schemas.openxmlformats.org/drawingml/2006/main">
            <a:pPr algn="l">
              <a:buNone/>
              <a:defRPr sz="3300" b="1">
                <a:solidFill>
                  <a:srgbClr val="183440"/>
                </a:solidFill>
                <a:latin typeface="Arial"/>
                <a:ea typeface="Arial"/>
                <a:cs typeface="Arial"/>
              </a:defRPr>
            </a:pPr>
            <a:r>
              <a:rPr sz="3300" b="1">
                <a:solidFill>
                  <a:srgbClr val="183440"/>
                </a:solidFill>
                <a:latin typeface="Arial"/>
                <a:ea typeface="Arial"/>
                <a:cs typeface="Arial"/>
              </a:rPr>
              <a:t>3. An investor buys D-SHARE receipts</a:t>
            </a:r>
          </a:p>
        </p:txBody>
      </p:sp>
      <p:sp>
        <p:nvSpPr>
          <p:cNvPr id="2" name="access-revision-text-75">
            <a:extLst xmlns:a="http://schemas.openxmlformats.org/drawingml/2006/main">
              <a:ext uri="{FF2B5EF4-FFF2-40B4-BE49-F238E27FC236}">
                <a16:creationId xmlns:a16="http://schemas.microsoft.com/office/drawing/2014/main" id="{0675738A-69F1-44AE-910C-7AB9DA22ABB7}"/>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buNone/>
              <a:defRPr sz="1875" b="0">
                <a:solidFill>
                  <a:srgbClr val="53676D"/>
                </a:solidFill>
                <a:latin typeface="Arial"/>
                <a:ea typeface="Arial"/>
                <a:cs typeface="Arial"/>
              </a:defRPr>
            </a:lvl1pPr>
            <a:lvl2pPr algn="l">
              <a:buNone/>
              <a:defRPr sz="1875" b="0">
                <a:solidFill>
                  <a:srgbClr val="53676D"/>
                </a:solidFill>
                <a:latin typeface="Arial"/>
                <a:ea typeface="Arial"/>
                <a:cs typeface="Arial"/>
              </a:defRPr>
            </a:lvl2pPr>
            <a:lvl3pPr algn="l">
              <a:buNone/>
              <a:defRPr sz="1875" b="0">
                <a:solidFill>
                  <a:srgbClr val="53676D"/>
                </a:solidFill>
                <a:latin typeface="Arial"/>
                <a:ea typeface="Arial"/>
                <a:cs typeface="Arial"/>
              </a:defRPr>
            </a:lvl3pPr>
            <a:lvl4pPr algn="l">
              <a:buNone/>
              <a:defRPr sz="1875" b="0">
                <a:solidFill>
                  <a:srgbClr val="53676D"/>
                </a:solidFill>
                <a:latin typeface="Arial"/>
                <a:ea typeface="Arial"/>
                <a:cs typeface="Arial"/>
              </a:defRPr>
            </a:lvl4pPr>
            <a:lvl5pPr algn="l">
              <a:buNone/>
              <a:defRPr sz="1875" b="0">
                <a:solidFill>
                  <a:srgbClr val="53676D"/>
                </a:solidFill>
                <a:latin typeface="Arial"/>
                <a:ea typeface="Arial"/>
                <a:cs typeface="Arial"/>
              </a:defRPr>
            </a:lvl5pPr>
            <a:lvl6pPr algn="l">
              <a:buNone/>
              <a:defRPr sz="1875" b="0">
                <a:solidFill>
                  <a:srgbClr val="53676D"/>
                </a:solidFill>
                <a:latin typeface="Arial"/>
                <a:ea typeface="Arial"/>
                <a:cs typeface="Arial"/>
              </a:defRPr>
            </a:lvl6pPr>
            <a:lvl7pPr algn="l">
              <a:buNone/>
              <a:defRPr sz="1875" b="0">
                <a:solidFill>
                  <a:srgbClr val="53676D"/>
                </a:solidFill>
                <a:latin typeface="Arial"/>
                <a:ea typeface="Arial"/>
                <a:cs typeface="Arial"/>
              </a:defRPr>
            </a:lvl7pPr>
            <a:lvl8pPr algn="l">
              <a:buNone/>
              <a:defRPr sz="1875" b="0">
                <a:solidFill>
                  <a:srgbClr val="53676D"/>
                </a:solidFill>
                <a:latin typeface="Arial"/>
                <a:ea typeface="Arial"/>
                <a:cs typeface="Arial"/>
              </a:defRPr>
            </a:lvl8pPr>
            <a:lvl9pPr algn="l">
              <a:buNone/>
              <a:defRPr sz="1875" b="0">
                <a:solidFill>
                  <a:srgbClr val="53676D"/>
                </a:solidFill>
                <a:latin typeface="Arial"/>
                <a:ea typeface="Arial"/>
                <a:cs typeface="Arial"/>
              </a:defRPr>
            </a:lvl9pPr>
          </a:lstStyle>
          <a:p xmlns:a="http://schemas.openxmlformats.org/drawingml/2006/main">
            <a:pPr algn="l">
              <a:buNone/>
              <a:defRPr sz="1875" b="0">
                <a:solidFill>
                  <a:srgbClr val="53676D"/>
                </a:solidFill>
                <a:latin typeface="Arial"/>
                <a:ea typeface="Arial"/>
                <a:cs typeface="Arial"/>
              </a:defRPr>
            </a:pPr>
            <a:r>
              <a:rPr sz="1875" b="0">
                <a:solidFill>
                  <a:srgbClr val="53676D"/>
                </a:solidFill>
                <a:latin typeface="Arial"/>
                <a:ea typeface="Arial"/>
                <a:cs typeface="Arial"/>
              </a:rPr>
              <a:t>25 receipt units at US$12 = US$300, with a 0.25-share economic interest.</a:t>
            </a:r>
          </a:p>
        </p:txBody>
      </p:sp>
      <p:sp>
        <p:nvSpPr>
          <p:cNvPr id="3" name="access-revision-text-76">
            <a:extLst xmlns:a="http://schemas.openxmlformats.org/drawingml/2006/main">
              <a:ext uri="{FF2B5EF4-FFF2-40B4-BE49-F238E27FC236}">
                <a16:creationId xmlns:a16="http://schemas.microsoft.com/office/drawing/2014/main" id="{720C30D2-8DC1-426F-A376-DDBBCE6B1693}"/>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xmlns:a="http://schemas.openxmlformats.org/drawingml/2006/main">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access-revision-text-77">
            <a:extLst xmlns:a="http://schemas.openxmlformats.org/drawingml/2006/main">
              <a:ext uri="{FF2B5EF4-FFF2-40B4-BE49-F238E27FC236}">
                <a16:creationId xmlns:a16="http://schemas.microsoft.com/office/drawing/2014/main" id="{0B169377-51B5-4814-A5A8-9950E3DBDA1E}"/>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xmlns:a="http://schemas.openxmlformats.org/drawingml/2006/main">
            <a:pPr algn="r">
              <a:buNone/>
              <a:defRPr sz="1200" b="0">
                <a:solidFill>
                  <a:srgbClr val="53676D"/>
                </a:solidFill>
                <a:latin typeface="Arial"/>
                <a:ea typeface="Arial"/>
                <a:cs typeface="Arial"/>
              </a:defRPr>
            </a:pPr>
            <a:r>
              <a:rPr sz="1200" b="0">
                <a:solidFill>
                  <a:srgbClr val="53676D"/>
                </a:solidFill>
                <a:latin typeface="Arial"/>
                <a:ea typeface="Arial"/>
                <a:cs typeface="Arial"/>
              </a:rPr>
              <a:t>07</a:t>
            </a:r>
          </a:p>
        </p:txBody>
      </p:sp>
      <p:sp>
        <p:nvSpPr>
          <p:cNvPr id="5" name="access-revision-text-78">
            <a:extLst xmlns:a="http://schemas.openxmlformats.org/drawingml/2006/main">
              <a:ext uri="{FF2B5EF4-FFF2-40B4-BE49-F238E27FC236}">
                <a16:creationId xmlns:a16="http://schemas.microsoft.com/office/drawing/2014/main" id="{D4762187-9786-449C-8D93-81CF999A949A}"/>
              </a:ext>
            </a:extLst>
          </p:cNvPr>
          <p:cNvSpPr>
            <a:spLocks xmlns:a="http://schemas.openxmlformats.org/drawingml/2006/main" noGrp="1"/>
          </p:cNvSpPr>
          <p:nvPr/>
        </p:nvSpPr>
        <p:spPr>
          <a:xfrm xmlns:a="http://schemas.openxmlformats.org/drawingml/2006/main">
            <a:off x="609600" y="18192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xmlns:a="http://schemas.openxmlformats.org/drawingml/2006/main">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p>
        </p:txBody>
      </p:sp>
      <p:sp>
        <p:nvSpPr>
          <p:cNvPr id="6" name="access-revision-text-79">
            <a:extLst xmlns:a="http://schemas.openxmlformats.org/drawingml/2006/main">
              <a:ext uri="{FF2B5EF4-FFF2-40B4-BE49-F238E27FC236}">
                <a16:creationId xmlns:a16="http://schemas.microsoft.com/office/drawing/2014/main" id="{1C4A7368-ED61-4D34-A708-D0E574041341}"/>
              </a:ext>
            </a:extLst>
          </p:cNvPr>
          <p:cNvSpPr>
            <a:spLocks xmlns:a="http://schemas.openxmlformats.org/drawingml/2006/main" noGrp="1"/>
          </p:cNvSpPr>
          <p:nvPr/>
        </p:nvSpPr>
        <p:spPr>
          <a:xfrm xmlns:a="http://schemas.openxmlformats.org/drawingml/2006/main">
            <a:off x="3276600" y="1819275"/>
            <a:ext cx="5000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xmlns:a="http://schemas.openxmlformats.org/drawingml/2006/main">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p>
        </p:txBody>
      </p:sp>
      <p:sp>
        <p:nvSpPr>
          <p:cNvPr id="7" name="access-revision-text-80">
            <a:extLst xmlns:a="http://schemas.openxmlformats.org/drawingml/2006/main">
              <a:ext uri="{FF2B5EF4-FFF2-40B4-BE49-F238E27FC236}">
                <a16:creationId xmlns:a16="http://schemas.microsoft.com/office/drawing/2014/main" id="{D0CCA23F-C585-4CE1-9421-21429D5CC35E}"/>
              </a:ext>
            </a:extLst>
          </p:cNvPr>
          <p:cNvSpPr>
            <a:spLocks xmlns:a="http://schemas.openxmlformats.org/drawingml/2006/main" noGrp="1"/>
          </p:cNvSpPr>
          <p:nvPr/>
        </p:nvSpPr>
        <p:spPr>
          <a:xfrm xmlns:a="http://schemas.openxmlformats.org/drawingml/2006/main">
            <a:off x="8705850" y="1819275"/>
            <a:ext cx="2876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xmlns:a="http://schemas.openxmlformats.org/drawingml/2006/main">
            <a:pPr algn="l">
              <a:buNone/>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p>
        </p:txBody>
      </p:sp>
      <p:sp>
        <p:nvSpPr>
          <p:cNvPr id="8" name="access-participant-head-81">
            <a:extLst xmlns:a="http://schemas.openxmlformats.org/drawingml/2006/main">
              <a:ext uri="{FF2B5EF4-FFF2-40B4-BE49-F238E27FC236}">
                <a16:creationId xmlns:a16="http://schemas.microsoft.com/office/drawing/2014/main" id="{B06B45C5-2693-4C55-823C-FFC67D12E0CA}"/>
              </a:ext>
            </a:extLst>
          </p:cNvPr>
          <p:cNvSpPr>
            <a:spLocks xmlns:a="http://schemas.openxmlformats.org/drawingml/2006/main" noGrp="1"/>
          </p:cNvSpPr>
          <p:nvPr/>
        </p:nvSpPr>
        <p:spPr>
          <a:xfrm xmlns:a="http://schemas.openxmlformats.org/drawingml/2006/main">
            <a:off x="1885950" y="2133600"/>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9" name="access-participant-body-82">
            <a:extLst xmlns:a="http://schemas.openxmlformats.org/drawingml/2006/main">
              <a:ext uri="{FF2B5EF4-FFF2-40B4-BE49-F238E27FC236}">
                <a16:creationId xmlns:a16="http://schemas.microsoft.com/office/drawing/2014/main" id="{BD5436A8-3351-4B25-A0CE-F67D675DDB55}"/>
              </a:ext>
            </a:extLst>
          </p:cNvPr>
          <p:cNvSpPr>
            <a:spLocks xmlns:a="http://schemas.openxmlformats.org/drawingml/2006/main" noGrp="1"/>
          </p:cNvSpPr>
          <p:nvPr/>
        </p:nvSpPr>
        <p:spPr>
          <a:xfrm xmlns:a="http://schemas.openxmlformats.org/drawingml/2006/main">
            <a:off x="1809750" y="2352675"/>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0" name="access-revision-text-83">
            <a:extLst xmlns:a="http://schemas.openxmlformats.org/drawingml/2006/main">
              <a:ext uri="{FF2B5EF4-FFF2-40B4-BE49-F238E27FC236}">
                <a16:creationId xmlns:a16="http://schemas.microsoft.com/office/drawing/2014/main" id="{6AE5EE38-47EA-4311-A9F0-24AC3A3FF7D7}"/>
              </a:ext>
            </a:extLst>
          </p:cNvPr>
          <p:cNvSpPr>
            <a:spLocks xmlns:a="http://schemas.openxmlformats.org/drawingml/2006/main" noGrp="1"/>
          </p:cNvSpPr>
          <p:nvPr/>
        </p:nvSpPr>
        <p:spPr>
          <a:xfrm xmlns:a="http://schemas.openxmlformats.org/drawingml/2006/main">
            <a:off x="781050" y="2590800"/>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Eligible</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a:t>
            </a:r>
          </a:p>
        </p:txBody>
      </p:sp>
      <p:sp>
        <p:nvSpPr>
          <p:cNvPr id="11" name="access-diagram-line-84">
            <a:extLst xmlns:a="http://schemas.openxmlformats.org/drawingml/2006/main">
              <a:ext uri="{FF2B5EF4-FFF2-40B4-BE49-F238E27FC236}">
                <a16:creationId xmlns:a16="http://schemas.microsoft.com/office/drawing/2014/main" id="{BE0BEBDB-2885-44CE-AE21-8A55FDFA16F7}"/>
              </a:ext>
            </a:extLst>
          </p:cNvPr>
          <p:cNvSpPr>
            <a:spLocks xmlns:a="http://schemas.openxmlformats.org/drawingml/2006/main" noGrp="1"/>
          </p:cNvSpPr>
          <p:nvPr/>
        </p:nvSpPr>
        <p:spPr>
          <a:xfrm xmlns:a="http://schemas.openxmlformats.org/drawingml/2006/main">
            <a:off x="1981200" y="3162300"/>
            <a:ext cx="0" cy="2695575"/>
          </a:xfrm>
          <a:prstGeom xmlns:a="http://schemas.openxmlformats.org/drawingml/2006/main" prst="line">
            <a:avLst/>
          </a:prstGeom>
          <a:noFill xmlns:a="http://schemas.openxmlformats.org/drawingml/2006/main"/>
          <a:ln xmlns:a="http://schemas.openxmlformats.org/drawingml/2006/main" w="10478">
            <a:solidFill>
              <a:srgbClr val="CFD7D1"/>
            </a:solidFill>
            <a:prstDash val="dash"/>
          </a:ln>
        </p:spPr>
      </p:sp>
      <p:sp>
        <p:nvSpPr>
          <p:cNvPr id="12" name="access-participant-head-85">
            <a:extLst xmlns:a="http://schemas.openxmlformats.org/drawingml/2006/main">
              <a:ext uri="{FF2B5EF4-FFF2-40B4-BE49-F238E27FC236}">
                <a16:creationId xmlns:a16="http://schemas.microsoft.com/office/drawing/2014/main" id="{DC854508-4D16-4AF6-A8FC-50280FA66643}"/>
              </a:ext>
            </a:extLst>
          </p:cNvPr>
          <p:cNvSpPr>
            <a:spLocks xmlns:a="http://schemas.openxmlformats.org/drawingml/2006/main" noGrp="1"/>
          </p:cNvSpPr>
          <p:nvPr/>
        </p:nvSpPr>
        <p:spPr>
          <a:xfrm xmlns:a="http://schemas.openxmlformats.org/drawingml/2006/main">
            <a:off x="4629150" y="2133600"/>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13" name="access-participant-body-86">
            <a:extLst xmlns:a="http://schemas.openxmlformats.org/drawingml/2006/main">
              <a:ext uri="{FF2B5EF4-FFF2-40B4-BE49-F238E27FC236}">
                <a16:creationId xmlns:a16="http://schemas.microsoft.com/office/drawing/2014/main" id="{BA404F32-C98D-4BF3-85E6-C5C84D3886DF}"/>
              </a:ext>
            </a:extLst>
          </p:cNvPr>
          <p:cNvSpPr>
            <a:spLocks xmlns:a="http://schemas.openxmlformats.org/drawingml/2006/main" noGrp="1"/>
          </p:cNvSpPr>
          <p:nvPr/>
        </p:nvSpPr>
        <p:spPr>
          <a:xfrm xmlns:a="http://schemas.openxmlformats.org/drawingml/2006/main">
            <a:off x="4552950" y="2352675"/>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4" name="access-revision-text-87">
            <a:extLst xmlns:a="http://schemas.openxmlformats.org/drawingml/2006/main">
              <a:ext uri="{FF2B5EF4-FFF2-40B4-BE49-F238E27FC236}">
                <a16:creationId xmlns:a16="http://schemas.microsoft.com/office/drawing/2014/main" id="{F43F7AD7-C4B4-4D4A-B0F3-98CEC47B42D2}"/>
              </a:ext>
            </a:extLst>
          </p:cNvPr>
          <p:cNvSpPr>
            <a:spLocks xmlns:a="http://schemas.openxmlformats.org/drawingml/2006/main" noGrp="1"/>
          </p:cNvSpPr>
          <p:nvPr/>
        </p:nvSpPr>
        <p:spPr>
          <a:xfrm xmlns:a="http://schemas.openxmlformats.org/drawingml/2006/main">
            <a:off x="3524250" y="2590800"/>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 /</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liquidity partner</a:t>
            </a:r>
          </a:p>
        </p:txBody>
      </p:sp>
      <p:sp>
        <p:nvSpPr>
          <p:cNvPr id="15" name="access-diagram-line-88">
            <a:extLst xmlns:a="http://schemas.openxmlformats.org/drawingml/2006/main">
              <a:ext uri="{FF2B5EF4-FFF2-40B4-BE49-F238E27FC236}">
                <a16:creationId xmlns:a16="http://schemas.microsoft.com/office/drawing/2014/main" id="{331D8335-991E-4003-A042-ED6C6766C5C7}"/>
              </a:ext>
            </a:extLst>
          </p:cNvPr>
          <p:cNvSpPr>
            <a:spLocks xmlns:a="http://schemas.openxmlformats.org/drawingml/2006/main" noGrp="1"/>
          </p:cNvSpPr>
          <p:nvPr/>
        </p:nvSpPr>
        <p:spPr>
          <a:xfrm xmlns:a="http://schemas.openxmlformats.org/drawingml/2006/main">
            <a:off x="4724400" y="3162300"/>
            <a:ext cx="0" cy="2695575"/>
          </a:xfrm>
          <a:prstGeom xmlns:a="http://schemas.openxmlformats.org/drawingml/2006/main" prst="line">
            <a:avLst/>
          </a:prstGeom>
          <a:noFill xmlns:a="http://schemas.openxmlformats.org/drawingml/2006/main"/>
          <a:ln xmlns:a="http://schemas.openxmlformats.org/drawingml/2006/main" w="10478">
            <a:solidFill>
              <a:srgbClr val="CFD7D1"/>
            </a:solidFill>
            <a:prstDash val="dash"/>
          </a:ln>
        </p:spPr>
      </p:sp>
      <p:sp>
        <p:nvSpPr>
          <p:cNvPr id="16" name="access-participant-head-89">
            <a:extLst xmlns:a="http://schemas.openxmlformats.org/drawingml/2006/main">
              <a:ext uri="{FF2B5EF4-FFF2-40B4-BE49-F238E27FC236}">
                <a16:creationId xmlns:a16="http://schemas.microsoft.com/office/drawing/2014/main" id="{EEFF58D1-61A8-4404-979B-6484BA3C8A15}"/>
              </a:ext>
            </a:extLst>
          </p:cNvPr>
          <p:cNvSpPr>
            <a:spLocks xmlns:a="http://schemas.openxmlformats.org/drawingml/2006/main" noGrp="1"/>
          </p:cNvSpPr>
          <p:nvPr/>
        </p:nvSpPr>
        <p:spPr>
          <a:xfrm xmlns:a="http://schemas.openxmlformats.org/drawingml/2006/main">
            <a:off x="7372350" y="2133600"/>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17" name="access-participant-body-90">
            <a:extLst xmlns:a="http://schemas.openxmlformats.org/drawingml/2006/main">
              <a:ext uri="{FF2B5EF4-FFF2-40B4-BE49-F238E27FC236}">
                <a16:creationId xmlns:a16="http://schemas.microsoft.com/office/drawing/2014/main" id="{511CB9B2-EB51-4EE2-9458-47E867E405C2}"/>
              </a:ext>
            </a:extLst>
          </p:cNvPr>
          <p:cNvSpPr>
            <a:spLocks xmlns:a="http://schemas.openxmlformats.org/drawingml/2006/main" noGrp="1"/>
          </p:cNvSpPr>
          <p:nvPr/>
        </p:nvSpPr>
        <p:spPr>
          <a:xfrm xmlns:a="http://schemas.openxmlformats.org/drawingml/2006/main">
            <a:off x="7296150" y="2352675"/>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8" name="access-revision-text-91">
            <a:extLst xmlns:a="http://schemas.openxmlformats.org/drawingml/2006/main">
              <a:ext uri="{FF2B5EF4-FFF2-40B4-BE49-F238E27FC236}">
                <a16:creationId xmlns:a16="http://schemas.microsoft.com/office/drawing/2014/main" id="{4043245A-01F2-4DB4-A7C7-D53350647DCE}"/>
              </a:ext>
            </a:extLst>
          </p:cNvPr>
          <p:cNvSpPr>
            <a:spLocks xmlns:a="http://schemas.openxmlformats.org/drawingml/2006/main" noGrp="1"/>
          </p:cNvSpPr>
          <p:nvPr/>
        </p:nvSpPr>
        <p:spPr>
          <a:xfrm xmlns:a="http://schemas.openxmlformats.org/drawingml/2006/main">
            <a:off x="6267450" y="2590800"/>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Cash / FX</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operator</a:t>
            </a:r>
          </a:p>
        </p:txBody>
      </p:sp>
      <p:sp>
        <p:nvSpPr>
          <p:cNvPr id="19" name="access-diagram-line-92">
            <a:extLst xmlns:a="http://schemas.openxmlformats.org/drawingml/2006/main">
              <a:ext uri="{FF2B5EF4-FFF2-40B4-BE49-F238E27FC236}">
                <a16:creationId xmlns:a16="http://schemas.microsoft.com/office/drawing/2014/main" id="{CFD5CD5C-69DE-48D3-9D08-4AAFC3999E8D}"/>
              </a:ext>
            </a:extLst>
          </p:cNvPr>
          <p:cNvSpPr>
            <a:spLocks xmlns:a="http://schemas.openxmlformats.org/drawingml/2006/main" noGrp="1"/>
          </p:cNvSpPr>
          <p:nvPr/>
        </p:nvSpPr>
        <p:spPr>
          <a:xfrm xmlns:a="http://schemas.openxmlformats.org/drawingml/2006/main">
            <a:off x="7467600" y="3162300"/>
            <a:ext cx="0" cy="2695575"/>
          </a:xfrm>
          <a:prstGeom xmlns:a="http://schemas.openxmlformats.org/drawingml/2006/main" prst="line">
            <a:avLst/>
          </a:prstGeom>
          <a:noFill xmlns:a="http://schemas.openxmlformats.org/drawingml/2006/main"/>
          <a:ln xmlns:a="http://schemas.openxmlformats.org/drawingml/2006/main" w="10478">
            <a:solidFill>
              <a:srgbClr val="CFD7D1"/>
            </a:solidFill>
            <a:prstDash val="dash"/>
          </a:ln>
        </p:spPr>
      </p:sp>
      <p:sp>
        <p:nvSpPr>
          <p:cNvPr id="20" name="access-system-93">
            <a:extLst xmlns:a="http://schemas.openxmlformats.org/drawingml/2006/main">
              <a:ext uri="{FF2B5EF4-FFF2-40B4-BE49-F238E27FC236}">
                <a16:creationId xmlns:a16="http://schemas.microsoft.com/office/drawing/2014/main" id="{CB23A2D5-3D47-48CE-9A83-D33DDE7D7472}"/>
              </a:ext>
            </a:extLst>
          </p:cNvPr>
          <p:cNvSpPr>
            <a:spLocks xmlns:a="http://schemas.openxmlformats.org/drawingml/2006/main" noGrp="1"/>
          </p:cNvSpPr>
          <p:nvPr/>
        </p:nvSpPr>
        <p:spPr>
          <a:xfrm xmlns:a="http://schemas.openxmlformats.org/drawingml/2006/main">
            <a:off x="9972675" y="2190750"/>
            <a:ext cx="190500" cy="238125"/>
          </a:xfrm>
          <a:prstGeom xmlns:a="http://schemas.openxmlformats.org/drawingml/2006/main" prst="rect">
            <a:avLst/>
          </a:prstGeom>
          <a:solidFill xmlns:a="http://schemas.openxmlformats.org/drawingml/2006/main">
            <a:srgbClr val="EEF3F7"/>
          </a:solidFill>
          <a:ln xmlns:a="http://schemas.openxmlformats.org/drawingml/2006/main" w="12383">
            <a:solidFill>
              <a:srgbClr val="537DA1"/>
            </a:solidFill>
            <a:prstDash val="solid"/>
          </a:ln>
        </p:spPr>
      </p:sp>
      <p:sp>
        <p:nvSpPr>
          <p:cNvPr id="21" name="access-system-94">
            <a:extLst xmlns:a="http://schemas.openxmlformats.org/drawingml/2006/main">
              <a:ext uri="{FF2B5EF4-FFF2-40B4-BE49-F238E27FC236}">
                <a16:creationId xmlns:a16="http://schemas.microsoft.com/office/drawing/2014/main" id="{76B1DCFE-1922-4269-A9E3-16A7ECC75E99}"/>
              </a:ext>
            </a:extLst>
          </p:cNvPr>
          <p:cNvSpPr>
            <a:spLocks xmlns:a="http://schemas.openxmlformats.org/drawingml/2006/main" noGrp="1"/>
          </p:cNvSpPr>
          <p:nvPr/>
        </p:nvSpPr>
        <p:spPr>
          <a:xfrm xmlns:a="http://schemas.openxmlformats.org/drawingml/2006/main">
            <a:off x="10267950" y="2190750"/>
            <a:ext cx="190500" cy="238125"/>
          </a:xfrm>
          <a:prstGeom xmlns:a="http://schemas.openxmlformats.org/drawingml/2006/main" prst="rect">
            <a:avLst/>
          </a:prstGeom>
          <a:solidFill xmlns:a="http://schemas.openxmlformats.org/drawingml/2006/main">
            <a:srgbClr val="EEF3F7"/>
          </a:solidFill>
          <a:ln xmlns:a="http://schemas.openxmlformats.org/drawingml/2006/main" w="12383">
            <a:solidFill>
              <a:srgbClr val="537DA1"/>
            </a:solidFill>
            <a:prstDash val="solid"/>
          </a:ln>
        </p:spPr>
      </p:sp>
      <p:sp>
        <p:nvSpPr>
          <p:cNvPr id="22" name="access-diagram-line-95">
            <a:extLst xmlns:a="http://schemas.openxmlformats.org/drawingml/2006/main">
              <a:ext uri="{FF2B5EF4-FFF2-40B4-BE49-F238E27FC236}">
                <a16:creationId xmlns:a16="http://schemas.microsoft.com/office/drawing/2014/main" id="{3B33E0FF-BC0E-44C0-9826-FABFF888FC79}"/>
              </a:ext>
            </a:extLst>
          </p:cNvPr>
          <p:cNvSpPr>
            <a:spLocks xmlns:a="http://schemas.openxmlformats.org/drawingml/2006/main" noGrp="1"/>
          </p:cNvSpPr>
          <p:nvPr/>
        </p:nvSpPr>
        <p:spPr>
          <a:xfrm xmlns:a="http://schemas.openxmlformats.org/drawingml/2006/main">
            <a:off x="10172700" y="2305050"/>
            <a:ext cx="85725" cy="0"/>
          </a:xfrm>
          <a:prstGeom xmlns:a="http://schemas.openxmlformats.org/drawingml/2006/main" prst="line">
            <a:avLst/>
          </a:prstGeom>
          <a:noFill xmlns:a="http://schemas.openxmlformats.org/drawingml/2006/main"/>
          <a:ln xmlns:a="http://schemas.openxmlformats.org/drawingml/2006/main" w="14288">
            <a:solidFill>
              <a:srgbClr val="537DA1"/>
            </a:solidFill>
            <a:prstDash val="solid"/>
          </a:ln>
        </p:spPr>
      </p:sp>
      <p:sp>
        <p:nvSpPr>
          <p:cNvPr id="23" name="access-revision-text-96">
            <a:extLst xmlns:a="http://schemas.openxmlformats.org/drawingml/2006/main">
              <a:ext uri="{FF2B5EF4-FFF2-40B4-BE49-F238E27FC236}">
                <a16:creationId xmlns:a16="http://schemas.microsoft.com/office/drawing/2014/main" id="{AAE0D3B3-2AA7-4AF5-8D1B-8E6703B855EC}"/>
              </a:ext>
            </a:extLst>
          </p:cNvPr>
          <p:cNvSpPr>
            <a:spLocks xmlns:a="http://schemas.openxmlformats.org/drawingml/2006/main" noGrp="1"/>
          </p:cNvSpPr>
          <p:nvPr/>
        </p:nvSpPr>
        <p:spPr>
          <a:xfrm xmlns:a="http://schemas.openxmlformats.org/drawingml/2006/main">
            <a:off x="9010650" y="2590800"/>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Receipt</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register</a:t>
            </a:r>
          </a:p>
        </p:txBody>
      </p:sp>
      <p:sp>
        <p:nvSpPr>
          <p:cNvPr id="24" name="access-diagram-line-97">
            <a:extLst xmlns:a="http://schemas.openxmlformats.org/drawingml/2006/main">
              <a:ext uri="{FF2B5EF4-FFF2-40B4-BE49-F238E27FC236}">
                <a16:creationId xmlns:a16="http://schemas.microsoft.com/office/drawing/2014/main" id="{DA1ED170-3E18-46C4-B395-029B5EB8BE28}"/>
              </a:ext>
            </a:extLst>
          </p:cNvPr>
          <p:cNvSpPr>
            <a:spLocks xmlns:a="http://schemas.openxmlformats.org/drawingml/2006/main" noGrp="1"/>
          </p:cNvSpPr>
          <p:nvPr/>
        </p:nvSpPr>
        <p:spPr>
          <a:xfrm xmlns:a="http://schemas.openxmlformats.org/drawingml/2006/main">
            <a:off x="10210800" y="3162300"/>
            <a:ext cx="0" cy="2695575"/>
          </a:xfrm>
          <a:prstGeom xmlns:a="http://schemas.openxmlformats.org/drawingml/2006/main" prst="line">
            <a:avLst/>
          </a:prstGeom>
          <a:noFill xmlns:a="http://schemas.openxmlformats.org/drawingml/2006/main"/>
          <a:ln xmlns:a="http://schemas.openxmlformats.org/drawingml/2006/main" w="10478">
            <a:solidFill>
              <a:srgbClr val="CFD7D1"/>
            </a:solidFill>
            <a:prstDash val="dash"/>
          </a:ln>
        </p:spPr>
      </p:sp>
      <p:cxnSp>
        <p:nvCxnSpPr>
          <p:cNvPr id="25" name="access-diagram-line-98">
            <a:extLst xmlns:a="http://schemas.openxmlformats.org/drawingml/2006/main">
              <a:ext uri="{FF2B5EF4-FFF2-40B4-BE49-F238E27FC236}">
                <a16:creationId xmlns:a16="http://schemas.microsoft.com/office/drawing/2014/main" id="{4BF817C5-4520-4D07-A3CB-BF3C276449D2}"/>
              </a:ext>
            </a:extLst>
          </p:cNvPr>
          <p:cNvCxnSpPr/>
          <p:nvPr/>
        </p:nvCxnSpPr>
        <p:spPr>
          <a:xfrm xmlns:a="http://schemas.openxmlformats.org/drawingml/2006/main">
            <a:off x="1981200" y="3362325"/>
            <a:ext cx="2743200" cy="0"/>
          </a:xfrm>
          <a:prstGeom xmlns:a="http://schemas.openxmlformats.org/drawingml/2006/main" prst="straightConnector1">
            <a:avLst/>
          </a:prstGeom>
          <a:ln xmlns:a="http://schemas.openxmlformats.org/drawingml/2006/main" w="20955">
            <a:solidFill>
              <a:srgbClr val="83739D"/>
            </a:solidFill>
            <a:prstDash val="solid"/>
            <a:tailEnd type="triangle" w="sm" len="sm"/>
          </a:ln>
        </p:spPr>
      </p:cxnSp>
      <p:sp>
        <p:nvSpPr>
          <p:cNvPr id="26" name="access-data-object-99">
            <a:extLst xmlns:a="http://schemas.openxmlformats.org/drawingml/2006/main">
              <a:ext uri="{FF2B5EF4-FFF2-40B4-BE49-F238E27FC236}">
                <a16:creationId xmlns:a16="http://schemas.microsoft.com/office/drawing/2014/main" id="{EB35D079-FDE8-4C1C-93FD-F8DF6C62F40A}"/>
              </a:ext>
            </a:extLst>
          </p:cNvPr>
          <p:cNvSpPr>
            <a:spLocks xmlns:a="http://schemas.openxmlformats.org/drawingml/2006/main" noGrp="1"/>
          </p:cNvSpPr>
          <p:nvPr/>
        </p:nvSpPr>
        <p:spPr>
          <a:xfrm xmlns:a="http://schemas.openxmlformats.org/drawingml/2006/main">
            <a:off x="2057400" y="3181350"/>
            <a:ext cx="2590800" cy="361950"/>
          </a:xfrm>
          <a:prstGeom xmlns:a="http://schemas.openxmlformats.org/drawingml/2006/main" prst="foldedCorner">
            <a:avLst/>
          </a:prstGeom>
          <a:solidFill xmlns:a="http://schemas.openxmlformats.org/drawingml/2006/main">
            <a:srgbClr val="F0EDF5"/>
          </a:solidFill>
          <a:ln xmlns:a="http://schemas.openxmlformats.org/drawingml/2006/main" w="10478">
            <a:solidFill>
              <a:srgbClr val="83739D"/>
            </a:solidFill>
            <a:prstDash val="solid"/>
          </a:ln>
        </p:spPr>
        <p:txBody>
          <a:bodyPr xmlns:a="http://schemas.openxmlformats.org/drawingml/2006/main" wrap="none" lIns="85725" tIns="28575" rIns="123825" bIns="28575" anchor="ctr">
            <a:noAutofit/>
          </a:bodyPr>
          <a:lstStyle xmlns:a="http://schemas.openxmlformats.org/drawingml/2006/main">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xmlns:a="http://schemas.openxmlformats.org/drawingml/2006/main">
            <a:pPr algn="ctr">
              <a:buNone/>
              <a:defRPr sz="1500">
                <a:solidFill>
                  <a:srgbClr val="183440"/>
                </a:solidFill>
                <a:latin typeface="Arial"/>
                <a:ea typeface="Arial"/>
                <a:cs typeface="Arial"/>
              </a:defRPr>
            </a:pPr>
            <a:r>
              <a:rPr sz="1500">
                <a:solidFill>
                  <a:srgbClr val="183440"/>
                </a:solidFill>
                <a:latin typeface="Arial"/>
                <a:ea typeface="Arial"/>
                <a:cs typeface="Arial"/>
              </a:rPr>
              <a:t>1. Buy 25 units at US$12</a:t>
            </a:r>
          </a:p>
        </p:txBody>
      </p:sp>
      <p:cxnSp>
        <p:nvCxnSpPr>
          <p:cNvPr id="27" name="access-diagram-line-100">
            <a:extLst xmlns:a="http://schemas.openxmlformats.org/drawingml/2006/main">
              <a:ext uri="{FF2B5EF4-FFF2-40B4-BE49-F238E27FC236}">
                <a16:creationId xmlns:a16="http://schemas.microsoft.com/office/drawing/2014/main" id="{A074666C-D1AE-4F82-886F-5B9A30C5F25B}"/>
              </a:ext>
            </a:extLst>
          </p:cNvPr>
          <p:cNvCxnSpPr/>
          <p:nvPr/>
        </p:nvCxnSpPr>
        <p:spPr>
          <a:xfrm xmlns:a="http://schemas.openxmlformats.org/drawingml/2006/main">
            <a:off x="1981200" y="3886200"/>
            <a:ext cx="5486400" cy="0"/>
          </a:xfrm>
          <a:prstGeom xmlns:a="http://schemas.openxmlformats.org/drawingml/2006/main" prst="straightConnector1">
            <a:avLst/>
          </a:prstGeom>
          <a:ln xmlns:a="http://schemas.openxmlformats.org/drawingml/2006/main" w="20955">
            <a:solidFill>
              <a:srgbClr val="41826F"/>
            </a:solidFill>
            <a:prstDash val="solid"/>
            <a:tailEnd type="triangle" w="sm" len="sm"/>
          </a:ln>
        </p:spPr>
      </p:cxnSp>
      <p:sp>
        <p:nvSpPr>
          <p:cNvPr id="28" name="access-data-object-101">
            <a:extLst xmlns:a="http://schemas.openxmlformats.org/drawingml/2006/main">
              <a:ext uri="{FF2B5EF4-FFF2-40B4-BE49-F238E27FC236}">
                <a16:creationId xmlns:a16="http://schemas.microsoft.com/office/drawing/2014/main" id="{C30E35D8-894F-432B-B681-A8943BB8D8F9}"/>
              </a:ext>
            </a:extLst>
          </p:cNvPr>
          <p:cNvSpPr>
            <a:spLocks xmlns:a="http://schemas.openxmlformats.org/drawingml/2006/main" noGrp="1"/>
          </p:cNvSpPr>
          <p:nvPr/>
        </p:nvSpPr>
        <p:spPr>
          <a:xfrm xmlns:a="http://schemas.openxmlformats.org/drawingml/2006/main">
            <a:off x="2876550" y="3705225"/>
            <a:ext cx="3695700" cy="361950"/>
          </a:xfrm>
          <a:prstGeom xmlns:a="http://schemas.openxmlformats.org/drawingml/2006/main" prst="foldedCorner">
            <a:avLst/>
          </a:prstGeom>
          <a:solidFill xmlns:a="http://schemas.openxmlformats.org/drawingml/2006/main">
            <a:srgbClr val="EDF5F1"/>
          </a:solidFill>
          <a:ln xmlns:a="http://schemas.openxmlformats.org/drawingml/2006/main" w="10478">
            <a:solidFill>
              <a:srgbClr val="41826F"/>
            </a:solidFill>
            <a:prstDash val="solid"/>
          </a:ln>
        </p:spPr>
        <p:txBody>
          <a:bodyPr xmlns:a="http://schemas.openxmlformats.org/drawingml/2006/main" wrap="none" lIns="85725" tIns="28575" rIns="123825" bIns="28575" anchor="ctr">
            <a:noAutofit/>
          </a:bodyPr>
          <a:lstStyle xmlns:a="http://schemas.openxmlformats.org/drawingml/2006/main">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xmlns:a="http://schemas.openxmlformats.org/drawingml/2006/main">
            <a:pPr algn="ctr">
              <a:buNone/>
              <a:defRPr sz="1500">
                <a:solidFill>
                  <a:srgbClr val="183440"/>
                </a:solidFill>
                <a:latin typeface="Arial"/>
                <a:ea typeface="Arial"/>
                <a:cs typeface="Arial"/>
              </a:defRPr>
            </a:pPr>
            <a:r>
              <a:rPr sz="1500">
                <a:solidFill>
                  <a:srgbClr val="183440"/>
                </a:solidFill>
                <a:latin typeface="Arial"/>
                <a:ea typeface="Arial"/>
                <a:cs typeface="Arial"/>
              </a:rPr>
              <a:t>2. 300 USDC or 2,340 RedCoin</a:t>
            </a:r>
          </a:p>
        </p:txBody>
      </p:sp>
      <p:cxnSp>
        <p:nvCxnSpPr>
          <p:cNvPr id="29" name="access-diagram-line-102">
            <a:extLst xmlns:a="http://schemas.openxmlformats.org/drawingml/2006/main">
              <a:ext uri="{FF2B5EF4-FFF2-40B4-BE49-F238E27FC236}">
                <a16:creationId xmlns:a16="http://schemas.microsoft.com/office/drawing/2014/main" id="{ECAD3EA3-822E-40B2-A62E-EC85E523F463}"/>
              </a:ext>
            </a:extLst>
          </p:cNvPr>
          <p:cNvCxnSpPr/>
          <p:nvPr/>
        </p:nvCxnSpPr>
        <p:spPr>
          <a:xfrm xmlns:a="http://schemas.openxmlformats.org/drawingml/2006/main">
            <a:off x="4724400" y="4410075"/>
            <a:ext cx="2743200" cy="0"/>
          </a:xfrm>
          <a:prstGeom xmlns:a="http://schemas.openxmlformats.org/drawingml/2006/main" prst="straightConnector1">
            <a:avLst/>
          </a:prstGeom>
          <a:ln xmlns:a="http://schemas.openxmlformats.org/drawingml/2006/main" w="20955">
            <a:solidFill>
              <a:srgbClr val="83739D"/>
            </a:solidFill>
            <a:prstDash val="solid"/>
            <a:headEnd type="triangle" w="sm" len="sm"/>
          </a:ln>
        </p:spPr>
      </p:cxnSp>
      <p:sp>
        <p:nvSpPr>
          <p:cNvPr id="30" name="access-data-object-103">
            <a:extLst xmlns:a="http://schemas.openxmlformats.org/drawingml/2006/main">
              <a:ext uri="{FF2B5EF4-FFF2-40B4-BE49-F238E27FC236}">
                <a16:creationId xmlns:a16="http://schemas.microsoft.com/office/drawing/2014/main" id="{D4C301BF-4EF4-4369-ADCB-83C7B0AA452A}"/>
              </a:ext>
            </a:extLst>
          </p:cNvPr>
          <p:cNvSpPr>
            <a:spLocks xmlns:a="http://schemas.openxmlformats.org/drawingml/2006/main" noGrp="1"/>
          </p:cNvSpPr>
          <p:nvPr/>
        </p:nvSpPr>
        <p:spPr>
          <a:xfrm xmlns:a="http://schemas.openxmlformats.org/drawingml/2006/main">
            <a:off x="4752975" y="4229100"/>
            <a:ext cx="2686050" cy="361950"/>
          </a:xfrm>
          <a:prstGeom xmlns:a="http://schemas.openxmlformats.org/drawingml/2006/main" prst="foldedCorner">
            <a:avLst/>
          </a:prstGeom>
          <a:solidFill xmlns:a="http://schemas.openxmlformats.org/drawingml/2006/main">
            <a:srgbClr val="F0EDF5"/>
          </a:solidFill>
          <a:ln xmlns:a="http://schemas.openxmlformats.org/drawingml/2006/main" w="10478">
            <a:solidFill>
              <a:srgbClr val="83739D"/>
            </a:solidFill>
            <a:prstDash val="solid"/>
          </a:ln>
        </p:spPr>
        <p:txBody>
          <a:bodyPr xmlns:a="http://schemas.openxmlformats.org/drawingml/2006/main" wrap="none" lIns="85725" tIns="28575" rIns="123825" bIns="28575" anchor="ctr">
            <a:noAutofit/>
          </a:bodyPr>
          <a:lstStyle xmlns:a="http://schemas.openxmlformats.org/drawingml/2006/main">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xmlns:a="http://schemas.openxmlformats.org/drawingml/2006/main">
            <a:pPr algn="ctr">
              <a:buNone/>
              <a:defRPr sz="1500">
                <a:solidFill>
                  <a:srgbClr val="183440"/>
                </a:solidFill>
                <a:latin typeface="Arial"/>
                <a:ea typeface="Arial"/>
                <a:cs typeface="Arial"/>
              </a:defRPr>
            </a:pPr>
            <a:r>
              <a:rPr sz="1500">
                <a:solidFill>
                  <a:srgbClr val="183440"/>
                </a:solidFill>
                <a:latin typeface="Arial"/>
                <a:ea typeface="Arial"/>
                <a:cs typeface="Arial"/>
              </a:rPr>
              <a:t>3. Final cash + FX evidence</a:t>
            </a:r>
          </a:p>
        </p:txBody>
      </p:sp>
      <p:cxnSp>
        <p:nvCxnSpPr>
          <p:cNvPr id="31" name="access-diagram-line-104">
            <a:extLst xmlns:a="http://schemas.openxmlformats.org/drawingml/2006/main">
              <a:ext uri="{FF2B5EF4-FFF2-40B4-BE49-F238E27FC236}">
                <a16:creationId xmlns:a16="http://schemas.microsoft.com/office/drawing/2014/main" id="{17FE5CCE-B8A4-4278-BC42-8FD82B855524}"/>
              </a:ext>
            </a:extLst>
          </p:cNvPr>
          <p:cNvCxnSpPr/>
          <p:nvPr/>
        </p:nvCxnSpPr>
        <p:spPr>
          <a:xfrm xmlns:a="http://schemas.openxmlformats.org/drawingml/2006/main">
            <a:off x="4724400" y="4933950"/>
            <a:ext cx="5486400" cy="0"/>
          </a:xfrm>
          <a:prstGeom xmlns:a="http://schemas.openxmlformats.org/drawingml/2006/main" prst="straightConnector1">
            <a:avLst/>
          </a:prstGeom>
          <a:ln xmlns:a="http://schemas.openxmlformats.org/drawingml/2006/main" w="20955">
            <a:solidFill>
              <a:srgbClr val="537DA1"/>
            </a:solidFill>
            <a:prstDash val="solid"/>
            <a:tailEnd type="triangle" w="sm" len="sm"/>
          </a:ln>
        </p:spPr>
      </p:cxnSp>
      <p:sp>
        <p:nvSpPr>
          <p:cNvPr id="32" name="access-data-object-105">
            <a:extLst xmlns:a="http://schemas.openxmlformats.org/drawingml/2006/main">
              <a:ext uri="{FF2B5EF4-FFF2-40B4-BE49-F238E27FC236}">
                <a16:creationId xmlns:a16="http://schemas.microsoft.com/office/drawing/2014/main" id="{7C264573-CB0D-42A7-B7EA-1452E550EC8C}"/>
              </a:ext>
            </a:extLst>
          </p:cNvPr>
          <p:cNvSpPr>
            <a:spLocks xmlns:a="http://schemas.openxmlformats.org/drawingml/2006/main" noGrp="1"/>
          </p:cNvSpPr>
          <p:nvPr/>
        </p:nvSpPr>
        <p:spPr>
          <a:xfrm xmlns:a="http://schemas.openxmlformats.org/drawingml/2006/main">
            <a:off x="5895975" y="4752975"/>
            <a:ext cx="3143250" cy="361950"/>
          </a:xfrm>
          <a:prstGeom xmlns:a="http://schemas.openxmlformats.org/drawingml/2006/main" prst="foldedCorner">
            <a:avLst/>
          </a:prstGeom>
          <a:solidFill xmlns:a="http://schemas.openxmlformats.org/drawingml/2006/main">
            <a:srgbClr val="EEF3F7"/>
          </a:solidFill>
          <a:ln xmlns:a="http://schemas.openxmlformats.org/drawingml/2006/main" w="10478">
            <a:solidFill>
              <a:srgbClr val="537DA1"/>
            </a:solidFill>
            <a:prstDash val="solid"/>
          </a:ln>
        </p:spPr>
        <p:txBody>
          <a:bodyPr xmlns:a="http://schemas.openxmlformats.org/drawingml/2006/main" wrap="none" lIns="85725" tIns="28575" rIns="123825" bIns="28575" anchor="ctr">
            <a:noAutofit/>
          </a:bodyPr>
          <a:lstStyle xmlns:a="http://schemas.openxmlformats.org/drawingml/2006/main">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xmlns:a="http://schemas.openxmlformats.org/drawingml/2006/main">
            <a:pPr algn="ctr">
              <a:buNone/>
              <a:defRPr sz="1500">
                <a:solidFill>
                  <a:srgbClr val="183440"/>
                </a:solidFill>
                <a:latin typeface="Arial"/>
                <a:ea typeface="Arial"/>
                <a:cs typeface="Arial"/>
              </a:defRPr>
            </a:pPr>
            <a:r>
              <a:rPr sz="1500">
                <a:solidFill>
                  <a:srgbClr val="183440"/>
                </a:solidFill>
                <a:latin typeface="Arial"/>
                <a:ea typeface="Arial"/>
                <a:cs typeface="Arial"/>
              </a:rPr>
              <a:t>4. Transfer 25 receipt units</a:t>
            </a:r>
          </a:p>
        </p:txBody>
      </p:sp>
      <p:cxnSp>
        <p:nvCxnSpPr>
          <p:cNvPr id="33" name="access-diagram-line-106">
            <a:extLst xmlns:a="http://schemas.openxmlformats.org/drawingml/2006/main">
              <a:ext uri="{FF2B5EF4-FFF2-40B4-BE49-F238E27FC236}">
                <a16:creationId xmlns:a16="http://schemas.microsoft.com/office/drawing/2014/main" id="{96A20819-32D1-4B7A-840F-CD5A41D401D5}"/>
              </a:ext>
            </a:extLst>
          </p:cNvPr>
          <p:cNvCxnSpPr/>
          <p:nvPr/>
        </p:nvCxnSpPr>
        <p:spPr>
          <a:xfrm xmlns:a="http://schemas.openxmlformats.org/drawingml/2006/main">
            <a:off x="1981200" y="5457825"/>
            <a:ext cx="8229600" cy="0"/>
          </a:xfrm>
          <a:prstGeom xmlns:a="http://schemas.openxmlformats.org/drawingml/2006/main" prst="straightConnector1">
            <a:avLst/>
          </a:prstGeom>
          <a:ln xmlns:a="http://schemas.openxmlformats.org/drawingml/2006/main" w="20955">
            <a:solidFill>
              <a:srgbClr val="83739D"/>
            </a:solidFill>
            <a:prstDash val="solid"/>
            <a:headEnd type="triangle" w="sm" len="sm"/>
          </a:ln>
        </p:spPr>
      </p:cxnSp>
      <p:sp>
        <p:nvSpPr>
          <p:cNvPr id="34" name="access-data-object-107">
            <a:extLst xmlns:a="http://schemas.openxmlformats.org/drawingml/2006/main">
              <a:ext uri="{FF2B5EF4-FFF2-40B4-BE49-F238E27FC236}">
                <a16:creationId xmlns:a16="http://schemas.microsoft.com/office/drawing/2014/main" id="{52645308-7A9B-4996-85DA-B5B8B9025D22}"/>
              </a:ext>
            </a:extLst>
          </p:cNvPr>
          <p:cNvSpPr>
            <a:spLocks xmlns:a="http://schemas.openxmlformats.org/drawingml/2006/main" noGrp="1"/>
          </p:cNvSpPr>
          <p:nvPr/>
        </p:nvSpPr>
        <p:spPr>
          <a:xfrm xmlns:a="http://schemas.openxmlformats.org/drawingml/2006/main">
            <a:off x="3286125" y="5276850"/>
            <a:ext cx="5619750" cy="361950"/>
          </a:xfrm>
          <a:prstGeom xmlns:a="http://schemas.openxmlformats.org/drawingml/2006/main" prst="foldedCorner">
            <a:avLst/>
          </a:prstGeom>
          <a:solidFill xmlns:a="http://schemas.openxmlformats.org/drawingml/2006/main">
            <a:srgbClr val="F0EDF5"/>
          </a:solidFill>
          <a:ln xmlns:a="http://schemas.openxmlformats.org/drawingml/2006/main" w="10478">
            <a:solidFill>
              <a:srgbClr val="83739D"/>
            </a:solidFill>
            <a:prstDash val="solid"/>
          </a:ln>
        </p:spPr>
        <p:txBody>
          <a:bodyPr xmlns:a="http://schemas.openxmlformats.org/drawingml/2006/main" wrap="none" lIns="85725" tIns="28575" rIns="123825" bIns="28575" anchor="ctr">
            <a:noAutofit/>
          </a:bodyPr>
          <a:lstStyle xmlns:a="http://schemas.openxmlformats.org/drawingml/2006/main">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xmlns:a="http://schemas.openxmlformats.org/drawingml/2006/main">
            <a:pPr algn="ctr">
              <a:buNone/>
              <a:defRPr sz="1500">
                <a:solidFill>
                  <a:srgbClr val="183440"/>
                </a:solidFill>
                <a:latin typeface="Arial"/>
                <a:ea typeface="Arial"/>
                <a:cs typeface="Arial"/>
              </a:defRPr>
            </a:pPr>
            <a:r>
              <a:rPr sz="1500">
                <a:solidFill>
                  <a:srgbClr val="183440"/>
                </a:solidFill>
                <a:latin typeface="Arial"/>
                <a:ea typeface="Arial"/>
                <a:cs typeface="Arial"/>
              </a:rPr>
              <a:t>5. Confirm holding: 25 units = 0.25 share interest</a:t>
            </a:r>
          </a:p>
        </p:txBody>
      </p:sp>
      <p:sp>
        <p:nvSpPr>
          <p:cNvPr id="35" name="access-revision-text-108">
            <a:extLst xmlns:a="http://schemas.openxmlformats.org/drawingml/2006/main">
              <a:ext uri="{FF2B5EF4-FFF2-40B4-BE49-F238E27FC236}">
                <a16:creationId xmlns:a16="http://schemas.microsoft.com/office/drawing/2014/main" id="{D5D575B5-598D-446F-B62D-0BEBA0B90486}"/>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3676D"/>
                </a:solidFill>
                <a:latin typeface="Arial"/>
                <a:ea typeface="Arial"/>
                <a:cs typeface="Arial"/>
              </a:defRPr>
            </a:defPPr>
            <a:lvl1pPr algn="l">
              <a:buNone/>
              <a:defRPr sz="1425" b="0">
                <a:solidFill>
                  <a:srgbClr val="53676D"/>
                </a:solidFill>
                <a:latin typeface="Arial"/>
                <a:ea typeface="Arial"/>
                <a:cs typeface="Arial"/>
              </a:defRPr>
            </a:lvl1pPr>
            <a:lvl2pPr algn="l">
              <a:buNone/>
              <a:defRPr sz="1425" b="0">
                <a:solidFill>
                  <a:srgbClr val="53676D"/>
                </a:solidFill>
                <a:latin typeface="Arial"/>
                <a:ea typeface="Arial"/>
                <a:cs typeface="Arial"/>
              </a:defRPr>
            </a:lvl2pPr>
            <a:lvl3pPr algn="l">
              <a:buNone/>
              <a:defRPr sz="1425" b="0">
                <a:solidFill>
                  <a:srgbClr val="53676D"/>
                </a:solidFill>
                <a:latin typeface="Arial"/>
                <a:ea typeface="Arial"/>
                <a:cs typeface="Arial"/>
              </a:defRPr>
            </a:lvl3pPr>
            <a:lvl4pPr algn="l">
              <a:buNone/>
              <a:defRPr sz="1425" b="0">
                <a:solidFill>
                  <a:srgbClr val="53676D"/>
                </a:solidFill>
                <a:latin typeface="Arial"/>
                <a:ea typeface="Arial"/>
                <a:cs typeface="Arial"/>
              </a:defRPr>
            </a:lvl4pPr>
            <a:lvl5pPr algn="l">
              <a:buNone/>
              <a:defRPr sz="1425" b="0">
                <a:solidFill>
                  <a:srgbClr val="53676D"/>
                </a:solidFill>
                <a:latin typeface="Arial"/>
                <a:ea typeface="Arial"/>
                <a:cs typeface="Arial"/>
              </a:defRPr>
            </a:lvl5pPr>
            <a:lvl6pPr algn="l">
              <a:buNone/>
              <a:defRPr sz="1425" b="0">
                <a:solidFill>
                  <a:srgbClr val="53676D"/>
                </a:solidFill>
                <a:latin typeface="Arial"/>
                <a:ea typeface="Arial"/>
                <a:cs typeface="Arial"/>
              </a:defRPr>
            </a:lvl6pPr>
            <a:lvl7pPr algn="l">
              <a:buNone/>
              <a:defRPr sz="1425" b="0">
                <a:solidFill>
                  <a:srgbClr val="53676D"/>
                </a:solidFill>
                <a:latin typeface="Arial"/>
                <a:ea typeface="Arial"/>
                <a:cs typeface="Arial"/>
              </a:defRPr>
            </a:lvl7pPr>
            <a:lvl8pPr algn="l">
              <a:buNone/>
              <a:defRPr sz="1425" b="0">
                <a:solidFill>
                  <a:srgbClr val="53676D"/>
                </a:solidFill>
                <a:latin typeface="Arial"/>
                <a:ea typeface="Arial"/>
                <a:cs typeface="Arial"/>
              </a:defRPr>
            </a:lvl8pPr>
            <a:lvl9pPr algn="l">
              <a:buNone/>
              <a:defRPr sz="1425" b="0">
                <a:solidFill>
                  <a:srgbClr val="53676D"/>
                </a:solidFill>
                <a:latin typeface="Arial"/>
                <a:ea typeface="Arial"/>
                <a:cs typeface="Arial"/>
              </a:defRPr>
            </a:lvl9pPr>
          </a:lstStyle>
          <a:p xmlns:a="http://schemas.openxmlformats.org/drawingml/2006/main">
            <a:pPr algn="l">
              <a:buNone/>
              <a:defRPr sz="1425" b="0">
                <a:solidFill>
                  <a:srgbClr val="53676D"/>
                </a:solidFill>
                <a:latin typeface="Arial"/>
                <a:ea typeface="Arial"/>
                <a:cs typeface="Arial"/>
              </a:defRPr>
            </a:pPr>
            <a:r>
              <a:rPr sz="1425" b="0">
                <a:solidFill>
                  <a:srgbClr val="53676D"/>
                </a:solidFill>
                <a:latin typeface="Arial"/>
                <a:ea typeface="Arial"/>
                <a:cs typeface="Arial"/>
              </a:rPr>
              <a:t>US$300 before fees. Assumes USDC/USD 1, RedCoin/HKD 1 and 7.80 HKD/USD. Rail access remains proposed.</a:t>
            </a:r>
          </a:p>
        </p:txBody>
      </p:sp>
    </p:spTree>
    <p:extLst>
      <p:ext uri="{BB962C8B-B14F-4D97-AF65-F5344CB8AC3E}">
        <p14:creationId xmlns:p14="http://schemas.microsoft.com/office/powerpoint/2010/main" val="1162271100"/>
      </p:ext>
    </p:extLst>
  </p:cSld>
</p:sld>
</file>

<file path=ppt/slides/slide8.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2" name="access-revision-text-109">
            <a:extLst xmlns:a="http://schemas.openxmlformats.org/drawingml/2006/main">
              <a:ext uri="{FF2B5EF4-FFF2-40B4-BE49-F238E27FC236}">
                <a16:creationId xmlns:a16="http://schemas.microsoft.com/office/drawing/2014/main" id="{9DA9C03E-2480-4987-83D9-F195B2EE4E2A}"/>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xmlns:a="http://schemas.openxmlformats.org/drawingml/2006/main">
            <a:pPr algn="l">
              <a:buNone/>
              <a:defRPr sz="3300" b="1">
                <a:solidFill>
                  <a:srgbClr val="183440"/>
                </a:solidFill>
                <a:latin typeface="Arial"/>
                <a:ea typeface="Arial"/>
                <a:cs typeface="Arial"/>
              </a:defRPr>
            </a:pPr>
            <a:r>
              <a:rPr sz="3300" b="1">
                <a:solidFill>
                  <a:srgbClr val="183440"/>
                </a:solidFill>
                <a:latin typeface="Arial"/>
                <a:ea typeface="Arial"/>
                <a:cs typeface="Arial"/>
              </a:rPr>
              <a:t>4. The holding value rises in this example</a:t>
            </a:r>
          </a:p>
        </p:txBody>
      </p:sp>
      <p:sp>
        <p:nvSpPr>
          <p:cNvPr id="2" name="access-revision-text-110">
            <a:extLst xmlns:a="http://schemas.openxmlformats.org/drawingml/2006/main">
              <a:ext uri="{FF2B5EF4-FFF2-40B4-BE49-F238E27FC236}">
                <a16:creationId xmlns:a16="http://schemas.microsoft.com/office/drawing/2014/main" id="{6496265C-96AE-41F7-8B21-B147E6D3E6EF}"/>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buNone/>
              <a:defRPr sz="1875" b="0">
                <a:solidFill>
                  <a:srgbClr val="53676D"/>
                </a:solidFill>
                <a:latin typeface="Arial"/>
                <a:ea typeface="Arial"/>
                <a:cs typeface="Arial"/>
              </a:defRPr>
            </a:lvl1pPr>
            <a:lvl2pPr algn="l">
              <a:buNone/>
              <a:defRPr sz="1875" b="0">
                <a:solidFill>
                  <a:srgbClr val="53676D"/>
                </a:solidFill>
                <a:latin typeface="Arial"/>
                <a:ea typeface="Arial"/>
                <a:cs typeface="Arial"/>
              </a:defRPr>
            </a:lvl2pPr>
            <a:lvl3pPr algn="l">
              <a:buNone/>
              <a:defRPr sz="1875" b="0">
                <a:solidFill>
                  <a:srgbClr val="53676D"/>
                </a:solidFill>
                <a:latin typeface="Arial"/>
                <a:ea typeface="Arial"/>
                <a:cs typeface="Arial"/>
              </a:defRPr>
            </a:lvl3pPr>
            <a:lvl4pPr algn="l">
              <a:buNone/>
              <a:defRPr sz="1875" b="0">
                <a:solidFill>
                  <a:srgbClr val="53676D"/>
                </a:solidFill>
                <a:latin typeface="Arial"/>
                <a:ea typeface="Arial"/>
                <a:cs typeface="Arial"/>
              </a:defRPr>
            </a:lvl4pPr>
            <a:lvl5pPr algn="l">
              <a:buNone/>
              <a:defRPr sz="1875" b="0">
                <a:solidFill>
                  <a:srgbClr val="53676D"/>
                </a:solidFill>
                <a:latin typeface="Arial"/>
                <a:ea typeface="Arial"/>
                <a:cs typeface="Arial"/>
              </a:defRPr>
            </a:lvl5pPr>
            <a:lvl6pPr algn="l">
              <a:buNone/>
              <a:defRPr sz="1875" b="0">
                <a:solidFill>
                  <a:srgbClr val="53676D"/>
                </a:solidFill>
                <a:latin typeface="Arial"/>
                <a:ea typeface="Arial"/>
                <a:cs typeface="Arial"/>
              </a:defRPr>
            </a:lvl6pPr>
            <a:lvl7pPr algn="l">
              <a:buNone/>
              <a:defRPr sz="1875" b="0">
                <a:solidFill>
                  <a:srgbClr val="53676D"/>
                </a:solidFill>
                <a:latin typeface="Arial"/>
                <a:ea typeface="Arial"/>
                <a:cs typeface="Arial"/>
              </a:defRPr>
            </a:lvl7pPr>
            <a:lvl8pPr algn="l">
              <a:buNone/>
              <a:defRPr sz="1875" b="0">
                <a:solidFill>
                  <a:srgbClr val="53676D"/>
                </a:solidFill>
                <a:latin typeface="Arial"/>
                <a:ea typeface="Arial"/>
                <a:cs typeface="Arial"/>
              </a:defRPr>
            </a:lvl8pPr>
            <a:lvl9pPr algn="l">
              <a:buNone/>
              <a:defRPr sz="1875" b="0">
                <a:solidFill>
                  <a:srgbClr val="53676D"/>
                </a:solidFill>
                <a:latin typeface="Arial"/>
                <a:ea typeface="Arial"/>
                <a:cs typeface="Arial"/>
              </a:defRPr>
            </a:lvl9pPr>
          </a:lstStyle>
          <a:p xmlns:a="http://schemas.openxmlformats.org/drawingml/2006/main">
            <a:pPr algn="l">
              <a:buNone/>
              <a:defRPr sz="1875" b="0">
                <a:solidFill>
                  <a:srgbClr val="53676D"/>
                </a:solidFill>
                <a:latin typeface="Arial"/>
                <a:ea typeface="Arial"/>
                <a:cs typeface="Arial"/>
              </a:defRPr>
            </a:pPr>
            <a:r>
              <a:rPr sz="1875" b="0">
                <a:solidFill>
                  <a:srgbClr val="53676D"/>
                </a:solidFill>
                <a:latin typeface="Arial"/>
                <a:ea typeface="Arial"/>
                <a:cs typeface="Arial"/>
              </a:rPr>
              <a:t>Hypothetical positive scenario. Share price increases 10%, while 25 receipt units remain unchanged.</a:t>
            </a:r>
          </a:p>
        </p:txBody>
      </p:sp>
      <p:sp>
        <p:nvSpPr>
          <p:cNvPr id="3" name="access-revision-text-111">
            <a:extLst xmlns:a="http://schemas.openxmlformats.org/drawingml/2006/main">
              <a:ext uri="{FF2B5EF4-FFF2-40B4-BE49-F238E27FC236}">
                <a16:creationId xmlns:a16="http://schemas.microsoft.com/office/drawing/2014/main" id="{2BCF052B-D8F5-4695-8876-6AD1C1D1C69B}"/>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xmlns:a="http://schemas.openxmlformats.org/drawingml/2006/main">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access-revision-text-112">
            <a:extLst xmlns:a="http://schemas.openxmlformats.org/drawingml/2006/main">
              <a:ext uri="{FF2B5EF4-FFF2-40B4-BE49-F238E27FC236}">
                <a16:creationId xmlns:a16="http://schemas.microsoft.com/office/drawing/2014/main" id="{2B230BD4-E04B-4F7D-9F51-BB77E30FCE6B}"/>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xmlns:a="http://schemas.openxmlformats.org/drawingml/2006/main">
            <a:pPr algn="r">
              <a:buNone/>
              <a:defRPr sz="1200" b="0">
                <a:solidFill>
                  <a:srgbClr val="53676D"/>
                </a:solidFill>
                <a:latin typeface="Arial"/>
                <a:ea typeface="Arial"/>
                <a:cs typeface="Arial"/>
              </a:defRPr>
            </a:pPr>
            <a:r>
              <a:rPr sz="1200" b="0">
                <a:solidFill>
                  <a:srgbClr val="53676D"/>
                </a:solidFill>
                <a:latin typeface="Arial"/>
                <a:ea typeface="Arial"/>
                <a:cs typeface="Arial"/>
              </a:rPr>
              <a:t>08</a:t>
            </a:r>
          </a:p>
        </p:txBody>
      </p:sp>
      <p:sp>
        <p:nvSpPr>
          <p:cNvPr id="6" name="access-revision-text-113">
            <a:extLst xmlns:a="http://schemas.openxmlformats.org/drawingml/2006/main">
              <a:ext uri="{FF2B5EF4-FFF2-40B4-BE49-F238E27FC236}">
                <a16:creationId xmlns:a16="http://schemas.microsoft.com/office/drawing/2014/main" id="{98A03788-5A36-4ABD-A0AD-5F45FF4CE4F8}"/>
              </a:ext>
            </a:extLst>
          </p:cNvPr>
          <p:cNvSpPr>
            <a:spLocks xmlns:a="http://schemas.openxmlformats.org/drawingml/2006/main" noGrp="1"/>
          </p:cNvSpPr>
          <p:nvPr/>
        </p:nvSpPr>
        <p:spPr>
          <a:xfrm xmlns:a="http://schemas.openxmlformats.org/drawingml/2006/main">
            <a:off x="6496050" y="2200275"/>
            <a:ext cx="5086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xmlns:a="http://schemas.openxmlformats.org/drawingml/2006/main">
            <a:pPr algn="l">
              <a:buNone/>
              <a:defRPr sz="2100" b="1">
                <a:solidFill>
                  <a:srgbClr val="176C6B"/>
                </a:solidFill>
                <a:latin typeface="Arial"/>
                <a:ea typeface="Arial"/>
                <a:cs typeface="Arial"/>
              </a:defRPr>
            </a:pPr>
            <a:r>
              <a:rPr sz="2100" b="1">
                <a:solidFill>
                  <a:srgbClr val="176C6B"/>
                </a:solidFill>
                <a:latin typeface="Arial"/>
                <a:ea typeface="Arial"/>
                <a:cs typeface="Arial"/>
              </a:rPr>
              <a:t>US$1,200 to US$1,320 per share</a:t>
            </a:r>
          </a:p>
        </p:txBody>
      </p:sp>
      <p:sp>
        <p:nvSpPr>
          <p:cNvPr id="7" name="access-revision-text-114">
            <a:extLst xmlns:a="http://schemas.openxmlformats.org/drawingml/2006/main">
              <a:ext uri="{FF2B5EF4-FFF2-40B4-BE49-F238E27FC236}">
                <a16:creationId xmlns:a16="http://schemas.microsoft.com/office/drawing/2014/main" id="{2E36DFC0-0830-4F0D-BCEB-720B8153811B}"/>
              </a:ext>
            </a:extLst>
          </p:cNvPr>
          <p:cNvSpPr>
            <a:spLocks xmlns:a="http://schemas.openxmlformats.org/drawingml/2006/main" noGrp="1"/>
          </p:cNvSpPr>
          <p:nvPr/>
        </p:nvSpPr>
        <p:spPr>
          <a:xfrm xmlns:a="http://schemas.openxmlformats.org/drawingml/2006/main">
            <a:off x="6496050" y="2762250"/>
            <a:ext cx="5086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83440"/>
                </a:solidFill>
                <a:latin typeface="Arial"/>
                <a:ea typeface="Arial"/>
                <a:cs typeface="Arial"/>
              </a:defRPr>
            </a:defPPr>
            <a:lvl1pPr algn="l">
              <a:buNone/>
              <a:defRPr sz="2100" b="1">
                <a:solidFill>
                  <a:srgbClr val="183440"/>
                </a:solidFill>
                <a:latin typeface="Arial"/>
                <a:ea typeface="Arial"/>
                <a:cs typeface="Arial"/>
              </a:defRPr>
            </a:lvl1pPr>
            <a:lvl2pPr algn="l">
              <a:buNone/>
              <a:defRPr sz="2100" b="1">
                <a:solidFill>
                  <a:srgbClr val="183440"/>
                </a:solidFill>
                <a:latin typeface="Arial"/>
                <a:ea typeface="Arial"/>
                <a:cs typeface="Arial"/>
              </a:defRPr>
            </a:lvl2pPr>
            <a:lvl3pPr algn="l">
              <a:buNone/>
              <a:defRPr sz="2100" b="1">
                <a:solidFill>
                  <a:srgbClr val="183440"/>
                </a:solidFill>
                <a:latin typeface="Arial"/>
                <a:ea typeface="Arial"/>
                <a:cs typeface="Arial"/>
              </a:defRPr>
            </a:lvl3pPr>
            <a:lvl4pPr algn="l">
              <a:buNone/>
              <a:defRPr sz="2100" b="1">
                <a:solidFill>
                  <a:srgbClr val="183440"/>
                </a:solidFill>
                <a:latin typeface="Arial"/>
                <a:ea typeface="Arial"/>
                <a:cs typeface="Arial"/>
              </a:defRPr>
            </a:lvl4pPr>
            <a:lvl5pPr algn="l">
              <a:buNone/>
              <a:defRPr sz="2100" b="1">
                <a:solidFill>
                  <a:srgbClr val="183440"/>
                </a:solidFill>
                <a:latin typeface="Arial"/>
                <a:ea typeface="Arial"/>
                <a:cs typeface="Arial"/>
              </a:defRPr>
            </a:lvl5pPr>
            <a:lvl6pPr algn="l">
              <a:buNone/>
              <a:defRPr sz="2100" b="1">
                <a:solidFill>
                  <a:srgbClr val="183440"/>
                </a:solidFill>
                <a:latin typeface="Arial"/>
                <a:ea typeface="Arial"/>
                <a:cs typeface="Arial"/>
              </a:defRPr>
            </a:lvl6pPr>
            <a:lvl7pPr algn="l">
              <a:buNone/>
              <a:defRPr sz="2100" b="1">
                <a:solidFill>
                  <a:srgbClr val="183440"/>
                </a:solidFill>
                <a:latin typeface="Arial"/>
                <a:ea typeface="Arial"/>
                <a:cs typeface="Arial"/>
              </a:defRPr>
            </a:lvl7pPr>
            <a:lvl8pPr algn="l">
              <a:buNone/>
              <a:defRPr sz="2100" b="1">
                <a:solidFill>
                  <a:srgbClr val="183440"/>
                </a:solidFill>
                <a:latin typeface="Arial"/>
                <a:ea typeface="Arial"/>
                <a:cs typeface="Arial"/>
              </a:defRPr>
            </a:lvl8pPr>
            <a:lvl9pPr algn="l">
              <a:buNone/>
              <a:defRPr sz="2100" b="1">
                <a:solidFill>
                  <a:srgbClr val="183440"/>
                </a:solidFill>
                <a:latin typeface="Arial"/>
                <a:ea typeface="Arial"/>
                <a:cs typeface="Arial"/>
              </a:defRPr>
            </a:lvl9pPr>
          </a:lstStyle>
          <a:p xmlns:a="http://schemas.openxmlformats.org/drawingml/2006/main">
            <a:pPr algn="l">
              <a:buNone/>
              <a:defRPr sz="2100" b="1">
                <a:solidFill>
                  <a:srgbClr val="183440"/>
                </a:solidFill>
                <a:latin typeface="Arial"/>
                <a:ea typeface="Arial"/>
                <a:cs typeface="Arial"/>
              </a:defRPr>
            </a:pPr>
            <a:r>
              <a:rPr sz="2100" b="1">
                <a:solidFill>
                  <a:srgbClr val="183440"/>
                </a:solidFill>
                <a:latin typeface="Arial"/>
                <a:ea typeface="Arial"/>
                <a:cs typeface="Arial"/>
              </a:rPr>
              <a:t>25 × 0.01 × US$1,320 = US$330</a:t>
            </a:r>
          </a:p>
        </p:txBody>
      </p:sp>
      <p:sp>
        <p:nvSpPr>
          <p:cNvPr id="8" name="access-revision-text-115">
            <a:extLst xmlns:a="http://schemas.openxmlformats.org/drawingml/2006/main">
              <a:ext uri="{FF2B5EF4-FFF2-40B4-BE49-F238E27FC236}">
                <a16:creationId xmlns:a16="http://schemas.microsoft.com/office/drawing/2014/main" id="{08BE306A-2D82-49C4-BE46-51BB0C7E102F}"/>
              </a:ext>
            </a:extLst>
          </p:cNvPr>
          <p:cNvSpPr>
            <a:spLocks xmlns:a="http://schemas.openxmlformats.org/drawingml/2006/main" noGrp="1"/>
          </p:cNvSpPr>
          <p:nvPr/>
        </p:nvSpPr>
        <p:spPr>
          <a:xfrm xmlns:a="http://schemas.openxmlformats.org/drawingml/2006/main">
            <a:off x="6496050" y="3295650"/>
            <a:ext cx="5086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xmlns:a="http://schemas.openxmlformats.org/drawingml/2006/main">
            <a:pPr algn="l">
              <a:buNone/>
              <a:defRPr sz="2100" b="1">
                <a:solidFill>
                  <a:srgbClr val="176C6B"/>
                </a:solidFill>
                <a:latin typeface="Arial"/>
                <a:ea typeface="Arial"/>
                <a:cs typeface="Arial"/>
              </a:defRPr>
            </a:pPr>
            <a:r>
              <a:rPr sz="2100" b="1">
                <a:solidFill>
                  <a:srgbClr val="176C6B"/>
                </a:solidFill>
                <a:latin typeface="Arial"/>
                <a:ea typeface="Arial"/>
                <a:cs typeface="Arial"/>
              </a:rPr>
              <a:t>US$30 unrealized gain (+10%)</a:t>
            </a:r>
          </a:p>
        </p:txBody>
      </p:sp>
      <p:graphicFrame>
        <p:nvGraphicFramePr>
          <p:cNvPr id="9" name="">
            <a:extLst xmlns:a="http://schemas.openxmlformats.org/drawingml/2006/main">
              <a:ext uri="{FF2B5EF4-FFF2-40B4-BE49-F238E27FC236}">
                <a16:creationId xmlns:a16="http://schemas.microsoft.com/office/drawing/2014/main" id="{01C1A379-281E-458D-99D2-681081323CB8}"/>
              </a:ext>
            </a:extLst>
          </p:cNvPr>
          <p:cNvGraphicFramePr/>
          <p:nvPr/>
        </p:nvGraphicFramePr>
        <p:xfrm>
          <a:off xmlns:a="http://schemas.openxmlformats.org/drawingml/2006/main" x="6496050" y="3952875"/>
          <a:ext xmlns:a="http://schemas.openxmlformats.org/drawingml/2006/main" cx="5086350" cy="1600200"/>
        </p:xfrm>
        <a:graphic xmlns:a="http://schemas.openxmlformats.org/drawingml/2006/main">
          <a:graphicData uri="http://schemas.openxmlformats.org/drawingml/2006/table">
            <a:tbl>
              <a:tblPr firstRow="1" bandRow="0"/>
              <a:tblGrid>
                <a:gridCol w="3267075"/>
                <a:gridCol w="1819275"/>
              </a:tblGrid>
              <a:tr h="400050">
                <a:tc>
                  <a:txBody>
                    <a:bodyPr lIns="95250" tIns="19050" rIns="95250" bIns="19050"/>
                    <a:lstStyle/>
                    <a:p>
                      <a:r>
                        <a:rPr sz="1500" b="1">
                          <a:solidFill>
                            <a:srgbClr val="FFFFFF"/>
                          </a:solidFill>
                          <a:latin typeface="Arial"/>
                          <a:ea typeface="Arial"/>
                          <a:cs typeface="Arial"/>
                        </a:rPr>
                        <a:t>HKD reporting illustration</a:t>
                      </a:r>
                    </a:p>
                  </a:txBody>
                  <a:tcPr marL="91440" marR="91440" marT="45720" marB="45720" anchor="ctr">
                    <a:lnL w="9525">
                      <a:solidFill>
                        <a:srgbClr val="CFD7D1"/>
                      </a:solidFill>
                      <a:prstDash val="solid"/>
                    </a:lnL>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c>
                  <a:txBody>
                    <a:bodyPr lIns="95250" tIns="19050" rIns="95250" bIns="19050"/>
                    <a:lstStyle/>
                    <a:p>
                      <a:r>
                        <a:rPr sz="1500" b="1">
                          <a:solidFill>
                            <a:srgbClr val="FFFFFF"/>
                          </a:solidFill>
                          <a:latin typeface="Arial"/>
                          <a:ea typeface="Arial"/>
                          <a:cs typeface="Arial"/>
                        </a:rPr>
                        <a:t>Value</a:t>
                      </a:r>
                    </a:p>
                  </a:txBody>
                  <a:tcPr marL="91440" marR="91440" marT="45720" marB="45720" anchor="ctr">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r>
              <a:tr h="400050">
                <a:tc>
                  <a:txBody>
                    <a:bodyPr lIns="95250" tIns="19050" rIns="95250" bIns="19050"/>
                    <a:lstStyle/>
                    <a:p>
                      <a:r>
                        <a:rPr sz="1575" b="0">
                          <a:solidFill>
                            <a:srgbClr val="183440"/>
                          </a:solidFill>
                          <a:latin typeface="Arial"/>
                          <a:ea typeface="Arial"/>
                          <a:cs typeface="Arial"/>
                        </a:rPr>
                        <a:t>Initial at 7.80 HKD/USD</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2,340.00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400050">
                <a:tc>
                  <a:txBody>
                    <a:bodyPr lIns="95250" tIns="19050" rIns="95250" bIns="19050"/>
                    <a:lstStyle/>
                    <a:p>
                      <a:r>
                        <a:rPr sz="1575" b="0">
                          <a:solidFill>
                            <a:srgbClr val="183440"/>
                          </a:solidFill>
                          <a:latin typeface="Arial"/>
                          <a:ea typeface="Arial"/>
                          <a:cs typeface="Arial"/>
                        </a:rPr>
                        <a:t>Later at 7.82 HKD/USD</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2,580.60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400050">
                <a:tc>
                  <a:txBody>
                    <a:bodyPr lIns="95250" tIns="19050" rIns="95250" bIns="19050"/>
                    <a:lstStyle/>
                    <a:p>
                      <a:r>
                        <a:rPr sz="1575" b="0">
                          <a:solidFill>
                            <a:srgbClr val="183440"/>
                          </a:solidFill>
                          <a:latin typeface="Arial"/>
                          <a:ea typeface="Arial"/>
                          <a:cs typeface="Arial"/>
                        </a:rPr>
                        <a:t>Change in HKD value</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+10.28%</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bl>
          </a:graphicData>
        </a:graphic>
      </p:graphicFrame>
      <p:sp>
        <p:nvSpPr>
          <p:cNvPr id="10" name="access-revision-text-116">
            <a:extLst xmlns:a="http://schemas.openxmlformats.org/drawingml/2006/main">
              <a:ext uri="{FF2B5EF4-FFF2-40B4-BE49-F238E27FC236}">
                <a16:creationId xmlns:a16="http://schemas.microsoft.com/office/drawing/2014/main" id="{867061A4-3B06-4485-987B-AAC04ACD539C}"/>
              </a:ext>
            </a:extLst>
          </p:cNvPr>
          <p:cNvSpPr>
            <a:spLocks xmlns:a="http://schemas.openxmlformats.org/drawingml/2006/main" noGrp="1"/>
          </p:cNvSpPr>
          <p:nvPr/>
        </p:nvSpPr>
        <p:spPr>
          <a:xfrm xmlns:a="http://schemas.openxmlformats.org/drawingml/2006/main">
            <a:off x="6496050" y="5695950"/>
            <a:ext cx="508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3676D"/>
                </a:solidFill>
                <a:latin typeface="Arial"/>
                <a:ea typeface="Arial"/>
                <a:cs typeface="Arial"/>
              </a:defRPr>
            </a:defPPr>
            <a:lvl1pPr algn="l">
              <a:buNone/>
              <a:defRPr sz="1575" b="0">
                <a:solidFill>
                  <a:srgbClr val="53676D"/>
                </a:solidFill>
                <a:latin typeface="Arial"/>
                <a:ea typeface="Arial"/>
                <a:cs typeface="Arial"/>
              </a:defRPr>
            </a:lvl1pPr>
            <a:lvl2pPr algn="l">
              <a:buNone/>
              <a:defRPr sz="1575" b="0">
                <a:solidFill>
                  <a:srgbClr val="53676D"/>
                </a:solidFill>
                <a:latin typeface="Arial"/>
                <a:ea typeface="Arial"/>
                <a:cs typeface="Arial"/>
              </a:defRPr>
            </a:lvl2pPr>
            <a:lvl3pPr algn="l">
              <a:buNone/>
              <a:defRPr sz="1575" b="0">
                <a:solidFill>
                  <a:srgbClr val="53676D"/>
                </a:solidFill>
                <a:latin typeface="Arial"/>
                <a:ea typeface="Arial"/>
                <a:cs typeface="Arial"/>
              </a:defRPr>
            </a:lvl3pPr>
            <a:lvl4pPr algn="l">
              <a:buNone/>
              <a:defRPr sz="1575" b="0">
                <a:solidFill>
                  <a:srgbClr val="53676D"/>
                </a:solidFill>
                <a:latin typeface="Arial"/>
                <a:ea typeface="Arial"/>
                <a:cs typeface="Arial"/>
              </a:defRPr>
            </a:lvl4pPr>
            <a:lvl5pPr algn="l">
              <a:buNone/>
              <a:defRPr sz="1575" b="0">
                <a:solidFill>
                  <a:srgbClr val="53676D"/>
                </a:solidFill>
                <a:latin typeface="Arial"/>
                <a:ea typeface="Arial"/>
                <a:cs typeface="Arial"/>
              </a:defRPr>
            </a:lvl5pPr>
            <a:lvl6pPr algn="l">
              <a:buNone/>
              <a:defRPr sz="1575" b="0">
                <a:solidFill>
                  <a:srgbClr val="53676D"/>
                </a:solidFill>
                <a:latin typeface="Arial"/>
                <a:ea typeface="Arial"/>
                <a:cs typeface="Arial"/>
              </a:defRPr>
            </a:lvl6pPr>
            <a:lvl7pPr algn="l">
              <a:buNone/>
              <a:defRPr sz="1575" b="0">
                <a:solidFill>
                  <a:srgbClr val="53676D"/>
                </a:solidFill>
                <a:latin typeface="Arial"/>
                <a:ea typeface="Arial"/>
                <a:cs typeface="Arial"/>
              </a:defRPr>
            </a:lvl7pPr>
            <a:lvl8pPr algn="l">
              <a:buNone/>
              <a:defRPr sz="1575" b="0">
                <a:solidFill>
                  <a:srgbClr val="53676D"/>
                </a:solidFill>
                <a:latin typeface="Arial"/>
                <a:ea typeface="Arial"/>
                <a:cs typeface="Arial"/>
              </a:defRPr>
            </a:lvl8pPr>
            <a:lvl9pPr algn="l">
              <a:buNone/>
              <a:defRPr sz="1575" b="0">
                <a:solidFill>
                  <a:srgbClr val="53676D"/>
                </a:solidFill>
                <a:latin typeface="Arial"/>
                <a:ea typeface="Arial"/>
                <a:cs typeface="Arial"/>
              </a:defRPr>
            </a:lvl9pPr>
          </a:lstStyle>
          <a:p xmlns:a="http://schemas.openxmlformats.org/drawingml/2006/main">
            <a:pPr algn="l">
              <a:buNone/>
              <a:defRPr sz="1575" b="0">
                <a:solidFill>
                  <a:srgbClr val="53676D"/>
                </a:solidFill>
                <a:latin typeface="Arial"/>
                <a:ea typeface="Arial"/>
                <a:cs typeface="Arial"/>
              </a:defRPr>
            </a:pPr>
            <a:r>
              <a:rPr sz="1575" b="0">
                <a:solidFill>
                  <a:srgbClr val="53676D"/>
                </a:solidFill>
                <a:latin typeface="Arial"/>
                <a:ea typeface="Arial"/>
                <a:cs typeface="Arial"/>
              </a:rPr>
              <a:t>FX adds HK$6.60 versus an unchanged 7.80 rate.</a:t>
            </a:r>
          </a:p>
        </p:txBody>
      </p:sp>
      <p:sp>
        <p:nvSpPr>
          <p:cNvPr id="11" name="access-revision-text-117">
            <a:extLst xmlns:a="http://schemas.openxmlformats.org/drawingml/2006/main">
              <a:ext uri="{FF2B5EF4-FFF2-40B4-BE49-F238E27FC236}">
                <a16:creationId xmlns:a16="http://schemas.microsoft.com/office/drawing/2014/main" id="{3CDA9401-EEB7-48CB-B20F-44DB52B3FF1D}"/>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xmlns:a="http://schemas.openxmlformats.org/drawingml/2006/main">
            <a:pPr algn="l">
              <a:buNone/>
              <a:defRPr sz="1500" b="0">
                <a:solidFill>
                  <a:srgbClr val="53676D"/>
                </a:solidFill>
                <a:latin typeface="Arial"/>
                <a:ea typeface="Arial"/>
                <a:cs typeface="Arial"/>
              </a:defRPr>
            </a:pPr>
            <a:r>
              <a:rPr sz="1500" b="0">
                <a:solidFill>
                  <a:srgbClr val="53676D"/>
                </a:solidFill>
                <a:latin typeface="Arial"/>
                <a:ea typeface="Arial"/>
                <a:cs typeface="Arial"/>
              </a:rPr>
              <a:t>Before fees and tax. A sale realizes cash proceeds. Equity and FX changes can also reduce value.</a:t>
            </a:r>
          </a:p>
        </p:txBody>
      </p:sp>
      <p:graphicFrame>
        <p:nvGraphicFramePr>
          <p:cNvPr id="13" name="Chart">
            <a:extLst xmlns:a="http://schemas.openxmlformats.org/drawingml/2006/main">
              <a:ext uri="{FF2B5EF4-FFF2-40B4-BE49-F238E27FC236}">
                <a16:creationId xmlns:a16="http://schemas.microsoft.com/office/drawing/2014/main" id="{BD12BA86-5A4D-46B9-AEA1-8D1930AE39D5}"/>
              </a:ext>
            </a:extLst>
          </p:cNvPr>
          <p:cNvGraphicFramePr/>
          <p:nvPr/>
        </p:nvGraphicFramePr>
        <p:xfrm>
          <a:off xmlns:a="http://schemas.openxmlformats.org/drawingml/2006/main" x="609600" y="2209800"/>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ce19052b578e4da9"/>
          </a:graphicData>
        </a:graphic>
      </p:graphicFrame>
    </p:spTree>
    <p:extLst>
      <p:ext uri="{BB962C8B-B14F-4D97-AF65-F5344CB8AC3E}">
        <p14:creationId xmlns:p14="http://schemas.microsoft.com/office/powerpoint/2010/main" val="1730892255"/>
      </p:ext>
    </p:extLst>
  </p:cSld>
</p:sld>
</file>

<file path=ppt/slides/slide9.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33" name="dlt-text-1">
            <a:extLst xmlns:a="http://schemas.openxmlformats.org/drawingml/2006/main">
              <a:ext uri="{FF2B5EF4-FFF2-40B4-BE49-F238E27FC236}">
                <a16:creationId xmlns:a16="http://schemas.microsoft.com/office/drawing/2014/main" id="{FB834520-748C-49A3-B9E0-3E3C053EA89B}"/>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xmlns:a="http://schemas.openxmlformats.org/drawingml/2006/main">
            <a:pPr algn="l">
              <a:buNone/>
              <a:defRPr sz="3300" b="1">
                <a:solidFill>
                  <a:srgbClr val="183440"/>
                </a:solidFill>
                <a:latin typeface="Arial"/>
                <a:ea typeface="Arial"/>
                <a:cs typeface="Arial"/>
              </a:defRPr>
            </a:pPr>
            <a:r>
              <a:rPr sz="3300" b="1">
                <a:solidFill>
                  <a:srgbClr val="183440"/>
                </a:solidFill>
                <a:latin typeface="Arial"/>
                <a:ea typeface="Arial"/>
                <a:cs typeface="Arial"/>
              </a:rPr>
              <a:t>DLT architecture for the receipt lifecycle</a:t>
            </a:r>
          </a:p>
        </p:txBody>
      </p:sp>
      <p:sp>
        <p:nvSpPr>
          <p:cNvPr id="2" name="dlt-text-2">
            <a:extLst xmlns:a="http://schemas.openxmlformats.org/drawingml/2006/main">
              <a:ext uri="{FF2B5EF4-FFF2-40B4-BE49-F238E27FC236}">
                <a16:creationId xmlns:a16="http://schemas.microsoft.com/office/drawing/2014/main" id="{498BB46B-17DC-4828-856E-AC41AC7830B8}"/>
              </a:ext>
            </a:extLst>
          </p:cNvPr>
          <p:cNvSpPr>
            <a:spLocks xmlns:a="http://schemas.openxmlformats.org/drawingml/2006/main" noGrp="1"/>
          </p:cNvSpPr>
          <p:nvPr/>
        </p:nvSpPr>
        <p:spPr>
          <a:xfrm xmlns:a="http://schemas.openxmlformats.org/drawingml/2006/main">
            <a:off x="609600" y="14097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buNone/>
              <a:defRPr sz="1875" b="0">
                <a:solidFill>
                  <a:srgbClr val="53676D"/>
                </a:solidFill>
                <a:latin typeface="Arial"/>
                <a:ea typeface="Arial"/>
                <a:cs typeface="Arial"/>
              </a:defRPr>
            </a:lvl1pPr>
            <a:lvl2pPr algn="l">
              <a:buNone/>
              <a:defRPr sz="1875" b="0">
                <a:solidFill>
                  <a:srgbClr val="53676D"/>
                </a:solidFill>
                <a:latin typeface="Arial"/>
                <a:ea typeface="Arial"/>
                <a:cs typeface="Arial"/>
              </a:defRPr>
            </a:lvl2pPr>
            <a:lvl3pPr algn="l">
              <a:buNone/>
              <a:defRPr sz="1875" b="0">
                <a:solidFill>
                  <a:srgbClr val="53676D"/>
                </a:solidFill>
                <a:latin typeface="Arial"/>
                <a:ea typeface="Arial"/>
                <a:cs typeface="Arial"/>
              </a:defRPr>
            </a:lvl3pPr>
            <a:lvl4pPr algn="l">
              <a:buNone/>
              <a:defRPr sz="1875" b="0">
                <a:solidFill>
                  <a:srgbClr val="53676D"/>
                </a:solidFill>
                <a:latin typeface="Arial"/>
                <a:ea typeface="Arial"/>
                <a:cs typeface="Arial"/>
              </a:defRPr>
            </a:lvl4pPr>
            <a:lvl5pPr algn="l">
              <a:buNone/>
              <a:defRPr sz="1875" b="0">
                <a:solidFill>
                  <a:srgbClr val="53676D"/>
                </a:solidFill>
                <a:latin typeface="Arial"/>
                <a:ea typeface="Arial"/>
                <a:cs typeface="Arial"/>
              </a:defRPr>
            </a:lvl5pPr>
            <a:lvl6pPr algn="l">
              <a:buNone/>
              <a:defRPr sz="1875" b="0">
                <a:solidFill>
                  <a:srgbClr val="53676D"/>
                </a:solidFill>
                <a:latin typeface="Arial"/>
                <a:ea typeface="Arial"/>
                <a:cs typeface="Arial"/>
              </a:defRPr>
            </a:lvl6pPr>
            <a:lvl7pPr algn="l">
              <a:buNone/>
              <a:defRPr sz="1875" b="0">
                <a:solidFill>
                  <a:srgbClr val="53676D"/>
                </a:solidFill>
                <a:latin typeface="Arial"/>
                <a:ea typeface="Arial"/>
                <a:cs typeface="Arial"/>
              </a:defRPr>
            </a:lvl7pPr>
            <a:lvl8pPr algn="l">
              <a:buNone/>
              <a:defRPr sz="1875" b="0">
                <a:solidFill>
                  <a:srgbClr val="53676D"/>
                </a:solidFill>
                <a:latin typeface="Arial"/>
                <a:ea typeface="Arial"/>
                <a:cs typeface="Arial"/>
              </a:defRPr>
            </a:lvl8pPr>
            <a:lvl9pPr algn="l">
              <a:buNone/>
              <a:defRPr sz="1875" b="0">
                <a:solidFill>
                  <a:srgbClr val="53676D"/>
                </a:solidFill>
                <a:latin typeface="Arial"/>
                <a:ea typeface="Arial"/>
                <a:cs typeface="Arial"/>
              </a:defRPr>
            </a:lvl9pPr>
          </a:lstStyle>
          <a:p xmlns:a="http://schemas.openxmlformats.org/drawingml/2006/main">
            <a:pPr algn="l">
              <a:buNone/>
              <a:defRPr sz="1875" b="0">
                <a:solidFill>
                  <a:srgbClr val="53676D"/>
                </a:solidFill>
                <a:latin typeface="Arial"/>
                <a:ea typeface="Arial"/>
                <a:cs typeface="Arial"/>
              </a:defRPr>
            </a:pPr>
            <a:r>
              <a:rPr sz="1875" b="0">
                <a:solidFill>
                  <a:srgbClr val="53676D"/>
                </a:solidFill>
                <a:latin typeface="Arial"/>
                <a:ea typeface="Arial"/>
                <a:cs typeface="Arial"/>
              </a:rPr>
              <a:t>USDC and RedCoin adapters are proposed. Register rights and rail access remain launch gates.</a:t>
            </a:r>
          </a:p>
        </p:txBody>
      </p:sp>
      <p:sp>
        <p:nvSpPr>
          <p:cNvPr id="3" name="dlt-text-3">
            <a:extLst xmlns:a="http://schemas.openxmlformats.org/drawingml/2006/main">
              <a:ext uri="{FF2B5EF4-FFF2-40B4-BE49-F238E27FC236}">
                <a16:creationId xmlns:a16="http://schemas.microsoft.com/office/drawing/2014/main" id="{B5A6B84A-EAFB-4334-ACDF-85424F2F8040}"/>
              </a:ext>
            </a:extLst>
          </p:cNvPr>
          <p:cNvSpPr>
            <a:spLocks xmlns:a="http://schemas.openxmlformats.org/drawingml/2006/main" noGrp="1"/>
          </p:cNvSpPr>
          <p:nvPr/>
        </p:nvSpPr>
        <p:spPr>
          <a:xfrm xmlns:a="http://schemas.openxmlformats.org/drawingml/2006/main">
            <a:off x="609600" y="64389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xmlns:a="http://schemas.openxmlformats.org/drawingml/2006/main">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dlt-text-4">
            <a:extLst xmlns:a="http://schemas.openxmlformats.org/drawingml/2006/main">
              <a:ext uri="{FF2B5EF4-FFF2-40B4-BE49-F238E27FC236}">
                <a16:creationId xmlns:a16="http://schemas.microsoft.com/office/drawing/2014/main" id="{0F8307B0-2447-4591-9922-1F837A1CA990}"/>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xmlns:a="http://schemas.openxmlformats.org/drawingml/2006/main">
            <a:pPr algn="r">
              <a:buNone/>
              <a:defRPr sz="1200" b="0">
                <a:solidFill>
                  <a:srgbClr val="53676D"/>
                </a:solidFill>
                <a:latin typeface="Arial"/>
                <a:ea typeface="Arial"/>
                <a:cs typeface="Arial"/>
              </a:defRPr>
            </a:pPr>
            <a:r>
              <a:rPr sz="1200" b="0">
                <a:solidFill>
                  <a:srgbClr val="53676D"/>
                </a:solidFill>
                <a:latin typeface="Arial"/>
                <a:ea typeface="Arial"/>
                <a:cs typeface="Arial"/>
              </a:rPr>
              <a:t>09</a:t>
            </a:r>
          </a:p>
        </p:txBody>
      </p:sp>
      <p:sp>
        <p:nvSpPr>
          <p:cNvPr id="5" name="participant-head-5">
            <a:extLst xmlns:a="http://schemas.openxmlformats.org/drawingml/2006/main">
              <a:ext uri="{FF2B5EF4-FFF2-40B4-BE49-F238E27FC236}">
                <a16:creationId xmlns:a16="http://schemas.microsoft.com/office/drawing/2014/main" id="{E418FC3E-71C2-433A-A32D-006180757E9A}"/>
              </a:ext>
            </a:extLst>
          </p:cNvPr>
          <p:cNvSpPr>
            <a:spLocks xmlns:a="http://schemas.openxmlformats.org/drawingml/2006/main" noGrp="1"/>
          </p:cNvSpPr>
          <p:nvPr/>
        </p:nvSpPr>
        <p:spPr>
          <a:xfrm xmlns:a="http://schemas.openxmlformats.org/drawingml/2006/main">
            <a:off x="1885950" y="2143125"/>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6" name="participant-body-6">
            <a:extLst xmlns:a="http://schemas.openxmlformats.org/drawingml/2006/main">
              <a:ext uri="{FF2B5EF4-FFF2-40B4-BE49-F238E27FC236}">
                <a16:creationId xmlns:a16="http://schemas.microsoft.com/office/drawing/2014/main" id="{A30CC65D-F1D1-4C53-9ACB-1470EF5A5A46}"/>
              </a:ext>
            </a:extLst>
          </p:cNvPr>
          <p:cNvSpPr>
            <a:spLocks xmlns:a="http://schemas.openxmlformats.org/drawingml/2006/main" noGrp="1"/>
          </p:cNvSpPr>
          <p:nvPr/>
        </p:nvSpPr>
        <p:spPr>
          <a:xfrm xmlns:a="http://schemas.openxmlformats.org/drawingml/2006/main">
            <a:off x="1809750" y="2362200"/>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7" name="dlt-text-7">
            <a:extLst xmlns:a="http://schemas.openxmlformats.org/drawingml/2006/main">
              <a:ext uri="{FF2B5EF4-FFF2-40B4-BE49-F238E27FC236}">
                <a16:creationId xmlns:a16="http://schemas.microsoft.com/office/drawing/2014/main" id="{F2A9E9D0-5170-4364-A08C-A716921387D4}"/>
              </a:ext>
            </a:extLst>
          </p:cNvPr>
          <p:cNvSpPr>
            <a:spLocks xmlns:a="http://schemas.openxmlformats.org/drawingml/2006/main" noGrp="1"/>
          </p:cNvSpPr>
          <p:nvPr/>
        </p:nvSpPr>
        <p:spPr>
          <a:xfrm xmlns:a="http://schemas.openxmlformats.org/drawingml/2006/main">
            <a:off x="781050" y="26003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Investors /</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brokers</a:t>
            </a:r>
          </a:p>
        </p:txBody>
      </p:sp>
      <p:cxnSp>
        <p:nvCxnSpPr>
          <p:cNvPr id="8" name="diagram-line-8">
            <a:extLst xmlns:a="http://schemas.openxmlformats.org/drawingml/2006/main">
              <a:ext uri="{FF2B5EF4-FFF2-40B4-BE49-F238E27FC236}">
                <a16:creationId xmlns:a16="http://schemas.microsoft.com/office/drawing/2014/main" id="{5105578A-98AE-42F7-AE16-FD4C5F6216B7}"/>
              </a:ext>
            </a:extLst>
          </p:cNvPr>
          <p:cNvCxnSpPr/>
          <p:nvPr/>
        </p:nvCxnSpPr>
        <p:spPr>
          <a:xfrm xmlns:a="http://schemas.openxmlformats.org/drawingml/2006/main">
            <a:off x="1981200" y="3190875"/>
            <a:ext cx="0" cy="457200"/>
          </a:xfrm>
          <a:prstGeom xmlns:a="http://schemas.openxmlformats.org/drawingml/2006/main" prst="straightConnector1">
            <a:avLst/>
          </a:prstGeom>
          <a:ln xmlns:a="http://schemas.openxmlformats.org/drawingml/2006/main" w="19050">
            <a:solidFill>
              <a:srgbClr val="83739D"/>
            </a:solidFill>
            <a:prstDash val="solid"/>
            <a:tailEnd type="triangle" w="sm" len="sm"/>
          </a:ln>
        </p:spPr>
      </p:cxnSp>
      <p:sp>
        <p:nvSpPr>
          <p:cNvPr id="9" name="participant-head-9">
            <a:extLst xmlns:a="http://schemas.openxmlformats.org/drawingml/2006/main">
              <a:ext uri="{FF2B5EF4-FFF2-40B4-BE49-F238E27FC236}">
                <a16:creationId xmlns:a16="http://schemas.microsoft.com/office/drawing/2014/main" id="{8CB26C8C-EAD0-456B-BD19-7169E8EA7140}"/>
              </a:ext>
            </a:extLst>
          </p:cNvPr>
          <p:cNvSpPr>
            <a:spLocks xmlns:a="http://schemas.openxmlformats.org/drawingml/2006/main" noGrp="1"/>
          </p:cNvSpPr>
          <p:nvPr/>
        </p:nvSpPr>
        <p:spPr>
          <a:xfrm xmlns:a="http://schemas.openxmlformats.org/drawingml/2006/main">
            <a:off x="4629150" y="2143125"/>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10" name="participant-body-10">
            <a:extLst xmlns:a="http://schemas.openxmlformats.org/drawingml/2006/main">
              <a:ext uri="{FF2B5EF4-FFF2-40B4-BE49-F238E27FC236}">
                <a16:creationId xmlns:a16="http://schemas.microsoft.com/office/drawing/2014/main" id="{02124FAA-F0ED-4BC0-9C93-338064DD0D08}"/>
              </a:ext>
            </a:extLst>
          </p:cNvPr>
          <p:cNvSpPr>
            <a:spLocks xmlns:a="http://schemas.openxmlformats.org/drawingml/2006/main" noGrp="1"/>
          </p:cNvSpPr>
          <p:nvPr/>
        </p:nvSpPr>
        <p:spPr>
          <a:xfrm xmlns:a="http://schemas.openxmlformats.org/drawingml/2006/main">
            <a:off x="4552950" y="2362200"/>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1" name="dlt-text-11">
            <a:extLst xmlns:a="http://schemas.openxmlformats.org/drawingml/2006/main">
              <a:ext uri="{FF2B5EF4-FFF2-40B4-BE49-F238E27FC236}">
                <a16:creationId xmlns:a16="http://schemas.microsoft.com/office/drawing/2014/main" id="{DAEE8C3D-F824-429F-A8FD-52D26EFEB89D}"/>
              </a:ext>
            </a:extLst>
          </p:cNvPr>
          <p:cNvSpPr>
            <a:spLocks xmlns:a="http://schemas.openxmlformats.org/drawingml/2006/main" noGrp="1"/>
          </p:cNvSpPr>
          <p:nvPr/>
        </p:nvSpPr>
        <p:spPr>
          <a:xfrm xmlns:a="http://schemas.openxmlformats.org/drawingml/2006/main">
            <a:off x="3524250" y="26003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APs / liquidity</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providers</a:t>
            </a:r>
          </a:p>
        </p:txBody>
      </p:sp>
      <p:cxnSp>
        <p:nvCxnSpPr>
          <p:cNvPr id="12" name="diagram-line-12">
            <a:extLst xmlns:a="http://schemas.openxmlformats.org/drawingml/2006/main">
              <a:ext uri="{FF2B5EF4-FFF2-40B4-BE49-F238E27FC236}">
                <a16:creationId xmlns:a16="http://schemas.microsoft.com/office/drawing/2014/main" id="{59B5F559-B251-4C27-B76E-C669920B1F71}"/>
              </a:ext>
            </a:extLst>
          </p:cNvPr>
          <p:cNvCxnSpPr/>
          <p:nvPr/>
        </p:nvCxnSpPr>
        <p:spPr>
          <a:xfrm xmlns:a="http://schemas.openxmlformats.org/drawingml/2006/main">
            <a:off x="4724400" y="3190875"/>
            <a:ext cx="0" cy="457200"/>
          </a:xfrm>
          <a:prstGeom xmlns:a="http://schemas.openxmlformats.org/drawingml/2006/main" prst="straightConnector1">
            <a:avLst/>
          </a:prstGeom>
          <a:ln xmlns:a="http://schemas.openxmlformats.org/drawingml/2006/main" w="19050">
            <a:solidFill>
              <a:srgbClr val="83739D"/>
            </a:solidFill>
            <a:prstDash val="solid"/>
            <a:tailEnd type="triangle" w="sm" len="sm"/>
          </a:ln>
        </p:spPr>
      </p:cxnSp>
      <p:sp>
        <p:nvSpPr>
          <p:cNvPr id="13" name="participant-head-13">
            <a:extLst xmlns:a="http://schemas.openxmlformats.org/drawingml/2006/main">
              <a:ext uri="{FF2B5EF4-FFF2-40B4-BE49-F238E27FC236}">
                <a16:creationId xmlns:a16="http://schemas.microsoft.com/office/drawing/2014/main" id="{A06CAD79-63AE-4957-A6A3-07283D7E7908}"/>
              </a:ext>
            </a:extLst>
          </p:cNvPr>
          <p:cNvSpPr>
            <a:spLocks xmlns:a="http://schemas.openxmlformats.org/drawingml/2006/main" noGrp="1"/>
          </p:cNvSpPr>
          <p:nvPr/>
        </p:nvSpPr>
        <p:spPr>
          <a:xfrm xmlns:a="http://schemas.openxmlformats.org/drawingml/2006/main">
            <a:off x="7372350" y="2143125"/>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14" name="participant-body-14">
            <a:extLst xmlns:a="http://schemas.openxmlformats.org/drawingml/2006/main">
              <a:ext uri="{FF2B5EF4-FFF2-40B4-BE49-F238E27FC236}">
                <a16:creationId xmlns:a16="http://schemas.microsoft.com/office/drawing/2014/main" id="{FBFBFC88-D2D6-491B-B186-082BD1834EC5}"/>
              </a:ext>
            </a:extLst>
          </p:cNvPr>
          <p:cNvSpPr>
            <a:spLocks xmlns:a="http://schemas.openxmlformats.org/drawingml/2006/main" noGrp="1"/>
          </p:cNvSpPr>
          <p:nvPr/>
        </p:nvSpPr>
        <p:spPr>
          <a:xfrm xmlns:a="http://schemas.openxmlformats.org/drawingml/2006/main">
            <a:off x="7296150" y="2362200"/>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5" name="dlt-text-15">
            <a:extLst xmlns:a="http://schemas.openxmlformats.org/drawingml/2006/main">
              <a:ext uri="{FF2B5EF4-FFF2-40B4-BE49-F238E27FC236}">
                <a16:creationId xmlns:a16="http://schemas.microsoft.com/office/drawing/2014/main" id="{1F9F09AE-4C32-4F91-993C-BA6BBAC54CF2}"/>
              </a:ext>
            </a:extLst>
          </p:cNvPr>
          <p:cNvSpPr>
            <a:spLocks xmlns:a="http://schemas.openxmlformats.org/drawingml/2006/main" noGrp="1"/>
          </p:cNvSpPr>
          <p:nvPr/>
        </p:nvSpPr>
        <p:spPr>
          <a:xfrm xmlns:a="http://schemas.openxmlformats.org/drawingml/2006/main">
            <a:off x="6267450" y="26003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p>
        </p:txBody>
      </p:sp>
      <p:cxnSp>
        <p:nvCxnSpPr>
          <p:cNvPr id="16" name="diagram-line-16">
            <a:extLst xmlns:a="http://schemas.openxmlformats.org/drawingml/2006/main">
              <a:ext uri="{FF2B5EF4-FFF2-40B4-BE49-F238E27FC236}">
                <a16:creationId xmlns:a16="http://schemas.microsoft.com/office/drawing/2014/main" id="{DAFE8858-683D-43E1-BF97-D9EC94591A85}"/>
              </a:ext>
            </a:extLst>
          </p:cNvPr>
          <p:cNvCxnSpPr/>
          <p:nvPr/>
        </p:nvCxnSpPr>
        <p:spPr>
          <a:xfrm xmlns:a="http://schemas.openxmlformats.org/drawingml/2006/main">
            <a:off x="7467600" y="3190875"/>
            <a:ext cx="0" cy="457200"/>
          </a:xfrm>
          <a:prstGeom xmlns:a="http://schemas.openxmlformats.org/drawingml/2006/main" prst="straightConnector1">
            <a:avLst/>
          </a:prstGeom>
          <a:ln xmlns:a="http://schemas.openxmlformats.org/drawingml/2006/main" w="19050">
            <a:solidFill>
              <a:srgbClr val="83739D"/>
            </a:solidFill>
            <a:prstDash val="solid"/>
            <a:tailEnd type="triangle" w="sm" len="sm"/>
          </a:ln>
        </p:spPr>
      </p:cxnSp>
      <p:sp>
        <p:nvSpPr>
          <p:cNvPr id="17" name="participant-head-17">
            <a:extLst xmlns:a="http://schemas.openxmlformats.org/drawingml/2006/main">
              <a:ext uri="{FF2B5EF4-FFF2-40B4-BE49-F238E27FC236}">
                <a16:creationId xmlns:a16="http://schemas.microsoft.com/office/drawing/2014/main" id="{217F5AA1-231D-4B3F-BFA7-D28349505F2C}"/>
              </a:ext>
            </a:extLst>
          </p:cNvPr>
          <p:cNvSpPr>
            <a:spLocks xmlns:a="http://schemas.openxmlformats.org/drawingml/2006/main" noGrp="1"/>
          </p:cNvSpPr>
          <p:nvPr/>
        </p:nvSpPr>
        <p:spPr>
          <a:xfrm xmlns:a="http://schemas.openxmlformats.org/drawingml/2006/main">
            <a:off x="10115550" y="2143125"/>
            <a:ext cx="190500" cy="190500"/>
          </a:xfrm>
          <a:prstGeom xmlns:a="http://schemas.openxmlformats.org/drawingml/2006/main" prst="ellipse">
            <a:avLst/>
          </a:prstGeom>
          <a:solidFill xmlns:a="http://schemas.openxmlformats.org/drawingml/2006/main">
            <a:srgbClr val="183440"/>
          </a:solidFill>
          <a:ln xmlns:a="http://schemas.openxmlformats.org/drawingml/2006/main" w="0">
            <a:noFill/>
            <a:prstDash val="solid"/>
          </a:ln>
        </p:spPr>
      </p:sp>
      <p:sp>
        <p:nvSpPr>
          <p:cNvPr id="18" name="participant-body-18">
            <a:extLst xmlns:a="http://schemas.openxmlformats.org/drawingml/2006/main">
              <a:ext uri="{FF2B5EF4-FFF2-40B4-BE49-F238E27FC236}">
                <a16:creationId xmlns:a16="http://schemas.microsoft.com/office/drawing/2014/main" id="{5B50A260-F5B4-4D15-9D98-6580E280E723}"/>
              </a:ext>
            </a:extLst>
          </p:cNvPr>
          <p:cNvSpPr>
            <a:spLocks xmlns:a="http://schemas.openxmlformats.org/drawingml/2006/main" noGrp="1"/>
          </p:cNvSpPr>
          <p:nvPr/>
        </p:nvSpPr>
        <p:spPr>
          <a:xfrm xmlns:a="http://schemas.openxmlformats.org/drawingml/2006/main">
            <a:off x="10039350" y="2362200"/>
            <a:ext cx="342900" cy="180975"/>
          </a:xfrm>
          <a:prstGeom xmlns:a="http://schemas.openxmlformats.org/drawingml/2006/main" prst="roundRect">
            <a:avLst>
              <a:gd name="adj" fmla="val 42105"/>
            </a:avLst>
          </a:prstGeom>
          <a:solidFill xmlns:a="http://schemas.openxmlformats.org/drawingml/2006/main">
            <a:srgbClr val="183440"/>
          </a:solidFill>
          <a:ln xmlns:a="http://schemas.openxmlformats.org/drawingml/2006/main" w="0">
            <a:noFill/>
            <a:prstDash val="solid"/>
          </a:ln>
        </p:spPr>
      </p:sp>
      <p:sp>
        <p:nvSpPr>
          <p:cNvPr id="19" name="dlt-text-19">
            <a:extLst xmlns:a="http://schemas.openxmlformats.org/drawingml/2006/main">
              <a:ext uri="{FF2B5EF4-FFF2-40B4-BE49-F238E27FC236}">
                <a16:creationId xmlns:a16="http://schemas.microsoft.com/office/drawing/2014/main" id="{343CE66D-C809-4524-9C98-A040A839D7C7}"/>
              </a:ext>
            </a:extLst>
          </p:cNvPr>
          <p:cNvSpPr>
            <a:spLocks xmlns:a="http://schemas.openxmlformats.org/drawingml/2006/main" noGrp="1"/>
          </p:cNvSpPr>
          <p:nvPr/>
        </p:nvSpPr>
        <p:spPr>
          <a:xfrm xmlns:a="http://schemas.openxmlformats.org/drawingml/2006/main">
            <a:off x="9010650" y="26003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Custody, cash</a:t>
            </a:r>
          </a:p>
          <a:p xmlns:a="http://schemas.openxmlformats.org/drawingml/2006/main">
            <a:pPr algn="ctr">
              <a:buNone/>
              <a:defRPr sz="1800" b="1">
                <a:solidFill>
                  <a:srgbClr val="183440"/>
                </a:solidFill>
                <a:latin typeface="Arial"/>
                <a:ea typeface="Arial"/>
                <a:cs typeface="Arial"/>
              </a:defRPr>
            </a:pPr>
            <a:r>
              <a:rPr sz="1800" b="1">
                <a:solidFill>
                  <a:srgbClr val="183440"/>
                </a:solidFill>
                <a:latin typeface="Arial"/>
                <a:ea typeface="Arial"/>
                <a:cs typeface="Arial"/>
              </a:rPr>
              <a:t>and FX partners</a:t>
            </a:r>
          </a:p>
        </p:txBody>
      </p:sp>
      <p:cxnSp>
        <p:nvCxnSpPr>
          <p:cNvPr id="20" name="diagram-line-20">
            <a:extLst xmlns:a="http://schemas.openxmlformats.org/drawingml/2006/main">
              <a:ext uri="{FF2B5EF4-FFF2-40B4-BE49-F238E27FC236}">
                <a16:creationId xmlns:a16="http://schemas.microsoft.com/office/drawing/2014/main" id="{1910E6C1-76B3-46B2-8E7D-42F4DEBE47AD}"/>
              </a:ext>
            </a:extLst>
          </p:cNvPr>
          <p:cNvCxnSpPr/>
          <p:nvPr/>
        </p:nvCxnSpPr>
        <p:spPr>
          <a:xfrm xmlns:a="http://schemas.openxmlformats.org/drawingml/2006/main">
            <a:off x="10210800" y="3190875"/>
            <a:ext cx="0" cy="457200"/>
          </a:xfrm>
          <a:prstGeom xmlns:a="http://schemas.openxmlformats.org/drawingml/2006/main" prst="straightConnector1">
            <a:avLst/>
          </a:prstGeom>
          <a:ln xmlns:a="http://schemas.openxmlformats.org/drawingml/2006/main" w="19050">
            <a:solidFill>
              <a:srgbClr val="83739D"/>
            </a:solidFill>
            <a:prstDash val="solid"/>
            <a:tailEnd type="triangle" w="sm" len="sm"/>
          </a:ln>
        </p:spPr>
      </p:cxnSp>
      <p:sp>
        <p:nvSpPr>
          <p:cNvPr id="21" name="orchestration-21">
            <a:extLst xmlns:a="http://schemas.openxmlformats.org/drawingml/2006/main">
              <a:ext uri="{FF2B5EF4-FFF2-40B4-BE49-F238E27FC236}">
                <a16:creationId xmlns:a16="http://schemas.microsoft.com/office/drawing/2014/main" id="{E9604086-7DD6-4F6B-ADDB-DC0C6865904E}"/>
              </a:ext>
            </a:extLst>
          </p:cNvPr>
          <p:cNvSpPr>
            <a:spLocks xmlns:a="http://schemas.openxmlformats.org/drawingml/2006/main" noGrp="1"/>
          </p:cNvSpPr>
          <p:nvPr/>
        </p:nvSpPr>
        <p:spPr>
          <a:xfrm xmlns:a="http://schemas.openxmlformats.org/drawingml/2006/main">
            <a:off x="609600" y="3695700"/>
            <a:ext cx="10972800" cy="971550"/>
          </a:xfrm>
          <a:prstGeom xmlns:a="http://schemas.openxmlformats.org/drawingml/2006/main" prst="rect">
            <a:avLst/>
          </a:prstGeom>
          <a:solidFill xmlns:a="http://schemas.openxmlformats.org/drawingml/2006/main">
            <a:srgbClr val="FFFFFF"/>
          </a:solidFill>
          <a:ln xmlns:a="http://schemas.openxmlformats.org/drawingml/2006/main" w="13335">
            <a:solidFill>
              <a:srgbClr val="CFD7D1"/>
            </a:solidFill>
            <a:prstDash val="solid"/>
          </a:ln>
        </p:spPr>
      </p:sp>
      <p:sp>
        <p:nvSpPr>
          <p:cNvPr id="22" name="dlt-text-22">
            <a:extLst xmlns:a="http://schemas.openxmlformats.org/drawingml/2006/main">
              <a:ext uri="{FF2B5EF4-FFF2-40B4-BE49-F238E27FC236}">
                <a16:creationId xmlns:a16="http://schemas.microsoft.com/office/drawing/2014/main" id="{A77B62E9-4562-4335-B5FD-57267BDC436C}"/>
              </a:ext>
            </a:extLst>
          </p:cNvPr>
          <p:cNvSpPr>
            <a:spLocks xmlns:a="http://schemas.openxmlformats.org/drawingml/2006/main" noGrp="1"/>
          </p:cNvSpPr>
          <p:nvPr/>
        </p:nvSpPr>
        <p:spPr>
          <a:xfrm xmlns:a="http://schemas.openxmlformats.org/drawingml/2006/main">
            <a:off x="800100" y="381000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xmlns:a="http://schemas.openxmlformats.org/drawingml/2006/main">
            <a:pPr algn="l">
              <a:buNone/>
              <a:defRPr sz="2100" b="1">
                <a:solidFill>
                  <a:srgbClr val="176C6B"/>
                </a:solidFill>
                <a:latin typeface="Arial"/>
                <a:ea typeface="Arial"/>
                <a:cs typeface="Arial"/>
              </a:defRPr>
            </a:pPr>
            <a:r>
              <a:rPr sz="2100" b="1">
                <a:solidFill>
                  <a:srgbClr val="176C6B"/>
                </a:solidFill>
                <a:latin typeface="Arial"/>
                <a:ea typeface="Arial"/>
                <a:cs typeface="Arial"/>
              </a:rPr>
              <a:t>D-SHARE receipt and cash orchestration</a:t>
            </a:r>
          </a:p>
        </p:txBody>
      </p:sp>
      <p:sp>
        <p:nvSpPr>
          <p:cNvPr id="23" name="dlt-text-23">
            <a:extLst xmlns:a="http://schemas.openxmlformats.org/drawingml/2006/main">
              <a:ext uri="{FF2B5EF4-FFF2-40B4-BE49-F238E27FC236}">
                <a16:creationId xmlns:a16="http://schemas.microsoft.com/office/drawing/2014/main" id="{94AA4097-607E-4B92-8773-37677A6A9D64}"/>
              </a:ext>
            </a:extLst>
          </p:cNvPr>
          <p:cNvSpPr>
            <a:spLocks xmlns:a="http://schemas.openxmlformats.org/drawingml/2006/main" noGrp="1"/>
          </p:cNvSpPr>
          <p:nvPr/>
        </p:nvSpPr>
        <p:spPr>
          <a:xfrm xmlns:a="http://schemas.openxmlformats.org/drawingml/2006/main">
            <a:off x="800100" y="4229100"/>
            <a:ext cx="1038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3440"/>
                </a:solidFill>
                <a:latin typeface="Arial"/>
                <a:ea typeface="Arial"/>
                <a:cs typeface="Arial"/>
              </a:defRPr>
            </a:defPPr>
            <a:lvl1pPr algn="l">
              <a:buNone/>
              <a:defRPr sz="1800" b="0">
                <a:solidFill>
                  <a:srgbClr val="183440"/>
                </a:solidFill>
                <a:latin typeface="Arial"/>
                <a:ea typeface="Arial"/>
                <a:cs typeface="Arial"/>
              </a:defRPr>
            </a:lvl1pPr>
            <a:lvl2pPr algn="l">
              <a:buNone/>
              <a:defRPr sz="1800" b="0">
                <a:solidFill>
                  <a:srgbClr val="183440"/>
                </a:solidFill>
                <a:latin typeface="Arial"/>
                <a:ea typeface="Arial"/>
                <a:cs typeface="Arial"/>
              </a:defRPr>
            </a:lvl2pPr>
            <a:lvl3pPr algn="l">
              <a:buNone/>
              <a:defRPr sz="1800" b="0">
                <a:solidFill>
                  <a:srgbClr val="183440"/>
                </a:solidFill>
                <a:latin typeface="Arial"/>
                <a:ea typeface="Arial"/>
                <a:cs typeface="Arial"/>
              </a:defRPr>
            </a:lvl3pPr>
            <a:lvl4pPr algn="l">
              <a:buNone/>
              <a:defRPr sz="1800" b="0">
                <a:solidFill>
                  <a:srgbClr val="183440"/>
                </a:solidFill>
                <a:latin typeface="Arial"/>
                <a:ea typeface="Arial"/>
                <a:cs typeface="Arial"/>
              </a:defRPr>
            </a:lvl4pPr>
            <a:lvl5pPr algn="l">
              <a:buNone/>
              <a:defRPr sz="1800" b="0">
                <a:solidFill>
                  <a:srgbClr val="183440"/>
                </a:solidFill>
                <a:latin typeface="Arial"/>
                <a:ea typeface="Arial"/>
                <a:cs typeface="Arial"/>
              </a:defRPr>
            </a:lvl5pPr>
            <a:lvl6pPr algn="l">
              <a:buNone/>
              <a:defRPr sz="1800" b="0">
                <a:solidFill>
                  <a:srgbClr val="183440"/>
                </a:solidFill>
                <a:latin typeface="Arial"/>
                <a:ea typeface="Arial"/>
                <a:cs typeface="Arial"/>
              </a:defRPr>
            </a:lvl6pPr>
            <a:lvl7pPr algn="l">
              <a:buNone/>
              <a:defRPr sz="1800" b="0">
                <a:solidFill>
                  <a:srgbClr val="183440"/>
                </a:solidFill>
                <a:latin typeface="Arial"/>
                <a:ea typeface="Arial"/>
                <a:cs typeface="Arial"/>
              </a:defRPr>
            </a:lvl7pPr>
            <a:lvl8pPr algn="l">
              <a:buNone/>
              <a:defRPr sz="1800" b="0">
                <a:solidFill>
                  <a:srgbClr val="183440"/>
                </a:solidFill>
                <a:latin typeface="Arial"/>
                <a:ea typeface="Arial"/>
                <a:cs typeface="Arial"/>
              </a:defRPr>
            </a:lvl8pPr>
            <a:lvl9pPr algn="l">
              <a:buNone/>
              <a:defRPr sz="1800" b="0">
                <a:solidFill>
                  <a:srgbClr val="183440"/>
                </a:solidFill>
                <a:latin typeface="Arial"/>
                <a:ea typeface="Arial"/>
                <a:cs typeface="Arial"/>
              </a:defRPr>
            </a:lvl9pPr>
          </a:lstStyle>
          <a:p xmlns:a="http://schemas.openxmlformats.org/drawingml/2006/main">
            <a:pPr algn="l">
              <a:buNone/>
              <a:defRPr sz="1800" b="0">
                <a:solidFill>
                  <a:srgbClr val="183440"/>
                </a:solidFill>
                <a:latin typeface="Arial"/>
                <a:ea typeface="Arial"/>
                <a:cs typeface="Arial"/>
              </a:defRPr>
            </a:pPr>
            <a:r>
              <a:rPr sz="1800" b="0">
                <a:solidFill>
                  <a:srgbClr val="183440"/>
                </a:solidFill>
                <a:latin typeface="Arial"/>
                <a:ea typeface="Arial"/>
                <a:cs typeface="Arial"/>
              </a:rPr>
              <a:t>Eligibility and rights     Receipt approvals     Cash-asset / FX controls</a:t>
            </a:r>
          </a:p>
        </p:txBody>
      </p:sp>
      <p:cxnSp>
        <p:nvCxnSpPr>
          <p:cNvPr id="24" name="diagram-line-24">
            <a:extLst xmlns:a="http://schemas.openxmlformats.org/drawingml/2006/main">
              <a:ext uri="{FF2B5EF4-FFF2-40B4-BE49-F238E27FC236}">
                <a16:creationId xmlns:a16="http://schemas.microsoft.com/office/drawing/2014/main" id="{E6149D89-951C-4294-9FFC-BCB68813A460}"/>
              </a:ext>
            </a:extLst>
          </p:cNvPr>
          <p:cNvCxnSpPr/>
          <p:nvPr/>
        </p:nvCxnSpPr>
        <p:spPr>
          <a:xfrm xmlns:a="http://schemas.openxmlformats.org/drawingml/2006/main">
            <a:off x="4181475" y="4667250"/>
            <a:ext cx="0" cy="581025"/>
          </a:xfrm>
          <a:prstGeom xmlns:a="http://schemas.openxmlformats.org/drawingml/2006/main" prst="straightConnector1">
            <a:avLst/>
          </a:prstGeom>
          <a:ln xmlns:a="http://schemas.openxmlformats.org/drawingml/2006/main" w="19050">
            <a:solidFill>
              <a:srgbClr val="83739D"/>
            </a:solidFill>
            <a:prstDash val="solid"/>
            <a:tailEnd type="triangle" w="sm" len="sm"/>
          </a:ln>
        </p:spPr>
      </p:cxnSp>
      <p:cxnSp>
        <p:nvCxnSpPr>
          <p:cNvPr id="25" name="diagram-line-25">
            <a:extLst xmlns:a="http://schemas.openxmlformats.org/drawingml/2006/main">
              <a:ext uri="{FF2B5EF4-FFF2-40B4-BE49-F238E27FC236}">
                <a16:creationId xmlns:a16="http://schemas.microsoft.com/office/drawing/2014/main" id="{301FF01E-BF38-45E7-9D46-D48FC1CDD6C2}"/>
              </a:ext>
            </a:extLst>
          </p:cNvPr>
          <p:cNvCxnSpPr/>
          <p:nvPr/>
        </p:nvCxnSpPr>
        <p:spPr>
          <a:xfrm xmlns:a="http://schemas.openxmlformats.org/drawingml/2006/main">
            <a:off x="9896475" y="4667250"/>
            <a:ext cx="0" cy="581025"/>
          </a:xfrm>
          <a:prstGeom xmlns:a="http://schemas.openxmlformats.org/drawingml/2006/main" prst="straightConnector1">
            <a:avLst/>
          </a:prstGeom>
          <a:ln xmlns:a="http://schemas.openxmlformats.org/drawingml/2006/main" w="19050">
            <a:solidFill>
              <a:srgbClr val="83739D"/>
            </a:solidFill>
            <a:prstDash val="solid"/>
            <a:tailEnd type="triangle" w="sm" len="sm"/>
          </a:ln>
        </p:spPr>
      </p:cxnSp>
      <p:sp>
        <p:nvSpPr>
          <p:cNvPr id="26" name="permissioned-ledger-26">
            <a:extLst xmlns:a="http://schemas.openxmlformats.org/drawingml/2006/main">
              <a:ext uri="{FF2B5EF4-FFF2-40B4-BE49-F238E27FC236}">
                <a16:creationId xmlns:a16="http://schemas.microsoft.com/office/drawing/2014/main" id="{A2112C7D-8CC4-4885-8FB1-35A208D42365}"/>
              </a:ext>
            </a:extLst>
          </p:cNvPr>
          <p:cNvSpPr>
            <a:spLocks xmlns:a="http://schemas.openxmlformats.org/drawingml/2006/main" noGrp="1"/>
          </p:cNvSpPr>
          <p:nvPr/>
        </p:nvSpPr>
        <p:spPr>
          <a:xfrm xmlns:a="http://schemas.openxmlformats.org/drawingml/2006/main">
            <a:off x="609600" y="5238750"/>
            <a:ext cx="7143750" cy="819150"/>
          </a:xfrm>
          <a:prstGeom xmlns:a="http://schemas.openxmlformats.org/drawingml/2006/main" prst="rect">
            <a:avLst/>
          </a:prstGeom>
          <a:solidFill xmlns:a="http://schemas.openxmlformats.org/drawingml/2006/main">
            <a:srgbClr val="EEF3F7"/>
          </a:solidFill>
          <a:ln xmlns:a="http://schemas.openxmlformats.org/drawingml/2006/main" w="13335">
            <a:solidFill>
              <a:srgbClr val="537DA1"/>
            </a:solidFill>
            <a:prstDash val="solid"/>
          </a:ln>
        </p:spPr>
      </p:sp>
      <p:sp>
        <p:nvSpPr>
          <p:cNvPr id="27" name="dlt-text-27">
            <a:extLst xmlns:a="http://schemas.openxmlformats.org/drawingml/2006/main">
              <a:ext uri="{FF2B5EF4-FFF2-40B4-BE49-F238E27FC236}">
                <a16:creationId xmlns:a16="http://schemas.microsoft.com/office/drawing/2014/main" id="{8F5A1674-00A9-41FC-94A4-DB951BA088A8}"/>
              </a:ext>
            </a:extLst>
          </p:cNvPr>
          <p:cNvSpPr>
            <a:spLocks xmlns:a="http://schemas.openxmlformats.org/drawingml/2006/main" noGrp="1"/>
          </p:cNvSpPr>
          <p:nvPr/>
        </p:nvSpPr>
        <p:spPr>
          <a:xfrm xmlns:a="http://schemas.openxmlformats.org/drawingml/2006/main">
            <a:off x="800100" y="5353050"/>
            <a:ext cx="676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83440"/>
                </a:solidFill>
                <a:latin typeface="Arial"/>
                <a:ea typeface="Arial"/>
                <a:cs typeface="Arial"/>
              </a:defRPr>
            </a:defPPr>
            <a:lvl1pPr algn="l">
              <a:buNone/>
              <a:defRPr sz="2025" b="1">
                <a:solidFill>
                  <a:srgbClr val="183440"/>
                </a:solidFill>
                <a:latin typeface="Arial"/>
                <a:ea typeface="Arial"/>
                <a:cs typeface="Arial"/>
              </a:defRPr>
            </a:lvl1pPr>
            <a:lvl2pPr algn="l">
              <a:buNone/>
              <a:defRPr sz="2025" b="1">
                <a:solidFill>
                  <a:srgbClr val="183440"/>
                </a:solidFill>
                <a:latin typeface="Arial"/>
                <a:ea typeface="Arial"/>
                <a:cs typeface="Arial"/>
              </a:defRPr>
            </a:lvl2pPr>
            <a:lvl3pPr algn="l">
              <a:buNone/>
              <a:defRPr sz="2025" b="1">
                <a:solidFill>
                  <a:srgbClr val="183440"/>
                </a:solidFill>
                <a:latin typeface="Arial"/>
                <a:ea typeface="Arial"/>
                <a:cs typeface="Arial"/>
              </a:defRPr>
            </a:lvl3pPr>
            <a:lvl4pPr algn="l">
              <a:buNone/>
              <a:defRPr sz="2025" b="1">
                <a:solidFill>
                  <a:srgbClr val="183440"/>
                </a:solidFill>
                <a:latin typeface="Arial"/>
                <a:ea typeface="Arial"/>
                <a:cs typeface="Arial"/>
              </a:defRPr>
            </a:lvl4pPr>
            <a:lvl5pPr algn="l">
              <a:buNone/>
              <a:defRPr sz="2025" b="1">
                <a:solidFill>
                  <a:srgbClr val="183440"/>
                </a:solidFill>
                <a:latin typeface="Arial"/>
                <a:ea typeface="Arial"/>
                <a:cs typeface="Arial"/>
              </a:defRPr>
            </a:lvl5pPr>
            <a:lvl6pPr algn="l">
              <a:buNone/>
              <a:defRPr sz="2025" b="1">
                <a:solidFill>
                  <a:srgbClr val="183440"/>
                </a:solidFill>
                <a:latin typeface="Arial"/>
                <a:ea typeface="Arial"/>
                <a:cs typeface="Arial"/>
              </a:defRPr>
            </a:lvl6pPr>
            <a:lvl7pPr algn="l">
              <a:buNone/>
              <a:defRPr sz="2025" b="1">
                <a:solidFill>
                  <a:srgbClr val="183440"/>
                </a:solidFill>
                <a:latin typeface="Arial"/>
                <a:ea typeface="Arial"/>
                <a:cs typeface="Arial"/>
              </a:defRPr>
            </a:lvl7pPr>
            <a:lvl8pPr algn="l">
              <a:buNone/>
              <a:defRPr sz="2025" b="1">
                <a:solidFill>
                  <a:srgbClr val="183440"/>
                </a:solidFill>
                <a:latin typeface="Arial"/>
                <a:ea typeface="Arial"/>
                <a:cs typeface="Arial"/>
              </a:defRPr>
            </a:lvl8pPr>
            <a:lvl9pPr algn="l">
              <a:buNone/>
              <a:defRPr sz="2025" b="1">
                <a:solidFill>
                  <a:srgbClr val="183440"/>
                </a:solidFill>
                <a:latin typeface="Arial"/>
                <a:ea typeface="Arial"/>
                <a:cs typeface="Arial"/>
              </a:defRPr>
            </a:lvl9pPr>
          </a:lstStyle>
          <a:p xmlns:a="http://schemas.openxmlformats.org/drawingml/2006/main">
            <a:pPr algn="l">
              <a:buNone/>
              <a:defRPr sz="2025" b="1">
                <a:solidFill>
                  <a:srgbClr val="183440"/>
                </a:solidFill>
                <a:latin typeface="Arial"/>
                <a:ea typeface="Arial"/>
                <a:cs typeface="Arial"/>
              </a:defRPr>
            </a:pPr>
            <a:r>
              <a:rPr sz="2025" b="1">
                <a:solidFill>
                  <a:srgbClr val="183440"/>
                </a:solidFill>
                <a:latin typeface="Arial"/>
                <a:ea typeface="Arial"/>
                <a:cs typeface="Arial"/>
              </a:rPr>
              <a:t>Permissioned receipt register</a:t>
            </a:r>
          </a:p>
        </p:txBody>
      </p:sp>
      <p:sp>
        <p:nvSpPr>
          <p:cNvPr id="28" name="dlt-text-28">
            <a:extLst xmlns:a="http://schemas.openxmlformats.org/drawingml/2006/main">
              <a:ext uri="{FF2B5EF4-FFF2-40B4-BE49-F238E27FC236}">
                <a16:creationId xmlns:a16="http://schemas.microsoft.com/office/drawing/2014/main" id="{8D53642E-3E62-4976-89D6-68BAC9804548}"/>
              </a:ext>
            </a:extLst>
          </p:cNvPr>
          <p:cNvSpPr>
            <a:spLocks xmlns:a="http://schemas.openxmlformats.org/drawingml/2006/main" noGrp="1"/>
          </p:cNvSpPr>
          <p:nvPr/>
        </p:nvSpPr>
        <p:spPr>
          <a:xfrm xmlns:a="http://schemas.openxmlformats.org/drawingml/2006/main">
            <a:off x="800100" y="5715000"/>
            <a:ext cx="676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3676D"/>
                </a:solidFill>
                <a:latin typeface="Arial"/>
                <a:ea typeface="Arial"/>
                <a:cs typeface="Arial"/>
              </a:defRPr>
            </a:defPPr>
            <a:lvl1pPr algn="l">
              <a:buNone/>
              <a:defRPr sz="1725" b="0">
                <a:solidFill>
                  <a:srgbClr val="53676D"/>
                </a:solidFill>
                <a:latin typeface="Arial"/>
                <a:ea typeface="Arial"/>
                <a:cs typeface="Arial"/>
              </a:defRPr>
            </a:lvl1pPr>
            <a:lvl2pPr algn="l">
              <a:buNone/>
              <a:defRPr sz="1725" b="0">
                <a:solidFill>
                  <a:srgbClr val="53676D"/>
                </a:solidFill>
                <a:latin typeface="Arial"/>
                <a:ea typeface="Arial"/>
                <a:cs typeface="Arial"/>
              </a:defRPr>
            </a:lvl2pPr>
            <a:lvl3pPr algn="l">
              <a:buNone/>
              <a:defRPr sz="1725" b="0">
                <a:solidFill>
                  <a:srgbClr val="53676D"/>
                </a:solidFill>
                <a:latin typeface="Arial"/>
                <a:ea typeface="Arial"/>
                <a:cs typeface="Arial"/>
              </a:defRPr>
            </a:lvl3pPr>
            <a:lvl4pPr algn="l">
              <a:buNone/>
              <a:defRPr sz="1725" b="0">
                <a:solidFill>
                  <a:srgbClr val="53676D"/>
                </a:solidFill>
                <a:latin typeface="Arial"/>
                <a:ea typeface="Arial"/>
                <a:cs typeface="Arial"/>
              </a:defRPr>
            </a:lvl4pPr>
            <a:lvl5pPr algn="l">
              <a:buNone/>
              <a:defRPr sz="1725" b="0">
                <a:solidFill>
                  <a:srgbClr val="53676D"/>
                </a:solidFill>
                <a:latin typeface="Arial"/>
                <a:ea typeface="Arial"/>
                <a:cs typeface="Arial"/>
              </a:defRPr>
            </a:lvl5pPr>
            <a:lvl6pPr algn="l">
              <a:buNone/>
              <a:defRPr sz="1725" b="0">
                <a:solidFill>
                  <a:srgbClr val="53676D"/>
                </a:solidFill>
                <a:latin typeface="Arial"/>
                <a:ea typeface="Arial"/>
                <a:cs typeface="Arial"/>
              </a:defRPr>
            </a:lvl6pPr>
            <a:lvl7pPr algn="l">
              <a:buNone/>
              <a:defRPr sz="1725" b="0">
                <a:solidFill>
                  <a:srgbClr val="53676D"/>
                </a:solidFill>
                <a:latin typeface="Arial"/>
                <a:ea typeface="Arial"/>
                <a:cs typeface="Arial"/>
              </a:defRPr>
            </a:lvl7pPr>
            <a:lvl8pPr algn="l">
              <a:buNone/>
              <a:defRPr sz="1725" b="0">
                <a:solidFill>
                  <a:srgbClr val="53676D"/>
                </a:solidFill>
                <a:latin typeface="Arial"/>
                <a:ea typeface="Arial"/>
                <a:cs typeface="Arial"/>
              </a:defRPr>
            </a:lvl8pPr>
            <a:lvl9pPr algn="l">
              <a:buNone/>
              <a:defRPr sz="1725" b="0">
                <a:solidFill>
                  <a:srgbClr val="53676D"/>
                </a:solidFill>
                <a:latin typeface="Arial"/>
                <a:ea typeface="Arial"/>
                <a:cs typeface="Arial"/>
              </a:defRPr>
            </a:lvl9pPr>
          </a:lstStyle>
          <a:p xmlns:a="http://schemas.openxmlformats.org/drawingml/2006/main">
            <a:pPr algn="l">
              <a:buNone/>
              <a:defRPr sz="1725" b="0">
                <a:solidFill>
                  <a:srgbClr val="53676D"/>
                </a:solidFill>
                <a:latin typeface="Arial"/>
                <a:ea typeface="Arial"/>
                <a:cs typeface="Arial"/>
              </a:defRPr>
            </a:pPr>
            <a:r>
              <a:rPr sz="1725" b="0">
                <a:solidFill>
                  <a:srgbClr val="53676D"/>
                </a:solidFill>
                <a:latin typeface="Arial"/>
                <a:ea typeface="Arial"/>
                <a:cs typeface="Arial"/>
              </a:rPr>
              <a:t>Receipt units, transfer locks and validated events</a:t>
            </a:r>
          </a:p>
        </p:txBody>
      </p:sp>
      <p:sp>
        <p:nvSpPr>
          <p:cNvPr id="29" name="private-data-29">
            <a:extLst xmlns:a="http://schemas.openxmlformats.org/drawingml/2006/main">
              <a:ext uri="{FF2B5EF4-FFF2-40B4-BE49-F238E27FC236}">
                <a16:creationId xmlns:a16="http://schemas.microsoft.com/office/drawing/2014/main" id="{409AD70E-4C89-46CE-8A95-B1CE546797F7}"/>
              </a:ext>
            </a:extLst>
          </p:cNvPr>
          <p:cNvSpPr>
            <a:spLocks xmlns:a="http://schemas.openxmlformats.org/drawingml/2006/main" noGrp="1"/>
          </p:cNvSpPr>
          <p:nvPr/>
        </p:nvSpPr>
        <p:spPr>
          <a:xfrm xmlns:a="http://schemas.openxmlformats.org/drawingml/2006/main">
            <a:off x="8229600" y="5238750"/>
            <a:ext cx="3352800"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CFD7D1"/>
            </a:solidFill>
            <a:prstDash val="solid"/>
          </a:ln>
        </p:spPr>
      </p:sp>
      <p:sp>
        <p:nvSpPr>
          <p:cNvPr id="30" name="dlt-text-30">
            <a:extLst xmlns:a="http://schemas.openxmlformats.org/drawingml/2006/main">
              <a:ext uri="{FF2B5EF4-FFF2-40B4-BE49-F238E27FC236}">
                <a16:creationId xmlns:a16="http://schemas.microsoft.com/office/drawing/2014/main" id="{CA70BF70-64E9-4C5B-B419-E06609876BBB}"/>
              </a:ext>
            </a:extLst>
          </p:cNvPr>
          <p:cNvSpPr>
            <a:spLocks xmlns:a="http://schemas.openxmlformats.org/drawingml/2006/main" noGrp="1"/>
          </p:cNvSpPr>
          <p:nvPr/>
        </p:nvSpPr>
        <p:spPr>
          <a:xfrm xmlns:a="http://schemas.openxmlformats.org/drawingml/2006/main">
            <a:off x="8420100" y="5353050"/>
            <a:ext cx="2971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83440"/>
                </a:solidFill>
                <a:latin typeface="Arial"/>
                <a:ea typeface="Arial"/>
                <a:cs typeface="Arial"/>
              </a:defRPr>
            </a:defPPr>
            <a:lvl1pPr algn="l">
              <a:buNone/>
              <a:defRPr sz="2025" b="1">
                <a:solidFill>
                  <a:srgbClr val="183440"/>
                </a:solidFill>
                <a:latin typeface="Arial"/>
                <a:ea typeface="Arial"/>
                <a:cs typeface="Arial"/>
              </a:defRPr>
            </a:lvl1pPr>
            <a:lvl2pPr algn="l">
              <a:buNone/>
              <a:defRPr sz="2025" b="1">
                <a:solidFill>
                  <a:srgbClr val="183440"/>
                </a:solidFill>
                <a:latin typeface="Arial"/>
                <a:ea typeface="Arial"/>
                <a:cs typeface="Arial"/>
              </a:defRPr>
            </a:lvl2pPr>
            <a:lvl3pPr algn="l">
              <a:buNone/>
              <a:defRPr sz="2025" b="1">
                <a:solidFill>
                  <a:srgbClr val="183440"/>
                </a:solidFill>
                <a:latin typeface="Arial"/>
                <a:ea typeface="Arial"/>
                <a:cs typeface="Arial"/>
              </a:defRPr>
            </a:lvl3pPr>
            <a:lvl4pPr algn="l">
              <a:buNone/>
              <a:defRPr sz="2025" b="1">
                <a:solidFill>
                  <a:srgbClr val="183440"/>
                </a:solidFill>
                <a:latin typeface="Arial"/>
                <a:ea typeface="Arial"/>
                <a:cs typeface="Arial"/>
              </a:defRPr>
            </a:lvl4pPr>
            <a:lvl5pPr algn="l">
              <a:buNone/>
              <a:defRPr sz="2025" b="1">
                <a:solidFill>
                  <a:srgbClr val="183440"/>
                </a:solidFill>
                <a:latin typeface="Arial"/>
                <a:ea typeface="Arial"/>
                <a:cs typeface="Arial"/>
              </a:defRPr>
            </a:lvl5pPr>
            <a:lvl6pPr algn="l">
              <a:buNone/>
              <a:defRPr sz="2025" b="1">
                <a:solidFill>
                  <a:srgbClr val="183440"/>
                </a:solidFill>
                <a:latin typeface="Arial"/>
                <a:ea typeface="Arial"/>
                <a:cs typeface="Arial"/>
              </a:defRPr>
            </a:lvl6pPr>
            <a:lvl7pPr algn="l">
              <a:buNone/>
              <a:defRPr sz="2025" b="1">
                <a:solidFill>
                  <a:srgbClr val="183440"/>
                </a:solidFill>
                <a:latin typeface="Arial"/>
                <a:ea typeface="Arial"/>
                <a:cs typeface="Arial"/>
              </a:defRPr>
            </a:lvl7pPr>
            <a:lvl8pPr algn="l">
              <a:buNone/>
              <a:defRPr sz="2025" b="1">
                <a:solidFill>
                  <a:srgbClr val="183440"/>
                </a:solidFill>
                <a:latin typeface="Arial"/>
                <a:ea typeface="Arial"/>
                <a:cs typeface="Arial"/>
              </a:defRPr>
            </a:lvl8pPr>
            <a:lvl9pPr algn="l">
              <a:buNone/>
              <a:defRPr sz="2025" b="1">
                <a:solidFill>
                  <a:srgbClr val="183440"/>
                </a:solidFill>
                <a:latin typeface="Arial"/>
                <a:ea typeface="Arial"/>
                <a:cs typeface="Arial"/>
              </a:defRPr>
            </a:lvl9pPr>
          </a:lstStyle>
          <a:p xmlns:a="http://schemas.openxmlformats.org/drawingml/2006/main">
            <a:pPr algn="l">
              <a:buNone/>
              <a:defRPr sz="2025" b="1">
                <a:solidFill>
                  <a:srgbClr val="183440"/>
                </a:solidFill>
                <a:latin typeface="Arial"/>
                <a:ea typeface="Arial"/>
                <a:cs typeface="Arial"/>
              </a:defRPr>
            </a:pPr>
            <a:r>
              <a:rPr sz="2025" b="1">
                <a:solidFill>
                  <a:srgbClr val="183440"/>
                </a:solidFill>
                <a:latin typeface="Arial"/>
                <a:ea typeface="Arial"/>
                <a:cs typeface="Arial"/>
              </a:rPr>
              <a:t>Private records</a:t>
            </a:r>
          </a:p>
        </p:txBody>
      </p:sp>
      <p:sp>
        <p:nvSpPr>
          <p:cNvPr id="31" name="dlt-text-31">
            <a:extLst xmlns:a="http://schemas.openxmlformats.org/drawingml/2006/main">
              <a:ext uri="{FF2B5EF4-FFF2-40B4-BE49-F238E27FC236}">
                <a16:creationId xmlns:a16="http://schemas.microsoft.com/office/drawing/2014/main" id="{EFC2C9F8-08FB-467A-A783-5A1E7DD3D0AD}"/>
              </a:ext>
            </a:extLst>
          </p:cNvPr>
          <p:cNvSpPr>
            <a:spLocks xmlns:a="http://schemas.openxmlformats.org/drawingml/2006/main" noGrp="1"/>
          </p:cNvSpPr>
          <p:nvPr/>
        </p:nvSpPr>
        <p:spPr>
          <a:xfrm xmlns:a="http://schemas.openxmlformats.org/drawingml/2006/main">
            <a:off x="8420100" y="5715000"/>
            <a:ext cx="2971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xmlns:a="http://schemas.openxmlformats.org/drawingml/2006/main">
            <a:pPr algn="l">
              <a:buNone/>
              <a:defRPr sz="1650" b="0">
                <a:solidFill>
                  <a:srgbClr val="53676D"/>
                </a:solidFill>
                <a:latin typeface="Arial"/>
                <a:ea typeface="Arial"/>
                <a:cs typeface="Arial"/>
              </a:defRPr>
            </a:pPr>
            <a:r>
              <a:rPr sz="1650" b="0">
                <a:solidFill>
                  <a:srgbClr val="53676D"/>
                </a:solidFill>
                <a:latin typeface="Arial"/>
                <a:ea typeface="Arial"/>
                <a:cs typeface="Arial"/>
              </a:rPr>
              <a:t>Identity, quotes, accounting</a:t>
            </a:r>
          </a:p>
        </p:txBody>
      </p:sp>
      <p:sp>
        <p:nvSpPr>
          <p:cNvPr id="32" name="dlt-text-32">
            <a:extLst xmlns:a="http://schemas.openxmlformats.org/drawingml/2006/main">
              <a:ext uri="{FF2B5EF4-FFF2-40B4-BE49-F238E27FC236}">
                <a16:creationId xmlns:a16="http://schemas.microsoft.com/office/drawing/2014/main" id="{34EEB4EB-BA44-4BA2-AE8D-960D8401B9E3}"/>
              </a:ext>
            </a:extLst>
          </p:cNvPr>
          <p:cNvSpPr>
            <a:spLocks xmlns:a="http://schemas.openxmlformats.org/drawingml/2006/main" noGrp="1"/>
          </p:cNvSpPr>
          <p:nvPr/>
        </p:nvSpPr>
        <p:spPr>
          <a:xfrm xmlns:a="http://schemas.openxmlformats.org/drawingml/2006/main">
            <a:off x="609600" y="6181725"/>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3676D"/>
                </a:solidFill>
                <a:latin typeface="Arial"/>
                <a:ea typeface="Arial"/>
                <a:cs typeface="Arial"/>
              </a:defRPr>
            </a:defPPr>
            <a:lvl1pPr algn="l">
              <a:buNone/>
              <a:defRPr sz="1575" b="0">
                <a:solidFill>
                  <a:srgbClr val="53676D"/>
                </a:solidFill>
                <a:latin typeface="Arial"/>
                <a:ea typeface="Arial"/>
                <a:cs typeface="Arial"/>
              </a:defRPr>
            </a:lvl1pPr>
            <a:lvl2pPr algn="l">
              <a:buNone/>
              <a:defRPr sz="1575" b="0">
                <a:solidFill>
                  <a:srgbClr val="53676D"/>
                </a:solidFill>
                <a:latin typeface="Arial"/>
                <a:ea typeface="Arial"/>
                <a:cs typeface="Arial"/>
              </a:defRPr>
            </a:lvl2pPr>
            <a:lvl3pPr algn="l">
              <a:buNone/>
              <a:defRPr sz="1575" b="0">
                <a:solidFill>
                  <a:srgbClr val="53676D"/>
                </a:solidFill>
                <a:latin typeface="Arial"/>
                <a:ea typeface="Arial"/>
                <a:cs typeface="Arial"/>
              </a:defRPr>
            </a:lvl3pPr>
            <a:lvl4pPr algn="l">
              <a:buNone/>
              <a:defRPr sz="1575" b="0">
                <a:solidFill>
                  <a:srgbClr val="53676D"/>
                </a:solidFill>
                <a:latin typeface="Arial"/>
                <a:ea typeface="Arial"/>
                <a:cs typeface="Arial"/>
              </a:defRPr>
            </a:lvl4pPr>
            <a:lvl5pPr algn="l">
              <a:buNone/>
              <a:defRPr sz="1575" b="0">
                <a:solidFill>
                  <a:srgbClr val="53676D"/>
                </a:solidFill>
                <a:latin typeface="Arial"/>
                <a:ea typeface="Arial"/>
                <a:cs typeface="Arial"/>
              </a:defRPr>
            </a:lvl5pPr>
            <a:lvl6pPr algn="l">
              <a:buNone/>
              <a:defRPr sz="1575" b="0">
                <a:solidFill>
                  <a:srgbClr val="53676D"/>
                </a:solidFill>
                <a:latin typeface="Arial"/>
                <a:ea typeface="Arial"/>
                <a:cs typeface="Arial"/>
              </a:defRPr>
            </a:lvl6pPr>
            <a:lvl7pPr algn="l">
              <a:buNone/>
              <a:defRPr sz="1575" b="0">
                <a:solidFill>
                  <a:srgbClr val="53676D"/>
                </a:solidFill>
                <a:latin typeface="Arial"/>
                <a:ea typeface="Arial"/>
                <a:cs typeface="Arial"/>
              </a:defRPr>
            </a:lvl7pPr>
            <a:lvl8pPr algn="l">
              <a:buNone/>
              <a:defRPr sz="1575" b="0">
                <a:solidFill>
                  <a:srgbClr val="53676D"/>
                </a:solidFill>
                <a:latin typeface="Arial"/>
                <a:ea typeface="Arial"/>
                <a:cs typeface="Arial"/>
              </a:defRPr>
            </a:lvl8pPr>
            <a:lvl9pPr algn="l">
              <a:buNone/>
              <a:defRPr sz="1575" b="0">
                <a:solidFill>
                  <a:srgbClr val="53676D"/>
                </a:solidFill>
                <a:latin typeface="Arial"/>
                <a:ea typeface="Arial"/>
                <a:cs typeface="Arial"/>
              </a:defRPr>
            </a:lvl9pPr>
          </a:lstStyle>
          <a:p xmlns:a="http://schemas.openxmlformats.org/drawingml/2006/main">
            <a:pPr algn="l">
              <a:buNone/>
              <a:defRPr sz="1575" b="0">
                <a:solidFill>
                  <a:srgbClr val="53676D"/>
                </a:solidFill>
                <a:latin typeface="Arial"/>
                <a:ea typeface="Arial"/>
                <a:cs typeface="Arial"/>
              </a:defRPr>
            </a:pPr>
            <a:r>
              <a:rPr sz="1575" b="0">
                <a:solidFill>
                  <a:srgbClr val="53676D"/>
                </a:solidFill>
                <a:latin typeface="Arial"/>
                <a:ea typeface="Arial"/>
                <a:cs typeface="Arial"/>
              </a:rPr>
              <a:t>Custodians hold shares. Cash partners transfer funds. Verified finality gates receipt release.</a:t>
            </a:r>
          </a:p>
        </p:txBody>
      </p:sp>
    </p:spTree>
    <p:extLst>
      <p:ext uri="{BB962C8B-B14F-4D97-AF65-F5344CB8AC3E}">
        <p14:creationId xmlns:p14="http://schemas.microsoft.com/office/powerpoint/2010/main" val="79380580"/>
      </p:ext>
    </p:extLst>
  </p:cSld>
</p:sld>
</file>

<file path=ppt/slides/slide10.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1" name="prime-text-21">
            <a:extLst xmlns:a="http://schemas.openxmlformats.org/drawingml/2006/main">
              <a:ext uri="{FF2B5EF4-FFF2-40B4-BE49-F238E27FC236}">
                <a16:creationId xmlns:a16="http://schemas.microsoft.com/office/drawing/2014/main" id="{FE54653E-97C8-432F-ADCD-FC919D7A0153}"/>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xmlns:a="http://schemas.openxmlformats.org/drawingml/2006/main">
            <a:pPr algn="l">
              <a:defRPr sz="3300" b="1">
                <a:solidFill>
                  <a:srgbClr val="183440"/>
                </a:solidFill>
                <a:latin typeface="Arial"/>
                <a:ea typeface="Arial"/>
                <a:cs typeface="Arial"/>
              </a:defRPr>
            </a:pPr>
            <a:r>
              <a:rPr sz="3300" b="1">
                <a:solidFill>
                  <a:srgbClr val="183440"/>
                </a:solidFill>
                <a:latin typeface="Arial"/>
                <a:ea typeface="Arial"/>
                <a:cs typeface="Arial"/>
              </a:rPr>
              <a:t>A sponsor-led revenue model</a:t>
            </a:r>
          </a:p>
        </p:txBody>
      </p:sp>
      <p:sp>
        <p:nvSpPr>
          <p:cNvPr id="2" name="prime-text-22">
            <a:extLst xmlns:a="http://schemas.openxmlformats.org/drawingml/2006/main">
              <a:ext uri="{FF2B5EF4-FFF2-40B4-BE49-F238E27FC236}">
                <a16:creationId xmlns:a16="http://schemas.microsoft.com/office/drawing/2014/main" id="{DB4F4A33-52F3-4481-A294-21050F176962}"/>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defRPr sz="1875" b="0">
                <a:solidFill>
                  <a:srgbClr val="53676D"/>
                </a:solidFill>
                <a:latin typeface="Arial"/>
                <a:ea typeface="Arial"/>
                <a:cs typeface="Arial"/>
              </a:defRPr>
            </a:lvl1pPr>
            <a:lvl2pPr algn="l">
              <a:defRPr sz="1875" b="0">
                <a:solidFill>
                  <a:srgbClr val="53676D"/>
                </a:solidFill>
                <a:latin typeface="Arial"/>
                <a:ea typeface="Arial"/>
                <a:cs typeface="Arial"/>
              </a:defRPr>
            </a:lvl2pPr>
            <a:lvl3pPr algn="l">
              <a:defRPr sz="1875" b="0">
                <a:solidFill>
                  <a:srgbClr val="53676D"/>
                </a:solidFill>
                <a:latin typeface="Arial"/>
                <a:ea typeface="Arial"/>
                <a:cs typeface="Arial"/>
              </a:defRPr>
            </a:lvl3pPr>
            <a:lvl4pPr algn="l">
              <a:defRPr sz="1875" b="0">
                <a:solidFill>
                  <a:srgbClr val="53676D"/>
                </a:solidFill>
                <a:latin typeface="Arial"/>
                <a:ea typeface="Arial"/>
                <a:cs typeface="Arial"/>
              </a:defRPr>
            </a:lvl4pPr>
            <a:lvl5pPr algn="l">
              <a:defRPr sz="1875" b="0">
                <a:solidFill>
                  <a:srgbClr val="53676D"/>
                </a:solidFill>
                <a:latin typeface="Arial"/>
                <a:ea typeface="Arial"/>
                <a:cs typeface="Arial"/>
              </a:defRPr>
            </a:lvl5pPr>
            <a:lvl6pPr algn="l">
              <a:defRPr sz="1875" b="0">
                <a:solidFill>
                  <a:srgbClr val="53676D"/>
                </a:solidFill>
                <a:latin typeface="Arial"/>
                <a:ea typeface="Arial"/>
                <a:cs typeface="Arial"/>
              </a:defRPr>
            </a:lvl6pPr>
            <a:lvl7pPr algn="l">
              <a:defRPr sz="1875" b="0">
                <a:solidFill>
                  <a:srgbClr val="53676D"/>
                </a:solidFill>
                <a:latin typeface="Arial"/>
                <a:ea typeface="Arial"/>
                <a:cs typeface="Arial"/>
              </a:defRPr>
            </a:lvl7pPr>
            <a:lvl8pPr algn="l">
              <a:defRPr sz="1875" b="0">
                <a:solidFill>
                  <a:srgbClr val="53676D"/>
                </a:solidFill>
                <a:latin typeface="Arial"/>
                <a:ea typeface="Arial"/>
                <a:cs typeface="Arial"/>
              </a:defRPr>
            </a:lvl8pPr>
            <a:lvl9pPr algn="l">
              <a:defRPr sz="1875" b="0">
                <a:solidFill>
                  <a:srgbClr val="53676D"/>
                </a:solidFill>
                <a:latin typeface="Arial"/>
                <a:ea typeface="Arial"/>
                <a:cs typeface="Arial"/>
              </a:defRPr>
            </a:lvl9pPr>
          </a:lstStyle>
          <a:p xmlns:a="http://schemas.openxmlformats.org/drawingml/2006/main">
            <a:pPr algn="l">
              <a:defRPr sz="1875" b="0">
                <a:solidFill>
                  <a:srgbClr val="53676D"/>
                </a:solidFill>
                <a:latin typeface="Arial"/>
                <a:ea typeface="Arial"/>
                <a:cs typeface="Arial"/>
              </a:defRPr>
            </a:pPr>
            <a:r>
              <a:rPr sz="1875" b="0">
                <a:solidFill>
                  <a:srgbClr val="53676D"/>
                </a:solidFill>
                <a:latin typeface="Arial"/>
                <a:ea typeface="Arial"/>
                <a:cs typeface="Arial"/>
              </a:rPr>
              <a:t>Proposed recurring servicing fees, plus a setup fee for each new sponsor.</a:t>
            </a:r>
          </a:p>
        </p:txBody>
      </p:sp>
      <p:sp>
        <p:nvSpPr>
          <p:cNvPr id="3" name="prime-text-23">
            <a:extLst xmlns:a="http://schemas.openxmlformats.org/drawingml/2006/main">
              <a:ext uri="{FF2B5EF4-FFF2-40B4-BE49-F238E27FC236}">
                <a16:creationId xmlns:a16="http://schemas.microsoft.com/office/drawing/2014/main" id="{28F88826-B241-4992-98EA-D5AF7C9C8924}"/>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xmlns:a="http://schemas.openxmlformats.org/drawingml/2006/main">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prime-text-24">
            <a:extLst xmlns:a="http://schemas.openxmlformats.org/drawingml/2006/main">
              <a:ext uri="{FF2B5EF4-FFF2-40B4-BE49-F238E27FC236}">
                <a16:creationId xmlns:a16="http://schemas.microsoft.com/office/drawing/2014/main" id="{FEBC715A-71DC-4C44-AC1A-E60628DF6A78}"/>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xmlns:a="http://schemas.openxmlformats.org/drawingml/2006/main">
            <a:pPr algn="r">
              <a:defRPr sz="1200" b="0">
                <a:solidFill>
                  <a:srgbClr val="53676D"/>
                </a:solidFill>
                <a:latin typeface="Arial"/>
                <a:ea typeface="Arial"/>
                <a:cs typeface="Arial"/>
              </a:defRPr>
            </a:pPr>
            <a:r>
              <a:rPr sz="1200" b="0">
                <a:solidFill>
                  <a:srgbClr val="53676D"/>
                </a:solidFill>
                <a:latin typeface="Arial"/>
                <a:ea typeface="Arial"/>
                <a:cs typeface="Arial"/>
              </a:rPr>
              <a:t>10</a:t>
            </a:r>
          </a:p>
        </p:txBody>
      </p:sp>
      <p:sp>
        <p:nvSpPr>
          <p:cNvPr id="5" name="prime-text-25">
            <a:extLst xmlns:a="http://schemas.openxmlformats.org/drawingml/2006/main">
              <a:ext uri="{FF2B5EF4-FFF2-40B4-BE49-F238E27FC236}">
                <a16:creationId xmlns:a16="http://schemas.microsoft.com/office/drawing/2014/main" id="{593309C2-BE38-4025-B7DD-C50624B45711}"/>
              </a:ext>
            </a:extLst>
          </p:cNvPr>
          <p:cNvSpPr>
            <a:spLocks xmlns:a="http://schemas.openxmlformats.org/drawingml/2006/main" noGrp="1"/>
          </p:cNvSpPr>
          <p:nvPr/>
        </p:nvSpPr>
        <p:spPr>
          <a:xfrm xmlns:a="http://schemas.openxmlformats.org/drawingml/2006/main">
            <a:off x="609600" y="22574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6C6B"/>
                </a:solidFill>
                <a:latin typeface="Arial"/>
                <a:ea typeface="Arial"/>
                <a:cs typeface="Arial"/>
              </a:defRPr>
            </a:defPPr>
            <a:lvl1pPr algn="l">
              <a:defRPr sz="2175" b="1">
                <a:solidFill>
                  <a:srgbClr val="176C6B"/>
                </a:solidFill>
                <a:latin typeface="Arial"/>
                <a:ea typeface="Arial"/>
                <a:cs typeface="Arial"/>
              </a:defRPr>
            </a:lvl1pPr>
            <a:lvl2pPr algn="l">
              <a:defRPr sz="2175" b="1">
                <a:solidFill>
                  <a:srgbClr val="176C6B"/>
                </a:solidFill>
                <a:latin typeface="Arial"/>
                <a:ea typeface="Arial"/>
                <a:cs typeface="Arial"/>
              </a:defRPr>
            </a:lvl2pPr>
            <a:lvl3pPr algn="l">
              <a:defRPr sz="2175" b="1">
                <a:solidFill>
                  <a:srgbClr val="176C6B"/>
                </a:solidFill>
                <a:latin typeface="Arial"/>
                <a:ea typeface="Arial"/>
                <a:cs typeface="Arial"/>
              </a:defRPr>
            </a:lvl3pPr>
            <a:lvl4pPr algn="l">
              <a:defRPr sz="2175" b="1">
                <a:solidFill>
                  <a:srgbClr val="176C6B"/>
                </a:solidFill>
                <a:latin typeface="Arial"/>
                <a:ea typeface="Arial"/>
                <a:cs typeface="Arial"/>
              </a:defRPr>
            </a:lvl4pPr>
            <a:lvl5pPr algn="l">
              <a:defRPr sz="2175" b="1">
                <a:solidFill>
                  <a:srgbClr val="176C6B"/>
                </a:solidFill>
                <a:latin typeface="Arial"/>
                <a:ea typeface="Arial"/>
                <a:cs typeface="Arial"/>
              </a:defRPr>
            </a:lvl5pPr>
            <a:lvl6pPr algn="l">
              <a:defRPr sz="2175" b="1">
                <a:solidFill>
                  <a:srgbClr val="176C6B"/>
                </a:solidFill>
                <a:latin typeface="Arial"/>
                <a:ea typeface="Arial"/>
                <a:cs typeface="Arial"/>
              </a:defRPr>
            </a:lvl6pPr>
            <a:lvl7pPr algn="l">
              <a:defRPr sz="2175" b="1">
                <a:solidFill>
                  <a:srgbClr val="176C6B"/>
                </a:solidFill>
                <a:latin typeface="Arial"/>
                <a:ea typeface="Arial"/>
                <a:cs typeface="Arial"/>
              </a:defRPr>
            </a:lvl7pPr>
            <a:lvl8pPr algn="l">
              <a:defRPr sz="2175" b="1">
                <a:solidFill>
                  <a:srgbClr val="176C6B"/>
                </a:solidFill>
                <a:latin typeface="Arial"/>
                <a:ea typeface="Arial"/>
                <a:cs typeface="Arial"/>
              </a:defRPr>
            </a:lvl8pPr>
            <a:lvl9pPr algn="l">
              <a:defRPr sz="2175" b="1">
                <a:solidFill>
                  <a:srgbClr val="176C6B"/>
                </a:solidFill>
                <a:latin typeface="Arial"/>
                <a:ea typeface="Arial"/>
                <a:cs typeface="Arial"/>
              </a:defRPr>
            </a:lvl9pPr>
          </a:lstStyle>
          <a:p xmlns:a="http://schemas.openxmlformats.org/drawingml/2006/main">
            <a:pPr algn="l">
              <a:defRPr sz="2175" b="1">
                <a:solidFill>
                  <a:srgbClr val="176C6B"/>
                </a:solidFill>
                <a:latin typeface="Arial"/>
                <a:ea typeface="Arial"/>
                <a:cs typeface="Arial"/>
              </a:defRPr>
            </a:pPr>
            <a:r>
              <a:rPr sz="2175" b="1">
                <a:solidFill>
                  <a:srgbClr val="176C6B"/>
                </a:solidFill>
                <a:latin typeface="Arial"/>
                <a:ea typeface="Arial"/>
                <a:cs typeface="Arial"/>
              </a:rPr>
              <a:t>Sponsor customer</a:t>
            </a:r>
          </a:p>
        </p:txBody>
      </p:sp>
      <p:sp>
        <p:nvSpPr>
          <p:cNvPr id="6" name="prime-text-26">
            <a:extLst xmlns:a="http://schemas.openxmlformats.org/drawingml/2006/main">
              <a:ext uri="{FF2B5EF4-FFF2-40B4-BE49-F238E27FC236}">
                <a16:creationId xmlns:a16="http://schemas.microsoft.com/office/drawing/2014/main" id="{68EFCF83-6B03-4C33-AA98-904C436F81C6}"/>
              </a:ext>
            </a:extLst>
          </p:cNvPr>
          <p:cNvSpPr>
            <a:spLocks xmlns:a="http://schemas.openxmlformats.org/drawingml/2006/main" noGrp="1"/>
          </p:cNvSpPr>
          <p:nvPr/>
        </p:nvSpPr>
        <p:spPr>
          <a:xfrm xmlns:a="http://schemas.openxmlformats.org/drawingml/2006/main">
            <a:off x="609600" y="2924175"/>
            <a:ext cx="342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83440"/>
                </a:solidFill>
                <a:latin typeface="Arial"/>
                <a:ea typeface="Arial"/>
                <a:cs typeface="Arial"/>
              </a:defRPr>
            </a:defPPr>
            <a:lvl1pPr algn="l">
              <a:defRPr sz="2175" b="1">
                <a:solidFill>
                  <a:srgbClr val="183440"/>
                </a:solidFill>
                <a:latin typeface="Arial"/>
                <a:ea typeface="Arial"/>
                <a:cs typeface="Arial"/>
              </a:defRPr>
            </a:lvl1pPr>
            <a:lvl2pPr algn="l">
              <a:defRPr sz="2175" b="1">
                <a:solidFill>
                  <a:srgbClr val="183440"/>
                </a:solidFill>
                <a:latin typeface="Arial"/>
                <a:ea typeface="Arial"/>
                <a:cs typeface="Arial"/>
              </a:defRPr>
            </a:lvl2pPr>
            <a:lvl3pPr algn="l">
              <a:defRPr sz="2175" b="1">
                <a:solidFill>
                  <a:srgbClr val="183440"/>
                </a:solidFill>
                <a:latin typeface="Arial"/>
                <a:ea typeface="Arial"/>
                <a:cs typeface="Arial"/>
              </a:defRPr>
            </a:lvl3pPr>
            <a:lvl4pPr algn="l">
              <a:defRPr sz="2175" b="1">
                <a:solidFill>
                  <a:srgbClr val="183440"/>
                </a:solidFill>
                <a:latin typeface="Arial"/>
                <a:ea typeface="Arial"/>
                <a:cs typeface="Arial"/>
              </a:defRPr>
            </a:lvl4pPr>
            <a:lvl5pPr algn="l">
              <a:defRPr sz="2175" b="1">
                <a:solidFill>
                  <a:srgbClr val="183440"/>
                </a:solidFill>
                <a:latin typeface="Arial"/>
                <a:ea typeface="Arial"/>
                <a:cs typeface="Arial"/>
              </a:defRPr>
            </a:lvl5pPr>
            <a:lvl6pPr algn="l">
              <a:defRPr sz="2175" b="1">
                <a:solidFill>
                  <a:srgbClr val="183440"/>
                </a:solidFill>
                <a:latin typeface="Arial"/>
                <a:ea typeface="Arial"/>
                <a:cs typeface="Arial"/>
              </a:defRPr>
            </a:lvl6pPr>
            <a:lvl7pPr algn="l">
              <a:defRPr sz="2175" b="1">
                <a:solidFill>
                  <a:srgbClr val="183440"/>
                </a:solidFill>
                <a:latin typeface="Arial"/>
                <a:ea typeface="Arial"/>
                <a:cs typeface="Arial"/>
              </a:defRPr>
            </a:lvl7pPr>
            <a:lvl8pPr algn="l">
              <a:defRPr sz="2175" b="1">
                <a:solidFill>
                  <a:srgbClr val="183440"/>
                </a:solidFill>
                <a:latin typeface="Arial"/>
                <a:ea typeface="Arial"/>
                <a:cs typeface="Arial"/>
              </a:defRPr>
            </a:lvl8pPr>
            <a:lvl9pPr algn="l">
              <a:defRPr sz="2175" b="1">
                <a:solidFill>
                  <a:srgbClr val="183440"/>
                </a:solidFill>
                <a:latin typeface="Arial"/>
                <a:ea typeface="Arial"/>
                <a:cs typeface="Arial"/>
              </a:defRPr>
            </a:lvl9pPr>
          </a:lstStyle>
          <a:p xmlns:a="http://schemas.openxmlformats.org/drawingml/2006/main">
            <a:pPr algn="l">
              <a:defRPr sz="2175" b="1">
                <a:solidFill>
                  <a:srgbClr val="183440"/>
                </a:solidFill>
                <a:latin typeface="Arial"/>
                <a:ea typeface="Arial"/>
                <a:cs typeface="Arial"/>
              </a:defRPr>
            </a:pPr>
            <a:r>
              <a:rPr sz="2175" b="1">
                <a:solidFill>
                  <a:srgbClr val="183440"/>
                </a:solidFill>
                <a:latin typeface="Arial"/>
                <a:ea typeface="Arial"/>
                <a:cs typeface="Arial"/>
              </a:rPr>
              <a:t>US$150,000 setup</a:t>
            </a:r>
          </a:p>
          <a:p xmlns:a="http://schemas.openxmlformats.org/drawingml/2006/main">
            <a:pPr algn="l">
              <a:defRPr sz="2175" b="1">
                <a:solidFill>
                  <a:srgbClr val="183440"/>
                </a:solidFill>
                <a:latin typeface="Arial"/>
                <a:ea typeface="Arial"/>
                <a:cs typeface="Arial"/>
              </a:defRPr>
            </a:pPr>
            <a:r>
              <a:rPr sz="2175" b="1">
                <a:solidFill>
                  <a:srgbClr val="183440"/>
                </a:solidFill>
                <a:latin typeface="Arial"/>
                <a:ea typeface="Arial"/>
                <a:cs typeface="Arial"/>
              </a:rPr>
              <a:t>per new sponsor</a:t>
            </a:r>
          </a:p>
        </p:txBody>
      </p:sp>
      <p:sp>
        <p:nvSpPr>
          <p:cNvPr id="7" name="prime-text-27">
            <a:extLst xmlns:a="http://schemas.openxmlformats.org/drawingml/2006/main">
              <a:ext uri="{FF2B5EF4-FFF2-40B4-BE49-F238E27FC236}">
                <a16:creationId xmlns:a16="http://schemas.microsoft.com/office/drawing/2014/main" id="{C75D3727-EE71-4A3A-8D52-22BD1C71EFBF}"/>
              </a:ext>
            </a:extLst>
          </p:cNvPr>
          <p:cNvSpPr>
            <a:spLocks xmlns:a="http://schemas.openxmlformats.org/drawingml/2006/main" noGrp="1"/>
          </p:cNvSpPr>
          <p:nvPr/>
        </p:nvSpPr>
        <p:spPr>
          <a:xfrm xmlns:a="http://schemas.openxmlformats.org/drawingml/2006/main">
            <a:off x="609600" y="3962400"/>
            <a:ext cx="3429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83440"/>
                </a:solidFill>
                <a:latin typeface="Arial"/>
                <a:ea typeface="Arial"/>
                <a:cs typeface="Arial"/>
              </a:defRPr>
            </a:defPPr>
            <a:lvl1pPr algn="l">
              <a:defRPr sz="1875" b="0">
                <a:solidFill>
                  <a:srgbClr val="183440"/>
                </a:solidFill>
                <a:latin typeface="Arial"/>
                <a:ea typeface="Arial"/>
                <a:cs typeface="Arial"/>
              </a:defRPr>
            </a:lvl1pPr>
            <a:lvl2pPr algn="l">
              <a:defRPr sz="1875" b="0">
                <a:solidFill>
                  <a:srgbClr val="183440"/>
                </a:solidFill>
                <a:latin typeface="Arial"/>
                <a:ea typeface="Arial"/>
                <a:cs typeface="Arial"/>
              </a:defRPr>
            </a:lvl2pPr>
            <a:lvl3pPr algn="l">
              <a:defRPr sz="1875" b="0">
                <a:solidFill>
                  <a:srgbClr val="183440"/>
                </a:solidFill>
                <a:latin typeface="Arial"/>
                <a:ea typeface="Arial"/>
                <a:cs typeface="Arial"/>
              </a:defRPr>
            </a:lvl3pPr>
            <a:lvl4pPr algn="l">
              <a:defRPr sz="1875" b="0">
                <a:solidFill>
                  <a:srgbClr val="183440"/>
                </a:solidFill>
                <a:latin typeface="Arial"/>
                <a:ea typeface="Arial"/>
                <a:cs typeface="Arial"/>
              </a:defRPr>
            </a:lvl4pPr>
            <a:lvl5pPr algn="l">
              <a:defRPr sz="1875" b="0">
                <a:solidFill>
                  <a:srgbClr val="183440"/>
                </a:solidFill>
                <a:latin typeface="Arial"/>
                <a:ea typeface="Arial"/>
                <a:cs typeface="Arial"/>
              </a:defRPr>
            </a:lvl5pPr>
            <a:lvl6pPr algn="l">
              <a:defRPr sz="1875" b="0">
                <a:solidFill>
                  <a:srgbClr val="183440"/>
                </a:solidFill>
                <a:latin typeface="Arial"/>
                <a:ea typeface="Arial"/>
                <a:cs typeface="Arial"/>
              </a:defRPr>
            </a:lvl6pPr>
            <a:lvl7pPr algn="l">
              <a:defRPr sz="1875" b="0">
                <a:solidFill>
                  <a:srgbClr val="183440"/>
                </a:solidFill>
                <a:latin typeface="Arial"/>
                <a:ea typeface="Arial"/>
                <a:cs typeface="Arial"/>
              </a:defRPr>
            </a:lvl7pPr>
            <a:lvl8pPr algn="l">
              <a:defRPr sz="1875" b="0">
                <a:solidFill>
                  <a:srgbClr val="183440"/>
                </a:solidFill>
                <a:latin typeface="Arial"/>
                <a:ea typeface="Arial"/>
                <a:cs typeface="Arial"/>
              </a:defRPr>
            </a:lvl8pPr>
            <a:lvl9pPr algn="l">
              <a:defRPr sz="1875" b="0">
                <a:solidFill>
                  <a:srgbClr val="183440"/>
                </a:solidFill>
                <a:latin typeface="Arial"/>
                <a:ea typeface="Arial"/>
                <a:cs typeface="Arial"/>
              </a:defRPr>
            </a:lvl9pPr>
          </a:lstStyle>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0.30% annual servicing fee</a:t>
            </a:r>
          </a:p>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0.15% variable service costs</a:t>
            </a:r>
          </a:p>
        </p:txBody>
      </p:sp>
      <p:sp>
        <p:nvSpPr>
          <p:cNvPr id="8" name="prime-text-28">
            <a:extLst xmlns:a="http://schemas.openxmlformats.org/drawingml/2006/main">
              <a:ext uri="{FF2B5EF4-FFF2-40B4-BE49-F238E27FC236}">
                <a16:creationId xmlns:a16="http://schemas.microsoft.com/office/drawing/2014/main" id="{9F8CD325-8113-41B1-A0E5-C96163976B36}"/>
              </a:ext>
            </a:extLst>
          </p:cNvPr>
          <p:cNvSpPr>
            <a:spLocks xmlns:a="http://schemas.openxmlformats.org/drawingml/2006/main" noGrp="1"/>
          </p:cNvSpPr>
          <p:nvPr/>
        </p:nvSpPr>
        <p:spPr>
          <a:xfrm xmlns:a="http://schemas.openxmlformats.org/drawingml/2006/main">
            <a:off x="609600" y="5133975"/>
            <a:ext cx="342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676D"/>
                </a:solidFill>
                <a:latin typeface="Arial"/>
                <a:ea typeface="Arial"/>
                <a:cs typeface="Arial"/>
              </a:defRPr>
            </a:defPPr>
            <a:lvl1pPr algn="l">
              <a:defRPr sz="1800" b="0">
                <a:solidFill>
                  <a:srgbClr val="53676D"/>
                </a:solidFill>
                <a:latin typeface="Arial"/>
                <a:ea typeface="Arial"/>
                <a:cs typeface="Arial"/>
              </a:defRPr>
            </a:lvl1pPr>
            <a:lvl2pPr algn="l">
              <a:defRPr sz="1800" b="0">
                <a:solidFill>
                  <a:srgbClr val="53676D"/>
                </a:solidFill>
                <a:latin typeface="Arial"/>
                <a:ea typeface="Arial"/>
                <a:cs typeface="Arial"/>
              </a:defRPr>
            </a:lvl2pPr>
            <a:lvl3pPr algn="l">
              <a:defRPr sz="1800" b="0">
                <a:solidFill>
                  <a:srgbClr val="53676D"/>
                </a:solidFill>
                <a:latin typeface="Arial"/>
                <a:ea typeface="Arial"/>
                <a:cs typeface="Arial"/>
              </a:defRPr>
            </a:lvl3pPr>
            <a:lvl4pPr algn="l">
              <a:defRPr sz="1800" b="0">
                <a:solidFill>
                  <a:srgbClr val="53676D"/>
                </a:solidFill>
                <a:latin typeface="Arial"/>
                <a:ea typeface="Arial"/>
                <a:cs typeface="Arial"/>
              </a:defRPr>
            </a:lvl4pPr>
            <a:lvl5pPr algn="l">
              <a:defRPr sz="1800" b="0">
                <a:solidFill>
                  <a:srgbClr val="53676D"/>
                </a:solidFill>
                <a:latin typeface="Arial"/>
                <a:ea typeface="Arial"/>
                <a:cs typeface="Arial"/>
              </a:defRPr>
            </a:lvl5pPr>
            <a:lvl6pPr algn="l">
              <a:defRPr sz="1800" b="0">
                <a:solidFill>
                  <a:srgbClr val="53676D"/>
                </a:solidFill>
                <a:latin typeface="Arial"/>
                <a:ea typeface="Arial"/>
                <a:cs typeface="Arial"/>
              </a:defRPr>
            </a:lvl6pPr>
            <a:lvl7pPr algn="l">
              <a:defRPr sz="1800" b="0">
                <a:solidFill>
                  <a:srgbClr val="53676D"/>
                </a:solidFill>
                <a:latin typeface="Arial"/>
                <a:ea typeface="Arial"/>
                <a:cs typeface="Arial"/>
              </a:defRPr>
            </a:lvl7pPr>
            <a:lvl8pPr algn="l">
              <a:defRPr sz="1800" b="0">
                <a:solidFill>
                  <a:srgbClr val="53676D"/>
                </a:solidFill>
                <a:latin typeface="Arial"/>
                <a:ea typeface="Arial"/>
                <a:cs typeface="Arial"/>
              </a:defRPr>
            </a:lvl8pPr>
            <a:lvl9pPr algn="l">
              <a:defRPr sz="1800" b="0">
                <a:solidFill>
                  <a:srgbClr val="53676D"/>
                </a:solidFill>
                <a:latin typeface="Arial"/>
                <a:ea typeface="Arial"/>
                <a:cs typeface="Arial"/>
              </a:defRPr>
            </a:lvl9pPr>
          </a:lstStyle>
          <a:p xmlns:a="http://schemas.openxmlformats.org/drawingml/2006/main">
            <a:pPr algn="l">
              <a:defRPr sz="1800" b="0">
                <a:solidFill>
                  <a:srgbClr val="53676D"/>
                </a:solidFill>
                <a:latin typeface="Arial"/>
                <a:ea typeface="Arial"/>
                <a:cs typeface="Arial"/>
              </a:defRPr>
            </a:pPr>
            <a:r>
              <a:rPr sz="1800" b="0">
                <a:solidFill>
                  <a:srgbClr val="53676D"/>
                </a:solidFill>
                <a:latin typeface="Arial"/>
                <a:ea typeface="Arial"/>
                <a:cs typeface="Arial"/>
              </a:rPr>
              <a:t>Competitive focus</a:t>
            </a:r>
          </a:p>
          <a:p xmlns:a="http://schemas.openxmlformats.org/drawingml/2006/main">
            <a:pPr algn="l">
              <a:defRPr sz="1800" b="0">
                <a:solidFill>
                  <a:srgbClr val="53676D"/>
                </a:solidFill>
                <a:latin typeface="Arial"/>
                <a:ea typeface="Arial"/>
                <a:cs typeface="Arial"/>
              </a:defRPr>
            </a:pPr>
            <a:r>
              <a:rPr sz="1800" b="0">
                <a:solidFill>
                  <a:srgbClr val="53676D"/>
                </a:solidFill>
                <a:latin typeface="Arial"/>
                <a:ea typeface="Arial"/>
                <a:cs typeface="Arial"/>
              </a:rPr>
              <a:t>Receipt operations with</a:t>
            </a:r>
          </a:p>
          <a:p xmlns:a="http://schemas.openxmlformats.org/drawingml/2006/main">
            <a:pPr algn="l">
              <a:defRPr sz="1800" b="0">
                <a:solidFill>
                  <a:srgbClr val="53676D"/>
                </a:solidFill>
                <a:latin typeface="Arial"/>
                <a:ea typeface="Arial"/>
                <a:cs typeface="Arial"/>
              </a:defRPr>
            </a:pPr>
            <a:r>
              <a:rPr sz="1800" b="0">
                <a:solidFill>
                  <a:srgbClr val="53676D"/>
                </a:solidFill>
                <a:latin typeface="Arial"/>
                <a:ea typeface="Arial"/>
                <a:cs typeface="Arial"/>
              </a:rPr>
              <a:t>approved cash adapters</a:t>
            </a:r>
          </a:p>
        </p:txBody>
      </p:sp>
      <p:graphicFrame>
        <p:nvGraphicFramePr>
          <p:cNvPr id="9" name="Chart">
            <a:extLst xmlns:a="http://schemas.openxmlformats.org/drawingml/2006/main">
              <a:ext uri="{FF2B5EF4-FFF2-40B4-BE49-F238E27FC236}">
                <a16:creationId xmlns:a16="http://schemas.microsoft.com/office/drawing/2014/main" id="{0DA1A775-5597-443A-9D6E-F88462E39E50}"/>
              </a:ext>
            </a:extLst>
          </p:cNvPr>
          <p:cNvGraphicFramePr/>
          <p:nvPr/>
        </p:nvGraphicFramePr>
        <p:xfrm>
          <a:off xmlns:a="http://schemas.openxmlformats.org/drawingml/2006/main" x="4267200" y="2209800"/>
          <a:ext xmlns:a="http://schemas.openxmlformats.org/drawingml/2006/main" cx="7315200" cy="3762375"/>
        </p:xfrm>
        <a:graphic xmlns:a="http://schemas.openxmlformats.org/drawingml/2006/main">
          <a:graphicData uri="http://schemas.openxmlformats.org/drawingml/2006/chart">
            <c:chart xmlns:r="http://schemas.openxmlformats.org/officeDocument/2006/relationships" xmlns:c="http://schemas.openxmlformats.org/drawingml/2006/chart" r:id="R353ae948d3d94031"/>
          </a:graphicData>
        </a:graphic>
      </p:graphicFrame>
      <p:sp>
        <p:nvSpPr>
          <p:cNvPr id="10" name="prime-text-29">
            <a:extLst xmlns:a="http://schemas.openxmlformats.org/drawingml/2006/main">
              <a:ext uri="{FF2B5EF4-FFF2-40B4-BE49-F238E27FC236}">
                <a16:creationId xmlns:a16="http://schemas.microsoft.com/office/drawing/2014/main" id="{CD58B95B-EC3A-4897-86F1-0140880649D4}"/>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3676D"/>
                </a:solidFill>
                <a:latin typeface="Arial"/>
                <a:ea typeface="Arial"/>
                <a:cs typeface="Arial"/>
              </a:defRPr>
            </a:defPPr>
            <a:lvl1pPr algn="l">
              <a:defRPr sz="1425" b="0">
                <a:solidFill>
                  <a:srgbClr val="53676D"/>
                </a:solidFill>
                <a:latin typeface="Arial"/>
                <a:ea typeface="Arial"/>
                <a:cs typeface="Arial"/>
              </a:defRPr>
            </a:lvl1pPr>
            <a:lvl2pPr algn="l">
              <a:defRPr sz="1425" b="0">
                <a:solidFill>
                  <a:srgbClr val="53676D"/>
                </a:solidFill>
                <a:latin typeface="Arial"/>
                <a:ea typeface="Arial"/>
                <a:cs typeface="Arial"/>
              </a:defRPr>
            </a:lvl2pPr>
            <a:lvl3pPr algn="l">
              <a:defRPr sz="1425" b="0">
                <a:solidFill>
                  <a:srgbClr val="53676D"/>
                </a:solidFill>
                <a:latin typeface="Arial"/>
                <a:ea typeface="Arial"/>
                <a:cs typeface="Arial"/>
              </a:defRPr>
            </a:lvl3pPr>
            <a:lvl4pPr algn="l">
              <a:defRPr sz="1425" b="0">
                <a:solidFill>
                  <a:srgbClr val="53676D"/>
                </a:solidFill>
                <a:latin typeface="Arial"/>
                <a:ea typeface="Arial"/>
                <a:cs typeface="Arial"/>
              </a:defRPr>
            </a:lvl4pPr>
            <a:lvl5pPr algn="l">
              <a:defRPr sz="1425" b="0">
                <a:solidFill>
                  <a:srgbClr val="53676D"/>
                </a:solidFill>
                <a:latin typeface="Arial"/>
                <a:ea typeface="Arial"/>
                <a:cs typeface="Arial"/>
              </a:defRPr>
            </a:lvl5pPr>
            <a:lvl6pPr algn="l">
              <a:defRPr sz="1425" b="0">
                <a:solidFill>
                  <a:srgbClr val="53676D"/>
                </a:solidFill>
                <a:latin typeface="Arial"/>
                <a:ea typeface="Arial"/>
                <a:cs typeface="Arial"/>
              </a:defRPr>
            </a:lvl6pPr>
            <a:lvl7pPr algn="l">
              <a:defRPr sz="1425" b="0">
                <a:solidFill>
                  <a:srgbClr val="53676D"/>
                </a:solidFill>
                <a:latin typeface="Arial"/>
                <a:ea typeface="Arial"/>
                <a:cs typeface="Arial"/>
              </a:defRPr>
            </a:lvl7pPr>
            <a:lvl8pPr algn="l">
              <a:defRPr sz="1425" b="0">
                <a:solidFill>
                  <a:srgbClr val="53676D"/>
                </a:solidFill>
                <a:latin typeface="Arial"/>
                <a:ea typeface="Arial"/>
                <a:cs typeface="Arial"/>
              </a:defRPr>
            </a:lvl8pPr>
            <a:lvl9pPr algn="l">
              <a:defRPr sz="1425" b="0">
                <a:solidFill>
                  <a:srgbClr val="53676D"/>
                </a:solidFill>
                <a:latin typeface="Arial"/>
                <a:ea typeface="Arial"/>
                <a:cs typeface="Arial"/>
              </a:defRPr>
            </a:lvl9pPr>
          </a:lstStyle>
          <a:p xmlns:a="http://schemas.openxmlformats.org/drawingml/2006/main">
            <a:pPr algn="l">
              <a:defRPr sz="1425" b="0">
                <a:solidFill>
                  <a:srgbClr val="53676D"/>
                </a:solidFill>
                <a:latin typeface="Arial"/>
                <a:ea typeface="Arial"/>
                <a:cs typeface="Arial"/>
              </a:defRPr>
            </a:pPr>
            <a:r>
              <a:rPr sz="1425" b="0">
                <a:solidFill>
                  <a:srgbClr val="53676D"/>
                </a:solidFill>
                <a:latin typeface="Arial"/>
                <a:ea typeface="Arial"/>
                <a:cs typeface="Arial"/>
              </a:rPr>
              <a:t>Contribution is before fixed costs and excludes setup fees. Pricing and partner terms require commercial validation.</a:t>
            </a:r>
          </a:p>
        </p:txBody>
      </p:sp>
    </p:spTree>
    <p:extLst>
      <p:ext uri="{BB962C8B-B14F-4D97-AF65-F5344CB8AC3E}">
        <p14:creationId xmlns:p14="http://schemas.microsoft.com/office/powerpoint/2010/main" val="1730051148"/>
      </p:ext>
    </p:extLst>
  </p:cSld>
</p:sld>
</file>

<file path=ppt/slides/slide11.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3" name="prime-text-30">
            <a:extLst xmlns:a="http://schemas.openxmlformats.org/drawingml/2006/main">
              <a:ext uri="{FF2B5EF4-FFF2-40B4-BE49-F238E27FC236}">
                <a16:creationId xmlns:a16="http://schemas.microsoft.com/office/drawing/2014/main" id="{6F6C2995-EB6B-4148-B69D-4299E2D40042}"/>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xmlns:a="http://schemas.openxmlformats.org/drawingml/2006/main">
            <a:pPr algn="l">
              <a:defRPr sz="3300" b="1">
                <a:solidFill>
                  <a:srgbClr val="183440"/>
                </a:solidFill>
                <a:latin typeface="Arial"/>
                <a:ea typeface="Arial"/>
                <a:cs typeface="Arial"/>
              </a:defRPr>
            </a:pPr>
            <a:r>
              <a:rPr sz="3300" b="1">
                <a:solidFill>
                  <a:srgbClr val="183440"/>
                </a:solidFill>
                <a:latin typeface="Arial"/>
                <a:ea typeface="Arial"/>
                <a:cs typeface="Arial"/>
              </a:rPr>
              <a:t>Distribution through accountable partners</a:t>
            </a:r>
          </a:p>
        </p:txBody>
      </p:sp>
      <p:sp>
        <p:nvSpPr>
          <p:cNvPr id="2" name="prime-text-31">
            <a:extLst xmlns:a="http://schemas.openxmlformats.org/drawingml/2006/main">
              <a:ext uri="{FF2B5EF4-FFF2-40B4-BE49-F238E27FC236}">
                <a16:creationId xmlns:a16="http://schemas.microsoft.com/office/drawing/2014/main" id="{BAA7F6A2-AD48-4CCB-852A-BC4A37B622C7}"/>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defRPr sz="1875" b="0">
                <a:solidFill>
                  <a:srgbClr val="53676D"/>
                </a:solidFill>
                <a:latin typeface="Arial"/>
                <a:ea typeface="Arial"/>
                <a:cs typeface="Arial"/>
              </a:defRPr>
            </a:lvl1pPr>
            <a:lvl2pPr algn="l">
              <a:defRPr sz="1875" b="0">
                <a:solidFill>
                  <a:srgbClr val="53676D"/>
                </a:solidFill>
                <a:latin typeface="Arial"/>
                <a:ea typeface="Arial"/>
                <a:cs typeface="Arial"/>
              </a:defRPr>
            </a:lvl2pPr>
            <a:lvl3pPr algn="l">
              <a:defRPr sz="1875" b="0">
                <a:solidFill>
                  <a:srgbClr val="53676D"/>
                </a:solidFill>
                <a:latin typeface="Arial"/>
                <a:ea typeface="Arial"/>
                <a:cs typeface="Arial"/>
              </a:defRPr>
            </a:lvl3pPr>
            <a:lvl4pPr algn="l">
              <a:defRPr sz="1875" b="0">
                <a:solidFill>
                  <a:srgbClr val="53676D"/>
                </a:solidFill>
                <a:latin typeface="Arial"/>
                <a:ea typeface="Arial"/>
                <a:cs typeface="Arial"/>
              </a:defRPr>
            </a:lvl4pPr>
            <a:lvl5pPr algn="l">
              <a:defRPr sz="1875" b="0">
                <a:solidFill>
                  <a:srgbClr val="53676D"/>
                </a:solidFill>
                <a:latin typeface="Arial"/>
                <a:ea typeface="Arial"/>
                <a:cs typeface="Arial"/>
              </a:defRPr>
            </a:lvl5pPr>
            <a:lvl6pPr algn="l">
              <a:defRPr sz="1875" b="0">
                <a:solidFill>
                  <a:srgbClr val="53676D"/>
                </a:solidFill>
                <a:latin typeface="Arial"/>
                <a:ea typeface="Arial"/>
                <a:cs typeface="Arial"/>
              </a:defRPr>
            </a:lvl6pPr>
            <a:lvl7pPr algn="l">
              <a:defRPr sz="1875" b="0">
                <a:solidFill>
                  <a:srgbClr val="53676D"/>
                </a:solidFill>
                <a:latin typeface="Arial"/>
                <a:ea typeface="Arial"/>
                <a:cs typeface="Arial"/>
              </a:defRPr>
            </a:lvl7pPr>
            <a:lvl8pPr algn="l">
              <a:defRPr sz="1875" b="0">
                <a:solidFill>
                  <a:srgbClr val="53676D"/>
                </a:solidFill>
                <a:latin typeface="Arial"/>
                <a:ea typeface="Arial"/>
                <a:cs typeface="Arial"/>
              </a:defRPr>
            </a:lvl8pPr>
            <a:lvl9pPr algn="l">
              <a:defRPr sz="1875" b="0">
                <a:solidFill>
                  <a:srgbClr val="53676D"/>
                </a:solidFill>
                <a:latin typeface="Arial"/>
                <a:ea typeface="Arial"/>
                <a:cs typeface="Arial"/>
              </a:defRPr>
            </a:lvl9pPr>
          </a:lstStyle>
          <a:p xmlns:a="http://schemas.openxmlformats.org/drawingml/2006/main">
            <a:pPr algn="l">
              <a:defRPr sz="1875" b="0">
                <a:solidFill>
                  <a:srgbClr val="53676D"/>
                </a:solidFill>
                <a:latin typeface="Arial"/>
                <a:ea typeface="Arial"/>
                <a:cs typeface="Arial"/>
              </a:defRPr>
            </a:pPr>
            <a:r>
              <a:rPr sz="1875" b="0">
                <a:solidFill>
                  <a:srgbClr val="53676D"/>
                </a:solidFill>
                <a:latin typeface="Arial"/>
                <a:ea typeface="Arial"/>
                <a:cs typeface="Arial"/>
              </a:rPr>
              <a:t>Planning sensitivity. Each series averages US$20M of serviced assets over a full measurement period.</a:t>
            </a:r>
          </a:p>
        </p:txBody>
      </p:sp>
      <p:sp>
        <p:nvSpPr>
          <p:cNvPr id="3" name="prime-text-32">
            <a:extLst xmlns:a="http://schemas.openxmlformats.org/drawingml/2006/main">
              <a:ext uri="{FF2B5EF4-FFF2-40B4-BE49-F238E27FC236}">
                <a16:creationId xmlns:a16="http://schemas.microsoft.com/office/drawing/2014/main" id="{7455B2C0-5E00-4680-92AE-9AE3692FAA0A}"/>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xmlns:a="http://schemas.openxmlformats.org/drawingml/2006/main">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prime-text-33">
            <a:extLst xmlns:a="http://schemas.openxmlformats.org/drawingml/2006/main">
              <a:ext uri="{FF2B5EF4-FFF2-40B4-BE49-F238E27FC236}">
                <a16:creationId xmlns:a16="http://schemas.microsoft.com/office/drawing/2014/main" id="{4FA90A55-70E1-4D85-88D8-74DE2B9B199A}"/>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xmlns:a="http://schemas.openxmlformats.org/drawingml/2006/main">
            <a:pPr algn="r">
              <a:defRPr sz="1200" b="0">
                <a:solidFill>
                  <a:srgbClr val="53676D"/>
                </a:solidFill>
                <a:latin typeface="Arial"/>
                <a:ea typeface="Arial"/>
                <a:cs typeface="Arial"/>
              </a:defRPr>
            </a:pPr>
            <a:r>
              <a:rPr sz="1200" b="0">
                <a:solidFill>
                  <a:srgbClr val="53676D"/>
                </a:solidFill>
                <a:latin typeface="Arial"/>
                <a:ea typeface="Arial"/>
                <a:cs typeface="Arial"/>
              </a:rPr>
              <a:t>11</a:t>
            </a:r>
          </a:p>
        </p:txBody>
      </p:sp>
      <p:sp>
        <p:nvSpPr>
          <p:cNvPr id="5" name="prime-text-34">
            <a:extLst xmlns:a="http://schemas.openxmlformats.org/drawingml/2006/main">
              <a:ext uri="{FF2B5EF4-FFF2-40B4-BE49-F238E27FC236}">
                <a16:creationId xmlns:a16="http://schemas.microsoft.com/office/drawing/2014/main" id="{13EBDB2B-E79E-4C7B-A06A-BD617180FCC8}"/>
              </a:ext>
            </a:extLst>
          </p:cNvPr>
          <p:cNvSpPr>
            <a:spLocks xmlns:a="http://schemas.openxmlformats.org/drawingml/2006/main" noGrp="1"/>
          </p:cNvSpPr>
          <p:nvPr/>
        </p:nvSpPr>
        <p:spPr>
          <a:xfrm xmlns:a="http://schemas.openxmlformats.org/drawingml/2006/main">
            <a:off x="609600" y="226695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6C6B"/>
                </a:solidFill>
                <a:latin typeface="Arial"/>
                <a:ea typeface="Arial"/>
                <a:cs typeface="Arial"/>
              </a:defRPr>
            </a:defPPr>
            <a:lvl1pPr algn="l">
              <a:defRPr sz="2325" b="1">
                <a:solidFill>
                  <a:srgbClr val="176C6B"/>
                </a:solidFill>
                <a:latin typeface="Arial"/>
                <a:ea typeface="Arial"/>
                <a:cs typeface="Arial"/>
              </a:defRPr>
            </a:lvl1pPr>
            <a:lvl2pPr algn="l">
              <a:defRPr sz="2325" b="1">
                <a:solidFill>
                  <a:srgbClr val="176C6B"/>
                </a:solidFill>
                <a:latin typeface="Arial"/>
                <a:ea typeface="Arial"/>
                <a:cs typeface="Arial"/>
              </a:defRPr>
            </a:lvl2pPr>
            <a:lvl3pPr algn="l">
              <a:defRPr sz="2325" b="1">
                <a:solidFill>
                  <a:srgbClr val="176C6B"/>
                </a:solidFill>
                <a:latin typeface="Arial"/>
                <a:ea typeface="Arial"/>
                <a:cs typeface="Arial"/>
              </a:defRPr>
            </a:lvl3pPr>
            <a:lvl4pPr algn="l">
              <a:defRPr sz="2325" b="1">
                <a:solidFill>
                  <a:srgbClr val="176C6B"/>
                </a:solidFill>
                <a:latin typeface="Arial"/>
                <a:ea typeface="Arial"/>
                <a:cs typeface="Arial"/>
              </a:defRPr>
            </a:lvl4pPr>
            <a:lvl5pPr algn="l">
              <a:defRPr sz="2325" b="1">
                <a:solidFill>
                  <a:srgbClr val="176C6B"/>
                </a:solidFill>
                <a:latin typeface="Arial"/>
                <a:ea typeface="Arial"/>
                <a:cs typeface="Arial"/>
              </a:defRPr>
            </a:lvl5pPr>
            <a:lvl6pPr algn="l">
              <a:defRPr sz="2325" b="1">
                <a:solidFill>
                  <a:srgbClr val="176C6B"/>
                </a:solidFill>
                <a:latin typeface="Arial"/>
                <a:ea typeface="Arial"/>
                <a:cs typeface="Arial"/>
              </a:defRPr>
            </a:lvl6pPr>
            <a:lvl7pPr algn="l">
              <a:defRPr sz="2325" b="1">
                <a:solidFill>
                  <a:srgbClr val="176C6B"/>
                </a:solidFill>
                <a:latin typeface="Arial"/>
                <a:ea typeface="Arial"/>
                <a:cs typeface="Arial"/>
              </a:defRPr>
            </a:lvl7pPr>
            <a:lvl8pPr algn="l">
              <a:defRPr sz="2325" b="1">
                <a:solidFill>
                  <a:srgbClr val="176C6B"/>
                </a:solidFill>
                <a:latin typeface="Arial"/>
                <a:ea typeface="Arial"/>
                <a:cs typeface="Arial"/>
              </a:defRPr>
            </a:lvl8pPr>
            <a:lvl9pPr algn="l">
              <a:defRPr sz="2325" b="1">
                <a:solidFill>
                  <a:srgbClr val="176C6B"/>
                </a:solidFill>
                <a:latin typeface="Arial"/>
                <a:ea typeface="Arial"/>
                <a:cs typeface="Arial"/>
              </a:defRPr>
            </a:lvl9pPr>
          </a:lstStyle>
          <a:p xmlns:a="http://schemas.openxmlformats.org/drawingml/2006/main">
            <a:pPr algn="l">
              <a:defRPr sz="2325" b="1">
                <a:solidFill>
                  <a:srgbClr val="176C6B"/>
                </a:solidFill>
                <a:latin typeface="Arial"/>
                <a:ea typeface="Arial"/>
                <a:cs typeface="Arial"/>
              </a:defRPr>
            </a:pPr>
            <a:r>
              <a:rPr sz="2325" b="1">
                <a:solidFill>
                  <a:srgbClr val="176C6B"/>
                </a:solidFill>
                <a:latin typeface="Arial"/>
                <a:ea typeface="Arial"/>
                <a:cs typeface="Arial"/>
              </a:rPr>
              <a:t>USDC first</a:t>
            </a:r>
          </a:p>
        </p:txBody>
      </p:sp>
      <p:sp>
        <p:nvSpPr>
          <p:cNvPr id="6" name="prime-text-35">
            <a:extLst xmlns:a="http://schemas.openxmlformats.org/drawingml/2006/main">
              <a:ext uri="{FF2B5EF4-FFF2-40B4-BE49-F238E27FC236}">
                <a16:creationId xmlns:a16="http://schemas.microsoft.com/office/drawing/2014/main" id="{543BFC8E-3F18-4568-8A26-1227A84877DC}"/>
              </a:ext>
            </a:extLst>
          </p:cNvPr>
          <p:cNvSpPr>
            <a:spLocks xmlns:a="http://schemas.openxmlformats.org/drawingml/2006/main" noGrp="1"/>
          </p:cNvSpPr>
          <p:nvPr/>
        </p:nvSpPr>
        <p:spPr>
          <a:xfrm xmlns:a="http://schemas.openxmlformats.org/drawingml/2006/main">
            <a:off x="609600" y="281940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xmlns:a="http://schemas.openxmlformats.org/drawingml/2006/main">
            <a:pPr algn="l">
              <a:defRPr sz="1950" b="0">
                <a:solidFill>
                  <a:srgbClr val="183440"/>
                </a:solidFill>
                <a:latin typeface="Arial"/>
                <a:ea typeface="Arial"/>
                <a:cs typeface="Arial"/>
              </a:defRPr>
            </a:pPr>
            <a:r>
              <a:rPr sz="1950" b="0">
                <a:solidFill>
                  <a:srgbClr val="183440"/>
                </a:solidFill>
                <a:latin typeface="Arial"/>
                <a:ea typeface="Arial"/>
                <a:cs typeface="Arial"/>
              </a:rPr>
              <a:t>One approved native network</a:t>
            </a:r>
          </a:p>
          <a:p xmlns:a="http://schemas.openxmlformats.org/drawingml/2006/main">
            <a:pPr algn="l">
              <a:defRPr sz="1950" b="0">
                <a:solidFill>
                  <a:srgbClr val="183440"/>
                </a:solidFill>
                <a:latin typeface="Arial"/>
                <a:ea typeface="Arial"/>
                <a:cs typeface="Arial"/>
              </a:defRPr>
            </a:pPr>
            <a:r>
              <a:rPr sz="1950" b="0">
                <a:solidFill>
                  <a:srgbClr val="183440"/>
                </a:solidFill>
                <a:latin typeface="Arial"/>
                <a:ea typeface="Arial"/>
                <a:cs typeface="Arial"/>
              </a:rPr>
              <a:t>and eligible broker accounts</a:t>
            </a:r>
          </a:p>
        </p:txBody>
      </p:sp>
      <p:sp>
        <p:nvSpPr>
          <p:cNvPr id="7" name="prime-text-36">
            <a:extLst xmlns:a="http://schemas.openxmlformats.org/drawingml/2006/main">
              <a:ext uri="{FF2B5EF4-FFF2-40B4-BE49-F238E27FC236}">
                <a16:creationId xmlns:a16="http://schemas.microsoft.com/office/drawing/2014/main" id="{56FB7813-C965-4845-A848-79A88BD232FA}"/>
              </a:ext>
            </a:extLst>
          </p:cNvPr>
          <p:cNvSpPr>
            <a:spLocks xmlns:a="http://schemas.openxmlformats.org/drawingml/2006/main" noGrp="1"/>
          </p:cNvSpPr>
          <p:nvPr/>
        </p:nvSpPr>
        <p:spPr>
          <a:xfrm xmlns:a="http://schemas.openxmlformats.org/drawingml/2006/main">
            <a:off x="609600" y="3800475"/>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xmlns:a="http://schemas.openxmlformats.org/drawingml/2006/main">
            <a:pPr algn="l">
              <a:defRPr sz="2250" b="1">
                <a:solidFill>
                  <a:srgbClr val="176C6B"/>
                </a:solidFill>
                <a:latin typeface="Arial"/>
                <a:ea typeface="Arial"/>
                <a:cs typeface="Arial"/>
              </a:defRPr>
            </a:pPr>
            <a:r>
              <a:rPr sz="2250" b="1">
                <a:solidFill>
                  <a:srgbClr val="176C6B"/>
                </a:solidFill>
                <a:latin typeface="Arial"/>
                <a:ea typeface="Arial"/>
                <a:cs typeface="Arial"/>
              </a:rPr>
              <a:t>RedCoin access gated</a:t>
            </a:r>
          </a:p>
        </p:txBody>
      </p:sp>
      <p:sp>
        <p:nvSpPr>
          <p:cNvPr id="8" name="prime-text-37">
            <a:extLst xmlns:a="http://schemas.openxmlformats.org/drawingml/2006/main">
              <a:ext uri="{FF2B5EF4-FFF2-40B4-BE49-F238E27FC236}">
                <a16:creationId xmlns:a16="http://schemas.microsoft.com/office/drawing/2014/main" id="{06959B7B-C1E7-447B-9B0C-D3CC4DBFDB18}"/>
              </a:ext>
            </a:extLst>
          </p:cNvPr>
          <p:cNvSpPr>
            <a:spLocks xmlns:a="http://schemas.openxmlformats.org/drawingml/2006/main" noGrp="1"/>
          </p:cNvSpPr>
          <p:nvPr/>
        </p:nvSpPr>
        <p:spPr>
          <a:xfrm xmlns:a="http://schemas.openxmlformats.org/drawingml/2006/main">
            <a:off x="609600" y="4352925"/>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xmlns:a="http://schemas.openxmlformats.org/drawingml/2006/main">
            <a:pPr algn="l">
              <a:defRPr sz="1950" b="0">
                <a:solidFill>
                  <a:srgbClr val="183440"/>
                </a:solidFill>
                <a:latin typeface="Arial"/>
                <a:ea typeface="Arial"/>
                <a:cs typeface="Arial"/>
              </a:defRPr>
            </a:pPr>
            <a:r>
              <a:rPr sz="1950" b="0">
                <a:solidFill>
                  <a:srgbClr val="183440"/>
                </a:solidFill>
                <a:latin typeface="Arial"/>
                <a:ea typeface="Arial"/>
                <a:cs typeface="Arial"/>
              </a:rPr>
              <a:t>Seek HSBC access</a:t>
            </a:r>
          </a:p>
          <a:p xmlns:a="http://schemas.openxmlformats.org/drawingml/2006/main">
            <a:pPr algn="l">
              <a:defRPr sz="1950" b="0">
                <a:solidFill>
                  <a:srgbClr val="183440"/>
                </a:solidFill>
                <a:latin typeface="Arial"/>
                <a:ea typeface="Arial"/>
                <a:cs typeface="Arial"/>
              </a:defRPr>
            </a:pPr>
            <a:r>
              <a:rPr sz="1950" b="0">
                <a:solidFill>
                  <a:srgbClr val="183440"/>
                </a:solidFill>
                <a:latin typeface="Arial"/>
                <a:ea typeface="Arial"/>
                <a:cs typeface="Arial"/>
              </a:rPr>
              <a:t>with agreed FX terms</a:t>
            </a:r>
          </a:p>
        </p:txBody>
      </p:sp>
      <p:sp>
        <p:nvSpPr>
          <p:cNvPr id="9" name="prime-text-38">
            <a:extLst xmlns:a="http://schemas.openxmlformats.org/drawingml/2006/main">
              <a:ext uri="{FF2B5EF4-FFF2-40B4-BE49-F238E27FC236}">
                <a16:creationId xmlns:a16="http://schemas.microsoft.com/office/drawing/2014/main" id="{6EA83003-A00B-44BC-A308-CD323CF252CE}"/>
              </a:ext>
            </a:extLst>
          </p:cNvPr>
          <p:cNvSpPr>
            <a:spLocks xmlns:a="http://schemas.openxmlformats.org/drawingml/2006/main" noGrp="1"/>
          </p:cNvSpPr>
          <p:nvPr/>
        </p:nvSpPr>
        <p:spPr>
          <a:xfrm xmlns:a="http://schemas.openxmlformats.org/drawingml/2006/main">
            <a:off x="609600" y="53435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AC8743"/>
                </a:solidFill>
                <a:latin typeface="Arial"/>
                <a:ea typeface="Arial"/>
                <a:cs typeface="Arial"/>
              </a:defRPr>
            </a:defPPr>
            <a:lvl1pPr algn="l">
              <a:defRPr sz="1875" b="1">
                <a:solidFill>
                  <a:srgbClr val="AC8743"/>
                </a:solidFill>
                <a:latin typeface="Arial"/>
                <a:ea typeface="Arial"/>
                <a:cs typeface="Arial"/>
              </a:defRPr>
            </a:lvl1pPr>
            <a:lvl2pPr algn="l">
              <a:defRPr sz="1875" b="1">
                <a:solidFill>
                  <a:srgbClr val="AC8743"/>
                </a:solidFill>
                <a:latin typeface="Arial"/>
                <a:ea typeface="Arial"/>
                <a:cs typeface="Arial"/>
              </a:defRPr>
            </a:lvl2pPr>
            <a:lvl3pPr algn="l">
              <a:defRPr sz="1875" b="1">
                <a:solidFill>
                  <a:srgbClr val="AC8743"/>
                </a:solidFill>
                <a:latin typeface="Arial"/>
                <a:ea typeface="Arial"/>
                <a:cs typeface="Arial"/>
              </a:defRPr>
            </a:lvl3pPr>
            <a:lvl4pPr algn="l">
              <a:defRPr sz="1875" b="1">
                <a:solidFill>
                  <a:srgbClr val="AC8743"/>
                </a:solidFill>
                <a:latin typeface="Arial"/>
                <a:ea typeface="Arial"/>
                <a:cs typeface="Arial"/>
              </a:defRPr>
            </a:lvl4pPr>
            <a:lvl5pPr algn="l">
              <a:defRPr sz="1875" b="1">
                <a:solidFill>
                  <a:srgbClr val="AC8743"/>
                </a:solidFill>
                <a:latin typeface="Arial"/>
                <a:ea typeface="Arial"/>
                <a:cs typeface="Arial"/>
              </a:defRPr>
            </a:lvl5pPr>
            <a:lvl6pPr algn="l">
              <a:defRPr sz="1875" b="1">
                <a:solidFill>
                  <a:srgbClr val="AC8743"/>
                </a:solidFill>
                <a:latin typeface="Arial"/>
                <a:ea typeface="Arial"/>
                <a:cs typeface="Arial"/>
              </a:defRPr>
            </a:lvl6pPr>
            <a:lvl7pPr algn="l">
              <a:defRPr sz="1875" b="1">
                <a:solidFill>
                  <a:srgbClr val="AC8743"/>
                </a:solidFill>
                <a:latin typeface="Arial"/>
                <a:ea typeface="Arial"/>
                <a:cs typeface="Arial"/>
              </a:defRPr>
            </a:lvl7pPr>
            <a:lvl8pPr algn="l">
              <a:defRPr sz="1875" b="1">
                <a:solidFill>
                  <a:srgbClr val="AC8743"/>
                </a:solidFill>
                <a:latin typeface="Arial"/>
                <a:ea typeface="Arial"/>
                <a:cs typeface="Arial"/>
              </a:defRPr>
            </a:lvl8pPr>
            <a:lvl9pPr algn="l">
              <a:defRPr sz="1875" b="1">
                <a:solidFill>
                  <a:srgbClr val="AC8743"/>
                </a:solidFill>
                <a:latin typeface="Arial"/>
                <a:ea typeface="Arial"/>
                <a:cs typeface="Arial"/>
              </a:defRPr>
            </a:lvl9pPr>
          </a:lstStyle>
          <a:p xmlns:a="http://schemas.openxmlformats.org/drawingml/2006/main">
            <a:pPr algn="l">
              <a:defRPr sz="1875" b="1">
                <a:solidFill>
                  <a:srgbClr val="AC8743"/>
                </a:solidFill>
                <a:latin typeface="Arial"/>
                <a:ea typeface="Arial"/>
                <a:cs typeface="Arial"/>
              </a:defRPr>
            </a:pPr>
            <a:r>
              <a:rPr sz="1875" b="1">
                <a:solidFill>
                  <a:srgbClr val="AC8743"/>
                </a:solidFill>
                <a:latin typeface="Arial"/>
                <a:ea typeface="Arial"/>
                <a:cs typeface="Arial"/>
              </a:rPr>
              <a:t>Target partner group</a:t>
            </a:r>
          </a:p>
        </p:txBody>
      </p:sp>
      <p:sp>
        <p:nvSpPr>
          <p:cNvPr id="10" name="prime-text-39">
            <a:extLst xmlns:a="http://schemas.openxmlformats.org/drawingml/2006/main">
              <a:ext uri="{FF2B5EF4-FFF2-40B4-BE49-F238E27FC236}">
                <a16:creationId xmlns:a16="http://schemas.microsoft.com/office/drawing/2014/main" id="{65E1458B-F507-4530-80C9-23B71D8B02A4}"/>
              </a:ext>
            </a:extLst>
          </p:cNvPr>
          <p:cNvSpPr>
            <a:spLocks xmlns:a="http://schemas.openxmlformats.org/drawingml/2006/main" noGrp="1"/>
          </p:cNvSpPr>
          <p:nvPr/>
        </p:nvSpPr>
        <p:spPr>
          <a:xfrm xmlns:a="http://schemas.openxmlformats.org/drawingml/2006/main">
            <a:off x="609600" y="57435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83440"/>
                </a:solidFill>
                <a:latin typeface="Arial"/>
                <a:ea typeface="Arial"/>
                <a:cs typeface="Arial"/>
              </a:defRPr>
            </a:defPPr>
            <a:lvl1pPr algn="l">
              <a:defRPr sz="1725" b="1">
                <a:solidFill>
                  <a:srgbClr val="183440"/>
                </a:solidFill>
                <a:latin typeface="Arial"/>
                <a:ea typeface="Arial"/>
                <a:cs typeface="Arial"/>
              </a:defRPr>
            </a:lvl1pPr>
            <a:lvl2pPr algn="l">
              <a:defRPr sz="1725" b="1">
                <a:solidFill>
                  <a:srgbClr val="183440"/>
                </a:solidFill>
                <a:latin typeface="Arial"/>
                <a:ea typeface="Arial"/>
                <a:cs typeface="Arial"/>
              </a:defRPr>
            </a:lvl2pPr>
            <a:lvl3pPr algn="l">
              <a:defRPr sz="1725" b="1">
                <a:solidFill>
                  <a:srgbClr val="183440"/>
                </a:solidFill>
                <a:latin typeface="Arial"/>
                <a:ea typeface="Arial"/>
                <a:cs typeface="Arial"/>
              </a:defRPr>
            </a:lvl3pPr>
            <a:lvl4pPr algn="l">
              <a:defRPr sz="1725" b="1">
                <a:solidFill>
                  <a:srgbClr val="183440"/>
                </a:solidFill>
                <a:latin typeface="Arial"/>
                <a:ea typeface="Arial"/>
                <a:cs typeface="Arial"/>
              </a:defRPr>
            </a:lvl4pPr>
            <a:lvl5pPr algn="l">
              <a:defRPr sz="1725" b="1">
                <a:solidFill>
                  <a:srgbClr val="183440"/>
                </a:solidFill>
                <a:latin typeface="Arial"/>
                <a:ea typeface="Arial"/>
                <a:cs typeface="Arial"/>
              </a:defRPr>
            </a:lvl5pPr>
            <a:lvl6pPr algn="l">
              <a:defRPr sz="1725" b="1">
                <a:solidFill>
                  <a:srgbClr val="183440"/>
                </a:solidFill>
                <a:latin typeface="Arial"/>
                <a:ea typeface="Arial"/>
                <a:cs typeface="Arial"/>
              </a:defRPr>
            </a:lvl6pPr>
            <a:lvl7pPr algn="l">
              <a:defRPr sz="1725" b="1">
                <a:solidFill>
                  <a:srgbClr val="183440"/>
                </a:solidFill>
                <a:latin typeface="Arial"/>
                <a:ea typeface="Arial"/>
                <a:cs typeface="Arial"/>
              </a:defRPr>
            </a:lvl7pPr>
            <a:lvl8pPr algn="l">
              <a:defRPr sz="1725" b="1">
                <a:solidFill>
                  <a:srgbClr val="183440"/>
                </a:solidFill>
                <a:latin typeface="Arial"/>
                <a:ea typeface="Arial"/>
                <a:cs typeface="Arial"/>
              </a:defRPr>
            </a:lvl8pPr>
            <a:lvl9pPr algn="l">
              <a:defRPr sz="1725" b="1">
                <a:solidFill>
                  <a:srgbClr val="183440"/>
                </a:solidFill>
                <a:latin typeface="Arial"/>
                <a:ea typeface="Arial"/>
                <a:cs typeface="Arial"/>
              </a:defRPr>
            </a:lvl9pPr>
          </a:lstStyle>
          <a:p xmlns:a="http://schemas.openxmlformats.org/drawingml/2006/main">
            <a:pPr algn="l">
              <a:defRPr sz="1725" b="1">
                <a:solidFill>
                  <a:srgbClr val="183440"/>
                </a:solidFill>
                <a:latin typeface="Arial"/>
                <a:ea typeface="Arial"/>
                <a:cs typeface="Arial"/>
              </a:defRPr>
            </a:pPr>
            <a:r>
              <a:rPr sz="1725" b="1">
                <a:solidFill>
                  <a:srgbClr val="183440"/>
                </a:solidFill>
                <a:latin typeface="Arial"/>
                <a:ea typeface="Arial"/>
                <a:cs typeface="Arial"/>
              </a:rPr>
              <a:t>1 sponsor, 2 brokers, 2 LPs</a:t>
            </a:r>
          </a:p>
        </p:txBody>
      </p:sp>
      <p:graphicFrame>
        <p:nvGraphicFramePr>
          <p:cNvPr id="11" name="Chart">
            <a:extLst xmlns:a="http://schemas.openxmlformats.org/drawingml/2006/main">
              <a:ext uri="{FF2B5EF4-FFF2-40B4-BE49-F238E27FC236}">
                <a16:creationId xmlns:a16="http://schemas.microsoft.com/office/drawing/2014/main" id="{DCF0A526-49F2-41FA-B935-F72E5AFEE75C}"/>
              </a:ext>
            </a:extLst>
          </p:cNvPr>
          <p:cNvGraphicFramePr/>
          <p:nvPr/>
        </p:nvGraphicFramePr>
        <p:xfrm>
          <a:off xmlns:a="http://schemas.openxmlformats.org/drawingml/2006/main" x="4267200" y="2209800"/>
          <a:ext xmlns:a="http://schemas.openxmlformats.org/drawingml/2006/main" cx="7315200" cy="3762375"/>
        </p:xfrm>
        <a:graphic xmlns:a="http://schemas.openxmlformats.org/drawingml/2006/main">
          <a:graphicData uri="http://schemas.openxmlformats.org/drawingml/2006/chart">
            <c:chart xmlns:r="http://schemas.openxmlformats.org/officeDocument/2006/relationships" xmlns:c="http://schemas.openxmlformats.org/drawingml/2006/chart" r:id="Rddce6dbf003e42da"/>
          </a:graphicData>
        </a:graphic>
      </p:graphicFrame>
      <p:sp>
        <p:nvSpPr>
          <p:cNvPr id="12" name="prime-text-40">
            <a:extLst xmlns:a="http://schemas.openxmlformats.org/drawingml/2006/main">
              <a:ext uri="{FF2B5EF4-FFF2-40B4-BE49-F238E27FC236}">
                <a16:creationId xmlns:a16="http://schemas.microsoft.com/office/drawing/2014/main" id="{D55A8E36-5DBC-463E-A417-DDD8547353AE}"/>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3676D"/>
                </a:solidFill>
                <a:latin typeface="Arial"/>
                <a:ea typeface="Arial"/>
                <a:cs typeface="Arial"/>
              </a:defRPr>
            </a:defPPr>
            <a:lvl1pPr algn="l">
              <a:defRPr sz="1425" b="0">
                <a:solidFill>
                  <a:srgbClr val="53676D"/>
                </a:solidFill>
                <a:latin typeface="Arial"/>
                <a:ea typeface="Arial"/>
                <a:cs typeface="Arial"/>
              </a:defRPr>
            </a:lvl1pPr>
            <a:lvl2pPr algn="l">
              <a:defRPr sz="1425" b="0">
                <a:solidFill>
                  <a:srgbClr val="53676D"/>
                </a:solidFill>
                <a:latin typeface="Arial"/>
                <a:ea typeface="Arial"/>
                <a:cs typeface="Arial"/>
              </a:defRPr>
            </a:lvl2pPr>
            <a:lvl3pPr algn="l">
              <a:defRPr sz="1425" b="0">
                <a:solidFill>
                  <a:srgbClr val="53676D"/>
                </a:solidFill>
                <a:latin typeface="Arial"/>
                <a:ea typeface="Arial"/>
                <a:cs typeface="Arial"/>
              </a:defRPr>
            </a:lvl3pPr>
            <a:lvl4pPr algn="l">
              <a:defRPr sz="1425" b="0">
                <a:solidFill>
                  <a:srgbClr val="53676D"/>
                </a:solidFill>
                <a:latin typeface="Arial"/>
                <a:ea typeface="Arial"/>
                <a:cs typeface="Arial"/>
              </a:defRPr>
            </a:lvl4pPr>
            <a:lvl5pPr algn="l">
              <a:defRPr sz="1425" b="0">
                <a:solidFill>
                  <a:srgbClr val="53676D"/>
                </a:solidFill>
                <a:latin typeface="Arial"/>
                <a:ea typeface="Arial"/>
                <a:cs typeface="Arial"/>
              </a:defRPr>
            </a:lvl5pPr>
            <a:lvl6pPr algn="l">
              <a:defRPr sz="1425" b="0">
                <a:solidFill>
                  <a:srgbClr val="53676D"/>
                </a:solidFill>
                <a:latin typeface="Arial"/>
                <a:ea typeface="Arial"/>
                <a:cs typeface="Arial"/>
              </a:defRPr>
            </a:lvl6pPr>
            <a:lvl7pPr algn="l">
              <a:defRPr sz="1425" b="0">
                <a:solidFill>
                  <a:srgbClr val="53676D"/>
                </a:solidFill>
                <a:latin typeface="Arial"/>
                <a:ea typeface="Arial"/>
                <a:cs typeface="Arial"/>
              </a:defRPr>
            </a:lvl7pPr>
            <a:lvl8pPr algn="l">
              <a:defRPr sz="1425" b="0">
                <a:solidFill>
                  <a:srgbClr val="53676D"/>
                </a:solidFill>
                <a:latin typeface="Arial"/>
                <a:ea typeface="Arial"/>
                <a:cs typeface="Arial"/>
              </a:defRPr>
            </a:lvl8pPr>
            <a:lvl9pPr algn="l">
              <a:defRPr sz="1425" b="0">
                <a:solidFill>
                  <a:srgbClr val="53676D"/>
                </a:solidFill>
                <a:latin typeface="Arial"/>
                <a:ea typeface="Arial"/>
                <a:cs typeface="Arial"/>
              </a:defRPr>
            </a:lvl9pPr>
          </a:lstStyle>
          <a:p xmlns:a="http://schemas.openxmlformats.org/drawingml/2006/main">
            <a:pPr algn="l">
              <a:defRPr sz="1425" b="0">
                <a:solidFill>
                  <a:srgbClr val="53676D"/>
                </a:solidFill>
                <a:latin typeface="Arial"/>
                <a:ea typeface="Arial"/>
                <a:cs typeface="Arial"/>
              </a:defRPr>
            </a:pPr>
            <a:r>
              <a:rPr sz="1425" b="0">
                <a:solidFill>
                  <a:srgbClr val="53676D"/>
                </a:solidFill>
                <a:latin typeface="Arial"/>
                <a:ea typeface="Arial"/>
                <a:cs typeface="Arial"/>
              </a:rPr>
              <a:t>Targets are uncontracted. A launch-year ramp can produce lower average assets than its ending balance.</a:t>
            </a:r>
          </a:p>
        </p:txBody>
      </p:sp>
    </p:spTree>
    <p:extLst>
      <p:ext uri="{BB962C8B-B14F-4D97-AF65-F5344CB8AC3E}">
        <p14:creationId xmlns:p14="http://schemas.microsoft.com/office/powerpoint/2010/main" val="111744708"/>
      </p:ext>
    </p:extLst>
  </p:cSld>
</p:sld>
</file>

<file path=ppt/slides/slide1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1" name="prime-text-41">
            <a:extLst xmlns:a="http://schemas.openxmlformats.org/drawingml/2006/main">
              <a:ext uri="{FF2B5EF4-FFF2-40B4-BE49-F238E27FC236}">
                <a16:creationId xmlns:a16="http://schemas.microsoft.com/office/drawing/2014/main" id="{1A9E863D-FCA1-4D27-A1F0-922218DA2553}"/>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xmlns:a="http://schemas.openxmlformats.org/drawingml/2006/main">
            <a:pPr algn="l">
              <a:defRPr sz="3300" b="1">
                <a:solidFill>
                  <a:srgbClr val="183440"/>
                </a:solidFill>
                <a:latin typeface="Arial"/>
                <a:ea typeface="Arial"/>
                <a:cs typeface="Arial"/>
              </a:defRPr>
            </a:pPr>
            <a:r>
              <a:rPr sz="3300" b="1">
                <a:solidFill>
                  <a:srgbClr val="183440"/>
                </a:solidFill>
                <a:latin typeface="Arial"/>
                <a:ea typeface="Arial"/>
                <a:cs typeface="Arial"/>
              </a:rPr>
              <a:t>A launch plan with measurable gates</a:t>
            </a:r>
          </a:p>
        </p:txBody>
      </p:sp>
      <p:sp>
        <p:nvSpPr>
          <p:cNvPr id="2" name="prime-text-42">
            <a:extLst xmlns:a="http://schemas.openxmlformats.org/drawingml/2006/main">
              <a:ext uri="{FF2B5EF4-FFF2-40B4-BE49-F238E27FC236}">
                <a16:creationId xmlns:a16="http://schemas.microsoft.com/office/drawing/2014/main" id="{EB02B674-8452-4DAD-8109-D9AD7058DBBD}"/>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defRPr sz="1875" b="0">
                <a:solidFill>
                  <a:srgbClr val="53676D"/>
                </a:solidFill>
                <a:latin typeface="Arial"/>
                <a:ea typeface="Arial"/>
                <a:cs typeface="Arial"/>
              </a:defRPr>
            </a:lvl1pPr>
            <a:lvl2pPr algn="l">
              <a:defRPr sz="1875" b="0">
                <a:solidFill>
                  <a:srgbClr val="53676D"/>
                </a:solidFill>
                <a:latin typeface="Arial"/>
                <a:ea typeface="Arial"/>
                <a:cs typeface="Arial"/>
              </a:defRPr>
            </a:lvl2pPr>
            <a:lvl3pPr algn="l">
              <a:defRPr sz="1875" b="0">
                <a:solidFill>
                  <a:srgbClr val="53676D"/>
                </a:solidFill>
                <a:latin typeface="Arial"/>
                <a:ea typeface="Arial"/>
                <a:cs typeface="Arial"/>
              </a:defRPr>
            </a:lvl3pPr>
            <a:lvl4pPr algn="l">
              <a:defRPr sz="1875" b="0">
                <a:solidFill>
                  <a:srgbClr val="53676D"/>
                </a:solidFill>
                <a:latin typeface="Arial"/>
                <a:ea typeface="Arial"/>
                <a:cs typeface="Arial"/>
              </a:defRPr>
            </a:lvl4pPr>
            <a:lvl5pPr algn="l">
              <a:defRPr sz="1875" b="0">
                <a:solidFill>
                  <a:srgbClr val="53676D"/>
                </a:solidFill>
                <a:latin typeface="Arial"/>
                <a:ea typeface="Arial"/>
                <a:cs typeface="Arial"/>
              </a:defRPr>
            </a:lvl5pPr>
            <a:lvl6pPr algn="l">
              <a:defRPr sz="1875" b="0">
                <a:solidFill>
                  <a:srgbClr val="53676D"/>
                </a:solidFill>
                <a:latin typeface="Arial"/>
                <a:ea typeface="Arial"/>
                <a:cs typeface="Arial"/>
              </a:defRPr>
            </a:lvl6pPr>
            <a:lvl7pPr algn="l">
              <a:defRPr sz="1875" b="0">
                <a:solidFill>
                  <a:srgbClr val="53676D"/>
                </a:solidFill>
                <a:latin typeface="Arial"/>
                <a:ea typeface="Arial"/>
                <a:cs typeface="Arial"/>
              </a:defRPr>
            </a:lvl7pPr>
            <a:lvl8pPr algn="l">
              <a:defRPr sz="1875" b="0">
                <a:solidFill>
                  <a:srgbClr val="53676D"/>
                </a:solidFill>
                <a:latin typeface="Arial"/>
                <a:ea typeface="Arial"/>
                <a:cs typeface="Arial"/>
              </a:defRPr>
            </a:lvl8pPr>
            <a:lvl9pPr algn="l">
              <a:defRPr sz="1875" b="0">
                <a:solidFill>
                  <a:srgbClr val="53676D"/>
                </a:solidFill>
                <a:latin typeface="Arial"/>
                <a:ea typeface="Arial"/>
                <a:cs typeface="Arial"/>
              </a:defRPr>
            </a:lvl9pPr>
          </a:lstStyle>
          <a:p xmlns:a="http://schemas.openxmlformats.org/drawingml/2006/main">
            <a:pPr algn="l">
              <a:defRPr sz="1875" b="0">
                <a:solidFill>
                  <a:srgbClr val="53676D"/>
                </a:solidFill>
                <a:latin typeface="Arial"/>
                <a:ea typeface="Arial"/>
                <a:cs typeface="Arial"/>
              </a:defRPr>
            </a:pPr>
            <a:r>
              <a:rPr sz="1875" b="0">
                <a:solidFill>
                  <a:srgbClr val="53676D"/>
                </a:solidFill>
                <a:latin typeface="Arial"/>
                <a:ea typeface="Arial"/>
                <a:cs typeface="Arial"/>
              </a:rPr>
              <a:t>Pre-launch product development. Milestones begin at funding close.</a:t>
            </a:r>
          </a:p>
        </p:txBody>
      </p:sp>
      <p:sp>
        <p:nvSpPr>
          <p:cNvPr id="3" name="prime-text-43">
            <a:extLst xmlns:a="http://schemas.openxmlformats.org/drawingml/2006/main">
              <a:ext uri="{FF2B5EF4-FFF2-40B4-BE49-F238E27FC236}">
                <a16:creationId xmlns:a16="http://schemas.microsoft.com/office/drawing/2014/main" id="{8A7A1453-FCFD-478C-B7A4-717A7AF567FA}"/>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xmlns:a="http://schemas.openxmlformats.org/drawingml/2006/main">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prime-text-44">
            <a:extLst xmlns:a="http://schemas.openxmlformats.org/drawingml/2006/main">
              <a:ext uri="{FF2B5EF4-FFF2-40B4-BE49-F238E27FC236}">
                <a16:creationId xmlns:a16="http://schemas.microsoft.com/office/drawing/2014/main" id="{C60580DA-1820-435E-828F-E2FA2CB83113}"/>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xmlns:a="http://schemas.openxmlformats.org/drawingml/2006/main">
            <a:pPr algn="r">
              <a:defRPr sz="1200" b="0">
                <a:solidFill>
                  <a:srgbClr val="53676D"/>
                </a:solidFill>
                <a:latin typeface="Arial"/>
                <a:ea typeface="Arial"/>
                <a:cs typeface="Arial"/>
              </a:defRPr>
            </a:pPr>
            <a:r>
              <a:rPr sz="1200" b="0">
                <a:solidFill>
                  <a:srgbClr val="53676D"/>
                </a:solidFill>
                <a:latin typeface="Arial"/>
                <a:ea typeface="Arial"/>
                <a:cs typeface="Arial"/>
              </a:rPr>
              <a:t>12</a:t>
            </a:r>
          </a:p>
        </p:txBody>
      </p:sp>
      <p:sp>
        <p:nvSpPr>
          <p:cNvPr id="5" name="prime-text-45">
            <a:extLst xmlns:a="http://schemas.openxmlformats.org/drawingml/2006/main">
              <a:ext uri="{FF2B5EF4-FFF2-40B4-BE49-F238E27FC236}">
                <a16:creationId xmlns:a16="http://schemas.microsoft.com/office/drawing/2014/main" id="{62C99B41-08D0-4263-B817-08BEBD2352AF}"/>
              </a:ext>
            </a:extLst>
          </p:cNvPr>
          <p:cNvSpPr>
            <a:spLocks xmlns:a="http://schemas.openxmlformats.org/drawingml/2006/main" noGrp="1"/>
          </p:cNvSpPr>
          <p:nvPr/>
        </p:nvSpPr>
        <p:spPr>
          <a:xfrm xmlns:a="http://schemas.openxmlformats.org/drawingml/2006/main">
            <a:off x="609600" y="2247900"/>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6C6B"/>
                </a:solidFill>
                <a:latin typeface="Arial"/>
                <a:ea typeface="Arial"/>
                <a:cs typeface="Arial"/>
              </a:defRPr>
            </a:defPPr>
            <a:lvl1pPr algn="l">
              <a:defRPr sz="2175" b="1">
                <a:solidFill>
                  <a:srgbClr val="176C6B"/>
                </a:solidFill>
                <a:latin typeface="Arial"/>
                <a:ea typeface="Arial"/>
                <a:cs typeface="Arial"/>
              </a:defRPr>
            </a:lvl1pPr>
            <a:lvl2pPr algn="l">
              <a:defRPr sz="2175" b="1">
                <a:solidFill>
                  <a:srgbClr val="176C6B"/>
                </a:solidFill>
                <a:latin typeface="Arial"/>
                <a:ea typeface="Arial"/>
                <a:cs typeface="Arial"/>
              </a:defRPr>
            </a:lvl2pPr>
            <a:lvl3pPr algn="l">
              <a:defRPr sz="2175" b="1">
                <a:solidFill>
                  <a:srgbClr val="176C6B"/>
                </a:solidFill>
                <a:latin typeface="Arial"/>
                <a:ea typeface="Arial"/>
                <a:cs typeface="Arial"/>
              </a:defRPr>
            </a:lvl3pPr>
            <a:lvl4pPr algn="l">
              <a:defRPr sz="2175" b="1">
                <a:solidFill>
                  <a:srgbClr val="176C6B"/>
                </a:solidFill>
                <a:latin typeface="Arial"/>
                <a:ea typeface="Arial"/>
                <a:cs typeface="Arial"/>
              </a:defRPr>
            </a:lvl4pPr>
            <a:lvl5pPr algn="l">
              <a:defRPr sz="2175" b="1">
                <a:solidFill>
                  <a:srgbClr val="176C6B"/>
                </a:solidFill>
                <a:latin typeface="Arial"/>
                <a:ea typeface="Arial"/>
                <a:cs typeface="Arial"/>
              </a:defRPr>
            </a:lvl5pPr>
            <a:lvl6pPr algn="l">
              <a:defRPr sz="2175" b="1">
                <a:solidFill>
                  <a:srgbClr val="176C6B"/>
                </a:solidFill>
                <a:latin typeface="Arial"/>
                <a:ea typeface="Arial"/>
                <a:cs typeface="Arial"/>
              </a:defRPr>
            </a:lvl6pPr>
            <a:lvl7pPr algn="l">
              <a:defRPr sz="2175" b="1">
                <a:solidFill>
                  <a:srgbClr val="176C6B"/>
                </a:solidFill>
                <a:latin typeface="Arial"/>
                <a:ea typeface="Arial"/>
                <a:cs typeface="Arial"/>
              </a:defRPr>
            </a:lvl7pPr>
            <a:lvl8pPr algn="l">
              <a:defRPr sz="2175" b="1">
                <a:solidFill>
                  <a:srgbClr val="176C6B"/>
                </a:solidFill>
                <a:latin typeface="Arial"/>
                <a:ea typeface="Arial"/>
                <a:cs typeface="Arial"/>
              </a:defRPr>
            </a:lvl8pPr>
            <a:lvl9pPr algn="l">
              <a:defRPr sz="2175" b="1">
                <a:solidFill>
                  <a:srgbClr val="176C6B"/>
                </a:solidFill>
                <a:latin typeface="Arial"/>
                <a:ea typeface="Arial"/>
                <a:cs typeface="Arial"/>
              </a:defRPr>
            </a:lvl9pPr>
          </a:lstStyle>
          <a:p xmlns:a="http://schemas.openxmlformats.org/drawingml/2006/main">
            <a:pPr algn="l">
              <a:defRPr sz="2175" b="1">
                <a:solidFill>
                  <a:srgbClr val="176C6B"/>
                </a:solidFill>
                <a:latin typeface="Arial"/>
                <a:ea typeface="Arial"/>
                <a:cs typeface="Arial"/>
              </a:defRPr>
            </a:pPr>
            <a:r>
              <a:rPr sz="2175" b="1">
                <a:solidFill>
                  <a:srgbClr val="176C6B"/>
                </a:solidFill>
                <a:latin typeface="Arial"/>
                <a:ea typeface="Arial"/>
                <a:cs typeface="Arial"/>
              </a:rPr>
              <a:t>Current foundation</a:t>
            </a:r>
          </a:p>
        </p:txBody>
      </p:sp>
      <p:sp>
        <p:nvSpPr>
          <p:cNvPr id="6" name="prime-text-46">
            <a:extLst xmlns:a="http://schemas.openxmlformats.org/drawingml/2006/main">
              <a:ext uri="{FF2B5EF4-FFF2-40B4-BE49-F238E27FC236}">
                <a16:creationId xmlns:a16="http://schemas.microsoft.com/office/drawing/2014/main" id="{4479F666-6409-4308-957B-F38A625E5C64}"/>
              </a:ext>
            </a:extLst>
          </p:cNvPr>
          <p:cNvSpPr>
            <a:spLocks xmlns:a="http://schemas.openxmlformats.org/drawingml/2006/main" noGrp="1"/>
          </p:cNvSpPr>
          <p:nvPr/>
        </p:nvSpPr>
        <p:spPr>
          <a:xfrm xmlns:a="http://schemas.openxmlformats.org/drawingml/2006/main">
            <a:off x="609600" y="2857500"/>
            <a:ext cx="409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xmlns:a="http://schemas.openxmlformats.org/drawingml/2006/main">
            <a:pPr algn="l">
              <a:defRPr sz="1950" b="0">
                <a:solidFill>
                  <a:srgbClr val="183440"/>
                </a:solidFill>
                <a:latin typeface="Arial"/>
                <a:ea typeface="Arial"/>
                <a:cs typeface="Arial"/>
              </a:defRPr>
            </a:pPr>
            <a:r>
              <a:rPr sz="1950" b="0">
                <a:solidFill>
                  <a:srgbClr val="183440"/>
                </a:solidFill>
                <a:latin typeface="Arial"/>
                <a:ea typeface="Arial"/>
                <a:cs typeface="Arial"/>
              </a:rPr>
              <a:t>Receipt concept and lifecycle models</a:t>
            </a:r>
          </a:p>
          <a:p xmlns:a="http://schemas.openxmlformats.org/drawingml/2006/main">
            <a:pPr algn="l">
              <a:defRPr sz="1950" b="0">
                <a:solidFill>
                  <a:srgbClr val="183440"/>
                </a:solidFill>
                <a:latin typeface="Arial"/>
                <a:ea typeface="Arial"/>
                <a:cs typeface="Arial"/>
              </a:defRPr>
            </a:pPr>
            <a:r>
              <a:rPr sz="1950" b="0">
                <a:solidFill>
                  <a:srgbClr val="183440"/>
                </a:solidFill>
                <a:latin typeface="Arial"/>
                <a:ea typeface="Arial"/>
                <a:cs typeface="Arial"/>
              </a:rPr>
              <a:t>Trade and ledger test harness</a:t>
            </a:r>
          </a:p>
          <a:p xmlns:a="http://schemas.openxmlformats.org/drawingml/2006/main">
            <a:pPr algn="l">
              <a:defRPr sz="1950" b="0">
                <a:solidFill>
                  <a:srgbClr val="183440"/>
                </a:solidFill>
                <a:latin typeface="Arial"/>
                <a:ea typeface="Arial"/>
                <a:cs typeface="Arial"/>
              </a:defRPr>
            </a:pPr>
            <a:r>
              <a:rPr sz="1950" b="0">
                <a:solidFill>
                  <a:srgbClr val="183440"/>
                </a:solidFill>
                <a:latin typeface="Arial"/>
                <a:ea typeface="Arial"/>
                <a:cs typeface="Arial"/>
              </a:rPr>
              <a:t>Target cash-rail architecture</a:t>
            </a:r>
          </a:p>
        </p:txBody>
      </p:sp>
      <p:sp>
        <p:nvSpPr>
          <p:cNvPr id="7" name="prime-text-47">
            <a:extLst xmlns:a="http://schemas.openxmlformats.org/drawingml/2006/main">
              <a:ext uri="{FF2B5EF4-FFF2-40B4-BE49-F238E27FC236}">
                <a16:creationId xmlns:a16="http://schemas.microsoft.com/office/drawing/2014/main" id="{2DA5458D-862B-4262-A760-D71C353A4A47}"/>
              </a:ext>
            </a:extLst>
          </p:cNvPr>
          <p:cNvSpPr>
            <a:spLocks xmlns:a="http://schemas.openxmlformats.org/drawingml/2006/main" noGrp="1"/>
          </p:cNvSpPr>
          <p:nvPr/>
        </p:nvSpPr>
        <p:spPr>
          <a:xfrm xmlns:a="http://schemas.openxmlformats.org/drawingml/2006/main">
            <a:off x="609600" y="4314825"/>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AC8743"/>
                </a:solidFill>
                <a:latin typeface="Arial"/>
                <a:ea typeface="Arial"/>
                <a:cs typeface="Arial"/>
              </a:defRPr>
            </a:defPPr>
            <a:lvl1pPr algn="l">
              <a:defRPr sz="2175" b="1">
                <a:solidFill>
                  <a:srgbClr val="AC8743"/>
                </a:solidFill>
                <a:latin typeface="Arial"/>
                <a:ea typeface="Arial"/>
                <a:cs typeface="Arial"/>
              </a:defRPr>
            </a:lvl1pPr>
            <a:lvl2pPr algn="l">
              <a:defRPr sz="2175" b="1">
                <a:solidFill>
                  <a:srgbClr val="AC8743"/>
                </a:solidFill>
                <a:latin typeface="Arial"/>
                <a:ea typeface="Arial"/>
                <a:cs typeface="Arial"/>
              </a:defRPr>
            </a:lvl2pPr>
            <a:lvl3pPr algn="l">
              <a:defRPr sz="2175" b="1">
                <a:solidFill>
                  <a:srgbClr val="AC8743"/>
                </a:solidFill>
                <a:latin typeface="Arial"/>
                <a:ea typeface="Arial"/>
                <a:cs typeface="Arial"/>
              </a:defRPr>
            </a:lvl3pPr>
            <a:lvl4pPr algn="l">
              <a:defRPr sz="2175" b="1">
                <a:solidFill>
                  <a:srgbClr val="AC8743"/>
                </a:solidFill>
                <a:latin typeface="Arial"/>
                <a:ea typeface="Arial"/>
                <a:cs typeface="Arial"/>
              </a:defRPr>
            </a:lvl4pPr>
            <a:lvl5pPr algn="l">
              <a:defRPr sz="2175" b="1">
                <a:solidFill>
                  <a:srgbClr val="AC8743"/>
                </a:solidFill>
                <a:latin typeface="Arial"/>
                <a:ea typeface="Arial"/>
                <a:cs typeface="Arial"/>
              </a:defRPr>
            </a:lvl5pPr>
            <a:lvl6pPr algn="l">
              <a:defRPr sz="2175" b="1">
                <a:solidFill>
                  <a:srgbClr val="AC8743"/>
                </a:solidFill>
                <a:latin typeface="Arial"/>
                <a:ea typeface="Arial"/>
                <a:cs typeface="Arial"/>
              </a:defRPr>
            </a:lvl6pPr>
            <a:lvl7pPr algn="l">
              <a:defRPr sz="2175" b="1">
                <a:solidFill>
                  <a:srgbClr val="AC8743"/>
                </a:solidFill>
                <a:latin typeface="Arial"/>
                <a:ea typeface="Arial"/>
                <a:cs typeface="Arial"/>
              </a:defRPr>
            </a:lvl7pPr>
            <a:lvl8pPr algn="l">
              <a:defRPr sz="2175" b="1">
                <a:solidFill>
                  <a:srgbClr val="AC8743"/>
                </a:solidFill>
                <a:latin typeface="Arial"/>
                <a:ea typeface="Arial"/>
                <a:cs typeface="Arial"/>
              </a:defRPr>
            </a:lvl8pPr>
            <a:lvl9pPr algn="l">
              <a:defRPr sz="2175" b="1">
                <a:solidFill>
                  <a:srgbClr val="AC8743"/>
                </a:solidFill>
                <a:latin typeface="Arial"/>
                <a:ea typeface="Arial"/>
                <a:cs typeface="Arial"/>
              </a:defRPr>
            </a:lvl9pPr>
          </a:lstStyle>
          <a:p xmlns:a="http://schemas.openxmlformats.org/drawingml/2006/main">
            <a:pPr algn="l">
              <a:defRPr sz="2175" b="1">
                <a:solidFill>
                  <a:srgbClr val="AC8743"/>
                </a:solidFill>
                <a:latin typeface="Arial"/>
                <a:ea typeface="Arial"/>
                <a:cs typeface="Arial"/>
              </a:defRPr>
            </a:pPr>
            <a:r>
              <a:rPr sz="2175" b="1">
                <a:solidFill>
                  <a:srgbClr val="AC8743"/>
                </a:solidFill>
                <a:latin typeface="Arial"/>
                <a:ea typeface="Arial"/>
                <a:cs typeface="Arial"/>
              </a:rPr>
              <a:t>Controls before launch</a:t>
            </a:r>
          </a:p>
        </p:txBody>
      </p:sp>
      <p:sp>
        <p:nvSpPr>
          <p:cNvPr id="8" name="prime-text-48">
            <a:extLst xmlns:a="http://schemas.openxmlformats.org/drawingml/2006/main">
              <a:ext uri="{FF2B5EF4-FFF2-40B4-BE49-F238E27FC236}">
                <a16:creationId xmlns:a16="http://schemas.microsoft.com/office/drawing/2014/main" id="{632B1EE6-CFE5-4778-9DC9-F0E692C31F53}"/>
              </a:ext>
            </a:extLst>
          </p:cNvPr>
          <p:cNvSpPr>
            <a:spLocks xmlns:a="http://schemas.openxmlformats.org/drawingml/2006/main" noGrp="1"/>
          </p:cNvSpPr>
          <p:nvPr/>
        </p:nvSpPr>
        <p:spPr>
          <a:xfrm xmlns:a="http://schemas.openxmlformats.org/drawingml/2006/main">
            <a:off x="609600" y="4876800"/>
            <a:ext cx="409575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83440"/>
                </a:solidFill>
                <a:latin typeface="Arial"/>
                <a:ea typeface="Arial"/>
                <a:cs typeface="Arial"/>
              </a:defRPr>
            </a:defPPr>
            <a:lvl1pPr algn="l">
              <a:defRPr sz="1875" b="0">
                <a:solidFill>
                  <a:srgbClr val="183440"/>
                </a:solidFill>
                <a:latin typeface="Arial"/>
                <a:ea typeface="Arial"/>
                <a:cs typeface="Arial"/>
              </a:defRPr>
            </a:lvl1pPr>
            <a:lvl2pPr algn="l">
              <a:defRPr sz="1875" b="0">
                <a:solidFill>
                  <a:srgbClr val="183440"/>
                </a:solidFill>
                <a:latin typeface="Arial"/>
                <a:ea typeface="Arial"/>
                <a:cs typeface="Arial"/>
              </a:defRPr>
            </a:lvl2pPr>
            <a:lvl3pPr algn="l">
              <a:defRPr sz="1875" b="0">
                <a:solidFill>
                  <a:srgbClr val="183440"/>
                </a:solidFill>
                <a:latin typeface="Arial"/>
                <a:ea typeface="Arial"/>
                <a:cs typeface="Arial"/>
              </a:defRPr>
            </a:lvl3pPr>
            <a:lvl4pPr algn="l">
              <a:defRPr sz="1875" b="0">
                <a:solidFill>
                  <a:srgbClr val="183440"/>
                </a:solidFill>
                <a:latin typeface="Arial"/>
                <a:ea typeface="Arial"/>
                <a:cs typeface="Arial"/>
              </a:defRPr>
            </a:lvl4pPr>
            <a:lvl5pPr algn="l">
              <a:defRPr sz="1875" b="0">
                <a:solidFill>
                  <a:srgbClr val="183440"/>
                </a:solidFill>
                <a:latin typeface="Arial"/>
                <a:ea typeface="Arial"/>
                <a:cs typeface="Arial"/>
              </a:defRPr>
            </a:lvl5pPr>
            <a:lvl6pPr algn="l">
              <a:defRPr sz="1875" b="0">
                <a:solidFill>
                  <a:srgbClr val="183440"/>
                </a:solidFill>
                <a:latin typeface="Arial"/>
                <a:ea typeface="Arial"/>
                <a:cs typeface="Arial"/>
              </a:defRPr>
            </a:lvl6pPr>
            <a:lvl7pPr algn="l">
              <a:defRPr sz="1875" b="0">
                <a:solidFill>
                  <a:srgbClr val="183440"/>
                </a:solidFill>
                <a:latin typeface="Arial"/>
                <a:ea typeface="Arial"/>
                <a:cs typeface="Arial"/>
              </a:defRPr>
            </a:lvl7pPr>
            <a:lvl8pPr algn="l">
              <a:defRPr sz="1875" b="0">
                <a:solidFill>
                  <a:srgbClr val="183440"/>
                </a:solidFill>
                <a:latin typeface="Arial"/>
                <a:ea typeface="Arial"/>
                <a:cs typeface="Arial"/>
              </a:defRPr>
            </a:lvl8pPr>
            <a:lvl9pPr algn="l">
              <a:defRPr sz="1875" b="0">
                <a:solidFill>
                  <a:srgbClr val="183440"/>
                </a:solidFill>
                <a:latin typeface="Arial"/>
                <a:ea typeface="Arial"/>
                <a:cs typeface="Arial"/>
              </a:defRPr>
            </a:lvl9pPr>
          </a:lstStyle>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Programme rights and permissions</a:t>
            </a:r>
          </a:p>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Custody proof and reconciliation</a:t>
            </a:r>
          </a:p>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Cash finality, audits and recovery</a:t>
            </a:r>
          </a:p>
        </p:txBody>
      </p:sp>
      <p:sp>
        <p:nvSpPr>
          <p:cNvPr id="9" name="prime-text-49">
            <a:extLst xmlns:a="http://schemas.openxmlformats.org/drawingml/2006/main">
              <a:ext uri="{FF2B5EF4-FFF2-40B4-BE49-F238E27FC236}">
                <a16:creationId xmlns:a16="http://schemas.microsoft.com/office/drawing/2014/main" id="{CEFA0D25-ABA2-49F3-ACC6-27D8EDA73F87}"/>
              </a:ext>
            </a:extLst>
          </p:cNvPr>
          <p:cNvSpPr>
            <a:spLocks xmlns:a="http://schemas.openxmlformats.org/drawingml/2006/main" noGrp="1"/>
          </p:cNvSpPr>
          <p:nvPr/>
        </p:nvSpPr>
        <p:spPr>
          <a:xfrm xmlns:a="http://schemas.openxmlformats.org/drawingml/2006/main">
            <a:off x="5543550" y="2238375"/>
            <a:ext cx="603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AC8743"/>
                </a:solidFill>
                <a:latin typeface="Arial"/>
                <a:ea typeface="Arial"/>
                <a:cs typeface="Arial"/>
              </a:defRPr>
            </a:defPPr>
            <a:lvl1pPr algn="l">
              <a:defRPr sz="1800" b="1">
                <a:solidFill>
                  <a:srgbClr val="AC8743"/>
                </a:solidFill>
                <a:latin typeface="Arial"/>
                <a:ea typeface="Arial"/>
                <a:cs typeface="Arial"/>
              </a:defRPr>
            </a:lvl1pPr>
            <a:lvl2pPr algn="l">
              <a:defRPr sz="1800" b="1">
                <a:solidFill>
                  <a:srgbClr val="AC8743"/>
                </a:solidFill>
                <a:latin typeface="Arial"/>
                <a:ea typeface="Arial"/>
                <a:cs typeface="Arial"/>
              </a:defRPr>
            </a:lvl2pPr>
            <a:lvl3pPr algn="l">
              <a:defRPr sz="1800" b="1">
                <a:solidFill>
                  <a:srgbClr val="AC8743"/>
                </a:solidFill>
                <a:latin typeface="Arial"/>
                <a:ea typeface="Arial"/>
                <a:cs typeface="Arial"/>
              </a:defRPr>
            </a:lvl3pPr>
            <a:lvl4pPr algn="l">
              <a:defRPr sz="1800" b="1">
                <a:solidFill>
                  <a:srgbClr val="AC8743"/>
                </a:solidFill>
                <a:latin typeface="Arial"/>
                <a:ea typeface="Arial"/>
                <a:cs typeface="Arial"/>
              </a:defRPr>
            </a:lvl4pPr>
            <a:lvl5pPr algn="l">
              <a:defRPr sz="1800" b="1">
                <a:solidFill>
                  <a:srgbClr val="AC8743"/>
                </a:solidFill>
                <a:latin typeface="Arial"/>
                <a:ea typeface="Arial"/>
                <a:cs typeface="Arial"/>
              </a:defRPr>
            </a:lvl5pPr>
            <a:lvl6pPr algn="l">
              <a:defRPr sz="1800" b="1">
                <a:solidFill>
                  <a:srgbClr val="AC8743"/>
                </a:solidFill>
                <a:latin typeface="Arial"/>
                <a:ea typeface="Arial"/>
                <a:cs typeface="Arial"/>
              </a:defRPr>
            </a:lvl6pPr>
            <a:lvl7pPr algn="l">
              <a:defRPr sz="1800" b="1">
                <a:solidFill>
                  <a:srgbClr val="AC8743"/>
                </a:solidFill>
                <a:latin typeface="Arial"/>
                <a:ea typeface="Arial"/>
                <a:cs typeface="Arial"/>
              </a:defRPr>
            </a:lvl7pPr>
            <a:lvl8pPr algn="l">
              <a:defRPr sz="1800" b="1">
                <a:solidFill>
                  <a:srgbClr val="AC8743"/>
                </a:solidFill>
                <a:latin typeface="Arial"/>
                <a:ea typeface="Arial"/>
                <a:cs typeface="Arial"/>
              </a:defRPr>
            </a:lvl8pPr>
            <a:lvl9pPr algn="l">
              <a:defRPr sz="1800" b="1">
                <a:solidFill>
                  <a:srgbClr val="AC8743"/>
                </a:solidFill>
                <a:latin typeface="Arial"/>
                <a:ea typeface="Arial"/>
                <a:cs typeface="Arial"/>
              </a:defRPr>
            </a:lvl9pPr>
          </a:lstStyle>
          <a:p xmlns:a="http://schemas.openxmlformats.org/drawingml/2006/main">
            <a:pPr algn="l">
              <a:defRPr sz="1800" b="1">
                <a:solidFill>
                  <a:srgbClr val="AC8743"/>
                </a:solidFill>
                <a:latin typeface="Arial"/>
                <a:ea typeface="Arial"/>
                <a:cs typeface="Arial"/>
              </a:defRPr>
            </a:pPr>
            <a:r>
              <a:rPr sz="1800" b="1">
                <a:solidFill>
                  <a:srgbClr val="AC8743"/>
                </a:solidFill>
                <a:latin typeface="Arial"/>
                <a:ea typeface="Arial"/>
                <a:cs typeface="Arial"/>
              </a:rPr>
              <a:t>Months 0-6</a:t>
            </a:r>
          </a:p>
        </p:txBody>
      </p:sp>
      <p:sp>
        <p:nvSpPr>
          <p:cNvPr id="10" name="prime-text-50">
            <a:extLst xmlns:a="http://schemas.openxmlformats.org/drawingml/2006/main">
              <a:ext uri="{FF2B5EF4-FFF2-40B4-BE49-F238E27FC236}">
                <a16:creationId xmlns:a16="http://schemas.microsoft.com/office/drawing/2014/main" id="{529CD140-D701-467C-B9FD-61D399904278}"/>
              </a:ext>
            </a:extLst>
          </p:cNvPr>
          <p:cNvSpPr>
            <a:spLocks xmlns:a="http://schemas.openxmlformats.org/drawingml/2006/main" noGrp="1"/>
          </p:cNvSpPr>
          <p:nvPr/>
        </p:nvSpPr>
        <p:spPr>
          <a:xfrm xmlns:a="http://schemas.openxmlformats.org/drawingml/2006/main">
            <a:off x="5543550" y="2638425"/>
            <a:ext cx="603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xmlns:a="http://schemas.openxmlformats.org/drawingml/2006/main">
            <a:pPr algn="l">
              <a:defRPr sz="2100" b="1">
                <a:solidFill>
                  <a:srgbClr val="183440"/>
                </a:solidFill>
                <a:latin typeface="Arial"/>
                <a:ea typeface="Arial"/>
                <a:cs typeface="Arial"/>
              </a:defRPr>
            </a:pPr>
            <a:r>
              <a:rPr sz="2100" b="1">
                <a:solidFill>
                  <a:srgbClr val="183440"/>
                </a:solidFill>
                <a:latin typeface="Arial"/>
                <a:ea typeface="Arial"/>
                <a:cs typeface="Arial"/>
              </a:rPr>
              <a:t>Sponsor and programme terms</a:t>
            </a:r>
          </a:p>
        </p:txBody>
      </p:sp>
      <p:sp>
        <p:nvSpPr>
          <p:cNvPr id="11" name="prime-text-51">
            <a:extLst xmlns:a="http://schemas.openxmlformats.org/drawingml/2006/main">
              <a:ext uri="{FF2B5EF4-FFF2-40B4-BE49-F238E27FC236}">
                <a16:creationId xmlns:a16="http://schemas.microsoft.com/office/drawing/2014/main" id="{B7ADD03C-4040-4B21-82E3-52D1C06DA00F}"/>
              </a:ext>
            </a:extLst>
          </p:cNvPr>
          <p:cNvSpPr>
            <a:spLocks xmlns:a="http://schemas.openxmlformats.org/drawingml/2006/main" noGrp="1"/>
          </p:cNvSpPr>
          <p:nvPr/>
        </p:nvSpPr>
        <p:spPr>
          <a:xfrm xmlns:a="http://schemas.openxmlformats.org/drawingml/2006/main">
            <a:off x="5543550" y="3076575"/>
            <a:ext cx="603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3676D"/>
                </a:solidFill>
                <a:latin typeface="Arial"/>
                <a:ea typeface="Arial"/>
                <a:cs typeface="Arial"/>
              </a:defRPr>
            </a:defPPr>
            <a:lvl1pPr algn="l">
              <a:defRPr sz="1725" b="0">
                <a:solidFill>
                  <a:srgbClr val="53676D"/>
                </a:solidFill>
                <a:latin typeface="Arial"/>
                <a:ea typeface="Arial"/>
                <a:cs typeface="Arial"/>
              </a:defRPr>
            </a:lvl1pPr>
            <a:lvl2pPr algn="l">
              <a:defRPr sz="1725" b="0">
                <a:solidFill>
                  <a:srgbClr val="53676D"/>
                </a:solidFill>
                <a:latin typeface="Arial"/>
                <a:ea typeface="Arial"/>
                <a:cs typeface="Arial"/>
              </a:defRPr>
            </a:lvl2pPr>
            <a:lvl3pPr algn="l">
              <a:defRPr sz="1725" b="0">
                <a:solidFill>
                  <a:srgbClr val="53676D"/>
                </a:solidFill>
                <a:latin typeface="Arial"/>
                <a:ea typeface="Arial"/>
                <a:cs typeface="Arial"/>
              </a:defRPr>
            </a:lvl3pPr>
            <a:lvl4pPr algn="l">
              <a:defRPr sz="1725" b="0">
                <a:solidFill>
                  <a:srgbClr val="53676D"/>
                </a:solidFill>
                <a:latin typeface="Arial"/>
                <a:ea typeface="Arial"/>
                <a:cs typeface="Arial"/>
              </a:defRPr>
            </a:lvl4pPr>
            <a:lvl5pPr algn="l">
              <a:defRPr sz="1725" b="0">
                <a:solidFill>
                  <a:srgbClr val="53676D"/>
                </a:solidFill>
                <a:latin typeface="Arial"/>
                <a:ea typeface="Arial"/>
                <a:cs typeface="Arial"/>
              </a:defRPr>
            </a:lvl5pPr>
            <a:lvl6pPr algn="l">
              <a:defRPr sz="1725" b="0">
                <a:solidFill>
                  <a:srgbClr val="53676D"/>
                </a:solidFill>
                <a:latin typeface="Arial"/>
                <a:ea typeface="Arial"/>
                <a:cs typeface="Arial"/>
              </a:defRPr>
            </a:lvl6pPr>
            <a:lvl7pPr algn="l">
              <a:defRPr sz="1725" b="0">
                <a:solidFill>
                  <a:srgbClr val="53676D"/>
                </a:solidFill>
                <a:latin typeface="Arial"/>
                <a:ea typeface="Arial"/>
                <a:cs typeface="Arial"/>
              </a:defRPr>
            </a:lvl7pPr>
            <a:lvl8pPr algn="l">
              <a:defRPr sz="1725" b="0">
                <a:solidFill>
                  <a:srgbClr val="53676D"/>
                </a:solidFill>
                <a:latin typeface="Arial"/>
                <a:ea typeface="Arial"/>
                <a:cs typeface="Arial"/>
              </a:defRPr>
            </a:lvl8pPr>
            <a:lvl9pPr algn="l">
              <a:defRPr sz="1725" b="0">
                <a:solidFill>
                  <a:srgbClr val="53676D"/>
                </a:solidFill>
                <a:latin typeface="Arial"/>
                <a:ea typeface="Arial"/>
                <a:cs typeface="Arial"/>
              </a:defRPr>
            </a:lvl9pPr>
          </a:lstStyle>
          <a:p xmlns:a="http://schemas.openxmlformats.org/drawingml/2006/main">
            <a:pPr algn="l">
              <a:defRPr sz="1725" b="0">
                <a:solidFill>
                  <a:srgbClr val="53676D"/>
                </a:solidFill>
                <a:latin typeface="Arial"/>
                <a:ea typeface="Arial"/>
                <a:cs typeface="Arial"/>
              </a:defRPr>
            </a:pPr>
            <a:r>
              <a:rPr sz="1725" b="0">
                <a:solidFill>
                  <a:srgbClr val="53676D"/>
                </a:solidFill>
                <a:latin typeface="Arial"/>
                <a:ea typeface="Arial"/>
                <a:cs typeface="Arial"/>
              </a:rPr>
              <a:t>Jurisdiction, rights and priced cash routes</a:t>
            </a:r>
          </a:p>
        </p:txBody>
      </p:sp>
      <p:sp>
        <p:nvSpPr>
          <p:cNvPr id="12" name="prime-rule-52">
            <a:extLst xmlns:a="http://schemas.openxmlformats.org/drawingml/2006/main">
              <a:ext uri="{FF2B5EF4-FFF2-40B4-BE49-F238E27FC236}">
                <a16:creationId xmlns:a16="http://schemas.microsoft.com/office/drawing/2014/main" id="{5665490C-5327-44BC-995C-52FC75C900B3}"/>
              </a:ext>
            </a:extLst>
          </p:cNvPr>
          <p:cNvSpPr>
            <a:spLocks xmlns:a="http://schemas.openxmlformats.org/drawingml/2006/main" noGrp="1"/>
          </p:cNvSpPr>
          <p:nvPr/>
        </p:nvSpPr>
        <p:spPr>
          <a:xfrm xmlns:a="http://schemas.openxmlformats.org/drawingml/2006/main">
            <a:off x="5543550" y="3400425"/>
            <a:ext cx="6038850" cy="0"/>
          </a:xfrm>
          <a:prstGeom xmlns:a="http://schemas.openxmlformats.org/drawingml/2006/main" prst="line">
            <a:avLst/>
          </a:prstGeom>
          <a:noFill xmlns:a="http://schemas.openxmlformats.org/drawingml/2006/main"/>
          <a:ln xmlns:a="http://schemas.openxmlformats.org/drawingml/2006/main" w="11430">
            <a:solidFill>
              <a:srgbClr val="CFD7D1"/>
            </a:solidFill>
            <a:prstDash val="solid"/>
          </a:ln>
        </p:spPr>
      </p:sp>
      <p:sp>
        <p:nvSpPr>
          <p:cNvPr id="13" name="prime-text-53">
            <a:extLst xmlns:a="http://schemas.openxmlformats.org/drawingml/2006/main">
              <a:ext uri="{FF2B5EF4-FFF2-40B4-BE49-F238E27FC236}">
                <a16:creationId xmlns:a16="http://schemas.microsoft.com/office/drawing/2014/main" id="{7EA36E9C-0305-4C21-B53A-30688FA307E5}"/>
              </a:ext>
            </a:extLst>
          </p:cNvPr>
          <p:cNvSpPr>
            <a:spLocks xmlns:a="http://schemas.openxmlformats.org/drawingml/2006/main" noGrp="1"/>
          </p:cNvSpPr>
          <p:nvPr/>
        </p:nvSpPr>
        <p:spPr>
          <a:xfrm xmlns:a="http://schemas.openxmlformats.org/drawingml/2006/main">
            <a:off x="5543550" y="3476625"/>
            <a:ext cx="603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AC8743"/>
                </a:solidFill>
                <a:latin typeface="Arial"/>
                <a:ea typeface="Arial"/>
                <a:cs typeface="Arial"/>
              </a:defRPr>
            </a:defPPr>
            <a:lvl1pPr algn="l">
              <a:defRPr sz="1800" b="1">
                <a:solidFill>
                  <a:srgbClr val="AC8743"/>
                </a:solidFill>
                <a:latin typeface="Arial"/>
                <a:ea typeface="Arial"/>
                <a:cs typeface="Arial"/>
              </a:defRPr>
            </a:lvl1pPr>
            <a:lvl2pPr algn="l">
              <a:defRPr sz="1800" b="1">
                <a:solidFill>
                  <a:srgbClr val="AC8743"/>
                </a:solidFill>
                <a:latin typeface="Arial"/>
                <a:ea typeface="Arial"/>
                <a:cs typeface="Arial"/>
              </a:defRPr>
            </a:lvl2pPr>
            <a:lvl3pPr algn="l">
              <a:defRPr sz="1800" b="1">
                <a:solidFill>
                  <a:srgbClr val="AC8743"/>
                </a:solidFill>
                <a:latin typeface="Arial"/>
                <a:ea typeface="Arial"/>
                <a:cs typeface="Arial"/>
              </a:defRPr>
            </a:lvl3pPr>
            <a:lvl4pPr algn="l">
              <a:defRPr sz="1800" b="1">
                <a:solidFill>
                  <a:srgbClr val="AC8743"/>
                </a:solidFill>
                <a:latin typeface="Arial"/>
                <a:ea typeface="Arial"/>
                <a:cs typeface="Arial"/>
              </a:defRPr>
            </a:lvl4pPr>
            <a:lvl5pPr algn="l">
              <a:defRPr sz="1800" b="1">
                <a:solidFill>
                  <a:srgbClr val="AC8743"/>
                </a:solidFill>
                <a:latin typeface="Arial"/>
                <a:ea typeface="Arial"/>
                <a:cs typeface="Arial"/>
              </a:defRPr>
            </a:lvl5pPr>
            <a:lvl6pPr algn="l">
              <a:defRPr sz="1800" b="1">
                <a:solidFill>
                  <a:srgbClr val="AC8743"/>
                </a:solidFill>
                <a:latin typeface="Arial"/>
                <a:ea typeface="Arial"/>
                <a:cs typeface="Arial"/>
              </a:defRPr>
            </a:lvl6pPr>
            <a:lvl7pPr algn="l">
              <a:defRPr sz="1800" b="1">
                <a:solidFill>
                  <a:srgbClr val="AC8743"/>
                </a:solidFill>
                <a:latin typeface="Arial"/>
                <a:ea typeface="Arial"/>
                <a:cs typeface="Arial"/>
              </a:defRPr>
            </a:lvl7pPr>
            <a:lvl8pPr algn="l">
              <a:defRPr sz="1800" b="1">
                <a:solidFill>
                  <a:srgbClr val="AC8743"/>
                </a:solidFill>
                <a:latin typeface="Arial"/>
                <a:ea typeface="Arial"/>
                <a:cs typeface="Arial"/>
              </a:defRPr>
            </a:lvl8pPr>
            <a:lvl9pPr algn="l">
              <a:defRPr sz="1800" b="1">
                <a:solidFill>
                  <a:srgbClr val="AC8743"/>
                </a:solidFill>
                <a:latin typeface="Arial"/>
                <a:ea typeface="Arial"/>
                <a:cs typeface="Arial"/>
              </a:defRPr>
            </a:lvl9pPr>
          </a:lstStyle>
          <a:p xmlns:a="http://schemas.openxmlformats.org/drawingml/2006/main">
            <a:pPr algn="l">
              <a:defRPr sz="1800" b="1">
                <a:solidFill>
                  <a:srgbClr val="AC8743"/>
                </a:solidFill>
                <a:latin typeface="Arial"/>
                <a:ea typeface="Arial"/>
                <a:cs typeface="Arial"/>
              </a:defRPr>
            </a:pPr>
            <a:r>
              <a:rPr sz="1800" b="1">
                <a:solidFill>
                  <a:srgbClr val="AC8743"/>
                </a:solidFill>
                <a:latin typeface="Arial"/>
                <a:ea typeface="Arial"/>
                <a:cs typeface="Arial"/>
              </a:rPr>
              <a:t>Months 7-12</a:t>
            </a:r>
          </a:p>
        </p:txBody>
      </p:sp>
      <p:sp>
        <p:nvSpPr>
          <p:cNvPr id="14" name="prime-text-54">
            <a:extLst xmlns:a="http://schemas.openxmlformats.org/drawingml/2006/main">
              <a:ext uri="{FF2B5EF4-FFF2-40B4-BE49-F238E27FC236}">
                <a16:creationId xmlns:a16="http://schemas.microsoft.com/office/drawing/2014/main" id="{A29FF2F3-13B6-44DF-A2EB-F3BB7880641D}"/>
              </a:ext>
            </a:extLst>
          </p:cNvPr>
          <p:cNvSpPr>
            <a:spLocks xmlns:a="http://schemas.openxmlformats.org/drawingml/2006/main" noGrp="1"/>
          </p:cNvSpPr>
          <p:nvPr/>
        </p:nvSpPr>
        <p:spPr>
          <a:xfrm xmlns:a="http://schemas.openxmlformats.org/drawingml/2006/main">
            <a:off x="5543550" y="3876675"/>
            <a:ext cx="603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xmlns:a="http://schemas.openxmlformats.org/drawingml/2006/main">
            <a:pPr algn="l">
              <a:defRPr sz="2100" b="1">
                <a:solidFill>
                  <a:srgbClr val="183440"/>
                </a:solidFill>
                <a:latin typeface="Arial"/>
                <a:ea typeface="Arial"/>
                <a:cs typeface="Arial"/>
              </a:defRPr>
            </a:pPr>
            <a:r>
              <a:rPr sz="2100" b="1">
                <a:solidFill>
                  <a:srgbClr val="183440"/>
                </a:solidFill>
                <a:latin typeface="Arial"/>
                <a:ea typeface="Arial"/>
                <a:cs typeface="Arial"/>
              </a:rPr>
              <a:t>USDC route and receipt certification</a:t>
            </a:r>
          </a:p>
        </p:txBody>
      </p:sp>
      <p:sp>
        <p:nvSpPr>
          <p:cNvPr id="15" name="prime-text-55">
            <a:extLst xmlns:a="http://schemas.openxmlformats.org/drawingml/2006/main">
              <a:ext uri="{FF2B5EF4-FFF2-40B4-BE49-F238E27FC236}">
                <a16:creationId xmlns:a16="http://schemas.microsoft.com/office/drawing/2014/main" id="{A0262AD8-5E44-446E-A0B0-D48880724D9D}"/>
              </a:ext>
            </a:extLst>
          </p:cNvPr>
          <p:cNvSpPr>
            <a:spLocks xmlns:a="http://schemas.openxmlformats.org/drawingml/2006/main" noGrp="1"/>
          </p:cNvSpPr>
          <p:nvPr/>
        </p:nvSpPr>
        <p:spPr>
          <a:xfrm xmlns:a="http://schemas.openxmlformats.org/drawingml/2006/main">
            <a:off x="5543550" y="4314825"/>
            <a:ext cx="603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3676D"/>
                </a:solidFill>
                <a:latin typeface="Arial"/>
                <a:ea typeface="Arial"/>
                <a:cs typeface="Arial"/>
              </a:defRPr>
            </a:defPPr>
            <a:lvl1pPr algn="l">
              <a:defRPr sz="1725" b="0">
                <a:solidFill>
                  <a:srgbClr val="53676D"/>
                </a:solidFill>
                <a:latin typeface="Arial"/>
                <a:ea typeface="Arial"/>
                <a:cs typeface="Arial"/>
              </a:defRPr>
            </a:lvl1pPr>
            <a:lvl2pPr algn="l">
              <a:defRPr sz="1725" b="0">
                <a:solidFill>
                  <a:srgbClr val="53676D"/>
                </a:solidFill>
                <a:latin typeface="Arial"/>
                <a:ea typeface="Arial"/>
                <a:cs typeface="Arial"/>
              </a:defRPr>
            </a:lvl2pPr>
            <a:lvl3pPr algn="l">
              <a:defRPr sz="1725" b="0">
                <a:solidFill>
                  <a:srgbClr val="53676D"/>
                </a:solidFill>
                <a:latin typeface="Arial"/>
                <a:ea typeface="Arial"/>
                <a:cs typeface="Arial"/>
              </a:defRPr>
            </a:lvl3pPr>
            <a:lvl4pPr algn="l">
              <a:defRPr sz="1725" b="0">
                <a:solidFill>
                  <a:srgbClr val="53676D"/>
                </a:solidFill>
                <a:latin typeface="Arial"/>
                <a:ea typeface="Arial"/>
                <a:cs typeface="Arial"/>
              </a:defRPr>
            </a:lvl4pPr>
            <a:lvl5pPr algn="l">
              <a:defRPr sz="1725" b="0">
                <a:solidFill>
                  <a:srgbClr val="53676D"/>
                </a:solidFill>
                <a:latin typeface="Arial"/>
                <a:ea typeface="Arial"/>
                <a:cs typeface="Arial"/>
              </a:defRPr>
            </a:lvl5pPr>
            <a:lvl6pPr algn="l">
              <a:defRPr sz="1725" b="0">
                <a:solidFill>
                  <a:srgbClr val="53676D"/>
                </a:solidFill>
                <a:latin typeface="Arial"/>
                <a:ea typeface="Arial"/>
                <a:cs typeface="Arial"/>
              </a:defRPr>
            </a:lvl6pPr>
            <a:lvl7pPr algn="l">
              <a:defRPr sz="1725" b="0">
                <a:solidFill>
                  <a:srgbClr val="53676D"/>
                </a:solidFill>
                <a:latin typeface="Arial"/>
                <a:ea typeface="Arial"/>
                <a:cs typeface="Arial"/>
              </a:defRPr>
            </a:lvl7pPr>
            <a:lvl8pPr algn="l">
              <a:defRPr sz="1725" b="0">
                <a:solidFill>
                  <a:srgbClr val="53676D"/>
                </a:solidFill>
                <a:latin typeface="Arial"/>
                <a:ea typeface="Arial"/>
                <a:cs typeface="Arial"/>
              </a:defRPr>
            </a:lvl8pPr>
            <a:lvl9pPr algn="l">
              <a:defRPr sz="1725" b="0">
                <a:solidFill>
                  <a:srgbClr val="53676D"/>
                </a:solidFill>
                <a:latin typeface="Arial"/>
                <a:ea typeface="Arial"/>
                <a:cs typeface="Arial"/>
              </a:defRPr>
            </a:lvl9pPr>
          </a:lstStyle>
          <a:p xmlns:a="http://schemas.openxmlformats.org/drawingml/2006/main">
            <a:pPr algn="l">
              <a:defRPr sz="1725" b="0">
                <a:solidFill>
                  <a:srgbClr val="53676D"/>
                </a:solidFill>
                <a:latin typeface="Arial"/>
                <a:ea typeface="Arial"/>
                <a:cs typeface="Arial"/>
              </a:defRPr>
            </a:pPr>
            <a:r>
              <a:rPr sz="1725" b="0">
                <a:solidFill>
                  <a:srgbClr val="53676D"/>
                </a:solidFill>
                <a:latin typeface="Arial"/>
                <a:ea typeface="Arial"/>
                <a:cs typeface="Arial"/>
              </a:rPr>
              <a:t>Custody, security and operating acceptance</a:t>
            </a:r>
          </a:p>
        </p:txBody>
      </p:sp>
      <p:sp>
        <p:nvSpPr>
          <p:cNvPr id="16" name="prime-rule-56">
            <a:extLst xmlns:a="http://schemas.openxmlformats.org/drawingml/2006/main">
              <a:ext uri="{FF2B5EF4-FFF2-40B4-BE49-F238E27FC236}">
                <a16:creationId xmlns:a16="http://schemas.microsoft.com/office/drawing/2014/main" id="{36EF0394-B689-46E2-85FA-4C81B22785B1}"/>
              </a:ext>
            </a:extLst>
          </p:cNvPr>
          <p:cNvSpPr>
            <a:spLocks xmlns:a="http://schemas.openxmlformats.org/drawingml/2006/main" noGrp="1"/>
          </p:cNvSpPr>
          <p:nvPr/>
        </p:nvSpPr>
        <p:spPr>
          <a:xfrm xmlns:a="http://schemas.openxmlformats.org/drawingml/2006/main">
            <a:off x="5543550" y="4638675"/>
            <a:ext cx="6038850" cy="0"/>
          </a:xfrm>
          <a:prstGeom xmlns:a="http://schemas.openxmlformats.org/drawingml/2006/main" prst="line">
            <a:avLst/>
          </a:prstGeom>
          <a:noFill xmlns:a="http://schemas.openxmlformats.org/drawingml/2006/main"/>
          <a:ln xmlns:a="http://schemas.openxmlformats.org/drawingml/2006/main" w="11430">
            <a:solidFill>
              <a:srgbClr val="CFD7D1"/>
            </a:solidFill>
            <a:prstDash val="solid"/>
          </a:ln>
        </p:spPr>
      </p:sp>
      <p:sp>
        <p:nvSpPr>
          <p:cNvPr id="17" name="prime-text-57">
            <a:extLst xmlns:a="http://schemas.openxmlformats.org/drawingml/2006/main">
              <a:ext uri="{FF2B5EF4-FFF2-40B4-BE49-F238E27FC236}">
                <a16:creationId xmlns:a16="http://schemas.microsoft.com/office/drawing/2014/main" id="{EF5CAA08-239D-4F88-AC0F-FBA88B20F0D5}"/>
              </a:ext>
            </a:extLst>
          </p:cNvPr>
          <p:cNvSpPr>
            <a:spLocks xmlns:a="http://schemas.openxmlformats.org/drawingml/2006/main" noGrp="1"/>
          </p:cNvSpPr>
          <p:nvPr/>
        </p:nvSpPr>
        <p:spPr>
          <a:xfrm xmlns:a="http://schemas.openxmlformats.org/drawingml/2006/main">
            <a:off x="5543550" y="4714875"/>
            <a:ext cx="603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AC8743"/>
                </a:solidFill>
                <a:latin typeface="Arial"/>
                <a:ea typeface="Arial"/>
                <a:cs typeface="Arial"/>
              </a:defRPr>
            </a:defPPr>
            <a:lvl1pPr algn="l">
              <a:defRPr sz="1800" b="1">
                <a:solidFill>
                  <a:srgbClr val="AC8743"/>
                </a:solidFill>
                <a:latin typeface="Arial"/>
                <a:ea typeface="Arial"/>
                <a:cs typeface="Arial"/>
              </a:defRPr>
            </a:lvl1pPr>
            <a:lvl2pPr algn="l">
              <a:defRPr sz="1800" b="1">
                <a:solidFill>
                  <a:srgbClr val="AC8743"/>
                </a:solidFill>
                <a:latin typeface="Arial"/>
                <a:ea typeface="Arial"/>
                <a:cs typeface="Arial"/>
              </a:defRPr>
            </a:lvl2pPr>
            <a:lvl3pPr algn="l">
              <a:defRPr sz="1800" b="1">
                <a:solidFill>
                  <a:srgbClr val="AC8743"/>
                </a:solidFill>
                <a:latin typeface="Arial"/>
                <a:ea typeface="Arial"/>
                <a:cs typeface="Arial"/>
              </a:defRPr>
            </a:lvl3pPr>
            <a:lvl4pPr algn="l">
              <a:defRPr sz="1800" b="1">
                <a:solidFill>
                  <a:srgbClr val="AC8743"/>
                </a:solidFill>
                <a:latin typeface="Arial"/>
                <a:ea typeface="Arial"/>
                <a:cs typeface="Arial"/>
              </a:defRPr>
            </a:lvl4pPr>
            <a:lvl5pPr algn="l">
              <a:defRPr sz="1800" b="1">
                <a:solidFill>
                  <a:srgbClr val="AC8743"/>
                </a:solidFill>
                <a:latin typeface="Arial"/>
                <a:ea typeface="Arial"/>
                <a:cs typeface="Arial"/>
              </a:defRPr>
            </a:lvl5pPr>
            <a:lvl6pPr algn="l">
              <a:defRPr sz="1800" b="1">
                <a:solidFill>
                  <a:srgbClr val="AC8743"/>
                </a:solidFill>
                <a:latin typeface="Arial"/>
                <a:ea typeface="Arial"/>
                <a:cs typeface="Arial"/>
              </a:defRPr>
            </a:lvl6pPr>
            <a:lvl7pPr algn="l">
              <a:defRPr sz="1800" b="1">
                <a:solidFill>
                  <a:srgbClr val="AC8743"/>
                </a:solidFill>
                <a:latin typeface="Arial"/>
                <a:ea typeface="Arial"/>
                <a:cs typeface="Arial"/>
              </a:defRPr>
            </a:lvl7pPr>
            <a:lvl8pPr algn="l">
              <a:defRPr sz="1800" b="1">
                <a:solidFill>
                  <a:srgbClr val="AC8743"/>
                </a:solidFill>
                <a:latin typeface="Arial"/>
                <a:ea typeface="Arial"/>
                <a:cs typeface="Arial"/>
              </a:defRPr>
            </a:lvl8pPr>
            <a:lvl9pPr algn="l">
              <a:defRPr sz="1800" b="1">
                <a:solidFill>
                  <a:srgbClr val="AC8743"/>
                </a:solidFill>
                <a:latin typeface="Arial"/>
                <a:ea typeface="Arial"/>
                <a:cs typeface="Arial"/>
              </a:defRPr>
            </a:lvl9pPr>
          </a:lstStyle>
          <a:p xmlns:a="http://schemas.openxmlformats.org/drawingml/2006/main">
            <a:pPr algn="l">
              <a:defRPr sz="1800" b="1">
                <a:solidFill>
                  <a:srgbClr val="AC8743"/>
                </a:solidFill>
                <a:latin typeface="Arial"/>
                <a:ea typeface="Arial"/>
                <a:cs typeface="Arial"/>
              </a:defRPr>
            </a:pPr>
            <a:r>
              <a:rPr sz="1800" b="1">
                <a:solidFill>
                  <a:srgbClr val="AC8743"/>
                </a:solidFill>
                <a:latin typeface="Arial"/>
                <a:ea typeface="Arial"/>
                <a:cs typeface="Arial"/>
              </a:rPr>
              <a:t>Months 13-24</a:t>
            </a:r>
          </a:p>
        </p:txBody>
      </p:sp>
      <p:sp>
        <p:nvSpPr>
          <p:cNvPr id="18" name="prime-text-58">
            <a:extLst xmlns:a="http://schemas.openxmlformats.org/drawingml/2006/main">
              <a:ext uri="{FF2B5EF4-FFF2-40B4-BE49-F238E27FC236}">
                <a16:creationId xmlns:a16="http://schemas.microsoft.com/office/drawing/2014/main" id="{66A54682-F35F-4754-A61D-DD7A36F479C5}"/>
              </a:ext>
            </a:extLst>
          </p:cNvPr>
          <p:cNvSpPr>
            <a:spLocks xmlns:a="http://schemas.openxmlformats.org/drawingml/2006/main" noGrp="1"/>
          </p:cNvSpPr>
          <p:nvPr/>
        </p:nvSpPr>
        <p:spPr>
          <a:xfrm xmlns:a="http://schemas.openxmlformats.org/drawingml/2006/main">
            <a:off x="5543550" y="5114925"/>
            <a:ext cx="603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xmlns:a="http://schemas.openxmlformats.org/drawingml/2006/main">
            <a:pPr algn="l">
              <a:defRPr sz="2100" b="1">
                <a:solidFill>
                  <a:srgbClr val="183440"/>
                </a:solidFill>
                <a:latin typeface="Arial"/>
                <a:ea typeface="Arial"/>
                <a:cs typeface="Arial"/>
              </a:defRPr>
            </a:pPr>
            <a:r>
              <a:rPr sz="2100" b="1">
                <a:solidFill>
                  <a:srgbClr val="183440"/>
                </a:solidFill>
                <a:latin typeface="Arial"/>
                <a:ea typeface="Arial"/>
                <a:cs typeface="Arial"/>
              </a:rPr>
              <a:t>Launch and eligible distribution</a:t>
            </a:r>
          </a:p>
        </p:txBody>
      </p:sp>
      <p:sp>
        <p:nvSpPr>
          <p:cNvPr id="19" name="prime-text-59">
            <a:extLst xmlns:a="http://schemas.openxmlformats.org/drawingml/2006/main">
              <a:ext uri="{FF2B5EF4-FFF2-40B4-BE49-F238E27FC236}">
                <a16:creationId xmlns:a16="http://schemas.microsoft.com/office/drawing/2014/main" id="{6999CAA8-58B4-484B-8A98-1388C8A38195}"/>
              </a:ext>
            </a:extLst>
          </p:cNvPr>
          <p:cNvSpPr>
            <a:spLocks xmlns:a="http://schemas.openxmlformats.org/drawingml/2006/main" noGrp="1"/>
          </p:cNvSpPr>
          <p:nvPr/>
        </p:nvSpPr>
        <p:spPr>
          <a:xfrm xmlns:a="http://schemas.openxmlformats.org/drawingml/2006/main">
            <a:off x="5543550" y="5553075"/>
            <a:ext cx="603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3676D"/>
                </a:solidFill>
                <a:latin typeface="Arial"/>
                <a:ea typeface="Arial"/>
                <a:cs typeface="Arial"/>
              </a:defRPr>
            </a:defPPr>
            <a:lvl1pPr algn="l">
              <a:defRPr sz="1725" b="0">
                <a:solidFill>
                  <a:srgbClr val="53676D"/>
                </a:solidFill>
                <a:latin typeface="Arial"/>
                <a:ea typeface="Arial"/>
                <a:cs typeface="Arial"/>
              </a:defRPr>
            </a:lvl1pPr>
            <a:lvl2pPr algn="l">
              <a:defRPr sz="1725" b="0">
                <a:solidFill>
                  <a:srgbClr val="53676D"/>
                </a:solidFill>
                <a:latin typeface="Arial"/>
                <a:ea typeface="Arial"/>
                <a:cs typeface="Arial"/>
              </a:defRPr>
            </a:lvl2pPr>
            <a:lvl3pPr algn="l">
              <a:defRPr sz="1725" b="0">
                <a:solidFill>
                  <a:srgbClr val="53676D"/>
                </a:solidFill>
                <a:latin typeface="Arial"/>
                <a:ea typeface="Arial"/>
                <a:cs typeface="Arial"/>
              </a:defRPr>
            </a:lvl3pPr>
            <a:lvl4pPr algn="l">
              <a:defRPr sz="1725" b="0">
                <a:solidFill>
                  <a:srgbClr val="53676D"/>
                </a:solidFill>
                <a:latin typeface="Arial"/>
                <a:ea typeface="Arial"/>
                <a:cs typeface="Arial"/>
              </a:defRPr>
            </a:lvl4pPr>
            <a:lvl5pPr algn="l">
              <a:defRPr sz="1725" b="0">
                <a:solidFill>
                  <a:srgbClr val="53676D"/>
                </a:solidFill>
                <a:latin typeface="Arial"/>
                <a:ea typeface="Arial"/>
                <a:cs typeface="Arial"/>
              </a:defRPr>
            </a:lvl5pPr>
            <a:lvl6pPr algn="l">
              <a:defRPr sz="1725" b="0">
                <a:solidFill>
                  <a:srgbClr val="53676D"/>
                </a:solidFill>
                <a:latin typeface="Arial"/>
                <a:ea typeface="Arial"/>
                <a:cs typeface="Arial"/>
              </a:defRPr>
            </a:lvl6pPr>
            <a:lvl7pPr algn="l">
              <a:defRPr sz="1725" b="0">
                <a:solidFill>
                  <a:srgbClr val="53676D"/>
                </a:solidFill>
                <a:latin typeface="Arial"/>
                <a:ea typeface="Arial"/>
                <a:cs typeface="Arial"/>
              </a:defRPr>
            </a:lvl7pPr>
            <a:lvl8pPr algn="l">
              <a:defRPr sz="1725" b="0">
                <a:solidFill>
                  <a:srgbClr val="53676D"/>
                </a:solidFill>
                <a:latin typeface="Arial"/>
                <a:ea typeface="Arial"/>
                <a:cs typeface="Arial"/>
              </a:defRPr>
            </a:lvl8pPr>
            <a:lvl9pPr algn="l">
              <a:defRPr sz="1725" b="0">
                <a:solidFill>
                  <a:srgbClr val="53676D"/>
                </a:solidFill>
                <a:latin typeface="Arial"/>
                <a:ea typeface="Arial"/>
                <a:cs typeface="Arial"/>
              </a:defRPr>
            </a:lvl9pPr>
          </a:lstStyle>
          <a:p xmlns:a="http://schemas.openxmlformats.org/drawingml/2006/main">
            <a:pPr algn="l">
              <a:defRPr sz="1725" b="0">
                <a:solidFill>
                  <a:srgbClr val="53676D"/>
                </a:solidFill>
                <a:latin typeface="Arial"/>
                <a:ea typeface="Arial"/>
                <a:cs typeface="Arial"/>
              </a:defRPr>
            </a:pPr>
            <a:r>
              <a:rPr sz="1725" b="0">
                <a:solidFill>
                  <a:srgbClr val="53676D"/>
                </a:solidFill>
                <a:latin typeface="Arial"/>
                <a:ea typeface="Arial"/>
                <a:cs typeface="Arial"/>
              </a:rPr>
              <a:t>5 series, 2 brokers, 2 LPs as a planning target</a:t>
            </a:r>
          </a:p>
        </p:txBody>
      </p:sp>
      <p:sp>
        <p:nvSpPr>
          <p:cNvPr id="20" name="prime-text-60">
            <a:extLst xmlns:a="http://schemas.openxmlformats.org/drawingml/2006/main">
              <a:ext uri="{FF2B5EF4-FFF2-40B4-BE49-F238E27FC236}">
                <a16:creationId xmlns:a16="http://schemas.microsoft.com/office/drawing/2014/main" id="{89C839EC-ADF0-4EAB-B53C-5C6A9A4196DC}"/>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3676D"/>
                </a:solidFill>
                <a:latin typeface="Arial"/>
                <a:ea typeface="Arial"/>
                <a:cs typeface="Arial"/>
              </a:defRPr>
            </a:defPPr>
            <a:lvl1pPr algn="l">
              <a:defRPr sz="1425" b="0">
                <a:solidFill>
                  <a:srgbClr val="53676D"/>
                </a:solidFill>
                <a:latin typeface="Arial"/>
                <a:ea typeface="Arial"/>
                <a:cs typeface="Arial"/>
              </a:defRPr>
            </a:lvl1pPr>
            <a:lvl2pPr algn="l">
              <a:defRPr sz="1425" b="0">
                <a:solidFill>
                  <a:srgbClr val="53676D"/>
                </a:solidFill>
                <a:latin typeface="Arial"/>
                <a:ea typeface="Arial"/>
                <a:cs typeface="Arial"/>
              </a:defRPr>
            </a:lvl2pPr>
            <a:lvl3pPr algn="l">
              <a:defRPr sz="1425" b="0">
                <a:solidFill>
                  <a:srgbClr val="53676D"/>
                </a:solidFill>
                <a:latin typeface="Arial"/>
                <a:ea typeface="Arial"/>
                <a:cs typeface="Arial"/>
              </a:defRPr>
            </a:lvl3pPr>
            <a:lvl4pPr algn="l">
              <a:defRPr sz="1425" b="0">
                <a:solidFill>
                  <a:srgbClr val="53676D"/>
                </a:solidFill>
                <a:latin typeface="Arial"/>
                <a:ea typeface="Arial"/>
                <a:cs typeface="Arial"/>
              </a:defRPr>
            </a:lvl4pPr>
            <a:lvl5pPr algn="l">
              <a:defRPr sz="1425" b="0">
                <a:solidFill>
                  <a:srgbClr val="53676D"/>
                </a:solidFill>
                <a:latin typeface="Arial"/>
                <a:ea typeface="Arial"/>
                <a:cs typeface="Arial"/>
              </a:defRPr>
            </a:lvl5pPr>
            <a:lvl6pPr algn="l">
              <a:defRPr sz="1425" b="0">
                <a:solidFill>
                  <a:srgbClr val="53676D"/>
                </a:solidFill>
                <a:latin typeface="Arial"/>
                <a:ea typeface="Arial"/>
                <a:cs typeface="Arial"/>
              </a:defRPr>
            </a:lvl6pPr>
            <a:lvl7pPr algn="l">
              <a:defRPr sz="1425" b="0">
                <a:solidFill>
                  <a:srgbClr val="53676D"/>
                </a:solidFill>
                <a:latin typeface="Arial"/>
                <a:ea typeface="Arial"/>
                <a:cs typeface="Arial"/>
              </a:defRPr>
            </a:lvl7pPr>
            <a:lvl8pPr algn="l">
              <a:defRPr sz="1425" b="0">
                <a:solidFill>
                  <a:srgbClr val="53676D"/>
                </a:solidFill>
                <a:latin typeface="Arial"/>
                <a:ea typeface="Arial"/>
                <a:cs typeface="Arial"/>
              </a:defRPr>
            </a:lvl8pPr>
            <a:lvl9pPr algn="l">
              <a:defRPr sz="1425" b="0">
                <a:solidFill>
                  <a:srgbClr val="53676D"/>
                </a:solidFill>
                <a:latin typeface="Arial"/>
                <a:ea typeface="Arial"/>
                <a:cs typeface="Arial"/>
              </a:defRPr>
            </a:lvl9pPr>
          </a:lstStyle>
          <a:p xmlns:a="http://schemas.openxmlformats.org/drawingml/2006/main">
            <a:pPr algn="l">
              <a:defRPr sz="1425" b="0">
                <a:solidFill>
                  <a:srgbClr val="53676D"/>
                </a:solidFill>
                <a:latin typeface="Arial"/>
                <a:ea typeface="Arial"/>
                <a:cs typeface="Arial"/>
              </a:defRPr>
            </a:pPr>
            <a:r>
              <a:rPr sz="1425" b="0">
                <a:solidFill>
                  <a:srgbClr val="53676D"/>
                </a:solidFill>
                <a:latin typeface="Arial"/>
                <a:ea typeface="Arial"/>
                <a:cs typeface="Arial"/>
              </a:rPr>
              <a:t>Partner acceptance governs rollout. RedCoin access, capital and liquidity arrangements remain separate launch decisions.</a:t>
            </a:r>
          </a:p>
        </p:txBody>
      </p:sp>
    </p:spTree>
    <p:extLst>
      <p:ext uri="{BB962C8B-B14F-4D97-AF65-F5344CB8AC3E}">
        <p14:creationId xmlns:p14="http://schemas.microsoft.com/office/powerpoint/2010/main" val="441977591"/>
      </p:ext>
    </p:extLst>
  </p:cSld>
</p:sld>
</file>

<file path=ppt/slides/slide1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2" name="prime-text-61">
            <a:extLst xmlns:a="http://schemas.openxmlformats.org/drawingml/2006/main">
              <a:ext uri="{FF2B5EF4-FFF2-40B4-BE49-F238E27FC236}">
                <a16:creationId xmlns:a16="http://schemas.microsoft.com/office/drawing/2014/main" id="{67B60F31-9ACD-44FF-81FC-92A4163EDBCB}"/>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xmlns:a="http://schemas.openxmlformats.org/drawingml/2006/main">
            <a:pPr algn="l">
              <a:defRPr sz="3300" b="1">
                <a:solidFill>
                  <a:srgbClr val="183440"/>
                </a:solidFill>
                <a:latin typeface="Arial"/>
                <a:ea typeface="Arial"/>
                <a:cs typeface="Arial"/>
              </a:defRPr>
            </a:pPr>
            <a:r>
              <a:rPr sz="3300" b="1">
                <a:solidFill>
                  <a:srgbClr val="183440"/>
                </a:solidFill>
                <a:latin typeface="Arial"/>
                <a:ea typeface="Arial"/>
                <a:cs typeface="Arial"/>
              </a:rPr>
              <a:t>The 24-month planning cash case</a:t>
            </a:r>
          </a:p>
        </p:txBody>
      </p:sp>
      <p:sp>
        <p:nvSpPr>
          <p:cNvPr id="2" name="prime-text-62">
            <a:extLst xmlns:a="http://schemas.openxmlformats.org/drawingml/2006/main">
              <a:ext uri="{FF2B5EF4-FFF2-40B4-BE49-F238E27FC236}">
                <a16:creationId xmlns:a16="http://schemas.microsoft.com/office/drawing/2014/main" id="{D4E215D7-7385-4449-8C6B-683F886058A1}"/>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defRPr sz="1875" b="0">
                <a:solidFill>
                  <a:srgbClr val="53676D"/>
                </a:solidFill>
                <a:latin typeface="Arial"/>
                <a:ea typeface="Arial"/>
                <a:cs typeface="Arial"/>
              </a:defRPr>
            </a:lvl1pPr>
            <a:lvl2pPr algn="l">
              <a:defRPr sz="1875" b="0">
                <a:solidFill>
                  <a:srgbClr val="53676D"/>
                </a:solidFill>
                <a:latin typeface="Arial"/>
                <a:ea typeface="Arial"/>
                <a:cs typeface="Arial"/>
              </a:defRPr>
            </a:lvl2pPr>
            <a:lvl3pPr algn="l">
              <a:defRPr sz="1875" b="0">
                <a:solidFill>
                  <a:srgbClr val="53676D"/>
                </a:solidFill>
                <a:latin typeface="Arial"/>
                <a:ea typeface="Arial"/>
                <a:cs typeface="Arial"/>
              </a:defRPr>
            </a:lvl3pPr>
            <a:lvl4pPr algn="l">
              <a:defRPr sz="1875" b="0">
                <a:solidFill>
                  <a:srgbClr val="53676D"/>
                </a:solidFill>
                <a:latin typeface="Arial"/>
                <a:ea typeface="Arial"/>
                <a:cs typeface="Arial"/>
              </a:defRPr>
            </a:lvl4pPr>
            <a:lvl5pPr algn="l">
              <a:defRPr sz="1875" b="0">
                <a:solidFill>
                  <a:srgbClr val="53676D"/>
                </a:solidFill>
                <a:latin typeface="Arial"/>
                <a:ea typeface="Arial"/>
                <a:cs typeface="Arial"/>
              </a:defRPr>
            </a:lvl5pPr>
            <a:lvl6pPr algn="l">
              <a:defRPr sz="1875" b="0">
                <a:solidFill>
                  <a:srgbClr val="53676D"/>
                </a:solidFill>
                <a:latin typeface="Arial"/>
                <a:ea typeface="Arial"/>
                <a:cs typeface="Arial"/>
              </a:defRPr>
            </a:lvl6pPr>
            <a:lvl7pPr algn="l">
              <a:defRPr sz="1875" b="0">
                <a:solidFill>
                  <a:srgbClr val="53676D"/>
                </a:solidFill>
                <a:latin typeface="Arial"/>
                <a:ea typeface="Arial"/>
                <a:cs typeface="Arial"/>
              </a:defRPr>
            </a:lvl7pPr>
            <a:lvl8pPr algn="l">
              <a:defRPr sz="1875" b="0">
                <a:solidFill>
                  <a:srgbClr val="53676D"/>
                </a:solidFill>
                <a:latin typeface="Arial"/>
                <a:ea typeface="Arial"/>
                <a:cs typeface="Arial"/>
              </a:defRPr>
            </a:lvl8pPr>
            <a:lvl9pPr algn="l">
              <a:defRPr sz="1875" b="0">
                <a:solidFill>
                  <a:srgbClr val="53676D"/>
                </a:solidFill>
                <a:latin typeface="Arial"/>
                <a:ea typeface="Arial"/>
                <a:cs typeface="Arial"/>
              </a:defRPr>
            </a:lvl9pPr>
          </a:lstStyle>
          <a:p xmlns:a="http://schemas.openxmlformats.org/drawingml/2006/main">
            <a:pPr algn="l">
              <a:defRPr sz="1875" b="0">
                <a:solidFill>
                  <a:srgbClr val="53676D"/>
                </a:solidFill>
                <a:latin typeface="Arial"/>
                <a:ea typeface="Arial"/>
                <a:cs typeface="Arial"/>
              </a:defRPr>
            </a:pPr>
            <a:r>
              <a:rPr sz="1875" b="0">
                <a:solidFill>
                  <a:srgbClr val="53676D"/>
                </a:solidFill>
                <a:latin typeface="Arial"/>
                <a:ea typeface="Arial"/>
                <a:cs typeface="Arial"/>
              </a:rPr>
              <a:t>US$3M funding, with customer revenue and variable service costs modeled in Year 2.</a:t>
            </a:r>
          </a:p>
        </p:txBody>
      </p:sp>
      <p:sp>
        <p:nvSpPr>
          <p:cNvPr id="3" name="prime-text-63">
            <a:extLst xmlns:a="http://schemas.openxmlformats.org/drawingml/2006/main">
              <a:ext uri="{FF2B5EF4-FFF2-40B4-BE49-F238E27FC236}">
                <a16:creationId xmlns:a16="http://schemas.microsoft.com/office/drawing/2014/main" id="{E64C53A0-F238-4AF3-B150-7AC472A06523}"/>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xmlns:a="http://schemas.openxmlformats.org/drawingml/2006/main">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prime-text-64">
            <a:extLst xmlns:a="http://schemas.openxmlformats.org/drawingml/2006/main">
              <a:ext uri="{FF2B5EF4-FFF2-40B4-BE49-F238E27FC236}">
                <a16:creationId xmlns:a16="http://schemas.microsoft.com/office/drawing/2014/main" id="{11A94274-BBC4-4CF5-9781-09D21E761430}"/>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xmlns:a="http://schemas.openxmlformats.org/drawingml/2006/main">
            <a:pPr algn="r">
              <a:defRPr sz="1200" b="0">
                <a:solidFill>
                  <a:srgbClr val="53676D"/>
                </a:solidFill>
                <a:latin typeface="Arial"/>
                <a:ea typeface="Arial"/>
                <a:cs typeface="Arial"/>
              </a:defRPr>
            </a:pPr>
            <a:r>
              <a:rPr sz="1200" b="0">
                <a:solidFill>
                  <a:srgbClr val="53676D"/>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72048DF9-CB27-4BFE-BD21-FD48ACD4B605}"/>
              </a:ext>
            </a:extLst>
          </p:cNvPr>
          <p:cNvGraphicFramePr/>
          <p:nvPr/>
        </p:nvGraphicFramePr>
        <p:xfrm>
          <a:off xmlns:a="http://schemas.openxmlformats.org/drawingml/2006/main" x="609600" y="2209800"/>
          <a:ext xmlns:a="http://schemas.openxmlformats.org/drawingml/2006/main" cx="5810250" cy="3152775"/>
        </p:xfrm>
        <a:graphic xmlns:a="http://schemas.openxmlformats.org/drawingml/2006/main">
          <a:graphicData uri="http://schemas.openxmlformats.org/drawingml/2006/table">
            <a:tbl>
              <a:tblPr firstRow="1" bandRow="0"/>
              <a:tblGrid>
                <a:gridCol w="4267200"/>
                <a:gridCol w="1543050"/>
              </a:tblGrid>
              <a:tr h="525463">
                <a:tc>
                  <a:txBody>
                    <a:bodyPr lIns="95250" tIns="19050" rIns="95250" bIns="19050"/>
                    <a:lstStyle/>
                    <a:p>
                      <a:r>
                        <a:rPr sz="1725" b="1">
                          <a:solidFill>
                            <a:srgbClr val="FFFFFF"/>
                          </a:solidFill>
                          <a:latin typeface="Arial"/>
                          <a:ea typeface="Arial"/>
                          <a:cs typeface="Arial"/>
                        </a:rPr>
                        <a:t>Cash bridge</a:t>
                      </a:r>
                    </a:p>
                  </a:txBody>
                  <a:tcPr marL="91440" marR="91440" marT="45720" marB="45720" anchor="ctr">
                    <a:lnL w="9525">
                      <a:solidFill>
                        <a:srgbClr val="CFD7D1"/>
                      </a:solidFill>
                      <a:prstDash val="solid"/>
                    </a:lnL>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c>
                  <a:txBody>
                    <a:bodyPr lIns="95250" tIns="19050" rIns="95250" bIns="19050"/>
                    <a:lstStyle/>
                    <a:p>
                      <a:r>
                        <a:rPr sz="1725" b="1">
                          <a:solidFill>
                            <a:srgbClr val="FFFFFF"/>
                          </a:solidFill>
                          <a:latin typeface="Arial"/>
                          <a:ea typeface="Arial"/>
                          <a:cs typeface="Arial"/>
                        </a:rPr>
                        <a:t>US$M</a:t>
                      </a:r>
                    </a:p>
                  </a:txBody>
                  <a:tcPr marL="91440" marR="91440" marT="45720" marB="45720" anchor="ctr">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r>
              <a:tr h="525463">
                <a:tc>
                  <a:txBody>
                    <a:bodyPr lIns="95250" tIns="19050" rIns="95250" bIns="19050"/>
                    <a:lstStyle/>
                    <a:p>
                      <a:r>
                        <a:rPr sz="1800" b="0">
                          <a:solidFill>
                            <a:srgbClr val="183440"/>
                          </a:solidFill>
                          <a:latin typeface="Arial"/>
                          <a:ea typeface="Arial"/>
                          <a:cs typeface="Arial"/>
                        </a:rPr>
                        <a:t>Opening funding</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3.00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525463">
                <a:tc>
                  <a:txBody>
                    <a:bodyPr lIns="95250" tIns="19050" rIns="95250" bIns="19050"/>
                    <a:lstStyle/>
                    <a:p>
                      <a:r>
                        <a:rPr sz="1800" b="0">
                          <a:solidFill>
                            <a:srgbClr val="183440"/>
                          </a:solidFill>
                          <a:latin typeface="Arial"/>
                          <a:ea typeface="Arial"/>
                          <a:cs typeface="Arial"/>
                        </a:rPr>
                        <a:t>Add customer revenue</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0.45</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525463">
                <a:tc>
                  <a:txBody>
                    <a:bodyPr lIns="95250" tIns="19050" rIns="95250" bIns="19050"/>
                    <a:lstStyle/>
                    <a:p>
                      <a:r>
                        <a:rPr sz="1800" b="0">
                          <a:solidFill>
                            <a:srgbClr val="183440"/>
                          </a:solidFill>
                          <a:latin typeface="Arial"/>
                          <a:ea typeface="Arial"/>
                          <a:cs typeface="Arial"/>
                        </a:rPr>
                        <a:t>Less fixed operating spend</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-2.70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525463">
                <a:tc>
                  <a:txBody>
                    <a:bodyPr lIns="95250" tIns="19050" rIns="95250" bIns="19050"/>
                    <a:lstStyle/>
                    <a:p>
                      <a:r>
                        <a:rPr sz="1800" b="0">
                          <a:solidFill>
                            <a:srgbClr val="183440"/>
                          </a:solidFill>
                          <a:latin typeface="Arial"/>
                          <a:ea typeface="Arial"/>
                          <a:cs typeface="Arial"/>
                        </a:rPr>
                        <a:t>Less variable service costs</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0">
                          <a:solidFill>
                            <a:srgbClr val="183440"/>
                          </a:solidFill>
                          <a:latin typeface="Arial"/>
                          <a:ea typeface="Arial"/>
                          <a:cs typeface="Arial"/>
                        </a:rPr>
                        <a:t>-0.15</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525463">
                <a:tc>
                  <a:txBody>
                    <a:bodyPr lIns="95250" tIns="19050" rIns="95250" bIns="19050"/>
                    <a:lstStyle/>
                    <a:p>
                      <a:r>
                        <a:rPr sz="1800" b="1">
                          <a:solidFill>
                            <a:srgbClr val="183440"/>
                          </a:solidFill>
                          <a:latin typeface="Arial"/>
                          <a:ea typeface="Arial"/>
                          <a:cs typeface="Arial"/>
                        </a:rPr>
                        <a:t>Closing cash at Month 24</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800" b="1">
                          <a:solidFill>
                            <a:srgbClr val="183440"/>
                          </a:solidFill>
                          <a:latin typeface="Arial"/>
                          <a:ea typeface="Arial"/>
                          <a:cs typeface="Arial"/>
                        </a:rPr>
                        <a:t>0.60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bl>
          </a:graphicData>
        </a:graphic>
      </p:graphicFrame>
      <p:sp>
        <p:nvSpPr>
          <p:cNvPr id="6" name="prime-text-65">
            <a:extLst xmlns:a="http://schemas.openxmlformats.org/drawingml/2006/main">
              <a:ext uri="{FF2B5EF4-FFF2-40B4-BE49-F238E27FC236}">
                <a16:creationId xmlns:a16="http://schemas.microsoft.com/office/drawing/2014/main" id="{30A5C9FC-ECC8-4A35-9675-0F1317A697FF}"/>
              </a:ext>
            </a:extLst>
          </p:cNvPr>
          <p:cNvSpPr>
            <a:spLocks xmlns:a="http://schemas.openxmlformats.org/drawingml/2006/main" noGrp="1"/>
          </p:cNvSpPr>
          <p:nvPr/>
        </p:nvSpPr>
        <p:spPr>
          <a:xfrm xmlns:a="http://schemas.openxmlformats.org/drawingml/2006/main">
            <a:off x="6953250" y="2219325"/>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xmlns:a="http://schemas.openxmlformats.org/drawingml/2006/main">
            <a:pPr algn="l">
              <a:defRPr sz="2100" b="1">
                <a:solidFill>
                  <a:srgbClr val="176C6B"/>
                </a:solidFill>
                <a:latin typeface="Arial"/>
                <a:ea typeface="Arial"/>
                <a:cs typeface="Arial"/>
              </a:defRPr>
            </a:pPr>
            <a:r>
              <a:rPr sz="2100" b="1">
                <a:solidFill>
                  <a:srgbClr val="176C6B"/>
                </a:solidFill>
                <a:latin typeface="Arial"/>
                <a:ea typeface="Arial"/>
                <a:cs typeface="Arial"/>
              </a:rPr>
              <a:t>Year 2 revenue: US$450,000</a:t>
            </a:r>
          </a:p>
        </p:txBody>
      </p:sp>
      <p:sp>
        <p:nvSpPr>
          <p:cNvPr id="7" name="prime-text-66">
            <a:extLst xmlns:a="http://schemas.openxmlformats.org/drawingml/2006/main">
              <a:ext uri="{FF2B5EF4-FFF2-40B4-BE49-F238E27FC236}">
                <a16:creationId xmlns:a16="http://schemas.microsoft.com/office/drawing/2014/main" id="{7F8AD865-7F0D-4C52-A640-808B30D3F5BE}"/>
              </a:ext>
            </a:extLst>
          </p:cNvPr>
          <p:cNvSpPr>
            <a:spLocks xmlns:a="http://schemas.openxmlformats.org/drawingml/2006/main" noGrp="1"/>
          </p:cNvSpPr>
          <p:nvPr/>
        </p:nvSpPr>
        <p:spPr>
          <a:xfrm xmlns:a="http://schemas.openxmlformats.org/drawingml/2006/main">
            <a:off x="6953250" y="2819400"/>
            <a:ext cx="46291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83440"/>
                </a:solidFill>
                <a:latin typeface="Arial"/>
                <a:ea typeface="Arial"/>
                <a:cs typeface="Arial"/>
              </a:defRPr>
            </a:defPPr>
            <a:lvl1pPr algn="l">
              <a:defRPr sz="1875" b="0">
                <a:solidFill>
                  <a:srgbClr val="183440"/>
                </a:solidFill>
                <a:latin typeface="Arial"/>
                <a:ea typeface="Arial"/>
                <a:cs typeface="Arial"/>
              </a:defRPr>
            </a:lvl1pPr>
            <a:lvl2pPr algn="l">
              <a:defRPr sz="1875" b="0">
                <a:solidFill>
                  <a:srgbClr val="183440"/>
                </a:solidFill>
                <a:latin typeface="Arial"/>
                <a:ea typeface="Arial"/>
                <a:cs typeface="Arial"/>
              </a:defRPr>
            </a:lvl2pPr>
            <a:lvl3pPr algn="l">
              <a:defRPr sz="1875" b="0">
                <a:solidFill>
                  <a:srgbClr val="183440"/>
                </a:solidFill>
                <a:latin typeface="Arial"/>
                <a:ea typeface="Arial"/>
                <a:cs typeface="Arial"/>
              </a:defRPr>
            </a:lvl3pPr>
            <a:lvl4pPr algn="l">
              <a:defRPr sz="1875" b="0">
                <a:solidFill>
                  <a:srgbClr val="183440"/>
                </a:solidFill>
                <a:latin typeface="Arial"/>
                <a:ea typeface="Arial"/>
                <a:cs typeface="Arial"/>
              </a:defRPr>
            </a:lvl4pPr>
            <a:lvl5pPr algn="l">
              <a:defRPr sz="1875" b="0">
                <a:solidFill>
                  <a:srgbClr val="183440"/>
                </a:solidFill>
                <a:latin typeface="Arial"/>
                <a:ea typeface="Arial"/>
                <a:cs typeface="Arial"/>
              </a:defRPr>
            </a:lvl5pPr>
            <a:lvl6pPr algn="l">
              <a:defRPr sz="1875" b="0">
                <a:solidFill>
                  <a:srgbClr val="183440"/>
                </a:solidFill>
                <a:latin typeface="Arial"/>
                <a:ea typeface="Arial"/>
                <a:cs typeface="Arial"/>
              </a:defRPr>
            </a:lvl6pPr>
            <a:lvl7pPr algn="l">
              <a:defRPr sz="1875" b="0">
                <a:solidFill>
                  <a:srgbClr val="183440"/>
                </a:solidFill>
                <a:latin typeface="Arial"/>
                <a:ea typeface="Arial"/>
                <a:cs typeface="Arial"/>
              </a:defRPr>
            </a:lvl7pPr>
            <a:lvl8pPr algn="l">
              <a:defRPr sz="1875" b="0">
                <a:solidFill>
                  <a:srgbClr val="183440"/>
                </a:solidFill>
                <a:latin typeface="Arial"/>
                <a:ea typeface="Arial"/>
                <a:cs typeface="Arial"/>
              </a:defRPr>
            </a:lvl8pPr>
            <a:lvl9pPr algn="l">
              <a:defRPr sz="1875" b="0">
                <a:solidFill>
                  <a:srgbClr val="183440"/>
                </a:solidFill>
                <a:latin typeface="Arial"/>
                <a:ea typeface="Arial"/>
                <a:cs typeface="Arial"/>
              </a:defRPr>
            </a:lvl9pPr>
          </a:lstStyle>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US$100M × 0.30% = US$300k</a:t>
            </a:r>
          </a:p>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 one US$150k sponsor setup</a:t>
            </a:r>
          </a:p>
        </p:txBody>
      </p:sp>
      <p:sp>
        <p:nvSpPr>
          <p:cNvPr id="8" name="prime-text-67">
            <a:extLst xmlns:a="http://schemas.openxmlformats.org/drawingml/2006/main">
              <a:ext uri="{FF2B5EF4-FFF2-40B4-BE49-F238E27FC236}">
                <a16:creationId xmlns:a16="http://schemas.microsoft.com/office/drawing/2014/main" id="{7A32EBAD-51D0-4933-A08B-3115BE3D4CB1}"/>
              </a:ext>
            </a:extLst>
          </p:cNvPr>
          <p:cNvSpPr>
            <a:spLocks xmlns:a="http://schemas.openxmlformats.org/drawingml/2006/main" noGrp="1"/>
          </p:cNvSpPr>
          <p:nvPr/>
        </p:nvSpPr>
        <p:spPr>
          <a:xfrm xmlns:a="http://schemas.openxmlformats.org/drawingml/2006/main">
            <a:off x="6953250" y="3857625"/>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xmlns:a="http://schemas.openxmlformats.org/drawingml/2006/main">
            <a:pPr algn="l">
              <a:defRPr sz="2100" b="1">
                <a:solidFill>
                  <a:srgbClr val="176C6B"/>
                </a:solidFill>
                <a:latin typeface="Arial"/>
                <a:ea typeface="Arial"/>
                <a:cs typeface="Arial"/>
              </a:defRPr>
            </a:pPr>
            <a:r>
              <a:rPr sz="2100" b="1">
                <a:solidFill>
                  <a:srgbClr val="176C6B"/>
                </a:solidFill>
                <a:latin typeface="Arial"/>
                <a:ea typeface="Arial"/>
                <a:cs typeface="Arial"/>
              </a:rPr>
              <a:t>Year 2 costs: US$1,650,000</a:t>
            </a:r>
          </a:p>
        </p:txBody>
      </p:sp>
      <p:sp>
        <p:nvSpPr>
          <p:cNvPr id="9" name="prime-text-68">
            <a:extLst xmlns:a="http://schemas.openxmlformats.org/drawingml/2006/main">
              <a:ext uri="{FF2B5EF4-FFF2-40B4-BE49-F238E27FC236}">
                <a16:creationId xmlns:a16="http://schemas.microsoft.com/office/drawing/2014/main" id="{C76B0FC2-BB39-4263-8B27-A3F9C1F1BD00}"/>
              </a:ext>
            </a:extLst>
          </p:cNvPr>
          <p:cNvSpPr>
            <a:spLocks xmlns:a="http://schemas.openxmlformats.org/drawingml/2006/main" noGrp="1"/>
          </p:cNvSpPr>
          <p:nvPr/>
        </p:nvSpPr>
        <p:spPr>
          <a:xfrm xmlns:a="http://schemas.openxmlformats.org/drawingml/2006/main">
            <a:off x="6953250" y="4457700"/>
            <a:ext cx="46291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83440"/>
                </a:solidFill>
                <a:latin typeface="Arial"/>
                <a:ea typeface="Arial"/>
                <a:cs typeface="Arial"/>
              </a:defRPr>
            </a:defPPr>
            <a:lvl1pPr algn="l">
              <a:defRPr sz="1875" b="0">
                <a:solidFill>
                  <a:srgbClr val="183440"/>
                </a:solidFill>
                <a:latin typeface="Arial"/>
                <a:ea typeface="Arial"/>
                <a:cs typeface="Arial"/>
              </a:defRPr>
            </a:lvl1pPr>
            <a:lvl2pPr algn="l">
              <a:defRPr sz="1875" b="0">
                <a:solidFill>
                  <a:srgbClr val="183440"/>
                </a:solidFill>
                <a:latin typeface="Arial"/>
                <a:ea typeface="Arial"/>
                <a:cs typeface="Arial"/>
              </a:defRPr>
            </a:lvl2pPr>
            <a:lvl3pPr algn="l">
              <a:defRPr sz="1875" b="0">
                <a:solidFill>
                  <a:srgbClr val="183440"/>
                </a:solidFill>
                <a:latin typeface="Arial"/>
                <a:ea typeface="Arial"/>
                <a:cs typeface="Arial"/>
              </a:defRPr>
            </a:lvl3pPr>
            <a:lvl4pPr algn="l">
              <a:defRPr sz="1875" b="0">
                <a:solidFill>
                  <a:srgbClr val="183440"/>
                </a:solidFill>
                <a:latin typeface="Arial"/>
                <a:ea typeface="Arial"/>
                <a:cs typeface="Arial"/>
              </a:defRPr>
            </a:lvl4pPr>
            <a:lvl5pPr algn="l">
              <a:defRPr sz="1875" b="0">
                <a:solidFill>
                  <a:srgbClr val="183440"/>
                </a:solidFill>
                <a:latin typeface="Arial"/>
                <a:ea typeface="Arial"/>
                <a:cs typeface="Arial"/>
              </a:defRPr>
            </a:lvl5pPr>
            <a:lvl6pPr algn="l">
              <a:defRPr sz="1875" b="0">
                <a:solidFill>
                  <a:srgbClr val="183440"/>
                </a:solidFill>
                <a:latin typeface="Arial"/>
                <a:ea typeface="Arial"/>
                <a:cs typeface="Arial"/>
              </a:defRPr>
            </a:lvl6pPr>
            <a:lvl7pPr algn="l">
              <a:defRPr sz="1875" b="0">
                <a:solidFill>
                  <a:srgbClr val="183440"/>
                </a:solidFill>
                <a:latin typeface="Arial"/>
                <a:ea typeface="Arial"/>
                <a:cs typeface="Arial"/>
              </a:defRPr>
            </a:lvl7pPr>
            <a:lvl8pPr algn="l">
              <a:defRPr sz="1875" b="0">
                <a:solidFill>
                  <a:srgbClr val="183440"/>
                </a:solidFill>
                <a:latin typeface="Arial"/>
                <a:ea typeface="Arial"/>
                <a:cs typeface="Arial"/>
              </a:defRPr>
            </a:lvl8pPr>
            <a:lvl9pPr algn="l">
              <a:defRPr sz="1875" b="0">
                <a:solidFill>
                  <a:srgbClr val="183440"/>
                </a:solidFill>
                <a:latin typeface="Arial"/>
                <a:ea typeface="Arial"/>
                <a:cs typeface="Arial"/>
              </a:defRPr>
            </a:lvl9pPr>
          </a:lstStyle>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US$1.50M fixed + US$150k variable</a:t>
            </a:r>
          </a:p>
          <a:p xmlns:a="http://schemas.openxmlformats.org/drawingml/2006/main">
            <a:pPr algn="l">
              <a:defRPr sz="1875" b="0">
                <a:solidFill>
                  <a:srgbClr val="183440"/>
                </a:solidFill>
                <a:latin typeface="Arial"/>
                <a:ea typeface="Arial"/>
                <a:cs typeface="Arial"/>
              </a:defRPr>
            </a:pPr>
            <a:r>
              <a:rPr sz="1875" b="0">
                <a:solidFill>
                  <a:srgbClr val="183440"/>
                </a:solidFill>
                <a:latin typeface="Arial"/>
                <a:ea typeface="Arial"/>
                <a:cs typeface="Arial"/>
              </a:rPr>
              <a:t>Variable = US$100M × 0.15%</a:t>
            </a:r>
          </a:p>
        </p:txBody>
      </p:sp>
      <p:sp>
        <p:nvSpPr>
          <p:cNvPr id="10" name="prime-text-69">
            <a:extLst xmlns:a="http://schemas.openxmlformats.org/drawingml/2006/main">
              <a:ext uri="{FF2B5EF4-FFF2-40B4-BE49-F238E27FC236}">
                <a16:creationId xmlns:a16="http://schemas.microsoft.com/office/drawing/2014/main" id="{CD2482F3-51D0-4EC3-8DEE-5D1178D0E8E2}"/>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xmlns:a="http://schemas.openxmlformats.org/drawingml/2006/main">
            <a:pPr algn="l">
              <a:defRPr sz="2100" b="1">
                <a:solidFill>
                  <a:srgbClr val="176C6B"/>
                </a:solidFill>
                <a:latin typeface="Arial"/>
                <a:ea typeface="Arial"/>
                <a:cs typeface="Arial"/>
              </a:defRPr>
            </a:pPr>
            <a:r>
              <a:rPr sz="2100" b="1">
                <a:solidFill>
                  <a:srgbClr val="176C6B"/>
                </a:solidFill>
                <a:latin typeface="Arial"/>
                <a:ea typeface="Arial"/>
                <a:cs typeface="Arial"/>
              </a:rPr>
              <a:t>US$0.60M closing cash includes the US$0.30M unspent contingency</a:t>
            </a:r>
          </a:p>
        </p:txBody>
      </p:sp>
      <p:sp>
        <p:nvSpPr>
          <p:cNvPr id="11" name="prime-text-70">
            <a:extLst xmlns:a="http://schemas.openxmlformats.org/drawingml/2006/main">
              <a:ext uri="{FF2B5EF4-FFF2-40B4-BE49-F238E27FC236}">
                <a16:creationId xmlns:a16="http://schemas.microsoft.com/office/drawing/2014/main" id="{08EFA551-8525-4A7E-91F1-90AC9E0031B4}"/>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3676D"/>
                </a:solidFill>
                <a:latin typeface="Arial"/>
                <a:ea typeface="Arial"/>
                <a:cs typeface="Arial"/>
              </a:defRPr>
            </a:defPPr>
            <a:lvl1pPr algn="l">
              <a:defRPr sz="1425" b="0">
                <a:solidFill>
                  <a:srgbClr val="53676D"/>
                </a:solidFill>
                <a:latin typeface="Arial"/>
                <a:ea typeface="Arial"/>
                <a:cs typeface="Arial"/>
              </a:defRPr>
            </a:lvl1pPr>
            <a:lvl2pPr algn="l">
              <a:defRPr sz="1425" b="0">
                <a:solidFill>
                  <a:srgbClr val="53676D"/>
                </a:solidFill>
                <a:latin typeface="Arial"/>
                <a:ea typeface="Arial"/>
                <a:cs typeface="Arial"/>
              </a:defRPr>
            </a:lvl2pPr>
            <a:lvl3pPr algn="l">
              <a:defRPr sz="1425" b="0">
                <a:solidFill>
                  <a:srgbClr val="53676D"/>
                </a:solidFill>
                <a:latin typeface="Arial"/>
                <a:ea typeface="Arial"/>
                <a:cs typeface="Arial"/>
              </a:defRPr>
            </a:lvl3pPr>
            <a:lvl4pPr algn="l">
              <a:defRPr sz="1425" b="0">
                <a:solidFill>
                  <a:srgbClr val="53676D"/>
                </a:solidFill>
                <a:latin typeface="Arial"/>
                <a:ea typeface="Arial"/>
                <a:cs typeface="Arial"/>
              </a:defRPr>
            </a:lvl4pPr>
            <a:lvl5pPr algn="l">
              <a:defRPr sz="1425" b="0">
                <a:solidFill>
                  <a:srgbClr val="53676D"/>
                </a:solidFill>
                <a:latin typeface="Arial"/>
                <a:ea typeface="Arial"/>
                <a:cs typeface="Arial"/>
              </a:defRPr>
            </a:lvl5pPr>
            <a:lvl6pPr algn="l">
              <a:defRPr sz="1425" b="0">
                <a:solidFill>
                  <a:srgbClr val="53676D"/>
                </a:solidFill>
                <a:latin typeface="Arial"/>
                <a:ea typeface="Arial"/>
                <a:cs typeface="Arial"/>
              </a:defRPr>
            </a:lvl6pPr>
            <a:lvl7pPr algn="l">
              <a:defRPr sz="1425" b="0">
                <a:solidFill>
                  <a:srgbClr val="53676D"/>
                </a:solidFill>
                <a:latin typeface="Arial"/>
                <a:ea typeface="Arial"/>
                <a:cs typeface="Arial"/>
              </a:defRPr>
            </a:lvl7pPr>
            <a:lvl8pPr algn="l">
              <a:defRPr sz="1425" b="0">
                <a:solidFill>
                  <a:srgbClr val="53676D"/>
                </a:solidFill>
                <a:latin typeface="Arial"/>
                <a:ea typeface="Arial"/>
                <a:cs typeface="Arial"/>
              </a:defRPr>
            </a:lvl8pPr>
            <a:lvl9pPr algn="l">
              <a:defRPr sz="1425" b="0">
                <a:solidFill>
                  <a:srgbClr val="53676D"/>
                </a:solidFill>
                <a:latin typeface="Arial"/>
                <a:ea typeface="Arial"/>
                <a:cs typeface="Arial"/>
              </a:defRPr>
            </a:lvl9pPr>
          </a:lstStyle>
          <a:p xmlns:a="http://schemas.openxmlformats.org/drawingml/2006/main">
            <a:pPr algn="l">
              <a:defRPr sz="1425" b="0">
                <a:solidFill>
                  <a:srgbClr val="53676D"/>
                </a:solidFill>
                <a:latin typeface="Arial"/>
                <a:ea typeface="Arial"/>
                <a:cs typeface="Arial"/>
              </a:defRPr>
            </a:pPr>
            <a:r>
              <a:rPr sz="1425" b="0">
                <a:solidFill>
                  <a:srgbClr val="53676D"/>
                </a:solidFill>
                <a:latin typeface="Arial"/>
                <a:ea typeface="Arial"/>
                <a:cs typeface="Arial"/>
              </a:rPr>
              <a:t>Planning assumptions. Fixed budget: slide 14. Tax, required capital, cash timing and partner minimums remain unmodeled.</a:t>
            </a:r>
          </a:p>
        </p:txBody>
      </p:sp>
    </p:spTree>
    <p:extLst>
      <p:ext uri="{BB962C8B-B14F-4D97-AF65-F5344CB8AC3E}">
        <p14:creationId xmlns:p14="http://schemas.microsoft.com/office/powerpoint/2010/main" val="699167062"/>
      </p:ext>
    </p:extLst>
  </p:cSld>
</p:sld>
</file>

<file path=ppt/slides/slide1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7" name="prime-text-71">
            <a:extLst xmlns:a="http://schemas.openxmlformats.org/drawingml/2006/main">
              <a:ext uri="{FF2B5EF4-FFF2-40B4-BE49-F238E27FC236}">
                <a16:creationId xmlns:a16="http://schemas.microsoft.com/office/drawing/2014/main" id="{40064930-0157-4062-BE4E-B0BE808ABEA3}"/>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xmlns:a="http://schemas.openxmlformats.org/drawingml/2006/main">
            <a:pPr algn="l">
              <a:defRPr sz="3300" b="1">
                <a:solidFill>
                  <a:srgbClr val="183440"/>
                </a:solidFill>
                <a:latin typeface="Arial"/>
                <a:ea typeface="Arial"/>
                <a:cs typeface="Arial"/>
              </a:defRPr>
            </a:pPr>
            <a:r>
              <a:rPr sz="3300" b="1">
                <a:solidFill>
                  <a:srgbClr val="183440"/>
                </a:solidFill>
                <a:latin typeface="Arial"/>
                <a:ea typeface="Arial"/>
                <a:cs typeface="Arial"/>
              </a:rPr>
              <a:t>The itemized 24-month fixed budget</a:t>
            </a:r>
          </a:p>
        </p:txBody>
      </p:sp>
      <p:sp>
        <p:nvSpPr>
          <p:cNvPr id="2" name="prime-text-72">
            <a:extLst xmlns:a="http://schemas.openxmlformats.org/drawingml/2006/main">
              <a:ext uri="{FF2B5EF4-FFF2-40B4-BE49-F238E27FC236}">
                <a16:creationId xmlns:a16="http://schemas.microsoft.com/office/drawing/2014/main" id="{AD6C7A96-58B2-4415-BBE5-FCE3EC645247}"/>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defRPr sz="1875" b="0">
                <a:solidFill>
                  <a:srgbClr val="53676D"/>
                </a:solidFill>
                <a:latin typeface="Arial"/>
                <a:ea typeface="Arial"/>
                <a:cs typeface="Arial"/>
              </a:defRPr>
            </a:lvl1pPr>
            <a:lvl2pPr algn="l">
              <a:defRPr sz="1875" b="0">
                <a:solidFill>
                  <a:srgbClr val="53676D"/>
                </a:solidFill>
                <a:latin typeface="Arial"/>
                <a:ea typeface="Arial"/>
                <a:cs typeface="Arial"/>
              </a:defRPr>
            </a:lvl2pPr>
            <a:lvl3pPr algn="l">
              <a:defRPr sz="1875" b="0">
                <a:solidFill>
                  <a:srgbClr val="53676D"/>
                </a:solidFill>
                <a:latin typeface="Arial"/>
                <a:ea typeface="Arial"/>
                <a:cs typeface="Arial"/>
              </a:defRPr>
            </a:lvl3pPr>
            <a:lvl4pPr algn="l">
              <a:defRPr sz="1875" b="0">
                <a:solidFill>
                  <a:srgbClr val="53676D"/>
                </a:solidFill>
                <a:latin typeface="Arial"/>
                <a:ea typeface="Arial"/>
                <a:cs typeface="Arial"/>
              </a:defRPr>
            </a:lvl4pPr>
            <a:lvl5pPr algn="l">
              <a:defRPr sz="1875" b="0">
                <a:solidFill>
                  <a:srgbClr val="53676D"/>
                </a:solidFill>
                <a:latin typeface="Arial"/>
                <a:ea typeface="Arial"/>
                <a:cs typeface="Arial"/>
              </a:defRPr>
            </a:lvl5pPr>
            <a:lvl6pPr algn="l">
              <a:defRPr sz="1875" b="0">
                <a:solidFill>
                  <a:srgbClr val="53676D"/>
                </a:solidFill>
                <a:latin typeface="Arial"/>
                <a:ea typeface="Arial"/>
                <a:cs typeface="Arial"/>
              </a:defRPr>
            </a:lvl6pPr>
            <a:lvl7pPr algn="l">
              <a:defRPr sz="1875" b="0">
                <a:solidFill>
                  <a:srgbClr val="53676D"/>
                </a:solidFill>
                <a:latin typeface="Arial"/>
                <a:ea typeface="Arial"/>
                <a:cs typeface="Arial"/>
              </a:defRPr>
            </a:lvl7pPr>
            <a:lvl8pPr algn="l">
              <a:defRPr sz="1875" b="0">
                <a:solidFill>
                  <a:srgbClr val="53676D"/>
                </a:solidFill>
                <a:latin typeface="Arial"/>
                <a:ea typeface="Arial"/>
                <a:cs typeface="Arial"/>
              </a:defRPr>
            </a:lvl8pPr>
            <a:lvl9pPr algn="l">
              <a:defRPr sz="1875" b="0">
                <a:solidFill>
                  <a:srgbClr val="53676D"/>
                </a:solidFill>
                <a:latin typeface="Arial"/>
                <a:ea typeface="Arial"/>
                <a:cs typeface="Arial"/>
              </a:defRPr>
            </a:lvl9pPr>
          </a:lstStyle>
          <a:p xmlns:a="http://schemas.openxmlformats.org/drawingml/2006/main">
            <a:pPr algn="l">
              <a:defRPr sz="1875" b="0">
                <a:solidFill>
                  <a:srgbClr val="53676D"/>
                </a:solidFill>
                <a:latin typeface="Arial"/>
                <a:ea typeface="Arial"/>
                <a:cs typeface="Arial"/>
              </a:defRPr>
            </a:pPr>
            <a:r>
              <a:rPr sz="1875" b="0">
                <a:solidFill>
                  <a:srgbClr val="53676D"/>
                </a:solidFill>
                <a:latin typeface="Arial"/>
                <a:ea typeface="Arial"/>
                <a:cs typeface="Arial"/>
              </a:rPr>
              <a:t>Proposed operating allowances in US$ thousands, subject to priced scope.</a:t>
            </a:r>
          </a:p>
        </p:txBody>
      </p:sp>
      <p:sp>
        <p:nvSpPr>
          <p:cNvPr id="3" name="prime-text-73">
            <a:extLst xmlns:a="http://schemas.openxmlformats.org/drawingml/2006/main">
              <a:ext uri="{FF2B5EF4-FFF2-40B4-BE49-F238E27FC236}">
                <a16:creationId xmlns:a16="http://schemas.microsoft.com/office/drawing/2014/main" id="{6CF3C5D8-77FC-4C68-BD50-8FBCC557AED8}"/>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xmlns:a="http://schemas.openxmlformats.org/drawingml/2006/main">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prime-text-74">
            <a:extLst xmlns:a="http://schemas.openxmlformats.org/drawingml/2006/main">
              <a:ext uri="{FF2B5EF4-FFF2-40B4-BE49-F238E27FC236}">
                <a16:creationId xmlns:a16="http://schemas.microsoft.com/office/drawing/2014/main" id="{33BDBD58-8C58-4E8A-B3CA-8C64C3C9F352}"/>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xmlns:a="http://schemas.openxmlformats.org/drawingml/2006/main">
            <a:pPr algn="r">
              <a:defRPr sz="1200" b="0">
                <a:solidFill>
                  <a:srgbClr val="53676D"/>
                </a:solidFill>
                <a:latin typeface="Arial"/>
                <a:ea typeface="Arial"/>
                <a:cs typeface="Arial"/>
              </a:defRPr>
            </a:pPr>
            <a:r>
              <a:rPr sz="1200" b="0">
                <a:solidFill>
                  <a:srgbClr val="53676D"/>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0A5D8FA9-B427-49B3-8AF1-A8121F2E10EC}"/>
              </a:ext>
            </a:extLst>
          </p:cNvPr>
          <p:cNvGraphicFramePr/>
          <p:nvPr/>
        </p:nvGraphicFramePr>
        <p:xfrm>
          <a:off xmlns:a="http://schemas.openxmlformats.org/drawingml/2006/main" x="609600" y="2000250"/>
          <a:ext xmlns:a="http://schemas.openxmlformats.org/drawingml/2006/main" cx="10972800" cy="3752850"/>
        </p:xfrm>
        <a:graphic xmlns:a="http://schemas.openxmlformats.org/drawingml/2006/main">
          <a:graphicData uri="http://schemas.openxmlformats.org/drawingml/2006/table">
            <a:tbl>
              <a:tblPr firstRow="1" bandRow="0"/>
              <a:tblGrid>
                <a:gridCol w="5429250"/>
                <a:gridCol w="1847850"/>
                <a:gridCol w="1847850"/>
                <a:gridCol w="1847850"/>
              </a:tblGrid>
              <a:tr h="312738">
                <a:tc>
                  <a:txBody>
                    <a:bodyPr lIns="95250" tIns="19050" rIns="95250" bIns="19050"/>
                    <a:lstStyle/>
                    <a:p>
                      <a:r>
                        <a:rPr sz="1500" b="1">
                          <a:solidFill>
                            <a:srgbClr val="FFFFFF"/>
                          </a:solidFill>
                          <a:latin typeface="Arial"/>
                          <a:ea typeface="Arial"/>
                          <a:cs typeface="Arial"/>
                        </a:rPr>
                        <a:t>Fixed operating line</a:t>
                      </a:r>
                    </a:p>
                  </a:txBody>
                  <a:tcPr marL="91440" marR="91440" marT="45720" marB="45720" anchor="ctr">
                    <a:lnL w="9525">
                      <a:solidFill>
                        <a:srgbClr val="CFD7D1"/>
                      </a:solidFill>
                      <a:prstDash val="solid"/>
                    </a:lnL>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c>
                  <a:txBody>
                    <a:bodyPr lIns="95250" tIns="19050" rIns="95250" bIns="19050"/>
                    <a:lstStyle/>
                    <a:p>
                      <a:r>
                        <a:rPr sz="1500" b="1">
                          <a:solidFill>
                            <a:srgbClr val="FFFFFF"/>
                          </a:solidFill>
                          <a:latin typeface="Arial"/>
                          <a:ea typeface="Arial"/>
                          <a:cs typeface="Arial"/>
                        </a:rPr>
                        <a:t>Year 1</a:t>
                      </a:r>
                    </a:p>
                  </a:txBody>
                  <a:tcPr marL="91440" marR="91440" marT="45720" marB="45720" anchor="ctr">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c>
                  <a:txBody>
                    <a:bodyPr lIns="95250" tIns="19050" rIns="95250" bIns="19050"/>
                    <a:lstStyle/>
                    <a:p>
                      <a:r>
                        <a:rPr sz="1500" b="1">
                          <a:solidFill>
                            <a:srgbClr val="FFFFFF"/>
                          </a:solidFill>
                          <a:latin typeface="Arial"/>
                          <a:ea typeface="Arial"/>
                          <a:cs typeface="Arial"/>
                        </a:rPr>
                        <a:t>Year 2</a:t>
                      </a:r>
                    </a:p>
                  </a:txBody>
                  <a:tcPr marL="91440" marR="91440" marT="45720" marB="45720" anchor="ctr">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c>
                  <a:txBody>
                    <a:bodyPr lIns="95250" tIns="19050" rIns="95250" bIns="19050"/>
                    <a:lstStyle/>
                    <a:p>
                      <a:r>
                        <a:rPr sz="1500" b="1">
                          <a:solidFill>
                            <a:srgbClr val="FFFFFF"/>
                          </a:solidFill>
                          <a:latin typeface="Arial"/>
                          <a:ea typeface="Arial"/>
                          <a:cs typeface="Arial"/>
                        </a:rPr>
                        <a:t>24M total</a:t>
                      </a:r>
                    </a:p>
                  </a:txBody>
                  <a:tcPr marL="91440" marR="91440" marT="45720" marB="45720" anchor="ctr">
                    <a:lnR w="9525">
                      <a:solidFill>
                        <a:srgbClr val="CFD7D1"/>
                      </a:solidFill>
                      <a:prstDash val="solid"/>
                    </a:lnR>
                    <a:lnT w="9525">
                      <a:solidFill>
                        <a:srgbClr val="CFD7D1"/>
                      </a:solidFill>
                      <a:prstDash val="solid"/>
                    </a:lnT>
                    <a:lnB w="9525">
                      <a:solidFill>
                        <a:srgbClr val="CFD7D1"/>
                      </a:solidFill>
                      <a:prstDash val="solid"/>
                    </a:lnB>
                    <a:solidFill>
                      <a:srgbClr val="176C6B"/>
                    </a:solidFill>
                  </a:tcPr>
                </a:tc>
              </a:tr>
              <a:tr h="312738">
                <a:tc>
                  <a:txBody>
                    <a:bodyPr lIns="95250" tIns="19050" rIns="95250" bIns="19050"/>
                    <a:lstStyle/>
                    <a:p>
                      <a:r>
                        <a:rPr sz="1575" b="0">
                          <a:solidFill>
                            <a:srgbClr val="183440"/>
                          </a:solidFill>
                          <a:latin typeface="Arial"/>
                          <a:ea typeface="Arial"/>
                          <a:cs typeface="Arial"/>
                        </a:rPr>
                        <a:t>Engineering delivery capacity</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300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300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600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Product and integration lead</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150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150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300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Security audit and testing</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60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120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180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Cloud, data and development tools</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45</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75</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120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Securities counsel / programme docs</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240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120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360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Compliance and licensing readiness</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90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150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240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Operations and reconciliation capacity</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90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150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240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Partner certification and testing</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60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150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210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Partner development / account support</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120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180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300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0">
                          <a:solidFill>
                            <a:srgbClr val="183440"/>
                          </a:solidFill>
                          <a:latin typeface="Arial"/>
                          <a:ea typeface="Arial"/>
                          <a:cs typeface="Arial"/>
                        </a:rPr>
                        <a:t>Market launch and investor education</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45</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105</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0">
                          <a:solidFill>
                            <a:srgbClr val="183440"/>
                          </a:solidFill>
                          <a:latin typeface="Arial"/>
                          <a:ea typeface="Arial"/>
                          <a:cs typeface="Arial"/>
                        </a:rPr>
                        <a:t>150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r h="312738">
                <a:tc>
                  <a:txBody>
                    <a:bodyPr lIns="95250" tIns="19050" rIns="95250" bIns="19050"/>
                    <a:lstStyle/>
                    <a:p>
                      <a:r>
                        <a:rPr sz="1575" b="1">
                          <a:solidFill>
                            <a:srgbClr val="183440"/>
                          </a:solidFill>
                          <a:latin typeface="Arial"/>
                          <a:ea typeface="Arial"/>
                          <a:cs typeface="Arial"/>
                        </a:rPr>
                        <a:t>Total fixed spending</a:t>
                      </a:r>
                    </a:p>
                  </a:txBody>
                  <a:tcPr marL="91440" marR="91440" marT="45720" marB="45720" anchor="ctr">
                    <a:lnL w="9525">
                      <a:solidFill>
                        <a:srgbClr val="CFD7D1"/>
                      </a:solidFill>
                      <a:prstDash val="solid"/>
                    </a:lnL>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1">
                          <a:solidFill>
                            <a:srgbClr val="183440"/>
                          </a:solidFill>
                          <a:latin typeface="Arial"/>
                          <a:ea typeface="Arial"/>
                          <a:cs typeface="Arial"/>
                        </a:rPr>
                        <a:t>1,200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1">
                          <a:solidFill>
                            <a:srgbClr val="183440"/>
                          </a:solidFill>
                          <a:latin typeface="Arial"/>
                          <a:ea typeface="Arial"/>
                          <a:cs typeface="Arial"/>
                        </a:rPr>
                        <a:t>1,500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c>
                  <a:txBody>
                    <a:bodyPr lIns="95250" tIns="19050" rIns="95250" bIns="19050"/>
                    <a:lstStyle/>
                    <a:p>
                      <a:r>
                        <a:rPr sz="1575" b="1">
                          <a:solidFill>
                            <a:srgbClr val="183440"/>
                          </a:solidFill>
                          <a:latin typeface="Arial"/>
                          <a:ea typeface="Arial"/>
                          <a:cs typeface="Arial"/>
                        </a:rPr>
                        <a:t>2,700</a:t>
                      </a:r>
                    </a:p>
                  </a:txBody>
                  <a:tcPr marL="91440" marR="91440" marT="45720" marB="45720" anchor="ctr">
                    <a:lnR w="9525">
                      <a:solidFill>
                        <a:srgbClr val="CFD7D1"/>
                      </a:solidFill>
                      <a:prstDash val="solid"/>
                    </a:lnR>
                    <a:lnB w="9525">
                      <a:solidFill>
                        <a:srgbClr val="CFD7D1"/>
                      </a:solidFill>
                      <a:prstDash val="solid"/>
                    </a:lnB>
                    <a:solidFill>
                      <a:srgbClr val="F7F4EC"/>
                    </a:solidFill>
                  </a:tcPr>
                </a:tc>
              </a:tr>
            </a:tbl>
          </a:graphicData>
        </a:graphic>
      </p:graphicFrame>
      <p:sp>
        <p:nvSpPr>
          <p:cNvPr id="6" name="prime-text-75">
            <a:extLst xmlns:a="http://schemas.openxmlformats.org/drawingml/2006/main">
              <a:ext uri="{FF2B5EF4-FFF2-40B4-BE49-F238E27FC236}">
                <a16:creationId xmlns:a16="http://schemas.microsoft.com/office/drawing/2014/main" id="{F7C8E7F9-9A3F-474E-AFF1-B659EA5A3E80}"/>
              </a:ext>
            </a:extLst>
          </p:cNvPr>
          <p:cNvSpPr>
            <a:spLocks xmlns:a="http://schemas.openxmlformats.org/drawingml/2006/main" noGrp="1"/>
          </p:cNvSpPr>
          <p:nvPr/>
        </p:nvSpPr>
        <p:spPr>
          <a:xfrm xmlns:a="http://schemas.openxmlformats.org/drawingml/2006/main">
            <a:off x="609600" y="6076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xmlns:a="http://schemas.openxmlformats.org/drawingml/2006/main">
            <a:pPr algn="l">
              <a:defRPr sz="1500" b="0">
                <a:solidFill>
                  <a:srgbClr val="53676D"/>
                </a:solidFill>
                <a:latin typeface="Arial"/>
                <a:ea typeface="Arial"/>
                <a:cs typeface="Arial"/>
              </a:defRPr>
            </a:pPr>
            <a:r>
              <a:rPr sz="1500" b="0">
                <a:solidFill>
                  <a:srgbClr val="53676D"/>
                </a:solidFill>
                <a:latin typeface="Arial"/>
                <a:ea typeface="Arial"/>
                <a:cs typeface="Arial"/>
              </a:rPr>
              <a:t>US$2.70M fixed + US$0.30M reserve = US$3M. Variable service costs and backing inventory are separate.</a:t>
            </a:r>
          </a:p>
        </p:txBody>
      </p:sp>
    </p:spTree>
    <p:extLst>
      <p:ext uri="{BB962C8B-B14F-4D97-AF65-F5344CB8AC3E}">
        <p14:creationId xmlns:p14="http://schemas.microsoft.com/office/powerpoint/2010/main" val="1196064030"/>
      </p:ext>
    </p:extLst>
  </p:cSld>
</p:sld>
</file>

<file path=ppt/slides/slide15.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2" name="prime-text-76">
            <a:extLst xmlns:a="http://schemas.openxmlformats.org/drawingml/2006/main">
              <a:ext uri="{FF2B5EF4-FFF2-40B4-BE49-F238E27FC236}">
                <a16:creationId xmlns:a16="http://schemas.microsoft.com/office/drawing/2014/main" id="{0FAB1E37-CB4E-41EA-A63A-B9B533EBD853}"/>
              </a:ext>
            </a:extLst>
          </p:cNvPr>
          <p:cNvSpPr>
            <a:spLocks xmlns:a="http://schemas.openxmlformats.org/drawingml/2006/main" noGrp="1"/>
          </p:cNvSpPr>
          <p:nvPr/>
        </p:nvSpPr>
        <p:spPr>
          <a:xfrm xmlns:a="http://schemas.openxmlformats.org/drawingml/2006/main">
            <a:off x="609600" y="504825"/>
            <a:ext cx="109728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xmlns:a="http://schemas.openxmlformats.org/drawingml/2006/main">
            <a:pPr algn="l">
              <a:defRPr sz="3300" b="1">
                <a:solidFill>
                  <a:srgbClr val="183440"/>
                </a:solidFill>
                <a:latin typeface="Arial"/>
                <a:ea typeface="Arial"/>
                <a:cs typeface="Arial"/>
              </a:defRPr>
            </a:pPr>
            <a:r>
              <a:rPr sz="3300" b="1">
                <a:solidFill>
                  <a:srgbClr val="183440"/>
                </a:solidFill>
                <a:latin typeface="Arial"/>
                <a:ea typeface="Arial"/>
                <a:cs typeface="Arial"/>
              </a:rPr>
              <a:t>US$3 million for the first production programme</a:t>
            </a:r>
          </a:p>
        </p:txBody>
      </p:sp>
      <p:sp>
        <p:nvSpPr>
          <p:cNvPr id="2" name="prime-text-77">
            <a:extLst xmlns:a="http://schemas.openxmlformats.org/drawingml/2006/main">
              <a:ext uri="{FF2B5EF4-FFF2-40B4-BE49-F238E27FC236}">
                <a16:creationId xmlns:a16="http://schemas.microsoft.com/office/drawing/2014/main" id="{8A3DFC53-ABDD-4715-BFB0-41553D800070}"/>
              </a:ext>
            </a:extLst>
          </p:cNvPr>
          <p:cNvSpPr>
            <a:spLocks xmlns:a="http://schemas.openxmlformats.org/drawingml/2006/main" noGrp="1"/>
          </p:cNvSpPr>
          <p:nvPr/>
        </p:nvSpPr>
        <p:spPr>
          <a:xfrm xmlns:a="http://schemas.openxmlformats.org/drawingml/2006/main">
            <a:off x="609600" y="1409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676D"/>
                </a:solidFill>
                <a:latin typeface="Arial"/>
                <a:ea typeface="Arial"/>
                <a:cs typeface="Arial"/>
              </a:defRPr>
            </a:defPPr>
            <a:lvl1pPr algn="l">
              <a:defRPr sz="1875" b="0">
                <a:solidFill>
                  <a:srgbClr val="53676D"/>
                </a:solidFill>
                <a:latin typeface="Arial"/>
                <a:ea typeface="Arial"/>
                <a:cs typeface="Arial"/>
              </a:defRPr>
            </a:lvl1pPr>
            <a:lvl2pPr algn="l">
              <a:defRPr sz="1875" b="0">
                <a:solidFill>
                  <a:srgbClr val="53676D"/>
                </a:solidFill>
                <a:latin typeface="Arial"/>
                <a:ea typeface="Arial"/>
                <a:cs typeface="Arial"/>
              </a:defRPr>
            </a:lvl2pPr>
            <a:lvl3pPr algn="l">
              <a:defRPr sz="1875" b="0">
                <a:solidFill>
                  <a:srgbClr val="53676D"/>
                </a:solidFill>
                <a:latin typeface="Arial"/>
                <a:ea typeface="Arial"/>
                <a:cs typeface="Arial"/>
              </a:defRPr>
            </a:lvl3pPr>
            <a:lvl4pPr algn="l">
              <a:defRPr sz="1875" b="0">
                <a:solidFill>
                  <a:srgbClr val="53676D"/>
                </a:solidFill>
                <a:latin typeface="Arial"/>
                <a:ea typeface="Arial"/>
                <a:cs typeface="Arial"/>
              </a:defRPr>
            </a:lvl4pPr>
            <a:lvl5pPr algn="l">
              <a:defRPr sz="1875" b="0">
                <a:solidFill>
                  <a:srgbClr val="53676D"/>
                </a:solidFill>
                <a:latin typeface="Arial"/>
                <a:ea typeface="Arial"/>
                <a:cs typeface="Arial"/>
              </a:defRPr>
            </a:lvl5pPr>
            <a:lvl6pPr algn="l">
              <a:defRPr sz="1875" b="0">
                <a:solidFill>
                  <a:srgbClr val="53676D"/>
                </a:solidFill>
                <a:latin typeface="Arial"/>
                <a:ea typeface="Arial"/>
                <a:cs typeface="Arial"/>
              </a:defRPr>
            </a:lvl6pPr>
            <a:lvl7pPr algn="l">
              <a:defRPr sz="1875" b="0">
                <a:solidFill>
                  <a:srgbClr val="53676D"/>
                </a:solidFill>
                <a:latin typeface="Arial"/>
                <a:ea typeface="Arial"/>
                <a:cs typeface="Arial"/>
              </a:defRPr>
            </a:lvl7pPr>
            <a:lvl8pPr algn="l">
              <a:defRPr sz="1875" b="0">
                <a:solidFill>
                  <a:srgbClr val="53676D"/>
                </a:solidFill>
                <a:latin typeface="Arial"/>
                <a:ea typeface="Arial"/>
                <a:cs typeface="Arial"/>
              </a:defRPr>
            </a:lvl8pPr>
            <a:lvl9pPr algn="l">
              <a:defRPr sz="1875" b="0">
                <a:solidFill>
                  <a:srgbClr val="53676D"/>
                </a:solidFill>
                <a:latin typeface="Arial"/>
                <a:ea typeface="Arial"/>
                <a:cs typeface="Arial"/>
              </a:defRPr>
            </a:lvl9pPr>
          </a:lstStyle>
          <a:p xmlns:a="http://schemas.openxmlformats.org/drawingml/2006/main">
            <a:pPr algn="l">
              <a:defRPr sz="1875" b="0">
                <a:solidFill>
                  <a:srgbClr val="53676D"/>
                </a:solidFill>
                <a:latin typeface="Arial"/>
                <a:ea typeface="Arial"/>
                <a:cs typeface="Arial"/>
              </a:defRPr>
            </a:pPr>
            <a:r>
              <a:rPr sz="1875" b="0">
                <a:solidFill>
                  <a:srgbClr val="53676D"/>
                </a:solidFill>
                <a:latin typeface="Arial"/>
                <a:ea typeface="Arial"/>
                <a:cs typeface="Arial"/>
              </a:rPr>
              <a:t>Expansion capital for delivery and programme readiness over 24 months.</a:t>
            </a:r>
          </a:p>
        </p:txBody>
      </p:sp>
      <p:sp>
        <p:nvSpPr>
          <p:cNvPr id="3" name="prime-text-78">
            <a:extLst xmlns:a="http://schemas.openxmlformats.org/drawingml/2006/main">
              <a:ext uri="{FF2B5EF4-FFF2-40B4-BE49-F238E27FC236}">
                <a16:creationId xmlns:a16="http://schemas.microsoft.com/office/drawing/2014/main" id="{8B958CCD-2C89-45B7-A288-D8BF873DA47D}"/>
              </a:ext>
            </a:extLst>
          </p:cNvPr>
          <p:cNvSpPr>
            <a:spLocks xmlns:a="http://schemas.openxmlformats.org/drawingml/2006/main" noGrp="1"/>
          </p:cNvSpPr>
          <p:nvPr/>
        </p:nvSpPr>
        <p:spPr>
          <a:xfrm xmlns:a="http://schemas.openxmlformats.org/drawingml/2006/main">
            <a:off x="609600" y="6438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xmlns:a="http://schemas.openxmlformats.org/drawingml/2006/main">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p>
        </p:txBody>
      </p:sp>
      <p:sp>
        <p:nvSpPr>
          <p:cNvPr id="4" name="prime-text-79">
            <a:extLst xmlns:a="http://schemas.openxmlformats.org/drawingml/2006/main">
              <a:ext uri="{FF2B5EF4-FFF2-40B4-BE49-F238E27FC236}">
                <a16:creationId xmlns:a16="http://schemas.microsoft.com/office/drawing/2014/main" id="{DBDBDB64-3E28-41EF-819F-9A0513991062}"/>
              </a:ext>
            </a:extLst>
          </p:cNvPr>
          <p:cNvSpPr>
            <a:spLocks xmlns:a="http://schemas.openxmlformats.org/drawingml/2006/main" noGrp="1"/>
          </p:cNvSpPr>
          <p:nvPr/>
        </p:nvSpPr>
        <p:spPr>
          <a:xfrm xmlns:a="http://schemas.openxmlformats.org/drawingml/2006/main">
            <a:off x="11020425" y="6438900"/>
            <a:ext cx="561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xmlns:a="http://schemas.openxmlformats.org/drawingml/2006/main">
            <a:pPr algn="r">
              <a:defRPr sz="1200" b="0">
                <a:solidFill>
                  <a:srgbClr val="53676D"/>
                </a:solidFill>
                <a:latin typeface="Arial"/>
                <a:ea typeface="Arial"/>
                <a:cs typeface="Arial"/>
              </a:defRPr>
            </a:pPr>
            <a:r>
              <a:rPr sz="1200" b="0">
                <a:solidFill>
                  <a:srgbClr val="53676D"/>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2F699BE0-6F19-4C54-BCB0-AEB5CE94555E}"/>
              </a:ext>
            </a:extLst>
          </p:cNvPr>
          <p:cNvGraphicFramePr/>
          <p:nvPr/>
        </p:nvGraphicFramePr>
        <p:xfrm>
          <a:off xmlns:a="http://schemas.openxmlformats.org/drawingml/2006/main" x="609600" y="2133600"/>
          <a:ext xmlns:a="http://schemas.openxmlformats.org/drawingml/2006/main" cx="7353300" cy="3343275"/>
        </p:xfrm>
        <a:graphic xmlns:a="http://schemas.openxmlformats.org/drawingml/2006/main">
          <a:graphicData uri="http://schemas.openxmlformats.org/drawingml/2006/chart">
            <c:chart xmlns:r="http://schemas.openxmlformats.org/officeDocument/2006/relationships" xmlns:c="http://schemas.openxmlformats.org/drawingml/2006/chart" r:id="R362a9b5934f8447f"/>
          </a:graphicData>
        </a:graphic>
      </p:graphicFrame>
      <p:sp>
        <p:nvSpPr>
          <p:cNvPr id="6" name="prime-text-80">
            <a:extLst xmlns:a="http://schemas.openxmlformats.org/drawingml/2006/main">
              <a:ext uri="{FF2B5EF4-FFF2-40B4-BE49-F238E27FC236}">
                <a16:creationId xmlns:a16="http://schemas.microsoft.com/office/drawing/2014/main" id="{43BFF1D9-A346-4054-A3E1-1D0700FC2494}"/>
              </a:ext>
            </a:extLst>
          </p:cNvPr>
          <p:cNvSpPr>
            <a:spLocks xmlns:a="http://schemas.openxmlformats.org/drawingml/2006/main" noGrp="1"/>
          </p:cNvSpPr>
          <p:nvPr/>
        </p:nvSpPr>
        <p:spPr>
          <a:xfrm xmlns:a="http://schemas.openxmlformats.org/drawingml/2006/main">
            <a:off x="8362950" y="2238375"/>
            <a:ext cx="3219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83440"/>
                </a:solidFill>
                <a:latin typeface="Arial"/>
                <a:ea typeface="Arial"/>
                <a:cs typeface="Arial"/>
              </a:defRPr>
            </a:defPPr>
            <a:lvl1pPr algn="l">
              <a:defRPr sz="3450" b="1">
                <a:solidFill>
                  <a:srgbClr val="183440"/>
                </a:solidFill>
                <a:latin typeface="Arial"/>
                <a:ea typeface="Arial"/>
                <a:cs typeface="Arial"/>
              </a:defRPr>
            </a:lvl1pPr>
            <a:lvl2pPr algn="l">
              <a:defRPr sz="3450" b="1">
                <a:solidFill>
                  <a:srgbClr val="183440"/>
                </a:solidFill>
                <a:latin typeface="Arial"/>
                <a:ea typeface="Arial"/>
                <a:cs typeface="Arial"/>
              </a:defRPr>
            </a:lvl2pPr>
            <a:lvl3pPr algn="l">
              <a:defRPr sz="3450" b="1">
                <a:solidFill>
                  <a:srgbClr val="183440"/>
                </a:solidFill>
                <a:latin typeface="Arial"/>
                <a:ea typeface="Arial"/>
                <a:cs typeface="Arial"/>
              </a:defRPr>
            </a:lvl3pPr>
            <a:lvl4pPr algn="l">
              <a:defRPr sz="3450" b="1">
                <a:solidFill>
                  <a:srgbClr val="183440"/>
                </a:solidFill>
                <a:latin typeface="Arial"/>
                <a:ea typeface="Arial"/>
                <a:cs typeface="Arial"/>
              </a:defRPr>
            </a:lvl4pPr>
            <a:lvl5pPr algn="l">
              <a:defRPr sz="3450" b="1">
                <a:solidFill>
                  <a:srgbClr val="183440"/>
                </a:solidFill>
                <a:latin typeface="Arial"/>
                <a:ea typeface="Arial"/>
                <a:cs typeface="Arial"/>
              </a:defRPr>
            </a:lvl5pPr>
            <a:lvl6pPr algn="l">
              <a:defRPr sz="3450" b="1">
                <a:solidFill>
                  <a:srgbClr val="183440"/>
                </a:solidFill>
                <a:latin typeface="Arial"/>
                <a:ea typeface="Arial"/>
                <a:cs typeface="Arial"/>
              </a:defRPr>
            </a:lvl6pPr>
            <a:lvl7pPr algn="l">
              <a:defRPr sz="3450" b="1">
                <a:solidFill>
                  <a:srgbClr val="183440"/>
                </a:solidFill>
                <a:latin typeface="Arial"/>
                <a:ea typeface="Arial"/>
                <a:cs typeface="Arial"/>
              </a:defRPr>
            </a:lvl7pPr>
            <a:lvl8pPr algn="l">
              <a:defRPr sz="3450" b="1">
                <a:solidFill>
                  <a:srgbClr val="183440"/>
                </a:solidFill>
                <a:latin typeface="Arial"/>
                <a:ea typeface="Arial"/>
                <a:cs typeface="Arial"/>
              </a:defRPr>
            </a:lvl8pPr>
            <a:lvl9pPr algn="l">
              <a:defRPr sz="3450" b="1">
                <a:solidFill>
                  <a:srgbClr val="183440"/>
                </a:solidFill>
                <a:latin typeface="Arial"/>
                <a:ea typeface="Arial"/>
                <a:cs typeface="Arial"/>
              </a:defRPr>
            </a:lvl9pPr>
          </a:lstStyle>
          <a:p xmlns:a="http://schemas.openxmlformats.org/drawingml/2006/main">
            <a:pPr algn="l">
              <a:defRPr sz="3450" b="1">
                <a:solidFill>
                  <a:srgbClr val="183440"/>
                </a:solidFill>
                <a:latin typeface="Arial"/>
                <a:ea typeface="Arial"/>
                <a:cs typeface="Arial"/>
              </a:defRPr>
            </a:pPr>
            <a:r>
              <a:rPr sz="3450" b="1">
                <a:solidFill>
                  <a:srgbClr val="183440"/>
                </a:solidFill>
                <a:latin typeface="Arial"/>
                <a:ea typeface="Arial"/>
                <a:cs typeface="Arial"/>
              </a:rPr>
              <a:t>24 months</a:t>
            </a:r>
          </a:p>
        </p:txBody>
      </p:sp>
      <p:sp>
        <p:nvSpPr>
          <p:cNvPr id="7" name="prime-text-81">
            <a:extLst xmlns:a="http://schemas.openxmlformats.org/drawingml/2006/main">
              <a:ext uri="{FF2B5EF4-FFF2-40B4-BE49-F238E27FC236}">
                <a16:creationId xmlns:a16="http://schemas.microsoft.com/office/drawing/2014/main" id="{A5468CD3-529C-44E1-9FC0-AD2F5058BC71}"/>
              </a:ext>
            </a:extLst>
          </p:cNvPr>
          <p:cNvSpPr>
            <a:spLocks xmlns:a="http://schemas.openxmlformats.org/drawingml/2006/main" noGrp="1"/>
          </p:cNvSpPr>
          <p:nvPr/>
        </p:nvSpPr>
        <p:spPr>
          <a:xfrm xmlns:a="http://schemas.openxmlformats.org/drawingml/2006/main">
            <a:off x="8362950" y="3209925"/>
            <a:ext cx="3219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76C6B"/>
                </a:solidFill>
                <a:latin typeface="Arial"/>
                <a:ea typeface="Arial"/>
                <a:cs typeface="Arial"/>
              </a:defRPr>
            </a:defPPr>
            <a:lvl1pPr algn="l">
              <a:defRPr sz="2625" b="1">
                <a:solidFill>
                  <a:srgbClr val="176C6B"/>
                </a:solidFill>
                <a:latin typeface="Arial"/>
                <a:ea typeface="Arial"/>
                <a:cs typeface="Arial"/>
              </a:defRPr>
            </a:lvl1pPr>
            <a:lvl2pPr algn="l">
              <a:defRPr sz="2625" b="1">
                <a:solidFill>
                  <a:srgbClr val="176C6B"/>
                </a:solidFill>
                <a:latin typeface="Arial"/>
                <a:ea typeface="Arial"/>
                <a:cs typeface="Arial"/>
              </a:defRPr>
            </a:lvl2pPr>
            <a:lvl3pPr algn="l">
              <a:defRPr sz="2625" b="1">
                <a:solidFill>
                  <a:srgbClr val="176C6B"/>
                </a:solidFill>
                <a:latin typeface="Arial"/>
                <a:ea typeface="Arial"/>
                <a:cs typeface="Arial"/>
              </a:defRPr>
            </a:lvl3pPr>
            <a:lvl4pPr algn="l">
              <a:defRPr sz="2625" b="1">
                <a:solidFill>
                  <a:srgbClr val="176C6B"/>
                </a:solidFill>
                <a:latin typeface="Arial"/>
                <a:ea typeface="Arial"/>
                <a:cs typeface="Arial"/>
              </a:defRPr>
            </a:lvl4pPr>
            <a:lvl5pPr algn="l">
              <a:defRPr sz="2625" b="1">
                <a:solidFill>
                  <a:srgbClr val="176C6B"/>
                </a:solidFill>
                <a:latin typeface="Arial"/>
                <a:ea typeface="Arial"/>
                <a:cs typeface="Arial"/>
              </a:defRPr>
            </a:lvl5pPr>
            <a:lvl6pPr algn="l">
              <a:defRPr sz="2625" b="1">
                <a:solidFill>
                  <a:srgbClr val="176C6B"/>
                </a:solidFill>
                <a:latin typeface="Arial"/>
                <a:ea typeface="Arial"/>
                <a:cs typeface="Arial"/>
              </a:defRPr>
            </a:lvl6pPr>
            <a:lvl7pPr algn="l">
              <a:defRPr sz="2625" b="1">
                <a:solidFill>
                  <a:srgbClr val="176C6B"/>
                </a:solidFill>
                <a:latin typeface="Arial"/>
                <a:ea typeface="Arial"/>
                <a:cs typeface="Arial"/>
              </a:defRPr>
            </a:lvl7pPr>
            <a:lvl8pPr algn="l">
              <a:defRPr sz="2625" b="1">
                <a:solidFill>
                  <a:srgbClr val="176C6B"/>
                </a:solidFill>
                <a:latin typeface="Arial"/>
                <a:ea typeface="Arial"/>
                <a:cs typeface="Arial"/>
              </a:defRPr>
            </a:lvl8pPr>
            <a:lvl9pPr algn="l">
              <a:defRPr sz="2625" b="1">
                <a:solidFill>
                  <a:srgbClr val="176C6B"/>
                </a:solidFill>
                <a:latin typeface="Arial"/>
                <a:ea typeface="Arial"/>
                <a:cs typeface="Arial"/>
              </a:defRPr>
            </a:lvl9pPr>
          </a:lstStyle>
          <a:p xmlns:a="http://schemas.openxmlformats.org/drawingml/2006/main">
            <a:pPr algn="l">
              <a:defRPr sz="2625" b="1">
                <a:solidFill>
                  <a:srgbClr val="176C6B"/>
                </a:solidFill>
                <a:latin typeface="Arial"/>
                <a:ea typeface="Arial"/>
                <a:cs typeface="Arial"/>
              </a:defRPr>
            </a:pPr>
            <a:r>
              <a:rPr sz="2625" b="1">
                <a:solidFill>
                  <a:srgbClr val="176C6B"/>
                </a:solidFill>
                <a:latin typeface="Arial"/>
                <a:ea typeface="Arial"/>
                <a:cs typeface="Arial"/>
              </a:rPr>
              <a:t>US$125,000</a:t>
            </a:r>
          </a:p>
        </p:txBody>
      </p:sp>
      <p:sp>
        <p:nvSpPr>
          <p:cNvPr id="8" name="prime-text-82">
            <a:extLst xmlns:a="http://schemas.openxmlformats.org/drawingml/2006/main">
              <a:ext uri="{FF2B5EF4-FFF2-40B4-BE49-F238E27FC236}">
                <a16:creationId xmlns:a16="http://schemas.microsoft.com/office/drawing/2014/main" id="{E1B86698-36BE-4115-8D32-983CF7D5E22A}"/>
              </a:ext>
            </a:extLst>
          </p:cNvPr>
          <p:cNvSpPr>
            <a:spLocks xmlns:a="http://schemas.openxmlformats.org/drawingml/2006/main" noGrp="1"/>
          </p:cNvSpPr>
          <p:nvPr/>
        </p:nvSpPr>
        <p:spPr>
          <a:xfrm xmlns:a="http://schemas.openxmlformats.org/drawingml/2006/main">
            <a:off x="8362950" y="3857625"/>
            <a:ext cx="32194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676D"/>
                </a:solidFill>
                <a:latin typeface="Arial"/>
                <a:ea typeface="Arial"/>
                <a:cs typeface="Arial"/>
              </a:defRPr>
            </a:defPPr>
            <a:lvl1pPr algn="l">
              <a:defRPr sz="1800" b="0">
                <a:solidFill>
                  <a:srgbClr val="53676D"/>
                </a:solidFill>
                <a:latin typeface="Arial"/>
                <a:ea typeface="Arial"/>
                <a:cs typeface="Arial"/>
              </a:defRPr>
            </a:lvl1pPr>
            <a:lvl2pPr algn="l">
              <a:defRPr sz="1800" b="0">
                <a:solidFill>
                  <a:srgbClr val="53676D"/>
                </a:solidFill>
                <a:latin typeface="Arial"/>
                <a:ea typeface="Arial"/>
                <a:cs typeface="Arial"/>
              </a:defRPr>
            </a:lvl2pPr>
            <a:lvl3pPr algn="l">
              <a:defRPr sz="1800" b="0">
                <a:solidFill>
                  <a:srgbClr val="53676D"/>
                </a:solidFill>
                <a:latin typeface="Arial"/>
                <a:ea typeface="Arial"/>
                <a:cs typeface="Arial"/>
              </a:defRPr>
            </a:lvl3pPr>
            <a:lvl4pPr algn="l">
              <a:defRPr sz="1800" b="0">
                <a:solidFill>
                  <a:srgbClr val="53676D"/>
                </a:solidFill>
                <a:latin typeface="Arial"/>
                <a:ea typeface="Arial"/>
                <a:cs typeface="Arial"/>
              </a:defRPr>
            </a:lvl4pPr>
            <a:lvl5pPr algn="l">
              <a:defRPr sz="1800" b="0">
                <a:solidFill>
                  <a:srgbClr val="53676D"/>
                </a:solidFill>
                <a:latin typeface="Arial"/>
                <a:ea typeface="Arial"/>
                <a:cs typeface="Arial"/>
              </a:defRPr>
            </a:lvl5pPr>
            <a:lvl6pPr algn="l">
              <a:defRPr sz="1800" b="0">
                <a:solidFill>
                  <a:srgbClr val="53676D"/>
                </a:solidFill>
                <a:latin typeface="Arial"/>
                <a:ea typeface="Arial"/>
                <a:cs typeface="Arial"/>
              </a:defRPr>
            </a:lvl6pPr>
            <a:lvl7pPr algn="l">
              <a:defRPr sz="1800" b="0">
                <a:solidFill>
                  <a:srgbClr val="53676D"/>
                </a:solidFill>
                <a:latin typeface="Arial"/>
                <a:ea typeface="Arial"/>
                <a:cs typeface="Arial"/>
              </a:defRPr>
            </a:lvl7pPr>
            <a:lvl8pPr algn="l">
              <a:defRPr sz="1800" b="0">
                <a:solidFill>
                  <a:srgbClr val="53676D"/>
                </a:solidFill>
                <a:latin typeface="Arial"/>
                <a:ea typeface="Arial"/>
                <a:cs typeface="Arial"/>
              </a:defRPr>
            </a:lvl8pPr>
            <a:lvl9pPr algn="l">
              <a:defRPr sz="1800" b="0">
                <a:solidFill>
                  <a:srgbClr val="53676D"/>
                </a:solidFill>
                <a:latin typeface="Arial"/>
                <a:ea typeface="Arial"/>
                <a:cs typeface="Arial"/>
              </a:defRPr>
            </a:lvl9pPr>
          </a:lstStyle>
          <a:p xmlns:a="http://schemas.openxmlformats.org/drawingml/2006/main">
            <a:pPr algn="l">
              <a:defRPr sz="1800" b="0">
                <a:solidFill>
                  <a:srgbClr val="53676D"/>
                </a:solidFill>
                <a:latin typeface="Arial"/>
                <a:ea typeface="Arial"/>
                <a:cs typeface="Arial"/>
              </a:defRPr>
            </a:pPr>
            <a:r>
              <a:rPr sz="1800" b="0">
                <a:solidFill>
                  <a:srgbClr val="53676D"/>
                </a:solidFill>
                <a:latin typeface="Arial"/>
                <a:ea typeface="Arial"/>
                <a:cs typeface="Arial"/>
              </a:rPr>
              <a:t>average monthly funding</a:t>
            </a:r>
          </a:p>
          <a:p xmlns:a="http://schemas.openxmlformats.org/drawingml/2006/main">
            <a:pPr algn="l">
              <a:defRPr sz="1800" b="0">
                <a:solidFill>
                  <a:srgbClr val="53676D"/>
                </a:solidFill>
                <a:latin typeface="Arial"/>
                <a:ea typeface="Arial"/>
                <a:cs typeface="Arial"/>
              </a:defRPr>
            </a:pPr>
            <a:r>
              <a:rPr sz="1800" b="0">
                <a:solidFill>
                  <a:srgbClr val="53676D"/>
                </a:solidFill>
                <a:latin typeface="Arial"/>
                <a:ea typeface="Arial"/>
                <a:cs typeface="Arial"/>
              </a:rPr>
              <a:t>envelope, including reserve</a:t>
            </a:r>
          </a:p>
        </p:txBody>
      </p:sp>
      <p:sp>
        <p:nvSpPr>
          <p:cNvPr id="9" name="prime-text-83">
            <a:extLst xmlns:a="http://schemas.openxmlformats.org/drawingml/2006/main">
              <a:ext uri="{FF2B5EF4-FFF2-40B4-BE49-F238E27FC236}">
                <a16:creationId xmlns:a16="http://schemas.microsoft.com/office/drawing/2014/main" id="{775D9BEC-CAF4-4970-B4D3-C3284BC9590A}"/>
              </a:ext>
            </a:extLst>
          </p:cNvPr>
          <p:cNvSpPr>
            <a:spLocks xmlns:a="http://schemas.openxmlformats.org/drawingml/2006/main" noGrp="1"/>
          </p:cNvSpPr>
          <p:nvPr/>
        </p:nvSpPr>
        <p:spPr>
          <a:xfrm xmlns:a="http://schemas.openxmlformats.org/drawingml/2006/main">
            <a:off x="8362950" y="4905375"/>
            <a:ext cx="3219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83440"/>
                </a:solidFill>
                <a:latin typeface="Arial"/>
                <a:ea typeface="Arial"/>
                <a:cs typeface="Arial"/>
              </a:defRPr>
            </a:defPPr>
            <a:lvl1pPr algn="l">
              <a:defRPr sz="1650" b="0">
                <a:solidFill>
                  <a:srgbClr val="183440"/>
                </a:solidFill>
                <a:latin typeface="Arial"/>
                <a:ea typeface="Arial"/>
                <a:cs typeface="Arial"/>
              </a:defRPr>
            </a:lvl1pPr>
            <a:lvl2pPr algn="l">
              <a:defRPr sz="1650" b="0">
                <a:solidFill>
                  <a:srgbClr val="183440"/>
                </a:solidFill>
                <a:latin typeface="Arial"/>
                <a:ea typeface="Arial"/>
                <a:cs typeface="Arial"/>
              </a:defRPr>
            </a:lvl2pPr>
            <a:lvl3pPr algn="l">
              <a:defRPr sz="1650" b="0">
                <a:solidFill>
                  <a:srgbClr val="183440"/>
                </a:solidFill>
                <a:latin typeface="Arial"/>
                <a:ea typeface="Arial"/>
                <a:cs typeface="Arial"/>
              </a:defRPr>
            </a:lvl3pPr>
            <a:lvl4pPr algn="l">
              <a:defRPr sz="1650" b="0">
                <a:solidFill>
                  <a:srgbClr val="183440"/>
                </a:solidFill>
                <a:latin typeface="Arial"/>
                <a:ea typeface="Arial"/>
                <a:cs typeface="Arial"/>
              </a:defRPr>
            </a:lvl4pPr>
            <a:lvl5pPr algn="l">
              <a:defRPr sz="1650" b="0">
                <a:solidFill>
                  <a:srgbClr val="183440"/>
                </a:solidFill>
                <a:latin typeface="Arial"/>
                <a:ea typeface="Arial"/>
                <a:cs typeface="Arial"/>
              </a:defRPr>
            </a:lvl5pPr>
            <a:lvl6pPr algn="l">
              <a:defRPr sz="1650" b="0">
                <a:solidFill>
                  <a:srgbClr val="183440"/>
                </a:solidFill>
                <a:latin typeface="Arial"/>
                <a:ea typeface="Arial"/>
                <a:cs typeface="Arial"/>
              </a:defRPr>
            </a:lvl6pPr>
            <a:lvl7pPr algn="l">
              <a:defRPr sz="1650" b="0">
                <a:solidFill>
                  <a:srgbClr val="183440"/>
                </a:solidFill>
                <a:latin typeface="Arial"/>
                <a:ea typeface="Arial"/>
                <a:cs typeface="Arial"/>
              </a:defRPr>
            </a:lvl7pPr>
            <a:lvl8pPr algn="l">
              <a:defRPr sz="1650" b="0">
                <a:solidFill>
                  <a:srgbClr val="183440"/>
                </a:solidFill>
                <a:latin typeface="Arial"/>
                <a:ea typeface="Arial"/>
                <a:cs typeface="Arial"/>
              </a:defRPr>
            </a:lvl8pPr>
            <a:lvl9pPr algn="l">
              <a:defRPr sz="1650" b="0">
                <a:solidFill>
                  <a:srgbClr val="183440"/>
                </a:solidFill>
                <a:latin typeface="Arial"/>
                <a:ea typeface="Arial"/>
                <a:cs typeface="Arial"/>
              </a:defRPr>
            </a:lvl9pPr>
          </a:lstStyle>
          <a:p xmlns:a="http://schemas.openxmlformats.org/drawingml/2006/main">
            <a:pPr algn="l">
              <a:defRPr sz="1650" b="0">
                <a:solidFill>
                  <a:srgbClr val="183440"/>
                </a:solidFill>
                <a:latin typeface="Arial"/>
                <a:ea typeface="Arial"/>
                <a:cs typeface="Arial"/>
              </a:defRPr>
            </a:pPr>
            <a:r>
              <a:rPr sz="1650" b="0">
                <a:solidFill>
                  <a:srgbClr val="183440"/>
                </a:solidFill>
                <a:latin typeface="Arial"/>
                <a:ea typeface="Arial"/>
                <a:cs typeface="Arial"/>
              </a:rPr>
              <a:t>US$112,500 fixed</a:t>
            </a:r>
          </a:p>
          <a:p xmlns:a="http://schemas.openxmlformats.org/drawingml/2006/main">
            <a:pPr algn="l">
              <a:defRPr sz="1650" b="0">
                <a:solidFill>
                  <a:srgbClr val="183440"/>
                </a:solidFill>
                <a:latin typeface="Arial"/>
                <a:ea typeface="Arial"/>
                <a:cs typeface="Arial"/>
              </a:defRPr>
            </a:pPr>
            <a:r>
              <a:rPr sz="1650" b="0">
                <a:solidFill>
                  <a:srgbClr val="183440"/>
                </a:solidFill>
                <a:latin typeface="Arial"/>
                <a:ea typeface="Arial"/>
                <a:cs typeface="Arial"/>
              </a:rPr>
              <a:t>+ US$12,500 reserve equivalent</a:t>
            </a:r>
          </a:p>
        </p:txBody>
      </p:sp>
      <p:sp>
        <p:nvSpPr>
          <p:cNvPr id="10" name="prime-text-84">
            <a:extLst xmlns:a="http://schemas.openxmlformats.org/drawingml/2006/main">
              <a:ext uri="{FF2B5EF4-FFF2-40B4-BE49-F238E27FC236}">
                <a16:creationId xmlns:a16="http://schemas.microsoft.com/office/drawing/2014/main" id="{0EBAFFC3-81A5-48B0-A6C5-3A3F2E6DE9E3}"/>
              </a:ext>
            </a:extLst>
          </p:cNvPr>
          <p:cNvSpPr>
            <a:spLocks xmlns:a="http://schemas.openxmlformats.org/drawingml/2006/main" noGrp="1"/>
          </p:cNvSpPr>
          <p:nvPr/>
        </p:nvSpPr>
        <p:spPr>
          <a:xfrm xmlns:a="http://schemas.openxmlformats.org/drawingml/2006/main">
            <a:off x="609600" y="5705475"/>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xmlns:a="http://schemas.openxmlformats.org/drawingml/2006/main">
            <a:pPr algn="l">
              <a:defRPr sz="2250" b="1">
                <a:solidFill>
                  <a:srgbClr val="176C6B"/>
                </a:solidFill>
                <a:latin typeface="Arial"/>
                <a:ea typeface="Arial"/>
                <a:cs typeface="Arial"/>
              </a:defRPr>
            </a:pPr>
            <a:r>
              <a:rPr sz="2250" b="1">
                <a:solidFill>
                  <a:srgbClr val="176C6B"/>
                </a:solidFill>
                <a:latin typeface="Arial"/>
                <a:ea typeface="Arial"/>
                <a:cs typeface="Arial"/>
              </a:rPr>
              <a:t>Seeking investors and an anchor programme sponsor</a:t>
            </a:r>
          </a:p>
        </p:txBody>
      </p:sp>
      <p:sp>
        <p:nvSpPr>
          <p:cNvPr id="11" name="prime-text-85">
            <a:extLst xmlns:a="http://schemas.openxmlformats.org/drawingml/2006/main">
              <a:ext uri="{FF2B5EF4-FFF2-40B4-BE49-F238E27FC236}">
                <a16:creationId xmlns:a16="http://schemas.microsoft.com/office/drawing/2014/main" id="{B702AC90-1703-4026-91F7-44EC9E40D5F4}"/>
              </a:ext>
            </a:extLst>
          </p:cNvPr>
          <p:cNvSpPr>
            <a:spLocks xmlns:a="http://schemas.openxmlformats.org/drawingml/2006/main" noGrp="1"/>
          </p:cNvSpPr>
          <p:nvPr/>
        </p:nvSpPr>
        <p:spPr>
          <a:xfrm xmlns:a="http://schemas.openxmlformats.org/drawingml/2006/main">
            <a:off x="609600" y="61626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xmlns:a="http://schemas.openxmlformats.org/drawingml/2006/main">
            <a:pPr algn="l">
              <a:defRPr sz="1500" b="0">
                <a:solidFill>
                  <a:srgbClr val="53676D"/>
                </a:solidFill>
                <a:latin typeface="Arial"/>
                <a:ea typeface="Arial"/>
                <a:cs typeface="Arial"/>
              </a:defRPr>
            </a:pPr>
            <a:r>
              <a:rPr sz="1500" b="0">
                <a:solidFill>
                  <a:srgbClr val="53676D"/>
                </a:solidFill>
                <a:latin typeface="Arial"/>
                <a:ea typeface="Arial"/>
                <a:cs typeface="Arial"/>
              </a:rPr>
              <a:t>Connextium.xyz / Finux Labs     connextium.xyz</a:t>
            </a:r>
          </a:p>
        </p:txBody>
      </p:sp>
    </p:spTree>
    <p:extLst>
      <p:ext uri="{BB962C8B-B14F-4D97-AF65-F5344CB8AC3E}">
        <p14:creationId xmlns:p14="http://schemas.microsoft.com/office/powerpoint/2010/main" val="19472165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2026-10-31T07:33:57.3480000Z</dcterms:created>
  <dcterms:modified xsi:type="dcterms:W3CDTF">2026-10-31T07:33:57.3480000Z</dcterms:modified>
</coreProperties>
</file>