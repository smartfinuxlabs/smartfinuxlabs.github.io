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19"/>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p:scale>
          <a:sx n="0" d="0"/>
          <a:sy n="0" d="0"/>
        </p:scale>
        <p:origin x="0" y="0"/>
      </p:cViewPr>
      <p:guideLst>
        <p:guide pos="3840"/>
        <p:guide pos="2160"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tableStyles" Target="tableStyles.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barChart>
        <c:barDir val="col"/>
        <c:grouping val="clustered"/>
        <c:varyColors val="0"/>
        <c:ser>
          <c:idx val="0"/>
          <c:order val="0"/>
          <c:tx>
            <c:v>Indicative holding value</c:v>
          </c:tx>
          <c:spPr bwMode="auto">
            <a:prstGeom prst="rect">
              <a:avLst/>
            </a:prstGeom>
            <a:solidFill>
              <a:srgbClr val="0DBE85"/>
            </a:solidFill>
          </c:spPr>
          <c:invertIfNegative val="0"/>
          <c:cat>
            <c:strRef>
              <c:f>'Chart Data'!$A$2:$A$3</c:f>
              <c:strCache>
                <c:ptCount val="2"/>
                <c:pt idx="0">
                  <c:v>At purchase</c:v>
                </c:pt>
                <c:pt idx="1">
                  <c:v>After +10%</c:v>
                </c:pt>
              </c:strCache>
            </c:strRef>
          </c:cat>
          <c:val>
            <c:numRef>
              <c:f>'Chart Data'!$B$2:$B$3</c:f>
              <c:numCache>
                <c:formatCode>"US$"0</c:formatCode>
                <c:ptCount val="2"/>
                <c:pt idx="0">
                  <c:v>300</c:v>
                </c:pt>
                <c:pt idx="1">
                  <c:v>330</c:v>
                </c:pt>
              </c:numCache>
            </c:numRef>
          </c:val>
        </c:ser>
        <c:dLbls>
          <c:dLblPos val="outEnd"/>
          <c:numFmt formatCode="&quot;US$&quot;0" sourceLinked="0"/>
          <c:showBubbleSize val="0"/>
          <c:showCatName val="0"/>
          <c:showLeaderLines val="0"/>
          <c:showLegendKey val="0"/>
          <c:showPercent val="0"/>
          <c:showSerName val="0"/>
          <c:showVal val="1"/>
          <c:txPr>
            <a:bodyPr anchorCtr="1"/>
            <a:lstStyle/>
            <a:p>
              <a:pPr>
                <a:defRPr sz="1900" b="1">
                  <a:solidFill>
                    <a:srgbClr val="18201D"/>
                  </a:solidFill>
                  <a:latin typeface="Plus Jakarta Sans"/>
                  <a:ea typeface="Plus Jakarta Sans"/>
                  <a:cs typeface="Plus Jakarta Sans"/>
                </a:defRPr>
              </a:pPr>
              <a:endParaRPr/>
            </a:p>
          </c:txPr>
        </c:dLbls>
        <c:gapWidth val="150"/>
        <c:axId val="48650112"/>
        <c:axId val="48672768"/>
      </c:barChart>
      <c:catAx>
        <c:axId val="48650112"/>
        <c:scaling>
          <c:orientation val="minMax"/>
        </c:scaling>
        <c:delete val="0"/>
        <c:axPos val="b"/>
        <c:numFmt formatCode="General"/>
        <c:majorTickMark val="none"/>
        <c:minorTickMark val="none"/>
        <c:spPr bwMode="auto">
          <a:prstGeom prst="rect">
            <a:avLst/>
          </a:prstGeom>
          <a:ln w="9525">
            <a:solidFill>
              <a:srgbClr val="D7DFDA"/>
            </a:solidFill>
            <a:prstDash val="solid"/>
          </a:ln>
        </c:spPr>
        <c:txPr>
          <a:bodyPr anchorCtr="1"/>
          <a:lstStyle/>
          <a:p>
            <a:pPr>
              <a:defRPr sz="1600">
                <a:solidFill>
                  <a:srgbClr val="5D6A67"/>
                </a:solidFill>
                <a:latin typeface="Plus Jakarta Sans"/>
                <a:ea typeface="Plus Jakarta Sans"/>
                <a:cs typeface="Plus Jakarta Sans"/>
              </a:defRPr>
            </a:pPr>
            <a:endParaRPr/>
          </a:p>
        </c:txPr>
        <c:crossAx val="48672768"/>
        <c:crosses val="autoZero"/>
        <c:noMultiLvlLbl val="0"/>
      </c:catAx>
      <c:valAx>
        <c:axId val="48672768"/>
        <c:scaling>
          <c:orientation val="minMax"/>
          <c:max val="400.000000"/>
          <c:min val="0.000000"/>
        </c:scaling>
        <c:delete val="0"/>
        <c:axPos val="l"/>
        <c:majorGridlines>
          <c:spPr bwMode="auto">
            <a:prstGeom prst="rect">
              <a:avLst/>
            </a:prstGeom>
            <a:ln w="9525">
              <a:solidFill>
                <a:srgbClr val="D7DFDA"/>
              </a:solidFill>
              <a:prstDash val="solid"/>
            </a:ln>
          </c:spPr>
        </c:majorGridlines>
        <c:title>
          <c:tx>
            <c:rich>
              <a:bodyPr/>
              <a:lstStyle/>
              <a:p>
                <a:pPr>
                  <a:defRPr/>
                </a:pPr>
                <a:r>
                  <a:rPr sz="1600">
                    <a:solidFill>
                      <a:srgbClr val="5D6A67"/>
                    </a:solidFill>
                    <a:latin typeface="Plus Jakarta Sans"/>
                    <a:ea typeface="Plus Jakarta Sans"/>
                    <a:cs typeface="Plus Jakarta Sans"/>
                  </a:rPr>
                  <a:t>Holding value in USD</a:t>
                </a:r>
                <a:endParaRPr/>
              </a:p>
            </c:rich>
          </c:tx>
          <c:layout/>
          <c:overlay val="0"/>
          <c:txPr>
            <a:bodyPr anchorCtr="1"/>
            <a:lstStyle/>
            <a:p>
              <a:pPr>
                <a:defRPr sz="1600">
                  <a:solidFill>
                    <a:srgbClr val="5D6A67"/>
                  </a:solidFill>
                  <a:latin typeface="Plus Jakarta Sans"/>
                  <a:ea typeface="Plus Jakarta Sans"/>
                  <a:cs typeface="Plus Jakarta Sans"/>
                </a:defRPr>
              </a:pPr>
              <a:endParaRPr/>
            </a:p>
          </c:txPr>
        </c:title>
        <c:numFmt formatCode="&quot;US$&quot;0"/>
        <c:majorTickMark val="none"/>
        <c:minorTickMark val="none"/>
        <c:spPr bwMode="auto">
          <a:prstGeom prst="rect">
            <a:avLst/>
          </a:prstGeom>
          <a:ln w="0">
            <a:noFill/>
            <a:prstDash val="solid"/>
          </a:ln>
        </c:spPr>
        <c:txPr>
          <a:bodyPr anchorCtr="1"/>
          <a:lstStyle/>
          <a:p>
            <a:pPr>
              <a:defRPr sz="1600">
                <a:solidFill>
                  <a:srgbClr val="5D6A67"/>
                </a:solidFill>
                <a:latin typeface="Plus Jakarta Sans"/>
                <a:ea typeface="Plus Jakarta Sans"/>
                <a:cs typeface="Plus Jakarta Sans"/>
              </a:defRPr>
            </a:pPr>
            <a:endParaRPr/>
          </a:p>
        </c:txPr>
        <c:crossAx val="48650112"/>
        <c:crosses val="autoZero"/>
        <c:crossBetween val="between"/>
        <c:majorUnit val="100.000000"/>
      </c:valAx>
      <c:spPr bwMode="auto">
        <a:prstGeom prst="rect">
          <a:avLst/>
        </a:prstGeom>
        <a:noFill/>
        <a:ln w="0">
          <a:noFill/>
          <a:prstDash val="solid"/>
        </a:ln>
      </c:spPr>
    </c:plotArea>
    <c:plotVisOnly val="1"/>
    <c:showDLblsOverMax val="0"/>
  </c:chart>
  <c:spPr bwMode="auto">
    <a:xfrm rot="0">
      <a:off x="609600" y="2209800"/>
      <a:ext cx="5429250" cy="3714750"/>
    </a:xfrm>
    <a:prstGeom prst="rect">
      <a:avLst/>
    </a:prstGeom>
    <a:noFill/>
    <a:ln w="0">
      <a:noFill/>
      <a:prstDash val="solid"/>
    </a:ln>
  </c:spPr>
  <c:externalData r:id="rId1">
    <c:autoUpdate val="1"/>
  </c:externalData>
</c:chartSpace>
</file>

<file path=ppt/charts/chart2.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barChart>
        <c:barDir val="col"/>
        <c:grouping val="clustered"/>
        <c:varyColors val="0"/>
        <c:ser>
          <c:idx val="0"/>
          <c:order val="0"/>
          <c:tx>
            <c:v>Gross fees</c:v>
          </c:tx>
          <c:spPr bwMode="auto">
            <a:prstGeom prst="rect">
              <a:avLst/>
            </a:prstGeom>
            <a:solidFill>
              <a:srgbClr val="0DBE85"/>
            </a:solidFill>
          </c:spPr>
          <c:invertIfNegative val="0"/>
          <c:cat>
            <c:strRef>
              <c:f>'Chart Data'!$A$2:$A$4</c:f>
              <c:strCache>
                <c:ptCount val="3"/>
                <c:pt idx="0">
                  <c:v>US$100M</c:v>
                </c:pt>
                <c:pt idx="1">
                  <c:v>US$500M</c:v>
                </c:pt>
                <c:pt idx="2">
                  <c:v>US$1,000M</c:v>
                </c:pt>
              </c:strCache>
            </c:strRef>
          </c:cat>
          <c:val>
            <c:numRef>
              <c:f>'Chart Data'!$B$2:$B$4</c:f>
              <c:numCache>
                <c:formatCode>0.0</c:formatCode>
                <c:ptCount val="3"/>
                <c:pt idx="0">
                  <c:v>0.3</c:v>
                </c:pt>
                <c:pt idx="1">
                  <c:v>1.5</c:v>
                </c:pt>
                <c:pt idx="2">
                  <c:v>3</c:v>
                </c:pt>
              </c:numCache>
            </c:numRef>
          </c:val>
        </c:ser>
        <c:ser>
          <c:idx val="1"/>
          <c:order val="1"/>
          <c:tx>
            <c:v>Contribution</c:v>
          </c:tx>
          <c:spPr bwMode="auto">
            <a:prstGeom prst="rect">
              <a:avLst/>
            </a:prstGeom>
            <a:solidFill>
              <a:srgbClr val="0891B2"/>
            </a:solidFill>
          </c:spPr>
          <c:invertIfNegative val="0"/>
          <c:cat>
            <c:strRef>
              <c:f>'Chart Data'!$C$2:$C$4</c:f>
              <c:strCache>
                <c:ptCount val="3"/>
                <c:pt idx="0">
                  <c:v>US$100M</c:v>
                </c:pt>
                <c:pt idx="1">
                  <c:v>US$500M</c:v>
                </c:pt>
                <c:pt idx="2">
                  <c:v>US$1,000M</c:v>
                </c:pt>
              </c:strCache>
            </c:strRef>
          </c:cat>
          <c:val>
            <c:numRef>
              <c:f>'Chart Data'!$D$2:$D$4</c:f>
              <c:numCache>
                <c:formatCode>0.0</c:formatCode>
                <c:ptCount val="3"/>
                <c:pt idx="0">
                  <c:v>0.15</c:v>
                </c:pt>
                <c:pt idx="1">
                  <c:v>0.75</c:v>
                </c:pt>
                <c:pt idx="2">
                  <c:v>1.5</c:v>
                </c:pt>
              </c:numCache>
            </c:numRef>
          </c:val>
        </c:ser>
        <c:dLbls>
          <c:dLblPos val="outEnd"/>
          <c:numFmt formatCode="0.00" sourceLinked="0"/>
          <c:showBubbleSize val="0"/>
          <c:showCatName val="0"/>
          <c:showLeaderLines val="0"/>
          <c:showLegendKey val="0"/>
          <c:showPercent val="0"/>
          <c:showSerName val="0"/>
          <c:showVal val="1"/>
          <c:txPr>
            <a:bodyPr anchorCtr="1"/>
            <a:lstStyle/>
            <a:p>
              <a:pPr>
                <a:defRPr sz="1600">
                  <a:solidFill>
                    <a:srgbClr val="18201D"/>
                  </a:solidFill>
                  <a:latin typeface="Plus Jakarta Sans"/>
                  <a:ea typeface="Plus Jakarta Sans"/>
                  <a:cs typeface="Plus Jakarta Sans"/>
                </a:defRPr>
              </a:pPr>
              <a:endParaRPr/>
            </a:p>
          </c:txPr>
        </c:dLbls>
        <c:gapWidth val="100"/>
        <c:axId val="48650112"/>
        <c:axId val="48672768"/>
      </c:barChart>
      <c:catAx>
        <c:axId val="48650112"/>
        <c:scaling>
          <c:orientation val="minMax"/>
        </c:scaling>
        <c:delete val="0"/>
        <c:axPos val="b"/>
        <c:title>
          <c:tx>
            <c:rich>
              <a:bodyPr/>
              <a:lstStyle/>
              <a:p>
                <a:pPr>
                  <a:defRPr/>
                </a:pPr>
                <a:r>
                  <a:rPr sz="1600">
                    <a:solidFill>
                      <a:srgbClr val="5D6A67"/>
                    </a:solidFill>
                    <a:latin typeface="Plus Jakarta Sans"/>
                    <a:ea typeface="Plus Jakarta Sans"/>
                    <a:cs typeface="Plus Jakarta Sans"/>
                  </a:rPr>
                  <a:t>Average programme assets</a:t>
                </a:r>
                <a:endParaRPr/>
              </a:p>
            </c:rich>
          </c:tx>
          <c:layout/>
          <c:overlay val="0"/>
          <c:txPr>
            <a:bodyPr anchorCtr="1"/>
            <a:lstStyle/>
            <a:p>
              <a:pPr>
                <a:defRPr sz="1600">
                  <a:solidFill>
                    <a:srgbClr val="5D6A67"/>
                  </a:solidFill>
                  <a:latin typeface="Plus Jakarta Sans"/>
                  <a:ea typeface="Plus Jakarta Sans"/>
                  <a:cs typeface="Plus Jakarta Sans"/>
                </a:defRPr>
              </a:pPr>
              <a:endParaRPr/>
            </a:p>
          </c:txPr>
        </c:title>
        <c:numFmt formatCode="General"/>
        <c:majorTickMark val="none"/>
        <c:minorTickMark val="none"/>
        <c:spPr bwMode="auto">
          <a:prstGeom prst="rect">
            <a:avLst/>
          </a:prstGeom>
          <a:ln w="9525">
            <a:solidFill>
              <a:srgbClr val="D7DFDA"/>
            </a:solidFill>
            <a:prstDash val="solid"/>
          </a:ln>
        </c:spPr>
        <c:txPr>
          <a:bodyPr anchorCtr="1"/>
          <a:lstStyle/>
          <a:p>
            <a:pPr>
              <a:defRPr sz="1600">
                <a:solidFill>
                  <a:srgbClr val="5D6A67"/>
                </a:solidFill>
                <a:latin typeface="Plus Jakarta Sans"/>
                <a:ea typeface="Plus Jakarta Sans"/>
                <a:cs typeface="Plus Jakarta Sans"/>
              </a:defRPr>
            </a:pPr>
            <a:endParaRPr/>
          </a:p>
        </c:txPr>
        <c:crossAx val="48672768"/>
        <c:crosses val="autoZero"/>
        <c:noMultiLvlLbl val="0"/>
      </c:catAx>
      <c:valAx>
        <c:axId val="48672768"/>
        <c:scaling>
          <c:orientation val="minMax"/>
          <c:max val="3.600000"/>
          <c:min val="0.000000"/>
        </c:scaling>
        <c:delete val="0"/>
        <c:axPos val="l"/>
        <c:majorGridlines>
          <c:spPr bwMode="auto">
            <a:prstGeom prst="rect">
              <a:avLst/>
            </a:prstGeom>
            <a:ln w="9525">
              <a:solidFill>
                <a:srgbClr val="D7DFDA"/>
              </a:solidFill>
              <a:prstDash val="solid"/>
            </a:ln>
          </c:spPr>
        </c:majorGridlines>
        <c:title>
          <c:tx>
            <c:rich>
              <a:bodyPr/>
              <a:lstStyle/>
              <a:p>
                <a:pPr>
                  <a:defRPr/>
                </a:pPr>
                <a:r>
                  <a:rPr sz="1600">
                    <a:solidFill>
                      <a:srgbClr val="5D6A67"/>
                    </a:solidFill>
                    <a:latin typeface="Plus Jakarta Sans"/>
                    <a:ea typeface="Plus Jakarta Sans"/>
                    <a:cs typeface="Plus Jakarta Sans"/>
                  </a:rPr>
                  <a:t>Annual US$ millions</a:t>
                </a:r>
                <a:endParaRPr/>
              </a:p>
            </c:rich>
          </c:tx>
          <c:layout/>
          <c:overlay val="0"/>
          <c:txPr>
            <a:bodyPr anchorCtr="1"/>
            <a:lstStyle/>
            <a:p>
              <a:pPr>
                <a:defRPr sz="1600">
                  <a:solidFill>
                    <a:srgbClr val="5D6A67"/>
                  </a:solidFill>
                  <a:latin typeface="Plus Jakarta Sans"/>
                  <a:ea typeface="Plus Jakarta Sans"/>
                  <a:cs typeface="Plus Jakarta Sans"/>
                </a:defRPr>
              </a:pPr>
              <a:endParaRPr/>
            </a:p>
          </c:txPr>
        </c:title>
        <c:numFmt formatCode="0.0"/>
        <c:majorTickMark val="none"/>
        <c:minorTickMark val="none"/>
        <c:spPr bwMode="auto">
          <a:prstGeom prst="rect">
            <a:avLst/>
          </a:prstGeom>
          <a:ln w="0">
            <a:noFill/>
            <a:prstDash val="solid"/>
          </a:ln>
        </c:spPr>
        <c:txPr>
          <a:bodyPr anchorCtr="1"/>
          <a:lstStyle/>
          <a:p>
            <a:pPr>
              <a:defRPr sz="1600">
                <a:solidFill>
                  <a:srgbClr val="5D6A67"/>
                </a:solidFill>
                <a:latin typeface="Plus Jakarta Sans"/>
                <a:ea typeface="Plus Jakarta Sans"/>
                <a:cs typeface="Plus Jakarta Sans"/>
              </a:defRPr>
            </a:pPr>
            <a:endParaRPr/>
          </a:p>
        </c:txPr>
        <c:crossAx val="48650112"/>
        <c:crosses val="autoZero"/>
        <c:crossBetween val="between"/>
        <c:majorUnit val="1.000000"/>
      </c:valAx>
      <c:spPr bwMode="auto">
        <a:prstGeom prst="rect">
          <a:avLst/>
        </a:prstGeom>
        <a:noFill/>
        <a:ln w="0">
          <a:noFill/>
          <a:prstDash val="solid"/>
        </a:ln>
      </c:spPr>
    </c:plotArea>
    <c:legend>
      <c:legendPos val="b"/>
      <c:layout/>
      <c:overlay val="0"/>
      <c:txPr>
        <a:bodyPr anchorCtr="1"/>
        <a:lstStyle/>
        <a:p>
          <a:pPr>
            <a:defRPr sz="1600">
              <a:solidFill>
                <a:srgbClr val="18201D"/>
              </a:solidFill>
              <a:latin typeface="Plus Jakarta Sans"/>
              <a:ea typeface="Plus Jakarta Sans"/>
              <a:cs typeface="Plus Jakarta Sans"/>
            </a:defRPr>
          </a:pPr>
          <a:endParaRPr/>
        </a:p>
      </c:txPr>
    </c:legend>
    <c:plotVisOnly val="1"/>
    <c:showDLblsOverMax val="0"/>
  </c:chart>
  <c:spPr bwMode="auto">
    <a:xfrm rot="0">
      <a:off x="4267200" y="2209800"/>
      <a:ext cx="7315200" cy="3762375"/>
    </a:xfrm>
    <a:prstGeom prst="rect">
      <a:avLst/>
    </a:prstGeom>
    <a:noFill/>
    <a:ln w="0">
      <a:noFill/>
      <a:prstDash val="solid"/>
    </a:ln>
  </c:spPr>
  <c:externalData r:id="rId1">
    <c:autoUpdate val="1"/>
  </c:externalData>
</c:chartSpace>
</file>

<file path=ppt/charts/chart3.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barChart>
        <c:barDir val="col"/>
        <c:grouping val="clustered"/>
        <c:varyColors val="0"/>
        <c:ser>
          <c:idx val="0"/>
          <c:order val="0"/>
          <c:tx>
            <c:v>Average programme assets</c:v>
          </c:tx>
          <c:spPr bwMode="auto">
            <a:prstGeom prst="rect">
              <a:avLst/>
            </a:prstGeom>
            <a:solidFill>
              <a:srgbClr val="0DBE85"/>
            </a:solidFill>
          </c:spPr>
          <c:invertIfNegative val="0"/>
          <c:cat>
            <c:strRef>
              <c:f>'Chart Data'!$A$2:$A$4</c:f>
              <c:strCache>
                <c:ptCount val="3"/>
                <c:pt idx="0">
                  <c:v>1 series</c:v>
                </c:pt>
                <c:pt idx="1">
                  <c:v>3 series</c:v>
                </c:pt>
                <c:pt idx="2">
                  <c:v>5 series</c:v>
                </c:pt>
              </c:strCache>
            </c:strRef>
          </c:cat>
          <c:val>
            <c:numRef>
              <c:f>'Chart Data'!$B$2:$B$4</c:f>
              <c:numCache>
                <c:formatCode>0</c:formatCode>
                <c:ptCount val="3"/>
                <c:pt idx="0">
                  <c:v>20</c:v>
                </c:pt>
                <c:pt idx="1">
                  <c:v>60</c:v>
                </c:pt>
                <c:pt idx="2">
                  <c:v>100</c:v>
                </c:pt>
              </c:numCache>
            </c:numRef>
          </c:val>
        </c:ser>
        <c:dLbls>
          <c:dLblPos val="outEnd"/>
          <c:numFmt formatCode="0" sourceLinked="0"/>
          <c:showBubbleSize val="0"/>
          <c:showCatName val="0"/>
          <c:showLeaderLines val="0"/>
          <c:showLegendKey val="0"/>
          <c:showPercent val="0"/>
          <c:showSerName val="0"/>
          <c:showVal val="1"/>
          <c:txPr>
            <a:bodyPr anchorCtr="1"/>
            <a:lstStyle/>
            <a:p>
              <a:pPr>
                <a:defRPr sz="1750" b="1">
                  <a:solidFill>
                    <a:srgbClr val="18201D"/>
                  </a:solidFill>
                  <a:latin typeface="Plus Jakarta Sans"/>
                  <a:ea typeface="Plus Jakarta Sans"/>
                  <a:cs typeface="Plus Jakarta Sans"/>
                </a:defRPr>
              </a:pPr>
              <a:endParaRPr/>
            </a:p>
          </c:txPr>
        </c:dLbls>
        <c:gapWidth val="150"/>
        <c:axId val="48650112"/>
        <c:axId val="48672768"/>
      </c:barChart>
      <c:catAx>
        <c:axId val="48650112"/>
        <c:scaling>
          <c:orientation val="minMax"/>
        </c:scaling>
        <c:delete val="0"/>
        <c:axPos val="b"/>
        <c:numFmt formatCode="General"/>
        <c:majorTickMark val="none"/>
        <c:minorTickMark val="none"/>
        <c:spPr bwMode="auto">
          <a:prstGeom prst="rect">
            <a:avLst/>
          </a:prstGeom>
          <a:ln w="9525">
            <a:solidFill>
              <a:srgbClr val="D7DFDA"/>
            </a:solidFill>
            <a:prstDash val="solid"/>
          </a:ln>
        </c:spPr>
        <c:txPr>
          <a:bodyPr anchorCtr="1"/>
          <a:lstStyle/>
          <a:p>
            <a:pPr>
              <a:defRPr sz="1600">
                <a:solidFill>
                  <a:srgbClr val="5D6A67"/>
                </a:solidFill>
                <a:latin typeface="Plus Jakarta Sans"/>
                <a:ea typeface="Plus Jakarta Sans"/>
                <a:cs typeface="Plus Jakarta Sans"/>
              </a:defRPr>
            </a:pPr>
            <a:endParaRPr/>
          </a:p>
        </c:txPr>
        <c:crossAx val="48672768"/>
        <c:crosses val="autoZero"/>
        <c:noMultiLvlLbl val="0"/>
      </c:catAx>
      <c:valAx>
        <c:axId val="48672768"/>
        <c:scaling>
          <c:orientation val="minMax"/>
          <c:max val="120.000000"/>
          <c:min val="0.000000"/>
        </c:scaling>
        <c:delete val="0"/>
        <c:axPos val="l"/>
        <c:majorGridlines>
          <c:spPr bwMode="auto">
            <a:prstGeom prst="rect">
              <a:avLst/>
            </a:prstGeom>
            <a:ln w="9525">
              <a:solidFill>
                <a:srgbClr val="D7DFDA"/>
              </a:solidFill>
              <a:prstDash val="solid"/>
            </a:ln>
          </c:spPr>
        </c:majorGridlines>
        <c:title>
          <c:tx>
            <c:rich>
              <a:bodyPr/>
              <a:lstStyle/>
              <a:p>
                <a:pPr>
                  <a:defRPr/>
                </a:pPr>
                <a:r>
                  <a:rPr sz="1600">
                    <a:solidFill>
                      <a:srgbClr val="5D6A67"/>
                    </a:solidFill>
                    <a:latin typeface="Plus Jakarta Sans"/>
                    <a:ea typeface="Plus Jakarta Sans"/>
                    <a:cs typeface="Plus Jakarta Sans"/>
                  </a:rPr>
                  <a:t>Average assets (US$ millions)</a:t>
                </a:r>
                <a:endParaRPr/>
              </a:p>
            </c:rich>
          </c:tx>
          <c:layout/>
          <c:overlay val="0"/>
          <c:txPr>
            <a:bodyPr anchorCtr="1"/>
            <a:lstStyle/>
            <a:p>
              <a:pPr>
                <a:defRPr sz="1600">
                  <a:solidFill>
                    <a:srgbClr val="5D6A67"/>
                  </a:solidFill>
                  <a:latin typeface="Plus Jakarta Sans"/>
                  <a:ea typeface="Plus Jakarta Sans"/>
                  <a:cs typeface="Plus Jakarta Sans"/>
                </a:defRPr>
              </a:pPr>
              <a:endParaRPr/>
            </a:p>
          </c:txPr>
        </c:title>
        <c:numFmt formatCode="0"/>
        <c:majorTickMark val="none"/>
        <c:minorTickMark val="none"/>
        <c:spPr bwMode="auto">
          <a:prstGeom prst="rect">
            <a:avLst/>
          </a:prstGeom>
          <a:ln w="0">
            <a:noFill/>
            <a:prstDash val="solid"/>
          </a:ln>
        </c:spPr>
        <c:txPr>
          <a:bodyPr anchorCtr="1"/>
          <a:lstStyle/>
          <a:p>
            <a:pPr>
              <a:defRPr sz="1600">
                <a:solidFill>
                  <a:srgbClr val="5D6A67"/>
                </a:solidFill>
                <a:latin typeface="Plus Jakarta Sans"/>
                <a:ea typeface="Plus Jakarta Sans"/>
                <a:cs typeface="Plus Jakarta Sans"/>
              </a:defRPr>
            </a:pPr>
            <a:endParaRPr/>
          </a:p>
        </c:txPr>
        <c:crossAx val="48650112"/>
        <c:crosses val="autoZero"/>
        <c:crossBetween val="between"/>
        <c:majorUnit val="20.000000"/>
      </c:valAx>
      <c:spPr bwMode="auto">
        <a:prstGeom prst="rect">
          <a:avLst/>
        </a:prstGeom>
        <a:noFill/>
        <a:ln w="0">
          <a:noFill/>
          <a:prstDash val="solid"/>
        </a:ln>
      </c:spPr>
    </c:plotArea>
    <c:plotVisOnly val="1"/>
    <c:showDLblsOverMax val="0"/>
  </c:chart>
  <c:spPr bwMode="auto">
    <a:xfrm rot="0">
      <a:off x="4267200" y="2209800"/>
      <a:ext cx="7315200" cy="3762375"/>
    </a:xfrm>
    <a:prstGeom prst="rect">
      <a:avLst/>
    </a:prstGeom>
    <a:noFill/>
    <a:ln w="0">
      <a:noFill/>
      <a:prstDash val="solid"/>
    </a:ln>
  </c:spPr>
  <c:externalData r:id="rId1">
    <c:autoUpdate val="1"/>
  </c:externalData>
</c:chartSpace>
</file>

<file path=ppt/charts/chart4.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barChart>
        <c:barDir val="bar"/>
        <c:grouping val="clustered"/>
        <c:varyColors val="0"/>
        <c:ser>
          <c:idx val="0"/>
          <c:order val="0"/>
          <c:tx>
            <c:v>USD funding allocation</c:v>
          </c:tx>
          <c:spPr bwMode="auto">
            <a:prstGeom prst="rect">
              <a:avLst/>
            </a:prstGeom>
            <a:solidFill>
              <a:srgbClr val="0DBE85"/>
            </a:solidFill>
          </c:spPr>
          <c:invertIfNegative val="0"/>
          <c:cat>
            <c:strRef>
              <c:f>'Chart Data'!$A$2:$A$6</c:f>
              <c:strCache>
                <c:ptCount val="5"/>
                <c:pt idx="0">
                  <c:v>Product and security (40%)</c:v>
                </c:pt>
                <c:pt idx="1">
                  <c:v>Programme structuring (20%)</c:v>
                </c:pt>
                <c:pt idx="2">
                  <c:v>Partner operations (15%)</c:v>
                </c:pt>
                <c:pt idx="3">
                  <c:v>Distribution (15%)</c:v>
                </c:pt>
                <c:pt idx="4">
                  <c:v>Contingency (10%)</c:v>
                </c:pt>
              </c:strCache>
            </c:strRef>
          </c:cat>
          <c:val>
            <c:numRef>
              <c:f>'Chart Data'!$B$2:$B$6</c:f>
              <c:numCache>
                <c:formatCode>0.0</c:formatCode>
                <c:ptCount val="5"/>
                <c:pt idx="0">
                  <c:v>1.2</c:v>
                </c:pt>
                <c:pt idx="1">
                  <c:v>0.6</c:v>
                </c:pt>
                <c:pt idx="2">
                  <c:v>0.45</c:v>
                </c:pt>
                <c:pt idx="3">
                  <c:v>0.45</c:v>
                </c:pt>
                <c:pt idx="4">
                  <c:v>0.3</c:v>
                </c:pt>
              </c:numCache>
            </c:numRef>
          </c:val>
        </c:ser>
        <c:dLbls>
          <c:dLblPos val="outEnd"/>
          <c:numFmt formatCode="&quot;US$&quot;0.00&quot;M&quot;" sourceLinked="0"/>
          <c:showBubbleSize val="0"/>
          <c:showCatName val="0"/>
          <c:showLeaderLines val="0"/>
          <c:showLegendKey val="0"/>
          <c:showPercent val="0"/>
          <c:showSerName val="0"/>
          <c:showVal val="1"/>
          <c:txPr>
            <a:bodyPr anchorCtr="1"/>
            <a:lstStyle/>
            <a:p>
              <a:pPr>
                <a:defRPr sz="1650" b="1">
                  <a:solidFill>
                    <a:srgbClr val="18201D"/>
                  </a:solidFill>
                  <a:latin typeface="Plus Jakarta Sans"/>
                  <a:ea typeface="Plus Jakarta Sans"/>
                  <a:cs typeface="Plus Jakarta Sans"/>
                </a:defRPr>
              </a:pPr>
              <a:endParaRPr/>
            </a:p>
          </c:txPr>
        </c:dLbls>
        <c:gapWidth val="80"/>
        <c:axId val="48650112"/>
        <c:axId val="48672768"/>
      </c:barChart>
      <c:catAx>
        <c:axId val="48650112"/>
        <c:scaling>
          <c:orientation val="minMax"/>
        </c:scaling>
        <c:delete val="0"/>
        <c:axPos val="l"/>
        <c:numFmt formatCode="General"/>
        <c:majorTickMark val="none"/>
        <c:minorTickMark val="none"/>
        <c:spPr bwMode="auto">
          <a:prstGeom prst="rect">
            <a:avLst/>
          </a:prstGeom>
          <a:ln w="0">
            <a:noFill/>
            <a:prstDash val="solid"/>
          </a:ln>
        </c:spPr>
        <c:txPr>
          <a:bodyPr anchorCtr="1"/>
          <a:lstStyle/>
          <a:p>
            <a:pPr>
              <a:defRPr sz="1500">
                <a:solidFill>
                  <a:srgbClr val="5D6A67"/>
                </a:solidFill>
                <a:latin typeface="Plus Jakarta Sans"/>
                <a:ea typeface="Plus Jakarta Sans"/>
                <a:cs typeface="Plus Jakarta Sans"/>
              </a:defRPr>
            </a:pPr>
            <a:endParaRPr/>
          </a:p>
        </c:txPr>
        <c:crossAx val="48672768"/>
        <c:crosses val="autoZero"/>
        <c:noMultiLvlLbl val="0"/>
      </c:catAx>
      <c:valAx>
        <c:axId val="48672768"/>
        <c:scaling>
          <c:orientation val="minMax"/>
          <c:max val="1.600000"/>
          <c:min val="0.000000"/>
        </c:scaling>
        <c:delete val="1"/>
        <c:axPos val="b"/>
        <c:numFmt formatCode="0.0"/>
        <c:majorTickMark val="none"/>
        <c:minorTickMark val="none"/>
        <c:spPr bwMode="auto">
          <a:prstGeom prst="rect">
            <a:avLst/>
          </a:prstGeom>
          <a:ln w="0">
            <a:noFill/>
            <a:prstDash val="solid"/>
          </a:ln>
        </c:spPr>
        <c:txPr>
          <a:bodyPr anchorCtr="1"/>
          <a:lstStyle/>
          <a:p>
            <a:pPr>
              <a:defRPr sz="1350">
                <a:solidFill>
                  <a:srgbClr val="5D6A67"/>
                </a:solidFill>
                <a:latin typeface="Plus Jakarta Sans"/>
                <a:ea typeface="Plus Jakarta Sans"/>
                <a:cs typeface="Plus Jakarta Sans"/>
              </a:defRPr>
            </a:pPr>
            <a:endParaRPr/>
          </a:p>
        </c:txPr>
        <c:crossAx val="48650112"/>
        <c:crosses val="autoZero"/>
        <c:crossBetween val="between"/>
        <c:majorUnit val="0.400000"/>
      </c:valAx>
      <c:spPr bwMode="auto">
        <a:prstGeom prst="rect">
          <a:avLst/>
        </a:prstGeom>
        <a:noFill/>
        <a:ln w="0">
          <a:noFill/>
          <a:prstDash val="solid"/>
        </a:ln>
      </c:spPr>
    </c:plotArea>
    <c:plotVisOnly val="1"/>
    <c:showDLblsOverMax val="0"/>
  </c:chart>
  <c:spPr bwMode="auto">
    <a:xfrm rot="0">
      <a:off x="609600" y="2133600"/>
      <a:ext cx="7353300" cy="3343275"/>
    </a:xfrm>
    <a:prstGeom prst="rect">
      <a:avLst/>
    </a:prstGeom>
    <a:noFill/>
    <a:ln w="0">
      <a:noFill/>
      <a:prstDash val="solid"/>
    </a:ln>
  </c:spPr>
  <c:externalData r:id="rId1">
    <c:autoUpdate val="1"/>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325716097" name="Header Placeholder"/>
          <p:cNvSpPr/>
          <p:nvPr>
            <p:ph type="hdr" sz="quarter"/>
          </p:nvPr>
        </p:nvSpPr>
        <p:spPr bwMode="auto">
          <a:prstGeom prst="rect">
            <a:avLst/>
          </a:prstGeom>
        </p:spPr>
        <p:txBody>
          <a:bodyPr/>
          <a:lstStyle/>
          <a:p>
            <a:pPr>
              <a:defRPr/>
            </a:pPr>
            <a:endParaRPr/>
          </a:p>
        </p:txBody>
      </p:sp>
      <p:sp>
        <p:nvSpPr>
          <p:cNvPr id="703848156" name="Date Placeholder"/>
          <p:cNvSpPr/>
          <p:nvPr>
            <p:ph type="dt" sz="quarter" idx="1"/>
          </p:nvPr>
        </p:nvSpPr>
        <p:spPr bwMode="auto">
          <a:prstGeom prst="rect">
            <a:avLst/>
          </a:prstGeom>
        </p:spPr>
        <p:txBody>
          <a:bodyPr/>
          <a:lstStyle/>
          <a:p>
            <a:pPr>
              <a:defRPr/>
            </a:pPr>
            <a:endParaRPr/>
          </a:p>
        </p:txBody>
      </p:sp>
      <p:sp>
        <p:nvSpPr>
          <p:cNvPr id="109723405" name="Slide Image Placeholder"/>
          <p:cNvSpPr/>
          <p:nvPr>
            <p:ph type="sldImg" idx="2"/>
          </p:nvPr>
        </p:nvSpPr>
        <p:spPr bwMode="auto">
          <a:prstGeom prst="rect">
            <a:avLst/>
          </a:prstGeom>
        </p:spPr>
        <p:txBody>
          <a:bodyPr/>
          <a:lstStyle/>
          <a:p>
            <a:pPr>
              <a:defRPr/>
            </a:pPr>
            <a:endParaRPr/>
          </a:p>
        </p:txBody>
      </p:sp>
      <p:sp>
        <p:nvSpPr>
          <p:cNvPr id="1034727502" name="Notes Placeholder"/>
          <p:cNvSpPr/>
          <p:nvPr>
            <p:ph type="body" sz="quarter" idx="3"/>
          </p:nvPr>
        </p:nvSpPr>
        <p:spPr bwMode="auto">
          <a:prstGeom prst="rect">
            <a:avLst/>
          </a:prstGeom>
        </p:spPr>
        <p:txBody>
          <a:bodyPr/>
          <a:lstStyle/>
          <a:p>
            <a:pPr>
              <a:defRPr/>
            </a:pPr>
            <a:endParaRPr/>
          </a:p>
        </p:txBody>
      </p:sp>
      <p:sp>
        <p:nvSpPr>
          <p:cNvPr id="763138564" name="Footer Placeholder"/>
          <p:cNvSpPr/>
          <p:nvPr>
            <p:ph type="ftr" sz="quarter" idx="4"/>
          </p:nvPr>
        </p:nvSpPr>
        <p:spPr bwMode="auto">
          <a:prstGeom prst="rect">
            <a:avLst/>
          </a:prstGeom>
        </p:spPr>
        <p:txBody>
          <a:bodyPr/>
          <a:lstStyle/>
          <a:p>
            <a:pPr>
              <a:defRPr/>
            </a:pPr>
            <a:endParaRPr/>
          </a:p>
        </p:txBody>
      </p:sp>
      <p:sp>
        <p:nvSpPr>
          <p:cNvPr id="1404979908" name="Slide Number Placeholder"/>
          <p:cNvSpPr/>
          <p:nvPr>
            <p:ph type="sldNum" sz="quarter" idx="5"/>
          </p:nvPr>
        </p:nvSpPr>
        <p:spPr bwMode="auto">
          <a:prstGeom prst="rect">
            <a:avLst/>
          </a:prstGeom>
        </p:spPr>
        <p:txBody>
          <a:bodyPr/>
          <a:lstStyle/>
          <a:p>
            <a:pPr>
              <a:defRPr/>
            </a:pPr>
            <a:endParaRPr/>
          </a:p>
        </p:txBody>
      </p:sp>
    </p:spTree>
  </p:cSld>
  <p:clrMap bg1="lt1" tx1="dk1" bg2="lt2" tx2="dk2" accent1="accent1" accent2="accent2" accent3="accent3" accent4="accent4" accent5="accent5" accent6="accent6" hlink="hlink" folHlink="folHlink"/>
  <p:notesStyle>
    <a:lvl1pPr marL="0" algn="l" defTabSz="914400" rtl="0">
      <a:defRPr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8599041" name="Slide Image Placeholder 1"/>
          <p:cNvSpPr>
            <a:spLocks noGrp="1"/>
          </p:cNvSpPr>
          <p:nvPr>
            <p:ph type="sldImg" idx="0"/>
          </p:nvPr>
        </p:nvSpPr>
        <p:spPr bwMode="auto"/>
      </p:sp>
      <p:sp>
        <p:nvSpPr>
          <p:cNvPr id="1532400913" name="Notes Placeholder 2"/>
          <p:cNvSpPr>
            <a:spLocks noGrp="1"/>
          </p:cNvSpPr>
          <p:nvPr>
            <p:ph type="body" idx="1"/>
          </p:nvPr>
        </p:nvSpPr>
        <p:spPr bwMode="auto"/>
        <p:txBody>
          <a:bodyPr/>
          <a:lstStyle/>
          <a:p>
            <a:pPr>
              <a:defRPr/>
            </a:pPr>
            <a:r>
              <a:rPr/>
              <a:t>D-SHARE Concept. Depository Securities Homing Access to Receipted Equity is the founder-selected brand spelling. Connextium.xyz / Finux Labs seeks US$3m to build the first production receipt programme over a proposed 24-month horizon. The concept seeks global equity access through accountable institutions and approved stablecoin funding. The programme is pre-launch. USDC/USD is the first proposed route and HSBC RedCoin/HKD access is separately gated. No issuance, partnership, authorization or live integration is claimed.</a:t>
            </a:r>
            <a:endParaRPr/>
          </a:p>
        </p:txBody>
      </p:sp>
      <p:sp>
        <p:nvSpPr>
          <p:cNvPr id="1168717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26556242" name="Slide Image Placeholder 1"/>
          <p:cNvSpPr>
            <a:spLocks noGrp="1"/>
          </p:cNvSpPr>
          <p:nvPr>
            <p:ph type="sldImg" idx="0"/>
          </p:nvPr>
        </p:nvSpPr>
        <p:spPr bwMode="auto"/>
      </p:sp>
      <p:sp>
        <p:nvSpPr>
          <p:cNvPr id="1527015706" name="Notes Placeholder 2"/>
          <p:cNvSpPr>
            <a:spLocks noGrp="1"/>
          </p:cNvSpPr>
          <p:nvPr>
            <p:ph type="body" idx="1"/>
          </p:nvPr>
        </p:nvSpPr>
        <p:spPr bwMode="auto"/>
        <p:txBody>
          <a:bodyPr/>
          <a:lstStyle/>
          <a:p>
            <a:pPr>
              <a:defRPr/>
            </a:pPr>
            <a:r>
              <a:rPr/>
              <a:t>Price examples illustrate whole-share purchase costs, not company valuation, expected growth or investment recommendations. A hypothetical US$300 budget cannot purchase one whole share at any of the six displayed prices. Indicative USD quote feed, 30 October 2026: NVR 5,958.56, AZO 3,169.82, LLY 1,417.54, GWW 1,359.17, BLK 1,147.54, COST 1,012.28. Quote timestamps are from 30 October 2026 UTC and were checked again on 31 October 2026. Prices can change and should be refreshed before external use. Sources: ticker-specific finance market-data feed. Supporting quote/history pages: https://nvri.gcs-web.com/stock-information/stock-quote ; https://investors.autozone.com/investor-relations/stock-information ; https://stockanalysis.com/stocks/lly/history/ ; https://www.investing.com/equities/w-w-grainger-inc-historical-data ; https://stockanalysis.com/stocks/blk/history/ ; https://stockanalysis.com/stocks/cost/history/ . Existing fractional services address affordability for many investors, with availability varying by broker, client and security: https://www.investor.gov/introduction-investing/general-resources/news-alerts/alerts-bulletins/investor-bulletins/fractional-share-investing-buying-slice-instead-whole-share. Some international brokers accept residents from many countries, subject to eligibility and verification: https://www.interactivebrokers.com/en/accounts/individual.php. Overseas investing and funding rules differ by jurisdiction. India LRS permits overseas portfolio investment within applicable rules and is one example rather than a blanket emerging-market prohibition: https://www.rbi.org.in/Scripts/BS_ViewMasDirections.aspx?id=10192. D-SHARE must establish a permitted offering and local distribution route. The examples do not imply any company affiliation with D-SHARE.</a:t>
            </a:r>
            <a:endParaRPr/>
          </a:p>
        </p:txBody>
      </p:sp>
      <p:sp>
        <p:nvSpPr>
          <p:cNvPr id="47793557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66608663" name="Slide Image Placeholder 1"/>
          <p:cNvSpPr>
            <a:spLocks noGrp="1"/>
          </p:cNvSpPr>
          <p:nvPr>
            <p:ph type="sldImg" idx="0"/>
          </p:nvPr>
        </p:nvSpPr>
        <p:spPr bwMode="auto"/>
      </p:sp>
      <p:sp>
        <p:nvSpPr>
          <p:cNvPr id="1338529265" name="Notes Placeholder 2"/>
          <p:cNvSpPr>
            <a:spLocks noGrp="1"/>
          </p:cNvSpPr>
          <p:nvPr>
            <p:ph type="body" idx="1"/>
          </p:nvPr>
        </p:nvSpPr>
        <p:spPr bwMode="auto"/>
        <p:txBody>
          <a:bodyPr/>
          <a:lstStyle/>
          <a:p>
            <a:pPr>
              <a:defRPr/>
            </a:pPr>
            <a:r>
              <a:rPr/>
              <a:t>Founder-provided mission and vision. Leading Payments Engineering to Capital Markets describes Connextium.xyz / Finux Labs expanding relevant payment integration, cash/FX orchestration, accounting and reconciliation capabilities into receipt programmes. It does not claim a licensed venue or live securities operation. World Bank Global Findex 2025 reports that digital merchant payment use among adults in low- and middle-income economies rose from 35% in 2021 to 42% in 2024: https://www.worldbank.org/en/news/press-release/2025/07/16/mobile-phone-technology-powers-saving-surge-in-developing-economies. This measures payments use, not brokerage access or investable wealth. Chainalysis reports 9.8% growth in Latin America crypto economic activity in the 12 months to June 2026 against the preceding 12 months: https://www.chainalysis.com/blog/2026-global-crypto-adoption-index/. That measure extends beyond DeFi. Global on-chain activity fell 1.6% in the same report, so the regional figure cannot establish universal growth. The inference is that familiarity with wallets and stablecoins may support eligible receipt distribution. Local product permission, customer demand and economics require direct validation.</a:t>
            </a:r>
            <a:endParaRPr/>
          </a:p>
        </p:txBody>
      </p:sp>
      <p:sp>
        <p:nvSpPr>
          <p:cNvPr id="34987915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5015883" name="Slide Image Placeholder 1"/>
          <p:cNvSpPr>
            <a:spLocks noGrp="1"/>
          </p:cNvSpPr>
          <p:nvPr>
            <p:ph type="sldImg" idx="0"/>
          </p:nvPr>
        </p:nvSpPr>
        <p:spPr bwMode="auto"/>
      </p:sp>
      <p:sp>
        <p:nvSpPr>
          <p:cNvPr id="2026004312" name="Notes Placeholder 2"/>
          <p:cNvSpPr>
            <a:spLocks noGrp="1"/>
          </p:cNvSpPr>
          <p:nvPr>
            <p:ph type="body" idx="1"/>
          </p:nvPr>
        </p:nvSpPr>
        <p:spPr bwMode="auto"/>
        <p:txBody>
          <a:bodyPr/>
          <a:lstStyle/>
          <a:p>
            <a:pPr>
              <a:defRPr/>
            </a:pPr>
            <a:r>
              <a:rPr/>
              <a:t>D-SHARE expands to Depository Securities Homing Access to Receipted Equity, the founder-selected brand spelling. Concept remains highlighted because this is a proposed product. The connecting word to is outside the acronym. A receipt carries programme-defined rights linked to deposited underlying shares. An approved ratio allows a smaller unit than one underlying share. One token records one receipt unit and does not create another equity claim. A custodian holds settled backing. The issuer and registrar govern issuance, rights, transfers, distributions and cancellation. Binding documents determine dividend, voting, redemption and insolvency rights. USDC and RedCoin are proposed cash funding assets, distinct from the receipt security. Category context: https://www.bny.com/corporate/global/en/solutions/platforms/global-depositary-receipts.html. Tokenized-securities regulatory context, without choosing or authorizing a jurisdiction: https://apps.sfc.hk/edistributionWeb/api/circular/list-content?lang=EN&amp;refNo=23EC52.</a:t>
            </a:r>
            <a:endParaRPr/>
          </a:p>
        </p:txBody>
      </p:sp>
      <p:sp>
        <p:nvSpPr>
          <p:cNvPr id="41055988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9255246" name="Slide Image Placeholder 1"/>
          <p:cNvSpPr>
            <a:spLocks noGrp="1"/>
          </p:cNvSpPr>
          <p:nvPr>
            <p:ph type="sldImg" idx="0"/>
          </p:nvPr>
        </p:nvSpPr>
        <p:spPr bwMode="auto"/>
      </p:sp>
      <p:sp>
        <p:nvSpPr>
          <p:cNvPr id="1191292932" name="Notes Placeholder 2"/>
          <p:cNvSpPr>
            <a:spLocks noGrp="1"/>
          </p:cNvSpPr>
          <p:nvPr>
            <p:ph type="body" idx="1"/>
          </p:nvPr>
        </p:nvSpPr>
        <p:spPr bwMode="auto"/>
        <p:txBody>
          <a:bodyPr/>
          <a:lstStyle/>
          <a:p>
            <a:pPr>
              <a:defRPr/>
            </a:pPr>
            <a:r>
              <a:rPr/>
              <a:t>Step 1, fictional GlobalTech GT-01 illustration. Underlying share price US$1,200 and receipt ratio 0.01 share per unit give an indicative receipt value of US$12. One underlying share supports 100 receipt units. The sponsor sets programme terms and rights, the custodian supplies evidence and approved intermediaries distribute to eligible investors. This does not represent an issued or authorized GlobalTech programme. Market quotes, spreads, fees, taxes and FX can change actual execution value.</a:t>
            </a:r>
            <a:endParaRPr/>
          </a:p>
        </p:txBody>
      </p:sp>
      <p:sp>
        <p:nvSpPr>
          <p:cNvPr id="166770649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77891546" name="Slide Image Placeholder 1"/>
          <p:cNvSpPr>
            <a:spLocks noGrp="1"/>
          </p:cNvSpPr>
          <p:nvPr>
            <p:ph type="sldImg" idx="0"/>
          </p:nvPr>
        </p:nvSpPr>
        <p:spPr bwMode="auto"/>
      </p:sp>
      <p:sp>
        <p:nvSpPr>
          <p:cNvPr id="955951553" name="Notes Placeholder 2"/>
          <p:cNvSpPr>
            <a:spLocks noGrp="1"/>
          </p:cNvSpPr>
          <p:nvPr>
            <p:ph type="body" idx="1"/>
          </p:nvPr>
        </p:nvSpPr>
        <p:spPr bwMode="auto"/>
        <p:txBody>
          <a:bodyPr/>
          <a:lstStyle/>
          <a:p>
            <a:pPr>
              <a:defRPr/>
            </a:pPr>
            <a:r>
              <a:rPr/>
              <a:t>Step 2, fictional GlobalTech issuance. The authorized participant delivers 1,000 settled underlying shares to the custodian. At US$1,200 per share the backing has an indicative market value of US$1.2m. This creation inventory is separate from the startup US$3m operating raise. Custody evidence precedes issuer/registrar approval. At ratio 0.01, 1,000 shares support 100,000 receipt tokens. Dual authorization governs the mint instruction and the eligible AP account receives the units. Person icons identify institutional actors, linked blocks identify the DLT system and folded documents identify transferred securities or instructions/confirmations. Each actor stays in its column. The approved holder register must prevent double issuance. Redemption cancels and burns units before releasing backing.</a:t>
            </a:r>
            <a:endParaRPr/>
          </a:p>
        </p:txBody>
      </p:sp>
      <p:sp>
        <p:nvSpPr>
          <p:cNvPr id="153184490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04433399" name="Slide Image Placeholder 1"/>
          <p:cNvSpPr>
            <a:spLocks noGrp="1"/>
          </p:cNvSpPr>
          <p:nvPr>
            <p:ph type="sldImg" idx="0"/>
          </p:nvPr>
        </p:nvSpPr>
        <p:spPr bwMode="auto"/>
      </p:sp>
      <p:sp>
        <p:nvSpPr>
          <p:cNvPr id="1174991612" name="Notes Placeholder 2"/>
          <p:cNvSpPr>
            <a:spLocks noGrp="1"/>
          </p:cNvSpPr>
          <p:nvPr>
            <p:ph type="body" idx="1"/>
          </p:nvPr>
        </p:nvSpPr>
        <p:spPr bwMode="auto"/>
        <p:txBody>
          <a:bodyPr/>
          <a:lstStyle/>
          <a:p>
            <a:pPr>
              <a:defRPr/>
            </a:pPr>
            <a:r>
              <a:rPr/>
              <a:t>Step 3, fictional investor purchase. HSDR was an earlier working name for the same D-SHARE receipt unit. An eligible investor buys 25 units at US$12 each, US$300 before fees. At ratio 0.01 the programme-defined economic exposure corresponds to 0.25 underlying share. A broker/liquidity partner supplies the receipt units. At assumed USDC/USD 1.00, funding is 300 USDC. An alternative approved RedCoin route would need 2,340 RedCoin at assumed RedCoin/HKD 1.00 and 7.80 HKD/USD. These are two alternative funding routes for one security claim. Actual execution quotes, FX, charges and finality checks precede holder-register delivery. The diagram summarizes logical interactions and does not assert atomic cross-network settlement. Secondary-purchase proceeds go to the seller or liquidity partner, rather than automatically funding newly created backing. USDC and RedCoin connections remain proposed.</a:t>
            </a:r>
            <a:endParaRPr/>
          </a:p>
        </p:txBody>
      </p:sp>
      <p:sp>
        <p:nvSpPr>
          <p:cNvPr id="209642647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7317283" name="Slide Image Placeholder 1"/>
          <p:cNvSpPr>
            <a:spLocks noGrp="1"/>
          </p:cNvSpPr>
          <p:nvPr>
            <p:ph type="sldImg" idx="0"/>
          </p:nvPr>
        </p:nvSpPr>
        <p:spPr bwMode="auto"/>
      </p:sp>
      <p:sp>
        <p:nvSpPr>
          <p:cNvPr id="716136779" name="Notes Placeholder 2"/>
          <p:cNvSpPr>
            <a:spLocks noGrp="1"/>
          </p:cNvSpPr>
          <p:nvPr>
            <p:ph type="body" idx="1"/>
          </p:nvPr>
        </p:nvSpPr>
        <p:spPr bwMode="auto"/>
        <p:txBody>
          <a:bodyPr/>
          <a:lstStyle/>
          <a:p>
            <a:pPr>
              <a:defRPr/>
            </a:pPr>
            <a:r>
              <a:rPr/>
              <a:t>Step 4, positive hypothetical scenario, not reported performance or a forecast. GlobalTech share price increases US$1,200 to US$1,320, +10%. The investor keeps 25 receipts and ratio 0.01 stays unchanged. Indicative unit value rises US$12 to US$13.20. The holding rises US$300 to US$330, an unrealized US$30 gain before charges and tax. No extra tokens arise from price growth. Actual receipt execution prices can differ from indicative backing values and a sale/settlement realizes cash. HKD reporting case: 300 × 7.80 = 2,340 initially; 330 × 7.80 = 2,574 with unchanged FX; 330 × 7.82 = 2,580.60 with hypothetical later FX. The total increase is HK$240.60 or 10.282051%, rounded 10.28%. FX adds HK$6.60 relative to unchanged-FX equity growth. Both FX rates are illustrative, not current quotes. HKMA describes the linked-rate band 7.75-7.85 HKD/USD: https://www.hkma.gov.hk/eng/key-functions/money/linked-exchange-rate-system/. Equity, FX and liquidity changes can also reduce value.</a:t>
            </a:r>
            <a:endParaRPr/>
          </a:p>
        </p:txBody>
      </p:sp>
      <p:sp>
        <p:nvSpPr>
          <p:cNvPr id="73762180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25123459" name="Slide Image Placeholder 1"/>
          <p:cNvSpPr>
            <a:spLocks noGrp="1"/>
          </p:cNvSpPr>
          <p:nvPr>
            <p:ph type="sldImg" idx="0"/>
          </p:nvPr>
        </p:nvSpPr>
        <p:spPr bwMode="auto"/>
      </p:sp>
      <p:sp>
        <p:nvSpPr>
          <p:cNvPr id="512266607" name="Notes Placeholder 2"/>
          <p:cNvSpPr>
            <a:spLocks noGrp="1"/>
          </p:cNvSpPr>
          <p:nvPr>
            <p:ph type="body" idx="1"/>
          </p:nvPr>
        </p:nvSpPr>
        <p:spPr bwMode="auto"/>
        <p:txBody>
          <a:bodyPr/>
          <a:lstStyle/>
          <a:p>
            <a:pPr>
              <a:defRPr/>
            </a:pPr>
            <a:r>
              <a:rPr/>
              <a:t>Proposed production architecture. Investors/brokers, APs/liquidity providers, issuer/registrar and custody/cash/FX partners connect to the D-SHARE controller. It checks eligibility, programme rights, issuance approvals, payment-asset evidence and executable FX. A permissioned receipt register records the legally recognized receipt state when allowed by the chosen structure. Private operational records retain identity, quotes and accounting. Custodians remain authoritative for underlying shares and cash providers for their payment evidence. Minting follows confirmed backing. Receipt transfers follow agreed cash finality and recovery rules. The registry must reconcile supply, locks, cancellations and holder positions without duplicate claims. A private data store and tamper-evident evidence references support reconciliation. Contract audits, key recovery, operational ownership and exception handling are production gates. USDC/USD and RedCoin/HKD adapters are proposed. Neither network availability nor token recording alone establishes securities rights. Context: https://apps.sfc.hk/edistributionWeb/api/circular/list-content?lang=EN&amp;refNo=23EC52. Cash-asset sources: https://www.circle.com/usdc and https://www.about.hsbc.com.hk/news-and-media/hsbc-redcoin-launches-today.</a:t>
            </a:r>
            <a:endParaRPr/>
          </a:p>
        </p:txBody>
      </p:sp>
      <p:sp>
        <p:nvSpPr>
          <p:cNvPr id="148354188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34258217" name="Slide Image Placeholder 1"/>
          <p:cNvSpPr>
            <a:spLocks noGrp="1"/>
          </p:cNvSpPr>
          <p:nvPr>
            <p:ph type="sldImg" idx="0"/>
          </p:nvPr>
        </p:nvSpPr>
        <p:spPr bwMode="auto"/>
      </p:sp>
      <p:sp>
        <p:nvSpPr>
          <p:cNvPr id="286138046" name="Notes Placeholder 2"/>
          <p:cNvSpPr>
            <a:spLocks noGrp="1"/>
          </p:cNvSpPr>
          <p:nvPr>
            <p:ph type="body" idx="1"/>
          </p:nvPr>
        </p:nvSpPr>
        <p:spPr bwMode="auto"/>
        <p:txBody>
          <a:bodyPr/>
          <a:lstStyle/>
          <a:p>
            <a:pPr>
              <a:defRPr/>
            </a:pPr>
            <a:r>
              <a:rPr/>
              <a:t>Illustrative, uncontracted business model. Target contracting customer is an issuer or sponsor. Distribution through brokers reaches eligible investors, while APs and liquidity partners arrange inventory, creation/redemption and quotes. Setup fee assumption US$150k for each new sponsor. Annual servicing assumption 0.30% of average serviced programme assets. Variable service cost assumption 0.15%, leaving a 0.15% contribution rate before fixed operating costs. At US$100m/500m/1bn average assets, gross fees are US$0.30m/1.50m/3.00m and contribution US$0.15m/0.75m/1.50m. Setup fees are excluded from the chart. At US$1.5m annual fixed spend, the recurring break-even requirement is US$1bn average assets at the assumed net margin. The proposed competitive focus combines receipt lifecycle operations, controlled token records and approved stablecoin cash/FX adapters. Established brokers, receipt banks and tokenization providers remain alternatives. Customer diligence must validate differentiation, service quality and economics. Stablecoin/FX charges, minimum fees and pass-through terms require priced partner scope.</a:t>
            </a:r>
            <a:endParaRPr/>
          </a:p>
        </p:txBody>
      </p:sp>
      <p:sp>
        <p:nvSpPr>
          <p:cNvPr id="129016352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64976290" name="Slide Image Placeholder 1"/>
          <p:cNvSpPr>
            <a:spLocks noGrp="1"/>
          </p:cNvSpPr>
          <p:nvPr>
            <p:ph type="sldImg" idx="0"/>
          </p:nvPr>
        </p:nvSpPr>
        <p:spPr bwMode="auto"/>
      </p:sp>
      <p:sp>
        <p:nvSpPr>
          <p:cNvPr id="1939860288" name="Notes Placeholder 2"/>
          <p:cNvSpPr>
            <a:spLocks noGrp="1"/>
          </p:cNvSpPr>
          <p:nvPr>
            <p:ph type="body" idx="1"/>
          </p:nvPr>
        </p:nvSpPr>
        <p:spPr bwMode="auto"/>
        <p:txBody>
          <a:bodyPr/>
          <a:lstStyle/>
          <a:p>
            <a:pPr>
              <a:defRPr/>
            </a:pPr>
            <a:r>
              <a:rPr/>
              <a:t>Proposed distribution strategy. First route: an approved native USDC network and qualified intermediaries in selected permitted markets. Separate RedCoin workstream: seek HSBC investment-product/channel access, interface acceptance and agreed HKD/USD FX terms. No Circle or HSBC partnership is claimed. USDC reference currency is USD: https://www.circle.com/usdc. HSBC RedCoin is HKD denominated and its launch materials discuss tokenized-asset ambitions, without granting D-SHARE access: https://www.about.hsbc.com.hk/news-and-media/hsbc-redcoin-launches-today. Target one sponsor, two brokers and two liquidity providers, subject to contracts and market readiness. LP means liquidity provider. Five series averaging US$20m each produce US$100m average serviced assets, an assumption rather than a market-size estimate or demand forecast. A launch ramp can make first-year average assets much lower. The adoption case supports the financial assumptions on slide 13. Offering, eligibility, product permissions and local foreign-exchange rules continue to apply.</a:t>
            </a:r>
            <a:endParaRPr/>
          </a:p>
        </p:txBody>
      </p:sp>
      <p:sp>
        <p:nvSpPr>
          <p:cNvPr id="79674679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8963079" name="Slide Image Placeholder 1"/>
          <p:cNvSpPr>
            <a:spLocks noGrp="1"/>
          </p:cNvSpPr>
          <p:nvPr>
            <p:ph type="sldImg" idx="0"/>
          </p:nvPr>
        </p:nvSpPr>
        <p:spPr bwMode="auto"/>
      </p:sp>
      <p:sp>
        <p:nvSpPr>
          <p:cNvPr id="826355186" name="Notes Placeholder 2"/>
          <p:cNvSpPr>
            <a:spLocks noGrp="1"/>
          </p:cNvSpPr>
          <p:nvPr>
            <p:ph type="body" idx="1"/>
          </p:nvPr>
        </p:nvSpPr>
        <p:spPr bwMode="auto"/>
        <p:txBody>
          <a:bodyPr/>
          <a:lstStyle/>
          <a:p>
            <a:pPr>
              <a:defRPr/>
            </a:pPr>
            <a:r>
              <a:rPr/>
              <a:t>Management-reported source-deck progress comprises receipt concept/lifecycle models, an executable trade and ledger test harness and a target stablecoin architecture. These are design/development foundations, not completed market authorization or production certification. Proposed schedule starts at funding close: months 0-6 secure sponsor mandate and programme/cash-rail terms, months 7-12 complete accepted USDC, custody and receipt certification, months 13-24 launch and expand eligible distribution. The five-series/two-broker/two-liquidity-provider scope is a planning target. Permissions and signed partner terms determine actual timing. Principal launch risks include legal rights and distribution permission, backing/supply reconciliation, liquidity/FX, cash-asset finality, smart contracts/key control and adoption. Named institutional and internal owners must approve evidence, audits, recovery rules, exception handling and incident rehearsals before production. RedCoin access remains separately gated. Receipt inventory, required capital and settlement/FX liquidity need funded partner arrangements outside the operating envelope.</a:t>
            </a:r>
            <a:endParaRPr/>
          </a:p>
        </p:txBody>
      </p:sp>
      <p:sp>
        <p:nvSpPr>
          <p:cNvPr id="186295920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49139458" name="Slide Image Placeholder 1"/>
          <p:cNvSpPr>
            <a:spLocks noGrp="1"/>
          </p:cNvSpPr>
          <p:nvPr>
            <p:ph type="sldImg" idx="0"/>
          </p:nvPr>
        </p:nvSpPr>
        <p:spPr bwMode="auto"/>
      </p:sp>
      <p:sp>
        <p:nvSpPr>
          <p:cNvPr id="484338531" name="Notes Placeholder 2"/>
          <p:cNvSpPr>
            <a:spLocks noGrp="1"/>
          </p:cNvSpPr>
          <p:nvPr>
            <p:ph type="body" idx="1"/>
          </p:nvPr>
        </p:nvSpPr>
        <p:spPr bwMode="auto"/>
        <p:txBody>
          <a:bodyPr/>
          <a:lstStyle/>
          <a:p>
            <a:pPr>
              <a:defRPr/>
            </a:pPr>
            <a:r>
              <a:rPr/>
              <a:t>Illustrative cash model, unchanged from the extended deck. USD millions: opening raise 3.00 + customer revenue 0.45 - fixed spending 2.70 - variable service costs 0.15 = 0.60 closing cash at Month 24. Year 1 assumes no revenue or asset-based variable fees and US$1.20m fixed spending, leaving US$1.80m. Year 2 assumes US$100m average serviced assets. Servicing revenue 100m × 0.30% = US$300k, plus one US$150k setup fee gives US$450k. Variable partner/service costs 100m × 0.15% = US$150k. Fixed spending US$1.50m plus variable US$0.15m gives US$1.65m total costs and US$1.20m operating cash outflow in Year 2. The result is US$0.60m cash including the US$0.30m unspent reserve. The reserve is inside the balance, not additional cash above it. No-revenue case with zero serviced assets and no variable fees leaves US$0.30m after the same fixed spending. These are assumptions rather than contracted sales or guaranteed runway. Taxes, mandatory capital, working-capital timing and partner minimums are excluded. Fixed integration/readiness allowances must not double-count variable asset-based service fees. Itemized first-two-year budget appears on slide 14.</a:t>
            </a:r>
            <a:endParaRPr/>
          </a:p>
        </p:txBody>
      </p:sp>
      <p:sp>
        <p:nvSpPr>
          <p:cNvPr id="113593892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63557311" name="Slide Image Placeholder 1"/>
          <p:cNvSpPr>
            <a:spLocks noGrp="1"/>
          </p:cNvSpPr>
          <p:nvPr>
            <p:ph type="sldImg" idx="0"/>
          </p:nvPr>
        </p:nvSpPr>
        <p:spPr bwMode="auto"/>
      </p:sp>
      <p:sp>
        <p:nvSpPr>
          <p:cNvPr id="224156551" name="Notes Placeholder 2"/>
          <p:cNvSpPr>
            <a:spLocks noGrp="1"/>
          </p:cNvSpPr>
          <p:nvPr>
            <p:ph type="body" idx="1"/>
          </p:nvPr>
        </p:nvSpPr>
        <p:spPr bwMode="auto"/>
        <p:txBody>
          <a:bodyPr/>
          <a:lstStyle/>
          <a:p>
            <a:pPr>
              <a:defRPr/>
            </a:pPr>
            <a:r>
              <a:rPr/>
              <a:t>Proposed itemized budget, not vendor quotes, signed contracts, audited costs or committed hires. USD thousands. Each row shows Year 1 / Year 2 / 24-month total: engineering delivery 300/300/600, product and integration lead 150/150/300, security audit/testing 60/120/180, cloud/data/tools 45/75/120, securities counsel/programme documents 240/120/360, compliance/licensing readiness 90/150/240, operations/reconciliation 90/150/240, partner certification/testing 60/150/210, partner development/account support 120/180/300, market launch/education 45/105/150. Totals 1,200/1,500/2,700. A US$300k contingency brings the funding envelope to US$3m and remains unspent in the model. Staffing and professional-service allowances require location, rate and scope validation. Fixed readiness/integration work excludes separately modeled asset-based service fees. Underlying inventory, mandatory capital, rail minimums and settlement/FX liquidity are outside this operating envelope. Year 3 is outside the funded 24 months and needs additional financing.</a:t>
            </a:r>
            <a:endParaRPr/>
          </a:p>
        </p:txBody>
      </p:sp>
      <p:sp>
        <p:nvSpPr>
          <p:cNvPr id="201871548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8558338" name="Slide Image Placeholder 1"/>
          <p:cNvSpPr>
            <a:spLocks noGrp="1"/>
          </p:cNvSpPr>
          <p:nvPr>
            <p:ph type="sldImg" idx="0"/>
          </p:nvPr>
        </p:nvSpPr>
        <p:spPr bwMode="auto"/>
      </p:sp>
      <p:sp>
        <p:nvSpPr>
          <p:cNvPr id="1269269618" name="Notes Placeholder 2"/>
          <p:cNvSpPr>
            <a:spLocks noGrp="1"/>
          </p:cNvSpPr>
          <p:nvPr>
            <p:ph type="body" idx="1"/>
          </p:nvPr>
        </p:nvSpPr>
        <p:spPr bwMode="auto"/>
        <p:txBody>
          <a:bodyPr/>
          <a:lstStyle/>
          <a:p>
            <a:pPr>
              <a:defRPr/>
            </a:pPr>
            <a:r>
              <a:rPr/>
              <a:t>US$3m expansion raise, with 24-month proposed horizon. Functional allocation of the same itemized fixed budget: product/security US$1.2m = engineering 600k + product lead 300k + audit/testing 180k + cloud/tools 120k. Programme structuring US$0.6m = securities counsel/docs 360k + compliance/licensing readiness 240k. Partner operations US$0.45m = operations/reconciliation 240k + certification/testing 210k. Distribution US$0.45m = partner development/account support 300k + launch/education 150k. Those four groups total US$2.7m. Add US$0.3m contingency to reach US$3m. US$2.7m/24 = US$112,500 average monthly fixed spend. US$0.3m/24 = US$12,500 reserve equivalent. Together the average monthly funding envelope is US$125,000. These are averages, not fixed monthly invoices or separate spending on top of the budget. The reserve stays unallocated/unspent in the planning cash model. The ask is investment capital plus an anchor sponsor mandate and accountable custody, distribution and liquidity relationships. Inventory, mandatory capital, cash-rail minimums and settlement/FX liquidity require separate arrangements. Funding targets a production product, with market permissions and signed partner acceptance as launch gates. Website: https://connextium.xyz/.</a:t>
            </a:r>
            <a:endParaRPr/>
          </a:p>
        </p:txBody>
      </p:sp>
      <p:sp>
        <p:nvSpPr>
          <p:cNvPr id="1375266800" name="Slide Number Placeholder 3"/>
          <p:cNvSpPr>
            <a:spLocks noGrp="1"/>
          </p:cNvSpPr>
          <p:nvPr>
            <p:ph type="sldNum" idx="5"/>
          </p:nvPr>
        </p:nvSpPr>
        <p:spPr bwMode="auto"/>
        <p:txBody>
          <a:bodyPr/>
          <a:lstStyle/>
          <a:p>
            <a:pPr>
              <a:defRPr/>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title" userDrawn="1">
  <p:cSld name="Title Slide">
    <p:spTree>
      <p:nvGrpSpPr>
        <p:cNvPr id="1" name=""/>
        <p:cNvGrpSpPr/>
        <p:nvPr/>
      </p:nvGrpSpPr>
      <p:grpSpPr bwMode="auto">
        <a:xfrm>
          <a:off x="0" y="0"/>
          <a:ext cx="0" cy="0"/>
          <a:chOff x="0" y="0"/>
          <a:chExt cx="0" cy="0"/>
        </a:xfrm>
      </p:grpSpPr>
      <p:sp>
        <p:nvSpPr>
          <p:cNvPr id="1997152804" name="Title"/>
          <p:cNvSpPr>
            <a:spLocks noGrp="1"/>
          </p:cNvSpPr>
          <p:nvPr>
            <p:ph type="title" idx="0"/>
          </p:nvPr>
        </p:nvSpPr>
        <p:spPr bwMode="auto">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pPr>
              <a:defRPr/>
            </a:pPr>
            <a:endParaRPr/>
          </a:p>
        </p:txBody>
      </p:sp>
      <p:sp>
        <p:nvSpPr>
          <p:cNvPr id="2021854983" name="Subtitle"/>
          <p:cNvSpPr>
            <a:spLocks noGrp="1"/>
          </p:cNvSpPr>
          <p:nvPr>
            <p:ph type="subTitle" idx="1"/>
          </p:nvPr>
        </p:nvSpPr>
        <p:spPr bwMode="auto">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pPr>
              <a:defRPr/>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Section Header">
    <p:spTree>
      <p:nvGrpSpPr>
        <p:cNvPr id="1" name=""/>
        <p:cNvGrpSpPr/>
        <p:nvPr/>
      </p:nvGrpSpPr>
      <p:grpSpPr bwMode="auto">
        <a:xfrm>
          <a:off x="0" y="0"/>
          <a:ext cx="0" cy="0"/>
          <a:chOff x="0" y="0"/>
          <a:chExt cx="0" cy="0"/>
        </a:xfrm>
      </p:grpSpPr>
      <p:sp>
        <p:nvSpPr>
          <p:cNvPr id="1996779202" name="Section title"/>
          <p:cNvSpPr>
            <a:spLocks noGrp="1"/>
          </p:cNvSpPr>
          <p:nvPr>
            <p:ph type="title" idx="0"/>
          </p:nvPr>
        </p:nvSpPr>
        <p:spPr bwMode="auto">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pPr>
              <a:defRPr/>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Title and Body">
    <p:spTree>
      <p:nvGrpSpPr>
        <p:cNvPr id="1" name=""/>
        <p:cNvGrpSpPr/>
        <p:nvPr/>
      </p:nvGrpSpPr>
      <p:grpSpPr bwMode="auto">
        <a:xfrm>
          <a:off x="0" y="0"/>
          <a:ext cx="0" cy="0"/>
          <a:chOff x="0" y="0"/>
          <a:chExt cx="0" cy="0"/>
        </a:xfrm>
      </p:grpSpPr>
      <p:sp>
        <p:nvSpPr>
          <p:cNvPr id="1303177493" name="Title"/>
          <p:cNvSpPr>
            <a:spLocks noGrp="1"/>
          </p:cNvSpPr>
          <p:nvPr>
            <p:ph type="title" idx="0"/>
          </p:nvPr>
        </p:nvSpPr>
        <p:spPr bwMode="auto">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pPr>
              <a:defRPr/>
            </a:pPr>
            <a:endParaRPr/>
          </a:p>
        </p:txBody>
      </p:sp>
      <p:sp>
        <p:nvSpPr>
          <p:cNvPr id="890255525" name="Body"/>
          <p:cNvSpPr>
            <a:spLocks noGrp="1"/>
          </p:cNvSpPr>
          <p:nvPr>
            <p:ph type="body" idx="1"/>
          </p:nvPr>
        </p:nvSpPr>
        <p:spPr bwMode="auto">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599"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199"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pPr>
              <a:defRPr/>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Title and Two Column">
    <p:spTree>
      <p:nvGrpSpPr>
        <p:cNvPr id="1" name=""/>
        <p:cNvGrpSpPr/>
        <p:nvPr/>
      </p:nvGrpSpPr>
      <p:grpSpPr bwMode="auto">
        <a:xfrm>
          <a:off x="0" y="0"/>
          <a:ext cx="0" cy="0"/>
          <a:chOff x="0" y="0"/>
          <a:chExt cx="0" cy="0"/>
        </a:xfrm>
      </p:grpSpPr>
      <p:sp>
        <p:nvSpPr>
          <p:cNvPr id="1018976070" name="Title"/>
          <p:cNvSpPr>
            <a:spLocks noGrp="1"/>
          </p:cNvSpPr>
          <p:nvPr>
            <p:ph type="title" idx="0"/>
          </p:nvPr>
        </p:nvSpPr>
        <p:spPr bwMode="auto">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pPr>
              <a:defRPr/>
            </a:pPr>
            <a:endParaRPr/>
          </a:p>
        </p:txBody>
      </p:sp>
      <p:sp>
        <p:nvSpPr>
          <p:cNvPr id="1415322061" name="Left column"/>
          <p:cNvSpPr>
            <a:spLocks noGrp="1"/>
          </p:cNvSpPr>
          <p:nvPr>
            <p:ph type="body" idx="1"/>
          </p:nvPr>
        </p:nvSpPr>
        <p:spPr bwMode="auto">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599"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199"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pPr>
              <a:defRPr/>
            </a:pPr>
            <a:endParaRPr/>
          </a:p>
        </p:txBody>
      </p:sp>
      <p:sp>
        <p:nvSpPr>
          <p:cNvPr id="1774795993" name="Right column"/>
          <p:cNvSpPr>
            <a:spLocks noGrp="1"/>
          </p:cNvSpPr>
          <p:nvPr>
            <p:ph type="body" idx="2"/>
          </p:nvPr>
        </p:nvSpPr>
        <p:spPr bwMode="auto">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599"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199"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pPr>
              <a:defRPr/>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Title and One Column">
    <p:spTree>
      <p:nvGrpSpPr>
        <p:cNvPr id="1" name=""/>
        <p:cNvGrpSpPr/>
        <p:nvPr/>
      </p:nvGrpSpPr>
      <p:grpSpPr bwMode="auto">
        <a:xfrm>
          <a:off x="0" y="0"/>
          <a:ext cx="0" cy="0"/>
          <a:chOff x="0" y="0"/>
          <a:chExt cx="0" cy="0"/>
        </a:xfrm>
      </p:grpSpPr>
      <p:sp>
        <p:nvSpPr>
          <p:cNvPr id="214949630" name="Title"/>
          <p:cNvSpPr>
            <a:spLocks noGrp="1"/>
          </p:cNvSpPr>
          <p:nvPr>
            <p:ph type="title" idx="0"/>
          </p:nvPr>
        </p:nvSpPr>
        <p:spPr bwMode="auto">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pPr>
              <a:defRPr/>
            </a:pPr>
            <a:endParaRPr/>
          </a:p>
        </p:txBody>
      </p:sp>
      <p:sp>
        <p:nvSpPr>
          <p:cNvPr id="2072572239" name="Left column"/>
          <p:cNvSpPr>
            <a:spLocks noGrp="1"/>
          </p:cNvSpPr>
          <p:nvPr>
            <p:ph type="body" idx="1"/>
          </p:nvPr>
        </p:nvSpPr>
        <p:spPr bwMode="auto">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599"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199"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pPr>
              <a:defRPr/>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blank" userDrawn="1">
  <p:cSld name="Blank">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Master">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chart" Target="../charts/chart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pic>
        <p:nvPicPr>
          <p:cNvPr id="345787595" name=""/>
          <p:cNvPicPr>
            <a:picLocks noChangeAspect="1"/>
          </p:cNvPicPr>
          <p:nvPr/>
        </p:nvPicPr>
        <p:blipFill rotWithShape="1">
          <a:blip r:embed="rId3"/>
          <a:srcRect l="0" t="27" r="0" b="27"/>
          <a:stretch>
            <a:fillRect l="0" t="0" r="0" b="0"/>
          </a:stretch>
        </p:blipFill>
        <p:spPr bwMode="auto">
          <a:xfrm>
            <a:off x="0" y="0"/>
            <a:ext cx="12192000" cy="6858000"/>
          </a:xfrm>
          <a:prstGeom prst="rect">
            <a:avLst/>
          </a:prstGeom>
          <a:ln>
            <a:solidFill/>
          </a:ln>
        </p:spPr>
      </p:pic>
      <p:sp>
        <p:nvSpPr>
          <p:cNvPr id="1284567829" name="text-1"/>
          <p:cNvSpPr>
            <a:spLocks noGrp="1"/>
          </p:cNvSpPr>
          <p:nvPr/>
        </p:nvSpPr>
        <p:spPr bwMode="auto">
          <a:xfrm>
            <a:off x="609600" y="438149"/>
            <a:ext cx="6000750" cy="304800"/>
          </a:xfrm>
          <a:prstGeom prst="rect">
            <a:avLst/>
          </a:prstGeom>
          <a:noFill/>
          <a:ln w="0">
            <a:solidFill/>
            <a:prstDash val="solid"/>
          </a:ln>
        </p:spPr>
        <p:txBody>
          <a:bodyPr wrap="square" lIns="0" tIns="0" rIns="0" bIns="0" anchor="t">
            <a:noAutofit/>
          </a:bodyPr>
          <a:lstStyle>
            <a:defPPr algn="l">
              <a:defRPr sz="1350" b="1">
                <a:solidFill>
                  <a:srgbClr val="0DBE85"/>
                </a:solidFill>
                <a:latin typeface="Arial"/>
                <a:ea typeface="Arial"/>
                <a:cs typeface="Arial"/>
              </a:defRPr>
            </a:defPPr>
            <a:lvl1pPr algn="l">
              <a:buNone/>
              <a:defRPr sz="1350" b="1">
                <a:solidFill>
                  <a:srgbClr val="0DBE85"/>
                </a:solidFill>
                <a:latin typeface="Arial"/>
                <a:ea typeface="Arial"/>
                <a:cs typeface="Arial"/>
              </a:defRPr>
            </a:lvl1pPr>
            <a:lvl2pPr algn="l">
              <a:buNone/>
              <a:defRPr sz="1350" b="1">
                <a:solidFill>
                  <a:srgbClr val="0DBE85"/>
                </a:solidFill>
                <a:latin typeface="Arial"/>
                <a:ea typeface="Arial"/>
                <a:cs typeface="Arial"/>
              </a:defRPr>
            </a:lvl2pPr>
            <a:lvl3pPr algn="l">
              <a:buNone/>
              <a:defRPr sz="1350" b="1">
                <a:solidFill>
                  <a:srgbClr val="0DBE85"/>
                </a:solidFill>
                <a:latin typeface="Arial"/>
                <a:ea typeface="Arial"/>
                <a:cs typeface="Arial"/>
              </a:defRPr>
            </a:lvl3pPr>
            <a:lvl4pPr algn="l">
              <a:buNone/>
              <a:defRPr sz="1350" b="1">
                <a:solidFill>
                  <a:srgbClr val="0DBE85"/>
                </a:solidFill>
                <a:latin typeface="Arial"/>
                <a:ea typeface="Arial"/>
                <a:cs typeface="Arial"/>
              </a:defRPr>
            </a:lvl4pPr>
            <a:lvl5pPr algn="l">
              <a:buNone/>
              <a:defRPr sz="1350" b="1">
                <a:solidFill>
                  <a:srgbClr val="0DBE85"/>
                </a:solidFill>
                <a:latin typeface="Arial"/>
                <a:ea typeface="Arial"/>
                <a:cs typeface="Arial"/>
              </a:defRPr>
            </a:lvl5pPr>
            <a:lvl6pPr algn="l">
              <a:buNone/>
              <a:defRPr sz="1350" b="1">
                <a:solidFill>
                  <a:srgbClr val="0DBE85"/>
                </a:solidFill>
                <a:latin typeface="Arial"/>
                <a:ea typeface="Arial"/>
                <a:cs typeface="Arial"/>
              </a:defRPr>
            </a:lvl6pPr>
            <a:lvl7pPr algn="l">
              <a:buNone/>
              <a:defRPr sz="1350" b="1">
                <a:solidFill>
                  <a:srgbClr val="0DBE85"/>
                </a:solidFill>
                <a:latin typeface="Arial"/>
                <a:ea typeface="Arial"/>
                <a:cs typeface="Arial"/>
              </a:defRPr>
            </a:lvl7pPr>
            <a:lvl8pPr algn="l">
              <a:buNone/>
              <a:defRPr sz="1350" b="1">
                <a:solidFill>
                  <a:srgbClr val="0DBE85"/>
                </a:solidFill>
                <a:latin typeface="Arial"/>
                <a:ea typeface="Arial"/>
                <a:cs typeface="Arial"/>
              </a:defRPr>
            </a:lvl8pPr>
            <a:lvl9pPr algn="l">
              <a:buNone/>
              <a:defRPr sz="1350" b="1">
                <a:solidFill>
                  <a:srgbClr val="0DBE85"/>
                </a:solidFill>
                <a:latin typeface="Arial"/>
                <a:ea typeface="Arial"/>
                <a:cs typeface="Arial"/>
              </a:defRPr>
            </a:lvl9pPr>
          </a:lstStyle>
          <a:p>
            <a:pPr algn="l">
              <a:buNone/>
              <a:defRPr sz="1350" b="1">
                <a:solidFill>
                  <a:srgbClr val="0DBE85"/>
                </a:solidFill>
                <a:latin typeface="Arial"/>
                <a:ea typeface="Arial"/>
                <a:cs typeface="Arial"/>
              </a:defRPr>
            </a:pPr>
            <a:r>
              <a:rPr sz="1350" b="1">
                <a:solidFill>
                  <a:srgbClr val="0AA372"/>
                </a:solidFill>
                <a:latin typeface="JetBrains Mono"/>
                <a:ea typeface="Arial"/>
                <a:cs typeface="Arial"/>
              </a:rPr>
              <a:t>CONNEXTIUM.XYZ / FINUX LABS</a:t>
            </a:r>
            <a:endParaRPr/>
          </a:p>
        </p:txBody>
      </p:sp>
      <p:sp>
        <p:nvSpPr>
          <p:cNvPr id="385130294" name="text-2"/>
          <p:cNvSpPr>
            <a:spLocks noGrp="1"/>
          </p:cNvSpPr>
          <p:nvPr/>
        </p:nvSpPr>
        <p:spPr bwMode="auto">
          <a:xfrm>
            <a:off x="609600" y="1190625"/>
            <a:ext cx="4095750" cy="1047750"/>
          </a:xfrm>
          <a:prstGeom prst="rect">
            <a:avLst/>
          </a:prstGeom>
          <a:noFill/>
          <a:ln w="0">
            <a:solidFill/>
            <a:prstDash val="solid"/>
          </a:ln>
        </p:spPr>
        <p:txBody>
          <a:bodyPr wrap="square" lIns="0" tIns="0" rIns="0" bIns="0" anchor="t">
            <a:noAutofit/>
          </a:bodyPr>
          <a:lstStyle>
            <a:defPPr algn="l">
              <a:defRPr sz="6600" b="1">
                <a:solidFill>
                  <a:srgbClr val="18201D"/>
                </a:solidFill>
                <a:latin typeface="Arial"/>
                <a:ea typeface="Arial"/>
                <a:cs typeface="Arial"/>
              </a:defRPr>
            </a:defPPr>
            <a:lvl1pPr algn="l">
              <a:buNone/>
              <a:defRPr sz="6600" b="1">
                <a:solidFill>
                  <a:srgbClr val="18201D"/>
                </a:solidFill>
                <a:latin typeface="Arial"/>
                <a:ea typeface="Arial"/>
                <a:cs typeface="Arial"/>
              </a:defRPr>
            </a:lvl1pPr>
            <a:lvl2pPr algn="l">
              <a:buNone/>
              <a:defRPr sz="6600" b="1">
                <a:solidFill>
                  <a:srgbClr val="18201D"/>
                </a:solidFill>
                <a:latin typeface="Arial"/>
                <a:ea typeface="Arial"/>
                <a:cs typeface="Arial"/>
              </a:defRPr>
            </a:lvl2pPr>
            <a:lvl3pPr algn="l">
              <a:buNone/>
              <a:defRPr sz="6600" b="1">
                <a:solidFill>
                  <a:srgbClr val="18201D"/>
                </a:solidFill>
                <a:latin typeface="Arial"/>
                <a:ea typeface="Arial"/>
                <a:cs typeface="Arial"/>
              </a:defRPr>
            </a:lvl3pPr>
            <a:lvl4pPr algn="l">
              <a:buNone/>
              <a:defRPr sz="6600" b="1">
                <a:solidFill>
                  <a:srgbClr val="18201D"/>
                </a:solidFill>
                <a:latin typeface="Arial"/>
                <a:ea typeface="Arial"/>
                <a:cs typeface="Arial"/>
              </a:defRPr>
            </a:lvl4pPr>
            <a:lvl5pPr algn="l">
              <a:buNone/>
              <a:defRPr sz="6600" b="1">
                <a:solidFill>
                  <a:srgbClr val="18201D"/>
                </a:solidFill>
                <a:latin typeface="Arial"/>
                <a:ea typeface="Arial"/>
                <a:cs typeface="Arial"/>
              </a:defRPr>
            </a:lvl5pPr>
            <a:lvl6pPr algn="l">
              <a:buNone/>
              <a:defRPr sz="6600" b="1">
                <a:solidFill>
                  <a:srgbClr val="18201D"/>
                </a:solidFill>
                <a:latin typeface="Arial"/>
                <a:ea typeface="Arial"/>
                <a:cs typeface="Arial"/>
              </a:defRPr>
            </a:lvl6pPr>
            <a:lvl7pPr algn="l">
              <a:buNone/>
              <a:defRPr sz="6600" b="1">
                <a:solidFill>
                  <a:srgbClr val="18201D"/>
                </a:solidFill>
                <a:latin typeface="Arial"/>
                <a:ea typeface="Arial"/>
                <a:cs typeface="Arial"/>
              </a:defRPr>
            </a:lvl7pPr>
            <a:lvl8pPr algn="l">
              <a:buNone/>
              <a:defRPr sz="6600" b="1">
                <a:solidFill>
                  <a:srgbClr val="18201D"/>
                </a:solidFill>
                <a:latin typeface="Arial"/>
                <a:ea typeface="Arial"/>
                <a:cs typeface="Arial"/>
              </a:defRPr>
            </a:lvl8pPr>
            <a:lvl9pPr algn="l">
              <a:buNone/>
              <a:defRPr sz="6600" b="1">
                <a:solidFill>
                  <a:srgbClr val="18201D"/>
                </a:solidFill>
                <a:latin typeface="Arial"/>
                <a:ea typeface="Arial"/>
                <a:cs typeface="Arial"/>
              </a:defRPr>
            </a:lvl9pPr>
          </a:lstStyle>
          <a:p>
            <a:pPr algn="l">
              <a:buNone/>
              <a:defRPr sz="6600" b="1">
                <a:solidFill>
                  <a:srgbClr val="18201D"/>
                </a:solidFill>
                <a:latin typeface="Arial"/>
                <a:ea typeface="Arial"/>
                <a:cs typeface="Arial"/>
              </a:defRPr>
            </a:pPr>
            <a:r>
              <a:rPr sz="6600" b="1">
                <a:solidFill>
                  <a:srgbClr val="18201D"/>
                </a:solidFill>
                <a:latin typeface="Outfit"/>
                <a:ea typeface="Arial"/>
                <a:cs typeface="Arial"/>
              </a:rPr>
              <a:t>D-SHARE</a:t>
            </a:r>
            <a:endParaRPr/>
          </a:p>
        </p:txBody>
      </p:sp>
      <p:sp>
        <p:nvSpPr>
          <p:cNvPr id="1622416764" name="text-3"/>
          <p:cNvSpPr>
            <a:spLocks noGrp="1"/>
          </p:cNvSpPr>
          <p:nvPr/>
        </p:nvSpPr>
        <p:spPr bwMode="auto">
          <a:xfrm>
            <a:off x="647700" y="2371725"/>
            <a:ext cx="5953125" cy="1066800"/>
          </a:xfrm>
          <a:prstGeom prst="rect">
            <a:avLst/>
          </a:prstGeom>
          <a:noFill/>
          <a:ln w="0">
            <a:solidFill/>
            <a:prstDash val="solid"/>
          </a:ln>
        </p:spPr>
        <p:txBody>
          <a:bodyPr wrap="square" lIns="0" tIns="0" rIns="0" bIns="0" anchor="t">
            <a:noAutofit/>
          </a:bodyPr>
          <a:lstStyle>
            <a:defPPr algn="l">
              <a:defRPr sz="3250" b="1">
                <a:solidFill>
                  <a:srgbClr val="18201D"/>
                </a:solidFill>
                <a:latin typeface="Arial"/>
                <a:ea typeface="Arial"/>
                <a:cs typeface="Arial"/>
              </a:defRPr>
            </a:defPPr>
            <a:lvl1pPr algn="l">
              <a:buNone/>
              <a:defRPr sz="3250" b="1">
                <a:solidFill>
                  <a:srgbClr val="18201D"/>
                </a:solidFill>
                <a:latin typeface="Arial"/>
                <a:ea typeface="Arial"/>
                <a:cs typeface="Arial"/>
              </a:defRPr>
            </a:lvl1pPr>
            <a:lvl2pPr algn="l">
              <a:buNone/>
              <a:defRPr sz="3250" b="1">
                <a:solidFill>
                  <a:srgbClr val="18201D"/>
                </a:solidFill>
                <a:latin typeface="Arial"/>
                <a:ea typeface="Arial"/>
                <a:cs typeface="Arial"/>
              </a:defRPr>
            </a:lvl2pPr>
            <a:lvl3pPr algn="l">
              <a:buNone/>
              <a:defRPr sz="3250" b="1">
                <a:solidFill>
                  <a:srgbClr val="18201D"/>
                </a:solidFill>
                <a:latin typeface="Arial"/>
                <a:ea typeface="Arial"/>
                <a:cs typeface="Arial"/>
              </a:defRPr>
            </a:lvl3pPr>
            <a:lvl4pPr algn="l">
              <a:buNone/>
              <a:defRPr sz="3250" b="1">
                <a:solidFill>
                  <a:srgbClr val="18201D"/>
                </a:solidFill>
                <a:latin typeface="Arial"/>
                <a:ea typeface="Arial"/>
                <a:cs typeface="Arial"/>
              </a:defRPr>
            </a:lvl4pPr>
            <a:lvl5pPr algn="l">
              <a:buNone/>
              <a:defRPr sz="3250" b="1">
                <a:solidFill>
                  <a:srgbClr val="18201D"/>
                </a:solidFill>
                <a:latin typeface="Arial"/>
                <a:ea typeface="Arial"/>
                <a:cs typeface="Arial"/>
              </a:defRPr>
            </a:lvl5pPr>
            <a:lvl6pPr algn="l">
              <a:buNone/>
              <a:defRPr sz="3250" b="1">
                <a:solidFill>
                  <a:srgbClr val="18201D"/>
                </a:solidFill>
                <a:latin typeface="Arial"/>
                <a:ea typeface="Arial"/>
                <a:cs typeface="Arial"/>
              </a:defRPr>
            </a:lvl6pPr>
            <a:lvl7pPr algn="l">
              <a:buNone/>
              <a:defRPr sz="3250" b="1">
                <a:solidFill>
                  <a:srgbClr val="18201D"/>
                </a:solidFill>
                <a:latin typeface="Arial"/>
                <a:ea typeface="Arial"/>
                <a:cs typeface="Arial"/>
              </a:defRPr>
            </a:lvl7pPr>
            <a:lvl8pPr algn="l">
              <a:buNone/>
              <a:defRPr sz="3250" b="1">
                <a:solidFill>
                  <a:srgbClr val="18201D"/>
                </a:solidFill>
                <a:latin typeface="Arial"/>
                <a:ea typeface="Arial"/>
                <a:cs typeface="Arial"/>
              </a:defRPr>
            </a:lvl8pPr>
            <a:lvl9pPr algn="l">
              <a:buNone/>
              <a:defRPr sz="3250" b="1">
                <a:solidFill>
                  <a:srgbClr val="18201D"/>
                </a:solidFill>
                <a:latin typeface="Arial"/>
                <a:ea typeface="Arial"/>
                <a:cs typeface="Arial"/>
              </a:defRPr>
            </a:lvl9pPr>
          </a:lstStyle>
          <a:p>
            <a:pPr algn="l">
              <a:buNone/>
              <a:defRPr sz="3250" b="1">
                <a:solidFill>
                  <a:srgbClr val="18201D"/>
                </a:solidFill>
                <a:latin typeface="Arial"/>
                <a:ea typeface="Arial"/>
                <a:cs typeface="Arial"/>
              </a:defRPr>
            </a:pPr>
            <a:r>
              <a:rPr sz="3250" b="1">
                <a:solidFill>
                  <a:srgbClr val="18201D"/>
                </a:solidFill>
                <a:latin typeface="Outfit"/>
                <a:ea typeface="Arial"/>
                <a:cs typeface="Arial"/>
              </a:rPr>
              <a:t>Global equity.</a:t>
            </a:r>
            <a:endParaRPr/>
          </a:p>
          <a:p>
            <a:pPr algn="l">
              <a:buNone/>
              <a:defRPr sz="3250" b="1">
                <a:solidFill>
                  <a:srgbClr val="18201D"/>
                </a:solidFill>
                <a:latin typeface="Arial"/>
                <a:ea typeface="Arial"/>
                <a:cs typeface="Arial"/>
              </a:defRPr>
            </a:pPr>
            <a:r>
              <a:rPr sz="3250" b="1">
                <a:solidFill>
                  <a:srgbClr val="18201D"/>
                </a:solidFill>
                <a:latin typeface="Outfit"/>
                <a:ea typeface="Arial"/>
                <a:cs typeface="Arial"/>
              </a:rPr>
              <a:t>Stablecoin access.</a:t>
            </a:r>
            <a:endParaRPr/>
          </a:p>
        </p:txBody>
      </p:sp>
      <p:sp>
        <p:nvSpPr>
          <p:cNvPr id="1676169945" name="text-4"/>
          <p:cNvSpPr>
            <a:spLocks noGrp="1"/>
          </p:cNvSpPr>
          <p:nvPr/>
        </p:nvSpPr>
        <p:spPr bwMode="auto">
          <a:xfrm>
            <a:off x="647700" y="3724275"/>
            <a:ext cx="6477000" cy="809625"/>
          </a:xfrm>
          <a:prstGeom prst="rect">
            <a:avLst/>
          </a:prstGeom>
          <a:noFill/>
          <a:ln w="0">
            <a:solidFill/>
            <a:prstDash val="solid"/>
          </a:ln>
        </p:spPr>
        <p:txBody>
          <a:bodyPr wrap="square" lIns="0" tIns="0" rIns="0" bIns="0" anchor="t">
            <a:noAutofit/>
          </a:bodyPr>
          <a:lstStyle>
            <a:defPPr algn="l">
              <a:defRPr sz="2100" b="0">
                <a:solidFill>
                  <a:srgbClr val="5D6A67"/>
                </a:solidFill>
                <a:latin typeface="Arial"/>
                <a:ea typeface="Arial"/>
                <a:cs typeface="Arial"/>
              </a:defRPr>
            </a:defPPr>
            <a:lvl1pPr algn="l">
              <a:buNone/>
              <a:defRPr sz="2050" b="0">
                <a:solidFill>
                  <a:srgbClr val="5D6A67"/>
                </a:solidFill>
                <a:latin typeface="Arial"/>
                <a:ea typeface="Arial"/>
                <a:cs typeface="Arial"/>
              </a:defRPr>
            </a:lvl1pPr>
            <a:lvl2pPr algn="l">
              <a:buNone/>
              <a:defRPr sz="2050" b="0">
                <a:solidFill>
                  <a:srgbClr val="5D6A67"/>
                </a:solidFill>
                <a:latin typeface="Arial"/>
                <a:ea typeface="Arial"/>
                <a:cs typeface="Arial"/>
              </a:defRPr>
            </a:lvl2pPr>
            <a:lvl3pPr algn="l">
              <a:buNone/>
              <a:defRPr sz="2050" b="0">
                <a:solidFill>
                  <a:srgbClr val="5D6A67"/>
                </a:solidFill>
                <a:latin typeface="Arial"/>
                <a:ea typeface="Arial"/>
                <a:cs typeface="Arial"/>
              </a:defRPr>
            </a:lvl3pPr>
            <a:lvl4pPr algn="l">
              <a:buNone/>
              <a:defRPr sz="2050" b="0">
                <a:solidFill>
                  <a:srgbClr val="5D6A67"/>
                </a:solidFill>
                <a:latin typeface="Arial"/>
                <a:ea typeface="Arial"/>
                <a:cs typeface="Arial"/>
              </a:defRPr>
            </a:lvl4pPr>
            <a:lvl5pPr algn="l">
              <a:buNone/>
              <a:defRPr sz="2050" b="0">
                <a:solidFill>
                  <a:srgbClr val="5D6A67"/>
                </a:solidFill>
                <a:latin typeface="Arial"/>
                <a:ea typeface="Arial"/>
                <a:cs typeface="Arial"/>
              </a:defRPr>
            </a:lvl5pPr>
            <a:lvl6pPr algn="l">
              <a:buNone/>
              <a:defRPr sz="2050" b="0">
                <a:solidFill>
                  <a:srgbClr val="5D6A67"/>
                </a:solidFill>
                <a:latin typeface="Arial"/>
                <a:ea typeface="Arial"/>
                <a:cs typeface="Arial"/>
              </a:defRPr>
            </a:lvl6pPr>
            <a:lvl7pPr algn="l">
              <a:buNone/>
              <a:defRPr sz="2050" b="0">
                <a:solidFill>
                  <a:srgbClr val="5D6A67"/>
                </a:solidFill>
                <a:latin typeface="Arial"/>
                <a:ea typeface="Arial"/>
                <a:cs typeface="Arial"/>
              </a:defRPr>
            </a:lvl7pPr>
            <a:lvl8pPr algn="l">
              <a:buNone/>
              <a:defRPr sz="2050" b="0">
                <a:solidFill>
                  <a:srgbClr val="5D6A67"/>
                </a:solidFill>
                <a:latin typeface="Arial"/>
                <a:ea typeface="Arial"/>
                <a:cs typeface="Arial"/>
              </a:defRPr>
            </a:lvl8pPr>
            <a:lvl9pPr algn="l">
              <a:buNone/>
              <a:defRPr sz="2050" b="0">
                <a:solidFill>
                  <a:srgbClr val="5D6A67"/>
                </a:solidFill>
                <a:latin typeface="Arial"/>
                <a:ea typeface="Arial"/>
                <a:cs typeface="Arial"/>
              </a:defRPr>
            </a:lvl9pPr>
          </a:lstStyle>
          <a:p>
            <a:pPr algn="l">
              <a:buNone/>
              <a:defRPr sz="2100" b="0">
                <a:solidFill>
                  <a:srgbClr val="5D6A67"/>
                </a:solidFill>
                <a:latin typeface="Arial"/>
                <a:ea typeface="Arial"/>
                <a:cs typeface="Arial"/>
              </a:defRPr>
            </a:pPr>
            <a:r>
              <a:rPr sz="2100" b="0">
                <a:solidFill>
                  <a:srgbClr val="5D6A67"/>
                </a:solidFill>
                <a:latin typeface="Outfit"/>
                <a:ea typeface="Arial"/>
                <a:cs typeface="Arial"/>
              </a:rPr>
              <a:t>Tokenized depository receipts.</a:t>
            </a:r>
            <a:endParaRPr/>
          </a:p>
          <a:p>
            <a:pPr algn="l">
              <a:buNone/>
              <a:defRPr sz="2100" b="0">
                <a:solidFill>
                  <a:srgbClr val="5D6A67"/>
                </a:solidFill>
                <a:latin typeface="Arial"/>
                <a:ea typeface="Arial"/>
                <a:cs typeface="Arial"/>
              </a:defRPr>
            </a:pPr>
            <a:r>
              <a:rPr sz="2100" b="0">
                <a:solidFill>
                  <a:srgbClr val="5D6A67"/>
                </a:solidFill>
                <a:latin typeface="JetBrains Mono"/>
                <a:ea typeface="Arial"/>
                <a:cs typeface="Arial"/>
              </a:rPr>
              <a:t>For USDC and HSBC RedCoin holders.</a:t>
            </a:r>
            <a:endParaRPr/>
          </a:p>
        </p:txBody>
      </p:sp>
      <p:sp>
        <p:nvSpPr>
          <p:cNvPr id="1483058058" name="text-5"/>
          <p:cNvSpPr>
            <a:spLocks noGrp="1"/>
          </p:cNvSpPr>
          <p:nvPr/>
        </p:nvSpPr>
        <p:spPr bwMode="auto">
          <a:xfrm>
            <a:off x="647700" y="5267325"/>
            <a:ext cx="6000750" cy="466725"/>
          </a:xfrm>
          <a:prstGeom prst="rect">
            <a:avLst/>
          </a:prstGeom>
          <a:noFill/>
          <a:ln w="0">
            <a:solidFill/>
            <a:prstDash val="solid"/>
          </a:ln>
        </p:spPr>
        <p:txBody>
          <a:bodyPr wrap="square" lIns="0" tIns="0" rIns="0" bIns="0" anchor="t">
            <a:noAutofit/>
          </a:bodyPr>
          <a:lstStyle>
            <a:defPPr algn="l">
              <a:defRPr sz="2650" b="1">
                <a:solidFill>
                  <a:srgbClr val="0DBE85"/>
                </a:solidFill>
                <a:latin typeface="Arial"/>
                <a:ea typeface="Arial"/>
                <a:cs typeface="Arial"/>
              </a:defRPr>
            </a:defPPr>
            <a:lvl1pPr algn="l">
              <a:buNone/>
              <a:defRPr sz="2650" b="1">
                <a:solidFill>
                  <a:srgbClr val="0DBE85"/>
                </a:solidFill>
                <a:latin typeface="Arial"/>
                <a:ea typeface="Arial"/>
                <a:cs typeface="Arial"/>
              </a:defRPr>
            </a:lvl1pPr>
            <a:lvl2pPr algn="l">
              <a:buNone/>
              <a:defRPr sz="2650" b="1">
                <a:solidFill>
                  <a:srgbClr val="0DBE85"/>
                </a:solidFill>
                <a:latin typeface="Arial"/>
                <a:ea typeface="Arial"/>
                <a:cs typeface="Arial"/>
              </a:defRPr>
            </a:lvl2pPr>
            <a:lvl3pPr algn="l">
              <a:buNone/>
              <a:defRPr sz="2650" b="1">
                <a:solidFill>
                  <a:srgbClr val="0DBE85"/>
                </a:solidFill>
                <a:latin typeface="Arial"/>
                <a:ea typeface="Arial"/>
                <a:cs typeface="Arial"/>
              </a:defRPr>
            </a:lvl3pPr>
            <a:lvl4pPr algn="l">
              <a:buNone/>
              <a:defRPr sz="2650" b="1">
                <a:solidFill>
                  <a:srgbClr val="0DBE85"/>
                </a:solidFill>
                <a:latin typeface="Arial"/>
                <a:ea typeface="Arial"/>
                <a:cs typeface="Arial"/>
              </a:defRPr>
            </a:lvl4pPr>
            <a:lvl5pPr algn="l">
              <a:buNone/>
              <a:defRPr sz="2650" b="1">
                <a:solidFill>
                  <a:srgbClr val="0DBE85"/>
                </a:solidFill>
                <a:latin typeface="Arial"/>
                <a:ea typeface="Arial"/>
                <a:cs typeface="Arial"/>
              </a:defRPr>
            </a:lvl5pPr>
            <a:lvl6pPr algn="l">
              <a:buNone/>
              <a:defRPr sz="2650" b="1">
                <a:solidFill>
                  <a:srgbClr val="0DBE85"/>
                </a:solidFill>
                <a:latin typeface="Arial"/>
                <a:ea typeface="Arial"/>
                <a:cs typeface="Arial"/>
              </a:defRPr>
            </a:lvl6pPr>
            <a:lvl7pPr algn="l">
              <a:buNone/>
              <a:defRPr sz="2650" b="1">
                <a:solidFill>
                  <a:srgbClr val="0DBE85"/>
                </a:solidFill>
                <a:latin typeface="Arial"/>
                <a:ea typeface="Arial"/>
                <a:cs typeface="Arial"/>
              </a:defRPr>
            </a:lvl7pPr>
            <a:lvl8pPr algn="l">
              <a:buNone/>
              <a:defRPr sz="2650" b="1">
                <a:solidFill>
                  <a:srgbClr val="0DBE85"/>
                </a:solidFill>
                <a:latin typeface="Arial"/>
                <a:ea typeface="Arial"/>
                <a:cs typeface="Arial"/>
              </a:defRPr>
            </a:lvl8pPr>
            <a:lvl9pPr algn="l">
              <a:buNone/>
              <a:defRPr sz="2650" b="1">
                <a:solidFill>
                  <a:srgbClr val="0DBE85"/>
                </a:solidFill>
                <a:latin typeface="Arial"/>
                <a:ea typeface="Arial"/>
                <a:cs typeface="Arial"/>
              </a:defRPr>
            </a:lvl9pPr>
          </a:lstStyle>
          <a:p>
            <a:pPr algn="l">
              <a:buNone/>
              <a:defRPr sz="2650" b="1">
                <a:solidFill>
                  <a:srgbClr val="0DBE85"/>
                </a:solidFill>
                <a:latin typeface="Arial"/>
                <a:ea typeface="Arial"/>
                <a:cs typeface="Arial"/>
              </a:defRPr>
            </a:pPr>
            <a:r>
              <a:rPr sz="2650" b="1">
                <a:solidFill>
                  <a:srgbClr val="0DBE85"/>
                </a:solidFill>
                <a:latin typeface="Outfit"/>
                <a:ea typeface="Arial"/>
                <a:cs typeface="Arial"/>
              </a:rPr>
              <a:t>Raising US$3 million</a:t>
            </a:r>
            <a:endParaRPr/>
          </a:p>
        </p:txBody>
      </p:sp>
      <p:sp>
        <p:nvSpPr>
          <p:cNvPr id="148970198" name="text-6"/>
          <p:cNvSpPr>
            <a:spLocks noGrp="1"/>
          </p:cNvSpPr>
          <p:nvPr/>
        </p:nvSpPr>
        <p:spPr bwMode="auto">
          <a:xfrm>
            <a:off x="647700" y="5791200"/>
            <a:ext cx="6191250" cy="342900"/>
          </a:xfrm>
          <a:prstGeom prst="rect">
            <a:avLst/>
          </a:prstGeom>
          <a:noFill/>
          <a:ln w="0">
            <a:solidFill/>
            <a:prstDash val="solid"/>
          </a:ln>
        </p:spPr>
        <p:txBody>
          <a:bodyPr wrap="square" lIns="0" tIns="0" rIns="0" bIns="0" anchor="t">
            <a:noAutofit/>
          </a:bodyPr>
          <a:lstStyle>
            <a:defPPr algn="l">
              <a:defRPr sz="1750" b="0">
                <a:solidFill>
                  <a:srgbClr val="18201D"/>
                </a:solidFill>
                <a:latin typeface="Arial"/>
                <a:ea typeface="Arial"/>
                <a:cs typeface="Arial"/>
              </a:defRPr>
            </a:defPPr>
            <a:lvl1pPr algn="l">
              <a:buNone/>
              <a:defRPr sz="1750" b="0">
                <a:solidFill>
                  <a:srgbClr val="5D6A67"/>
                </a:solidFill>
                <a:latin typeface="Arial"/>
                <a:ea typeface="Arial"/>
                <a:cs typeface="Arial"/>
              </a:defRPr>
            </a:lvl1pPr>
            <a:lvl2pPr algn="l">
              <a:buNone/>
              <a:defRPr sz="1750" b="0">
                <a:solidFill>
                  <a:srgbClr val="5D6A67"/>
                </a:solidFill>
                <a:latin typeface="Arial"/>
                <a:ea typeface="Arial"/>
                <a:cs typeface="Arial"/>
              </a:defRPr>
            </a:lvl2pPr>
            <a:lvl3pPr algn="l">
              <a:buNone/>
              <a:defRPr sz="1750" b="0">
                <a:solidFill>
                  <a:srgbClr val="5D6A67"/>
                </a:solidFill>
                <a:latin typeface="Arial"/>
                <a:ea typeface="Arial"/>
                <a:cs typeface="Arial"/>
              </a:defRPr>
            </a:lvl3pPr>
            <a:lvl4pPr algn="l">
              <a:buNone/>
              <a:defRPr sz="1750" b="0">
                <a:solidFill>
                  <a:srgbClr val="5D6A67"/>
                </a:solidFill>
                <a:latin typeface="Arial"/>
                <a:ea typeface="Arial"/>
                <a:cs typeface="Arial"/>
              </a:defRPr>
            </a:lvl4pPr>
            <a:lvl5pPr algn="l">
              <a:buNone/>
              <a:defRPr sz="1750" b="0">
                <a:solidFill>
                  <a:srgbClr val="5D6A67"/>
                </a:solidFill>
                <a:latin typeface="Arial"/>
                <a:ea typeface="Arial"/>
                <a:cs typeface="Arial"/>
              </a:defRPr>
            </a:lvl5pPr>
            <a:lvl6pPr algn="l">
              <a:buNone/>
              <a:defRPr sz="1750" b="0">
                <a:solidFill>
                  <a:srgbClr val="5D6A67"/>
                </a:solidFill>
                <a:latin typeface="Arial"/>
                <a:ea typeface="Arial"/>
                <a:cs typeface="Arial"/>
              </a:defRPr>
            </a:lvl6pPr>
            <a:lvl7pPr algn="l">
              <a:buNone/>
              <a:defRPr sz="1750" b="0">
                <a:solidFill>
                  <a:srgbClr val="5D6A67"/>
                </a:solidFill>
                <a:latin typeface="Arial"/>
                <a:ea typeface="Arial"/>
                <a:cs typeface="Arial"/>
              </a:defRPr>
            </a:lvl7pPr>
            <a:lvl8pPr algn="l">
              <a:buNone/>
              <a:defRPr sz="1750" b="0">
                <a:solidFill>
                  <a:srgbClr val="5D6A67"/>
                </a:solidFill>
                <a:latin typeface="Arial"/>
                <a:ea typeface="Arial"/>
                <a:cs typeface="Arial"/>
              </a:defRPr>
            </a:lvl8pPr>
            <a:lvl9pPr algn="l">
              <a:buNone/>
              <a:defRPr sz="1750" b="0">
                <a:solidFill>
                  <a:srgbClr val="5D6A67"/>
                </a:solidFill>
                <a:latin typeface="Arial"/>
                <a:ea typeface="Arial"/>
                <a:cs typeface="Arial"/>
              </a:defRPr>
            </a:lvl9pPr>
          </a:lstStyle>
          <a:p>
            <a:pPr algn="l">
              <a:buNone/>
              <a:defRPr sz="1750" b="0">
                <a:solidFill>
                  <a:srgbClr val="5D6A67"/>
                </a:solidFill>
                <a:latin typeface="Arial"/>
                <a:ea typeface="Arial"/>
                <a:cs typeface="Arial"/>
              </a:defRPr>
            </a:pPr>
            <a:r>
              <a:rPr sz="1750" b="0">
                <a:solidFill>
                  <a:srgbClr val="18201D"/>
                </a:solidFill>
                <a:latin typeface="Plus Jakarta Sans"/>
                <a:ea typeface="Arial"/>
                <a:cs typeface="Arial"/>
              </a:rPr>
              <a:t>Prime edition</a:t>
            </a:r>
            <a:endParaRPr/>
          </a:p>
        </p:txBody>
      </p:sp>
      <p:sp>
        <p:nvSpPr>
          <p:cNvPr id="1175932123" name="text-7"/>
          <p:cNvSpPr>
            <a:spLocks noGrp="1"/>
          </p:cNvSpPr>
          <p:nvPr/>
        </p:nvSpPr>
        <p:spPr bwMode="auto">
          <a:xfrm>
            <a:off x="647700" y="6410325"/>
            <a:ext cx="4762500" cy="257175"/>
          </a:xfrm>
          <a:prstGeom prst="rect">
            <a:avLst/>
          </a:prstGeom>
          <a:noFill/>
          <a:ln w="0">
            <a:solidFill/>
            <a:prstDash val="solid"/>
          </a:ln>
        </p:spPr>
        <p:txBody>
          <a:bodyPr wrap="square" lIns="0" tIns="0" rIns="0" bIns="0" anchor="t">
            <a:noAutofit/>
          </a:bodyPr>
          <a:lstStyle>
            <a:defPPr algn="l">
              <a:defRPr sz="1300" b="0">
                <a:solidFill>
                  <a:srgbClr val="5D6A67"/>
                </a:solidFill>
                <a:latin typeface="Arial"/>
                <a:ea typeface="Arial"/>
                <a:cs typeface="Arial"/>
              </a:defRPr>
            </a:defPPr>
            <a:lvl1pPr algn="l">
              <a:buNone/>
              <a:defRPr sz="1300" b="0">
                <a:solidFill>
                  <a:srgbClr val="5D6A67"/>
                </a:solidFill>
                <a:latin typeface="Arial"/>
                <a:ea typeface="Arial"/>
                <a:cs typeface="Arial"/>
              </a:defRPr>
            </a:lvl1pPr>
            <a:lvl2pPr algn="l">
              <a:buNone/>
              <a:defRPr sz="1300" b="0">
                <a:solidFill>
                  <a:srgbClr val="5D6A67"/>
                </a:solidFill>
                <a:latin typeface="Arial"/>
                <a:ea typeface="Arial"/>
                <a:cs typeface="Arial"/>
              </a:defRPr>
            </a:lvl2pPr>
            <a:lvl3pPr algn="l">
              <a:buNone/>
              <a:defRPr sz="1300" b="0">
                <a:solidFill>
                  <a:srgbClr val="5D6A67"/>
                </a:solidFill>
                <a:latin typeface="Arial"/>
                <a:ea typeface="Arial"/>
                <a:cs typeface="Arial"/>
              </a:defRPr>
            </a:lvl3pPr>
            <a:lvl4pPr algn="l">
              <a:buNone/>
              <a:defRPr sz="1300" b="0">
                <a:solidFill>
                  <a:srgbClr val="5D6A67"/>
                </a:solidFill>
                <a:latin typeface="Arial"/>
                <a:ea typeface="Arial"/>
                <a:cs typeface="Arial"/>
              </a:defRPr>
            </a:lvl4pPr>
            <a:lvl5pPr algn="l">
              <a:buNone/>
              <a:defRPr sz="1300" b="0">
                <a:solidFill>
                  <a:srgbClr val="5D6A67"/>
                </a:solidFill>
                <a:latin typeface="Arial"/>
                <a:ea typeface="Arial"/>
                <a:cs typeface="Arial"/>
              </a:defRPr>
            </a:lvl5pPr>
            <a:lvl6pPr algn="l">
              <a:buNone/>
              <a:defRPr sz="1300" b="0">
                <a:solidFill>
                  <a:srgbClr val="5D6A67"/>
                </a:solidFill>
                <a:latin typeface="Arial"/>
                <a:ea typeface="Arial"/>
                <a:cs typeface="Arial"/>
              </a:defRPr>
            </a:lvl6pPr>
            <a:lvl7pPr algn="l">
              <a:buNone/>
              <a:defRPr sz="1300" b="0">
                <a:solidFill>
                  <a:srgbClr val="5D6A67"/>
                </a:solidFill>
                <a:latin typeface="Arial"/>
                <a:ea typeface="Arial"/>
                <a:cs typeface="Arial"/>
              </a:defRPr>
            </a:lvl7pPr>
            <a:lvl8pPr algn="l">
              <a:buNone/>
              <a:defRPr sz="1300" b="0">
                <a:solidFill>
                  <a:srgbClr val="5D6A67"/>
                </a:solidFill>
                <a:latin typeface="Arial"/>
                <a:ea typeface="Arial"/>
                <a:cs typeface="Arial"/>
              </a:defRPr>
            </a:lvl8pPr>
            <a:lvl9pPr algn="l">
              <a:buNone/>
              <a:defRPr sz="1300" b="0">
                <a:solidFill>
                  <a:srgbClr val="5D6A67"/>
                </a:solidFill>
                <a:latin typeface="Arial"/>
                <a:ea typeface="Arial"/>
                <a:cs typeface="Arial"/>
              </a:defRPr>
            </a:lvl9pPr>
          </a:lstStyle>
          <a:p>
            <a:pPr algn="l">
              <a:buNone/>
              <a:defRPr sz="1300" b="0">
                <a:solidFill>
                  <a:srgbClr val="5D6A67"/>
                </a:solidFill>
                <a:latin typeface="Arial"/>
                <a:ea typeface="Arial"/>
                <a:cs typeface="Arial"/>
              </a:defRPr>
            </a:pPr>
            <a:r>
              <a:rPr sz="1300" b="0">
                <a:solidFill>
                  <a:srgbClr val="5D6A67"/>
                </a:solidFill>
                <a:latin typeface="JetBrains Mono"/>
                <a:ea typeface="Arial"/>
                <a:cs typeface="Arial"/>
              </a:rPr>
              <a:t>USDC / USD    HSBC RedCoin / HKD</a:t>
            </a:r>
            <a:endParaRPr/>
          </a:p>
        </p:txBody>
      </p:sp>
      <p:sp>
        <p:nvSpPr>
          <p:cNvPr id="1679676569" name="budget-revision-text-1"/>
          <p:cNvSpPr>
            <a:spLocks noGrp="1"/>
          </p:cNvSpPr>
          <p:nvPr/>
        </p:nvSpPr>
        <p:spPr bwMode="auto">
          <a:xfrm>
            <a:off x="5029200" y="1647825"/>
            <a:ext cx="2095500" cy="476250"/>
          </a:xfrm>
          <a:prstGeom prst="rect">
            <a:avLst/>
          </a:prstGeom>
          <a:noFill/>
          <a:ln w="0">
            <a:solidFill/>
            <a:prstDash val="solid"/>
          </a:ln>
        </p:spPr>
        <p:txBody>
          <a:bodyPr wrap="square" lIns="0" tIns="0" rIns="0" bIns="0" anchor="t">
            <a:noAutofit/>
          </a:bodyPr>
          <a:lstStyle>
            <a:defPPr algn="l">
              <a:defRPr sz="2400" b="1">
                <a:solidFill>
                  <a:srgbClr val="D97706"/>
                </a:solidFill>
                <a:latin typeface="Arial"/>
                <a:ea typeface="Arial"/>
                <a:cs typeface="Arial"/>
              </a:defRPr>
            </a:defPPr>
            <a:lvl1pPr algn="l">
              <a:buNone/>
              <a:defRPr sz="2400" b="1">
                <a:solidFill>
                  <a:srgbClr val="D97706"/>
                </a:solidFill>
                <a:latin typeface="Arial"/>
                <a:ea typeface="Arial"/>
                <a:cs typeface="Arial"/>
              </a:defRPr>
            </a:lvl1pPr>
            <a:lvl2pPr algn="l">
              <a:buNone/>
              <a:defRPr sz="2400" b="1">
                <a:solidFill>
                  <a:srgbClr val="D97706"/>
                </a:solidFill>
                <a:latin typeface="Arial"/>
                <a:ea typeface="Arial"/>
                <a:cs typeface="Arial"/>
              </a:defRPr>
            </a:lvl2pPr>
            <a:lvl3pPr algn="l">
              <a:buNone/>
              <a:defRPr sz="2400" b="1">
                <a:solidFill>
                  <a:srgbClr val="D97706"/>
                </a:solidFill>
                <a:latin typeface="Arial"/>
                <a:ea typeface="Arial"/>
                <a:cs typeface="Arial"/>
              </a:defRPr>
            </a:lvl3pPr>
            <a:lvl4pPr algn="l">
              <a:buNone/>
              <a:defRPr sz="2400" b="1">
                <a:solidFill>
                  <a:srgbClr val="D97706"/>
                </a:solidFill>
                <a:latin typeface="Arial"/>
                <a:ea typeface="Arial"/>
                <a:cs typeface="Arial"/>
              </a:defRPr>
            </a:lvl4pPr>
            <a:lvl5pPr algn="l">
              <a:buNone/>
              <a:defRPr sz="2400" b="1">
                <a:solidFill>
                  <a:srgbClr val="D97706"/>
                </a:solidFill>
                <a:latin typeface="Arial"/>
                <a:ea typeface="Arial"/>
                <a:cs typeface="Arial"/>
              </a:defRPr>
            </a:lvl5pPr>
            <a:lvl6pPr algn="l">
              <a:buNone/>
              <a:defRPr sz="2400" b="1">
                <a:solidFill>
                  <a:srgbClr val="D97706"/>
                </a:solidFill>
                <a:latin typeface="Arial"/>
                <a:ea typeface="Arial"/>
                <a:cs typeface="Arial"/>
              </a:defRPr>
            </a:lvl6pPr>
            <a:lvl7pPr algn="l">
              <a:buNone/>
              <a:defRPr sz="2400" b="1">
                <a:solidFill>
                  <a:srgbClr val="D97706"/>
                </a:solidFill>
                <a:latin typeface="Arial"/>
                <a:ea typeface="Arial"/>
                <a:cs typeface="Arial"/>
              </a:defRPr>
            </a:lvl7pPr>
            <a:lvl8pPr algn="l">
              <a:buNone/>
              <a:defRPr sz="2400" b="1">
                <a:solidFill>
                  <a:srgbClr val="D97706"/>
                </a:solidFill>
                <a:latin typeface="Arial"/>
                <a:ea typeface="Arial"/>
                <a:cs typeface="Arial"/>
              </a:defRPr>
            </a:lvl8pPr>
            <a:lvl9pPr algn="l">
              <a:buNone/>
              <a:defRPr sz="2400" b="1">
                <a:solidFill>
                  <a:srgbClr val="D97706"/>
                </a:solidFill>
                <a:latin typeface="Arial"/>
                <a:ea typeface="Arial"/>
                <a:cs typeface="Arial"/>
              </a:defRPr>
            </a:lvl9pPr>
          </a:lstStyle>
          <a:p>
            <a:pPr algn="l">
              <a:buNone/>
              <a:defRPr sz="2400" b="1">
                <a:solidFill>
                  <a:srgbClr val="D97706"/>
                </a:solidFill>
                <a:latin typeface="Arial"/>
                <a:ea typeface="Arial"/>
                <a:cs typeface="Arial"/>
              </a:defRPr>
            </a:pPr>
            <a:r>
              <a:rPr sz="2400" b="1">
                <a:solidFill>
                  <a:srgbClr val="D97706"/>
                </a:solidFill>
                <a:latin typeface="Outfit"/>
                <a:ea typeface="Arial"/>
                <a:cs typeface="Arial"/>
              </a:rPr>
              <a:t>Concept</a:t>
            </a:r>
            <a:endParaRPr/>
          </a:p>
        </p:txBody>
      </p:sp>
      <p:sp>
        <p:nvSpPr>
          <p:cNvPr id="930512669" name="budget-revision-text-2"/>
          <p:cNvSpPr>
            <a:spLocks noGrp="1"/>
          </p:cNvSpPr>
          <p:nvPr/>
        </p:nvSpPr>
        <p:spPr bwMode="auto">
          <a:xfrm>
            <a:off x="647700" y="4572000"/>
            <a:ext cx="6953250" cy="638175"/>
          </a:xfrm>
          <a:prstGeom prst="rect">
            <a:avLst/>
          </a:prstGeom>
          <a:noFill/>
          <a:ln w="0">
            <a:solidFill/>
            <a:prstDash val="solid"/>
          </a:ln>
        </p:spPr>
        <p:txBody>
          <a:bodyPr wrap="square" lIns="0" tIns="0" rIns="0" bIns="0" anchor="t">
            <a:noAutofit/>
          </a:bodyPr>
          <a:lstStyle>
            <a:defPPr algn="l">
              <a:defRPr sz="1750" b="0">
                <a:solidFill>
                  <a:srgbClr val="5D6A67"/>
                </a:solidFill>
                <a:latin typeface="Arial"/>
                <a:ea typeface="Arial"/>
                <a:cs typeface="Arial"/>
              </a:defRPr>
            </a:defPPr>
            <a:lvl1pPr algn="l">
              <a:buNone/>
              <a:defRPr sz="1750" b="0">
                <a:solidFill>
                  <a:srgbClr val="5D6A67"/>
                </a:solidFill>
                <a:latin typeface="Arial"/>
                <a:ea typeface="Arial"/>
                <a:cs typeface="Arial"/>
              </a:defRPr>
            </a:lvl1pPr>
            <a:lvl2pPr algn="l">
              <a:buNone/>
              <a:defRPr sz="1750" b="0">
                <a:solidFill>
                  <a:srgbClr val="5D6A67"/>
                </a:solidFill>
                <a:latin typeface="Arial"/>
                <a:ea typeface="Arial"/>
                <a:cs typeface="Arial"/>
              </a:defRPr>
            </a:lvl2pPr>
            <a:lvl3pPr algn="l">
              <a:buNone/>
              <a:defRPr sz="1750" b="0">
                <a:solidFill>
                  <a:srgbClr val="5D6A67"/>
                </a:solidFill>
                <a:latin typeface="Arial"/>
                <a:ea typeface="Arial"/>
                <a:cs typeface="Arial"/>
              </a:defRPr>
            </a:lvl3pPr>
            <a:lvl4pPr algn="l">
              <a:buNone/>
              <a:defRPr sz="1750" b="0">
                <a:solidFill>
                  <a:srgbClr val="5D6A67"/>
                </a:solidFill>
                <a:latin typeface="Arial"/>
                <a:ea typeface="Arial"/>
                <a:cs typeface="Arial"/>
              </a:defRPr>
            </a:lvl4pPr>
            <a:lvl5pPr algn="l">
              <a:buNone/>
              <a:defRPr sz="1750" b="0">
                <a:solidFill>
                  <a:srgbClr val="5D6A67"/>
                </a:solidFill>
                <a:latin typeface="Arial"/>
                <a:ea typeface="Arial"/>
                <a:cs typeface="Arial"/>
              </a:defRPr>
            </a:lvl5pPr>
            <a:lvl6pPr algn="l">
              <a:buNone/>
              <a:defRPr sz="1750" b="0">
                <a:solidFill>
                  <a:srgbClr val="5D6A67"/>
                </a:solidFill>
                <a:latin typeface="Arial"/>
                <a:ea typeface="Arial"/>
                <a:cs typeface="Arial"/>
              </a:defRPr>
            </a:lvl6pPr>
            <a:lvl7pPr algn="l">
              <a:buNone/>
              <a:defRPr sz="1750" b="0">
                <a:solidFill>
                  <a:srgbClr val="5D6A67"/>
                </a:solidFill>
                <a:latin typeface="Arial"/>
                <a:ea typeface="Arial"/>
                <a:cs typeface="Arial"/>
              </a:defRPr>
            </a:lvl7pPr>
            <a:lvl8pPr algn="l">
              <a:buNone/>
              <a:defRPr sz="1750" b="0">
                <a:solidFill>
                  <a:srgbClr val="5D6A67"/>
                </a:solidFill>
                <a:latin typeface="Arial"/>
                <a:ea typeface="Arial"/>
                <a:cs typeface="Arial"/>
              </a:defRPr>
            </a:lvl8pPr>
            <a:lvl9pPr algn="l">
              <a:buNone/>
              <a:defRPr sz="1750" b="0">
                <a:solidFill>
                  <a:srgbClr val="5D6A67"/>
                </a:solidFill>
                <a:latin typeface="Arial"/>
                <a:ea typeface="Arial"/>
                <a:cs typeface="Arial"/>
              </a:defRPr>
            </a:lvl9pPr>
          </a:lstStyle>
          <a:p>
            <a:pPr algn="l">
              <a:buNone/>
              <a:defRPr sz="1750" b="0">
                <a:solidFill>
                  <a:srgbClr val="5D6A67"/>
                </a:solidFill>
                <a:latin typeface="Arial"/>
                <a:ea typeface="Arial"/>
                <a:cs typeface="Arial"/>
              </a:defRPr>
            </a:pPr>
            <a:r>
              <a:rPr sz="1750" b="0">
                <a:solidFill>
                  <a:srgbClr val="5D6A67"/>
                </a:solidFill>
                <a:latin typeface="Plus Jakarta Sans"/>
                <a:ea typeface="Arial"/>
                <a:cs typeface="Arial"/>
              </a:rPr>
              <a:t>Depository Securities Homing Access</a:t>
            </a:r>
            <a:endParaRPr/>
          </a:p>
          <a:p>
            <a:pPr algn="l">
              <a:buNone/>
              <a:defRPr sz="1750" b="0">
                <a:solidFill>
                  <a:srgbClr val="5D6A67"/>
                </a:solidFill>
                <a:latin typeface="Arial"/>
                <a:ea typeface="Arial"/>
                <a:cs typeface="Arial"/>
              </a:defRPr>
            </a:pPr>
            <a:r>
              <a:rPr sz="1750" b="0">
                <a:solidFill>
                  <a:srgbClr val="5D6A67"/>
                </a:solidFill>
                <a:latin typeface="Plus Jakarta Sans"/>
                <a:ea typeface="Arial"/>
                <a:cs typeface="Arial"/>
              </a:rPr>
              <a:t>to Receipted Equity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256818082" name="prime-text-1"/>
          <p:cNvSpPr>
            <a:spLocks noGrp="1"/>
          </p:cNvSpPr>
          <p:nvPr/>
        </p:nvSpPr>
        <p:spPr bwMode="auto">
          <a:xfrm>
            <a:off x="609600" y="504825"/>
            <a:ext cx="10972800" cy="828675"/>
          </a:xfrm>
          <a:prstGeom prst="rect">
            <a:avLst/>
          </a:prstGeom>
          <a:noFill/>
          <a:ln w="0">
            <a:solidFill/>
            <a:prstDash val="solid"/>
          </a:ln>
        </p:spPr>
        <p:txBody>
          <a:bodyPr wrap="square" lIns="0" tIns="0" rIns="0" bIns="0" anchor="t">
            <a:noAutofit/>
          </a:bodyPr>
          <a:lstStyle>
            <a:defPPr algn="l">
              <a:defRPr sz="3300" b="1">
                <a:solidFill>
                  <a:srgbClr val="18201D"/>
                </a:solidFill>
                <a:latin typeface="Arial"/>
                <a:ea typeface="Arial"/>
                <a:cs typeface="Arial"/>
              </a:defRPr>
            </a:defPPr>
            <a:lvl1pPr algn="l">
              <a:defRPr sz="3300" b="1">
                <a:solidFill>
                  <a:srgbClr val="18201D"/>
                </a:solidFill>
                <a:latin typeface="Arial"/>
                <a:ea typeface="Arial"/>
                <a:cs typeface="Arial"/>
              </a:defRPr>
            </a:lvl1pPr>
            <a:lvl2pPr algn="l">
              <a:defRPr sz="3300" b="1">
                <a:solidFill>
                  <a:srgbClr val="18201D"/>
                </a:solidFill>
                <a:latin typeface="Arial"/>
                <a:ea typeface="Arial"/>
                <a:cs typeface="Arial"/>
              </a:defRPr>
            </a:lvl2pPr>
            <a:lvl3pPr algn="l">
              <a:defRPr sz="3300" b="1">
                <a:solidFill>
                  <a:srgbClr val="18201D"/>
                </a:solidFill>
                <a:latin typeface="Arial"/>
                <a:ea typeface="Arial"/>
                <a:cs typeface="Arial"/>
              </a:defRPr>
            </a:lvl3pPr>
            <a:lvl4pPr algn="l">
              <a:defRPr sz="3300" b="1">
                <a:solidFill>
                  <a:srgbClr val="18201D"/>
                </a:solidFill>
                <a:latin typeface="Arial"/>
                <a:ea typeface="Arial"/>
                <a:cs typeface="Arial"/>
              </a:defRPr>
            </a:lvl4pPr>
            <a:lvl5pPr algn="l">
              <a:defRPr sz="3300" b="1">
                <a:solidFill>
                  <a:srgbClr val="18201D"/>
                </a:solidFill>
                <a:latin typeface="Arial"/>
                <a:ea typeface="Arial"/>
                <a:cs typeface="Arial"/>
              </a:defRPr>
            </a:lvl5pPr>
            <a:lvl6pPr algn="l">
              <a:defRPr sz="3300" b="1">
                <a:solidFill>
                  <a:srgbClr val="18201D"/>
                </a:solidFill>
                <a:latin typeface="Arial"/>
                <a:ea typeface="Arial"/>
                <a:cs typeface="Arial"/>
              </a:defRPr>
            </a:lvl6pPr>
            <a:lvl7pPr algn="l">
              <a:defRPr sz="3300" b="1">
                <a:solidFill>
                  <a:srgbClr val="18201D"/>
                </a:solidFill>
                <a:latin typeface="Arial"/>
                <a:ea typeface="Arial"/>
                <a:cs typeface="Arial"/>
              </a:defRPr>
            </a:lvl7pPr>
            <a:lvl8pPr algn="l">
              <a:defRPr sz="3300" b="1">
                <a:solidFill>
                  <a:srgbClr val="18201D"/>
                </a:solidFill>
                <a:latin typeface="Arial"/>
                <a:ea typeface="Arial"/>
                <a:cs typeface="Arial"/>
              </a:defRPr>
            </a:lvl8pPr>
            <a:lvl9pPr algn="l">
              <a:defRPr sz="3300" b="1">
                <a:solidFill>
                  <a:srgbClr val="18201D"/>
                </a:solidFill>
                <a:latin typeface="Arial"/>
                <a:ea typeface="Arial"/>
                <a:cs typeface="Arial"/>
              </a:defRPr>
            </a:lvl9pPr>
          </a:lstStyle>
          <a:p>
            <a:pPr algn="l">
              <a:defRPr sz="3300" b="1">
                <a:solidFill>
                  <a:srgbClr val="18201D"/>
                </a:solidFill>
                <a:latin typeface="Arial"/>
                <a:ea typeface="Arial"/>
                <a:cs typeface="Arial"/>
              </a:defRPr>
            </a:pPr>
            <a:r>
              <a:rPr sz="3300" b="1">
                <a:solidFill>
                  <a:srgbClr val="18201D"/>
                </a:solidFill>
                <a:latin typeface="Outfit"/>
                <a:ea typeface="Arial"/>
                <a:cs typeface="Arial"/>
              </a:rPr>
              <a:t>High share prices and uneven global access</a:t>
            </a:r>
            <a:endParaRPr/>
          </a:p>
        </p:txBody>
      </p:sp>
      <p:sp>
        <p:nvSpPr>
          <p:cNvPr id="1047836924" name="prime-text-2"/>
          <p:cNvSpPr>
            <a:spLocks noGrp="1"/>
          </p:cNvSpPr>
          <p:nvPr/>
        </p:nvSpPr>
        <p:spPr bwMode="auto">
          <a:xfrm>
            <a:off x="609600" y="1409700"/>
            <a:ext cx="10972800" cy="609600"/>
          </a:xfrm>
          <a:prstGeom prst="rect">
            <a:avLst/>
          </a:prstGeom>
          <a:noFill/>
          <a:ln w="0">
            <a:solidFill/>
            <a:prstDash val="solid"/>
          </a:ln>
        </p:spPr>
        <p:txBody>
          <a:bodyPr wrap="square" lIns="0" tIns="0" rIns="0" bIns="0" anchor="t">
            <a:noAutofit/>
          </a:bodyPr>
          <a:lstStyle>
            <a:defPPr algn="l">
              <a:defRPr sz="1900" b="0">
                <a:solidFill>
                  <a:srgbClr val="5D6A67"/>
                </a:solidFill>
                <a:latin typeface="Arial"/>
                <a:ea typeface="Arial"/>
                <a:cs typeface="Arial"/>
              </a:defRPr>
            </a:defPPr>
            <a:lvl1pPr algn="l">
              <a:defRPr sz="1900" b="0">
                <a:solidFill>
                  <a:srgbClr val="5D6A67"/>
                </a:solidFill>
                <a:latin typeface="Arial"/>
                <a:ea typeface="Arial"/>
                <a:cs typeface="Arial"/>
              </a:defRPr>
            </a:lvl1pPr>
            <a:lvl2pPr algn="l">
              <a:defRPr sz="1900" b="0">
                <a:solidFill>
                  <a:srgbClr val="5D6A67"/>
                </a:solidFill>
                <a:latin typeface="Arial"/>
                <a:ea typeface="Arial"/>
                <a:cs typeface="Arial"/>
              </a:defRPr>
            </a:lvl2pPr>
            <a:lvl3pPr algn="l">
              <a:defRPr sz="1900" b="0">
                <a:solidFill>
                  <a:srgbClr val="5D6A67"/>
                </a:solidFill>
                <a:latin typeface="Arial"/>
                <a:ea typeface="Arial"/>
                <a:cs typeface="Arial"/>
              </a:defRPr>
            </a:lvl3pPr>
            <a:lvl4pPr algn="l">
              <a:defRPr sz="1900" b="0">
                <a:solidFill>
                  <a:srgbClr val="5D6A67"/>
                </a:solidFill>
                <a:latin typeface="Arial"/>
                <a:ea typeface="Arial"/>
                <a:cs typeface="Arial"/>
              </a:defRPr>
            </a:lvl4pPr>
            <a:lvl5pPr algn="l">
              <a:defRPr sz="1900" b="0">
                <a:solidFill>
                  <a:srgbClr val="5D6A67"/>
                </a:solidFill>
                <a:latin typeface="Arial"/>
                <a:ea typeface="Arial"/>
                <a:cs typeface="Arial"/>
              </a:defRPr>
            </a:lvl5pPr>
            <a:lvl6pPr algn="l">
              <a:defRPr sz="1900" b="0">
                <a:solidFill>
                  <a:srgbClr val="5D6A67"/>
                </a:solidFill>
                <a:latin typeface="Arial"/>
                <a:ea typeface="Arial"/>
                <a:cs typeface="Arial"/>
              </a:defRPr>
            </a:lvl6pPr>
            <a:lvl7pPr algn="l">
              <a:defRPr sz="1900" b="0">
                <a:solidFill>
                  <a:srgbClr val="5D6A67"/>
                </a:solidFill>
                <a:latin typeface="Arial"/>
                <a:ea typeface="Arial"/>
                <a:cs typeface="Arial"/>
              </a:defRPr>
            </a:lvl7pPr>
            <a:lvl8pPr algn="l">
              <a:defRPr sz="1900" b="0">
                <a:solidFill>
                  <a:srgbClr val="5D6A67"/>
                </a:solidFill>
                <a:latin typeface="Arial"/>
                <a:ea typeface="Arial"/>
                <a:cs typeface="Arial"/>
              </a:defRPr>
            </a:lvl8pPr>
            <a:lvl9pPr algn="l">
              <a:defRPr sz="1900" b="0">
                <a:solidFill>
                  <a:srgbClr val="5D6A67"/>
                </a:solidFill>
                <a:latin typeface="Arial"/>
                <a:ea typeface="Arial"/>
                <a:cs typeface="Arial"/>
              </a:defRPr>
            </a:lvl9pPr>
          </a:lstStyle>
          <a:p>
            <a:pPr algn="l">
              <a:defRPr sz="1900" b="0">
                <a:solidFill>
                  <a:srgbClr val="5D6A67"/>
                </a:solidFill>
                <a:latin typeface="Arial"/>
                <a:ea typeface="Arial"/>
                <a:cs typeface="Arial"/>
              </a:defRPr>
            </a:pPr>
            <a:r>
              <a:rPr sz="1900" b="0">
                <a:solidFill>
                  <a:srgbClr val="5D6A67"/>
                </a:solidFill>
                <a:latin typeface="Plus Jakarta Sans"/>
                <a:ea typeface="Arial"/>
                <a:cs typeface="Arial"/>
              </a:rPr>
              <a:t>Six US-listed examples above US$1,000. Indicative quote snapshot, 30 October 2026.</a:t>
            </a:r>
            <a:endParaRPr/>
          </a:p>
        </p:txBody>
      </p:sp>
      <p:sp>
        <p:nvSpPr>
          <p:cNvPr id="401748322" name="prime-text-3"/>
          <p:cNvSpPr>
            <a:spLocks noGrp="1"/>
          </p:cNvSpPr>
          <p:nvPr/>
        </p:nvSpPr>
        <p:spPr bwMode="auto">
          <a:xfrm>
            <a:off x="609600" y="6438899"/>
            <a:ext cx="3619500" cy="238125"/>
          </a:xfrm>
          <a:prstGeom prst="rect">
            <a:avLst/>
          </a:prstGeom>
          <a:noFill/>
          <a:ln w="0">
            <a:solidFill/>
            <a:prstDash val="solid"/>
          </a:ln>
        </p:spPr>
        <p:txBody>
          <a:bodyPr wrap="square" lIns="0" tIns="0" rIns="0" bIns="0" anchor="t">
            <a:noAutofit/>
          </a:bodyPr>
          <a:lstStyle>
            <a:defPPr algn="l">
              <a:defRPr sz="1200" b="1">
                <a:solidFill>
                  <a:srgbClr val="0DBE85"/>
                </a:solidFill>
                <a:latin typeface="Arial"/>
                <a:ea typeface="Arial"/>
                <a:cs typeface="Arial"/>
              </a:defRPr>
            </a:defPPr>
            <a:lvl1pPr algn="l">
              <a:defRPr sz="1200" b="1">
                <a:solidFill>
                  <a:srgbClr val="0DBE85"/>
                </a:solidFill>
                <a:latin typeface="Arial"/>
                <a:ea typeface="Arial"/>
                <a:cs typeface="Arial"/>
              </a:defRPr>
            </a:lvl1pPr>
            <a:lvl2pPr algn="l">
              <a:defRPr sz="1200" b="1">
                <a:solidFill>
                  <a:srgbClr val="0DBE85"/>
                </a:solidFill>
                <a:latin typeface="Arial"/>
                <a:ea typeface="Arial"/>
                <a:cs typeface="Arial"/>
              </a:defRPr>
            </a:lvl2pPr>
            <a:lvl3pPr algn="l">
              <a:defRPr sz="1200" b="1">
                <a:solidFill>
                  <a:srgbClr val="0DBE85"/>
                </a:solidFill>
                <a:latin typeface="Arial"/>
                <a:ea typeface="Arial"/>
                <a:cs typeface="Arial"/>
              </a:defRPr>
            </a:lvl3pPr>
            <a:lvl4pPr algn="l">
              <a:defRPr sz="1200" b="1">
                <a:solidFill>
                  <a:srgbClr val="0DBE85"/>
                </a:solidFill>
                <a:latin typeface="Arial"/>
                <a:ea typeface="Arial"/>
                <a:cs typeface="Arial"/>
              </a:defRPr>
            </a:lvl4pPr>
            <a:lvl5pPr algn="l">
              <a:defRPr sz="1200" b="1">
                <a:solidFill>
                  <a:srgbClr val="0DBE85"/>
                </a:solidFill>
                <a:latin typeface="Arial"/>
                <a:ea typeface="Arial"/>
                <a:cs typeface="Arial"/>
              </a:defRPr>
            </a:lvl5pPr>
            <a:lvl6pPr algn="l">
              <a:defRPr sz="1200" b="1">
                <a:solidFill>
                  <a:srgbClr val="0DBE85"/>
                </a:solidFill>
                <a:latin typeface="Arial"/>
                <a:ea typeface="Arial"/>
                <a:cs typeface="Arial"/>
              </a:defRPr>
            </a:lvl6pPr>
            <a:lvl7pPr algn="l">
              <a:defRPr sz="1200" b="1">
                <a:solidFill>
                  <a:srgbClr val="0DBE85"/>
                </a:solidFill>
                <a:latin typeface="Arial"/>
                <a:ea typeface="Arial"/>
                <a:cs typeface="Arial"/>
              </a:defRPr>
            </a:lvl7pPr>
            <a:lvl8pPr algn="l">
              <a:defRPr sz="1200" b="1">
                <a:solidFill>
                  <a:srgbClr val="0DBE85"/>
                </a:solidFill>
                <a:latin typeface="Arial"/>
                <a:ea typeface="Arial"/>
                <a:cs typeface="Arial"/>
              </a:defRPr>
            </a:lvl8pPr>
            <a:lvl9pPr algn="l">
              <a:defRPr sz="1200" b="1">
                <a:solidFill>
                  <a:srgbClr val="0DBE85"/>
                </a:solidFill>
                <a:latin typeface="Arial"/>
                <a:ea typeface="Arial"/>
                <a:cs typeface="Arial"/>
              </a:defRPr>
            </a:lvl9pPr>
          </a:lstStyle>
          <a:p>
            <a:pPr algn="l">
              <a:defRPr sz="1200" b="1">
                <a:solidFill>
                  <a:srgbClr val="0DBE85"/>
                </a:solidFill>
                <a:latin typeface="Arial"/>
                <a:ea typeface="Arial"/>
                <a:cs typeface="Arial"/>
              </a:defRPr>
            </a:pPr>
            <a:r>
              <a:rPr sz="1200" b="1">
                <a:solidFill>
                  <a:srgbClr val="0AA372"/>
                </a:solidFill>
                <a:latin typeface="JetBrains Mono"/>
                <a:ea typeface="Arial"/>
                <a:cs typeface="Arial"/>
              </a:rPr>
              <a:t>D-SHARE / PRIME</a:t>
            </a:r>
            <a:endParaRPr/>
          </a:p>
        </p:txBody>
      </p:sp>
      <p:sp>
        <p:nvSpPr>
          <p:cNvPr id="1060777457" name="prime-text-4"/>
          <p:cNvSpPr>
            <a:spLocks noGrp="1"/>
          </p:cNvSpPr>
          <p:nvPr/>
        </p:nvSpPr>
        <p:spPr bwMode="auto">
          <a:xfrm>
            <a:off x="11020424" y="6438899"/>
            <a:ext cx="561975" cy="238125"/>
          </a:xfrm>
          <a:prstGeom prst="rect">
            <a:avLst/>
          </a:prstGeom>
          <a:noFill/>
          <a:ln w="0">
            <a:solidFill/>
            <a:prstDash val="solid"/>
          </a:ln>
        </p:spPr>
        <p:txBody>
          <a:bodyPr wrap="square" lIns="0" tIns="0" rIns="0" bIns="0" anchor="t">
            <a:noAutofit/>
          </a:bodyPr>
          <a:lstStyle>
            <a:defPPr algn="r">
              <a:defRPr sz="1200" b="0">
                <a:solidFill>
                  <a:srgbClr val="5D6A67"/>
                </a:solidFill>
                <a:latin typeface="Arial"/>
                <a:ea typeface="Arial"/>
                <a:cs typeface="Arial"/>
              </a:defRPr>
            </a:defPPr>
            <a:lvl1pPr algn="r">
              <a:defRPr sz="1200" b="0">
                <a:solidFill>
                  <a:srgbClr val="5D6A67"/>
                </a:solidFill>
                <a:latin typeface="Arial"/>
                <a:ea typeface="Arial"/>
                <a:cs typeface="Arial"/>
              </a:defRPr>
            </a:lvl1pPr>
            <a:lvl2pPr algn="r">
              <a:defRPr sz="1200" b="0">
                <a:solidFill>
                  <a:srgbClr val="5D6A67"/>
                </a:solidFill>
                <a:latin typeface="Arial"/>
                <a:ea typeface="Arial"/>
                <a:cs typeface="Arial"/>
              </a:defRPr>
            </a:lvl2pPr>
            <a:lvl3pPr algn="r">
              <a:defRPr sz="1200" b="0">
                <a:solidFill>
                  <a:srgbClr val="5D6A67"/>
                </a:solidFill>
                <a:latin typeface="Arial"/>
                <a:ea typeface="Arial"/>
                <a:cs typeface="Arial"/>
              </a:defRPr>
            </a:lvl3pPr>
            <a:lvl4pPr algn="r">
              <a:defRPr sz="1200" b="0">
                <a:solidFill>
                  <a:srgbClr val="5D6A67"/>
                </a:solidFill>
                <a:latin typeface="Arial"/>
                <a:ea typeface="Arial"/>
                <a:cs typeface="Arial"/>
              </a:defRPr>
            </a:lvl4pPr>
            <a:lvl5pPr algn="r">
              <a:defRPr sz="1200" b="0">
                <a:solidFill>
                  <a:srgbClr val="5D6A67"/>
                </a:solidFill>
                <a:latin typeface="Arial"/>
                <a:ea typeface="Arial"/>
                <a:cs typeface="Arial"/>
              </a:defRPr>
            </a:lvl5pPr>
            <a:lvl6pPr algn="r">
              <a:defRPr sz="1200" b="0">
                <a:solidFill>
                  <a:srgbClr val="5D6A67"/>
                </a:solidFill>
                <a:latin typeface="Arial"/>
                <a:ea typeface="Arial"/>
                <a:cs typeface="Arial"/>
              </a:defRPr>
            </a:lvl6pPr>
            <a:lvl7pPr algn="r">
              <a:defRPr sz="1200" b="0">
                <a:solidFill>
                  <a:srgbClr val="5D6A67"/>
                </a:solidFill>
                <a:latin typeface="Arial"/>
                <a:ea typeface="Arial"/>
                <a:cs typeface="Arial"/>
              </a:defRPr>
            </a:lvl7pPr>
            <a:lvl8pPr algn="r">
              <a:defRPr sz="1200" b="0">
                <a:solidFill>
                  <a:srgbClr val="5D6A67"/>
                </a:solidFill>
                <a:latin typeface="Arial"/>
                <a:ea typeface="Arial"/>
                <a:cs typeface="Arial"/>
              </a:defRPr>
            </a:lvl8pPr>
            <a:lvl9pPr algn="r">
              <a:defRPr sz="1200" b="0">
                <a:solidFill>
                  <a:srgbClr val="5D6A67"/>
                </a:solidFill>
                <a:latin typeface="Arial"/>
                <a:ea typeface="Arial"/>
                <a:cs typeface="Arial"/>
              </a:defRPr>
            </a:lvl9pPr>
          </a:lstStyle>
          <a:p>
            <a:pPr algn="r">
              <a:defRPr sz="1200" b="0">
                <a:solidFill>
                  <a:srgbClr val="5D6A67"/>
                </a:solidFill>
                <a:latin typeface="Arial"/>
                <a:ea typeface="Arial"/>
                <a:cs typeface="Arial"/>
              </a:defRPr>
            </a:pPr>
            <a:r>
              <a:rPr sz="1200" b="0">
                <a:solidFill>
                  <a:srgbClr val="5D6A67"/>
                </a:solidFill>
                <a:latin typeface="JetBrains Mono"/>
                <a:ea typeface="Arial"/>
                <a:cs typeface="Arial"/>
              </a:rPr>
              <a:t>02</a:t>
            </a:r>
            <a:endParaRPr/>
          </a:p>
        </p:txBody>
      </p:sp>
      <p:graphicFrame>
        <p:nvGraphicFramePr>
          <p:cNvPr id="1327625907" name=""/>
          <p:cNvGraphicFramePr>
            <a:graphicFrameLocks xmlns:a="http://schemas.openxmlformats.org/drawingml/2006/main"/>
          </p:cNvGraphicFramePr>
          <p:nvPr/>
        </p:nvGraphicFramePr>
        <p:xfrm rot="0">
          <a:off x="609600" y="2209800"/>
          <a:ext cx="5715000" cy="3171825"/>
        </p:xfrm>
        <a:graphic>
          <a:graphicData uri="http://schemas.openxmlformats.org/drawingml/2006/table">
            <a:tbl>
              <a:tblPr firstRow="1" firstCol="0" lastRow="0" lastCol="0" bandRow="0" bandCol="0"/>
              <a:tblGrid>
                <a:gridCol w="2647949"/>
                <a:gridCol w="1143000"/>
                <a:gridCol w="1924050"/>
              </a:tblGrid>
              <a:tr h="453118">
                <a:tc>
                  <a:txBody>
                    <a:bodyPr/>
                    <a:p>
                      <a:pPr>
                        <a:defRPr/>
                      </a:pPr>
                      <a:r>
                        <a:rPr sz="1750" b="1">
                          <a:solidFill>
                            <a:srgbClr val="FFFFFF"/>
                          </a:solidFill>
                          <a:latin typeface="Outfit"/>
                          <a:ea typeface="Arial"/>
                          <a:cs typeface="Arial"/>
                        </a:rPr>
                        <a:t>Company</a:t>
                      </a:r>
                      <a:endParaRPr/>
                    </a:p>
                  </a:txBody>
                  <a:tcPr marL="91440" marR="91440" marT="45720" marB="45720" anchor="ctr">
                    <a:lnL w="9525" algn="ctr">
                      <a:solidFill>
                        <a:srgbClr val="0DBE85"/>
                      </a:solidFill>
                    </a:lnL>
                    <a:lnR w="9525" algn="ctr">
                      <a:solidFill>
                        <a:srgbClr val="0DBE85"/>
                      </a:solidFill>
                    </a:lnR>
                    <a:lnT w="9525" algn="ctr">
                      <a:solidFill>
                        <a:srgbClr val="0DBE85"/>
                      </a:solidFill>
                    </a:lnT>
                    <a:lnB w="9525" algn="ctr">
                      <a:solidFill>
                        <a:srgbClr val="0DBE85"/>
                      </a:solidFill>
                    </a:lnB>
                    <a:solidFill>
                      <a:srgbClr val="0AA372"/>
                    </a:solidFill>
                  </a:tcPr>
                </a:tc>
                <a:tc>
                  <a:txBody>
                    <a:bodyPr/>
                    <a:p>
                      <a:pPr>
                        <a:defRPr/>
                      </a:pPr>
                      <a:r>
                        <a:rPr sz="1750" b="1">
                          <a:solidFill>
                            <a:srgbClr val="FFFFFF"/>
                          </a:solidFill>
                          <a:latin typeface="Outfit"/>
                          <a:ea typeface="Arial"/>
                          <a:cs typeface="Arial"/>
                        </a:rPr>
                        <a:t>Ticker</a:t>
                      </a:r>
                      <a:endParaRPr/>
                    </a:p>
                  </a:txBody>
                  <a:tcPr marL="91440" marR="91440" marT="45720" marB="45720" anchor="ctr">
                    <a:lnR w="9525" algn="ctr">
                      <a:solidFill>
                        <a:srgbClr val="0DBE85"/>
                      </a:solidFill>
                    </a:lnR>
                    <a:lnT w="9525" algn="ctr">
                      <a:solidFill>
                        <a:srgbClr val="0DBE85"/>
                      </a:solidFill>
                    </a:lnT>
                    <a:lnB w="9525" algn="ctr">
                      <a:solidFill>
                        <a:srgbClr val="0DBE85"/>
                      </a:solidFill>
                    </a:lnB>
                    <a:solidFill>
                      <a:srgbClr val="0AA372"/>
                    </a:solidFill>
                    <a:lnL w="12000">
                      <a:solidFill>
                        <a:srgbClr val="0DBE85"/>
                      </a:solidFill>
                      <a:prstDash val="solid"/>
                    </a:lnL>
                  </a:tcPr>
                </a:tc>
                <a:tc>
                  <a:txBody>
                    <a:bodyPr/>
                    <a:p>
                      <a:pPr>
                        <a:defRPr/>
                      </a:pPr>
                      <a:r>
                        <a:rPr sz="1750" b="1">
                          <a:solidFill>
                            <a:srgbClr val="FFFFFF"/>
                          </a:solidFill>
                          <a:latin typeface="Outfit"/>
                          <a:ea typeface="Arial"/>
                          <a:cs typeface="Arial"/>
                        </a:rPr>
                        <a:t>US$ / share</a:t>
                      </a:r>
                      <a:endParaRPr/>
                    </a:p>
                  </a:txBody>
                  <a:tcPr marL="91440" marR="91440" marT="45720" marB="45720" anchor="ctr">
                    <a:lnR w="9525" algn="ctr">
                      <a:solidFill>
                        <a:srgbClr val="0DBE85"/>
                      </a:solidFill>
                    </a:lnR>
                    <a:lnT w="9525" algn="ctr">
                      <a:solidFill>
                        <a:srgbClr val="0DBE85"/>
                      </a:solidFill>
                    </a:lnT>
                    <a:lnB w="9525" algn="ctr">
                      <a:solidFill>
                        <a:srgbClr val="0DBE85"/>
                      </a:solidFill>
                    </a:lnB>
                    <a:solidFill>
                      <a:srgbClr val="0AA372"/>
                    </a:solidFill>
                    <a:lnL w="12000">
                      <a:solidFill>
                        <a:srgbClr val="0DBE85"/>
                      </a:solidFill>
                      <a:prstDash val="solid"/>
                    </a:lnL>
                  </a:tcPr>
                </a:tc>
              </a:tr>
              <a:tr h="453118">
                <a:tc>
                  <a:txBody>
                    <a:bodyPr/>
                    <a:p>
                      <a:pPr>
                        <a:defRPr/>
                      </a:pPr>
                      <a:r>
                        <a:rPr sz="1800" b="0">
                          <a:solidFill>
                            <a:srgbClr val="18201D"/>
                          </a:solidFill>
                          <a:latin typeface="Plus Jakarta Sans"/>
                          <a:ea typeface="Arial"/>
                          <a:cs typeface="Arial"/>
                        </a:rPr>
                        <a:t>NVR</a:t>
                      </a:r>
                      <a:endParaRPr/>
                    </a:p>
                  </a:txBody>
                  <a:tcPr marL="91440" marR="91440" marT="45720" marB="45720" anchor="ctr">
                    <a:lnL w="9525" algn="ctr">
                      <a:solidFill>
                        <a:srgbClr val="D7DFDA"/>
                      </a:solidFill>
                    </a:lnL>
                    <a:lnR w="9525" algn="ctr">
                      <a:solidFill>
                        <a:srgbClr val="D7DFDA"/>
                      </a:solidFill>
                    </a:lnR>
                    <a:lnB w="9525" algn="ctr">
                      <a:solidFill>
                        <a:srgbClr val="D7DFDA"/>
                      </a:solidFill>
                    </a:lnB>
                    <a:solidFill>
                      <a:srgbClr val="F9FAFB"/>
                    </a:solidFill>
                    <a:lnT w="9525">
                      <a:solidFill>
                        <a:srgbClr val="D7DFDA"/>
                      </a:solidFill>
                      <a:prstDash val="solid"/>
                    </a:lnT>
                  </a:tcPr>
                </a:tc>
                <a:tc>
                  <a:txBody>
                    <a:bodyPr/>
                    <a:p>
                      <a:pPr>
                        <a:defRPr/>
                      </a:pPr>
                      <a:r>
                        <a:rPr sz="1800" b="0">
                          <a:solidFill>
                            <a:srgbClr val="18201D"/>
                          </a:solidFill>
                          <a:latin typeface="JetBrains Mono"/>
                          <a:ea typeface="Arial"/>
                          <a:cs typeface="Arial"/>
                        </a:rPr>
                        <a:t>NVR</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c>
                  <a:txBody>
                    <a:bodyPr/>
                    <a:p>
                      <a:pPr>
                        <a:defRPr/>
                      </a:pPr>
                      <a:r>
                        <a:rPr sz="1800" b="0">
                          <a:solidFill>
                            <a:srgbClr val="18201D"/>
                          </a:solidFill>
                          <a:latin typeface="Plus Jakarta Sans"/>
                          <a:ea typeface="Arial"/>
                          <a:cs typeface="Arial"/>
                        </a:rPr>
                        <a:t>5,958.56</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r>
              <a:tr h="453118">
                <a:tc>
                  <a:txBody>
                    <a:bodyPr/>
                    <a:p>
                      <a:pPr>
                        <a:defRPr/>
                      </a:pPr>
                      <a:r>
                        <a:rPr sz="1800" b="0">
                          <a:solidFill>
                            <a:srgbClr val="18201D"/>
                          </a:solidFill>
                          <a:latin typeface="Plus Jakarta Sans"/>
                          <a:ea typeface="Arial"/>
                          <a:cs typeface="Arial"/>
                        </a:rPr>
                        <a:t>AutoZone</a:t>
                      </a:r>
                      <a:endParaRPr/>
                    </a:p>
                  </a:txBody>
                  <a:tcPr marL="91440" marR="91440" marT="45720" marB="45720" anchor="ctr">
                    <a:lnL w="9525" algn="ctr">
                      <a:solidFill>
                        <a:srgbClr val="D7DFDA"/>
                      </a:solidFill>
                    </a:lnL>
                    <a:lnR w="9525" algn="ctr">
                      <a:solidFill>
                        <a:srgbClr val="D7DFDA"/>
                      </a:solidFill>
                    </a:lnR>
                    <a:lnB w="9525" algn="ctr">
                      <a:solidFill>
                        <a:srgbClr val="D7DFDA"/>
                      </a:solidFill>
                    </a:lnB>
                    <a:solidFill>
                      <a:srgbClr val="FFFFFF"/>
                    </a:solidFill>
                    <a:lnT w="9525">
                      <a:solidFill>
                        <a:srgbClr val="D7DFDA"/>
                      </a:solidFill>
                      <a:prstDash val="solid"/>
                    </a:lnT>
                  </a:tcPr>
                </a:tc>
                <a:tc>
                  <a:txBody>
                    <a:bodyPr/>
                    <a:p>
                      <a:pPr>
                        <a:defRPr/>
                      </a:pPr>
                      <a:r>
                        <a:rPr sz="1800" b="0">
                          <a:solidFill>
                            <a:srgbClr val="18201D"/>
                          </a:solidFill>
                          <a:latin typeface="JetBrains Mono"/>
                          <a:ea typeface="Arial"/>
                          <a:cs typeface="Arial"/>
                        </a:rPr>
                        <a:t>AZO</a:t>
                      </a:r>
                      <a:endParaRPr/>
                    </a:p>
                  </a:txBody>
                  <a:tcPr marL="91440" marR="91440" marT="45720" marB="45720" anchor="ctr">
                    <a:lnR w="9525" algn="ctr">
                      <a:solidFill>
                        <a:srgbClr val="D7DFDA"/>
                      </a:solidFill>
                    </a:lnR>
                    <a:lnB w="9525" algn="ctr">
                      <a:solidFill>
                        <a:srgbClr val="D7DFDA"/>
                      </a:solidFill>
                    </a:lnB>
                    <a:solidFill>
                      <a:srgbClr val="FFFFFF"/>
                    </a:solidFill>
                    <a:lnL w="9525">
                      <a:solidFill>
                        <a:srgbClr val="D7DFDA"/>
                      </a:solidFill>
                      <a:prstDash val="solid"/>
                    </a:lnL>
                    <a:lnT w="9525">
                      <a:solidFill>
                        <a:srgbClr val="D7DFDA"/>
                      </a:solidFill>
                      <a:prstDash val="solid"/>
                    </a:lnT>
                  </a:tcPr>
                </a:tc>
                <a:tc>
                  <a:txBody>
                    <a:bodyPr/>
                    <a:p>
                      <a:pPr>
                        <a:defRPr/>
                      </a:pPr>
                      <a:r>
                        <a:rPr sz="1800" b="0">
                          <a:solidFill>
                            <a:srgbClr val="18201D"/>
                          </a:solidFill>
                          <a:latin typeface="Plus Jakarta Sans"/>
                          <a:ea typeface="Arial"/>
                          <a:cs typeface="Arial"/>
                        </a:rPr>
                        <a:t>3,169.82</a:t>
                      </a:r>
                      <a:endParaRPr/>
                    </a:p>
                  </a:txBody>
                  <a:tcPr marL="91440" marR="91440" marT="45720" marB="45720" anchor="ctr">
                    <a:lnR w="9525" algn="ctr">
                      <a:solidFill>
                        <a:srgbClr val="D7DFDA"/>
                      </a:solidFill>
                    </a:lnR>
                    <a:lnB w="9525" algn="ctr">
                      <a:solidFill>
                        <a:srgbClr val="D7DFDA"/>
                      </a:solidFill>
                    </a:lnB>
                    <a:solidFill>
                      <a:srgbClr val="FFFFFF"/>
                    </a:solidFill>
                    <a:lnL w="9525">
                      <a:solidFill>
                        <a:srgbClr val="D7DFDA"/>
                      </a:solidFill>
                      <a:prstDash val="solid"/>
                    </a:lnL>
                    <a:lnT w="9525">
                      <a:solidFill>
                        <a:srgbClr val="D7DFDA"/>
                      </a:solidFill>
                      <a:prstDash val="solid"/>
                    </a:lnT>
                  </a:tcPr>
                </a:tc>
              </a:tr>
              <a:tr h="453118">
                <a:tc>
                  <a:txBody>
                    <a:bodyPr/>
                    <a:p>
                      <a:pPr>
                        <a:defRPr/>
                      </a:pPr>
                      <a:r>
                        <a:rPr sz="1800" b="0">
                          <a:solidFill>
                            <a:srgbClr val="18201D"/>
                          </a:solidFill>
                          <a:latin typeface="Plus Jakarta Sans"/>
                          <a:ea typeface="Arial"/>
                          <a:cs typeface="Arial"/>
                        </a:rPr>
                        <a:t>Eli Lilly</a:t>
                      </a:r>
                      <a:endParaRPr/>
                    </a:p>
                  </a:txBody>
                  <a:tcPr marL="91440" marR="91440" marT="45720" marB="45720" anchor="ctr">
                    <a:lnL w="9525" algn="ctr">
                      <a:solidFill>
                        <a:srgbClr val="D7DFDA"/>
                      </a:solidFill>
                    </a:lnL>
                    <a:lnR w="9525" algn="ctr">
                      <a:solidFill>
                        <a:srgbClr val="D7DFDA"/>
                      </a:solidFill>
                    </a:lnR>
                    <a:lnB w="9525" algn="ctr">
                      <a:solidFill>
                        <a:srgbClr val="D7DFDA"/>
                      </a:solidFill>
                    </a:lnB>
                    <a:solidFill>
                      <a:srgbClr val="F9FAFB"/>
                    </a:solidFill>
                    <a:lnT w="9525">
                      <a:solidFill>
                        <a:srgbClr val="D7DFDA"/>
                      </a:solidFill>
                      <a:prstDash val="solid"/>
                    </a:lnT>
                  </a:tcPr>
                </a:tc>
                <a:tc>
                  <a:txBody>
                    <a:bodyPr/>
                    <a:p>
                      <a:pPr>
                        <a:defRPr/>
                      </a:pPr>
                      <a:r>
                        <a:rPr sz="1800" b="0">
                          <a:solidFill>
                            <a:srgbClr val="18201D"/>
                          </a:solidFill>
                          <a:latin typeface="JetBrains Mono"/>
                          <a:ea typeface="Arial"/>
                          <a:cs typeface="Arial"/>
                        </a:rPr>
                        <a:t>LLY</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c>
                  <a:txBody>
                    <a:bodyPr/>
                    <a:p>
                      <a:pPr>
                        <a:defRPr/>
                      </a:pPr>
                      <a:r>
                        <a:rPr sz="1800" b="0">
                          <a:solidFill>
                            <a:srgbClr val="18201D"/>
                          </a:solidFill>
                          <a:latin typeface="Plus Jakarta Sans"/>
                          <a:ea typeface="Arial"/>
                          <a:cs typeface="Arial"/>
                        </a:rPr>
                        <a:t>1,417.54</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r>
              <a:tr h="453118">
                <a:tc>
                  <a:txBody>
                    <a:bodyPr/>
                    <a:p>
                      <a:pPr>
                        <a:defRPr/>
                      </a:pPr>
                      <a:r>
                        <a:rPr sz="1800" b="0">
                          <a:solidFill>
                            <a:srgbClr val="18201D"/>
                          </a:solidFill>
                          <a:latin typeface="Plus Jakarta Sans"/>
                          <a:ea typeface="Arial"/>
                          <a:cs typeface="Arial"/>
                        </a:rPr>
                        <a:t>W.W. Grainger</a:t>
                      </a:r>
                      <a:endParaRPr/>
                    </a:p>
                  </a:txBody>
                  <a:tcPr marL="91440" marR="91440" marT="45720" marB="45720" anchor="ctr">
                    <a:lnL w="9525" algn="ctr">
                      <a:solidFill>
                        <a:srgbClr val="D7DFDA"/>
                      </a:solidFill>
                    </a:lnL>
                    <a:lnR w="9525" algn="ctr">
                      <a:solidFill>
                        <a:srgbClr val="D7DFDA"/>
                      </a:solidFill>
                    </a:lnR>
                    <a:lnB w="9525" algn="ctr">
                      <a:solidFill>
                        <a:srgbClr val="D7DFDA"/>
                      </a:solidFill>
                    </a:lnB>
                    <a:solidFill>
                      <a:srgbClr val="FFFFFF"/>
                    </a:solidFill>
                    <a:lnT w="9525">
                      <a:solidFill>
                        <a:srgbClr val="D7DFDA"/>
                      </a:solidFill>
                      <a:prstDash val="solid"/>
                    </a:lnT>
                  </a:tcPr>
                </a:tc>
                <a:tc>
                  <a:txBody>
                    <a:bodyPr/>
                    <a:p>
                      <a:pPr>
                        <a:defRPr/>
                      </a:pPr>
                      <a:r>
                        <a:rPr sz="1800" b="0">
                          <a:solidFill>
                            <a:srgbClr val="18201D"/>
                          </a:solidFill>
                          <a:latin typeface="JetBrains Mono"/>
                          <a:ea typeface="Arial"/>
                          <a:cs typeface="Arial"/>
                        </a:rPr>
                        <a:t>GWW</a:t>
                      </a:r>
                      <a:endParaRPr/>
                    </a:p>
                  </a:txBody>
                  <a:tcPr marL="91440" marR="91440" marT="45720" marB="45720" anchor="ctr">
                    <a:lnR w="9525" algn="ctr">
                      <a:solidFill>
                        <a:srgbClr val="D7DFDA"/>
                      </a:solidFill>
                    </a:lnR>
                    <a:lnB w="9525" algn="ctr">
                      <a:solidFill>
                        <a:srgbClr val="D7DFDA"/>
                      </a:solidFill>
                    </a:lnB>
                    <a:solidFill>
                      <a:srgbClr val="FFFFFF"/>
                    </a:solidFill>
                    <a:lnL w="9525">
                      <a:solidFill>
                        <a:srgbClr val="D7DFDA"/>
                      </a:solidFill>
                      <a:prstDash val="solid"/>
                    </a:lnL>
                    <a:lnT w="9525">
                      <a:solidFill>
                        <a:srgbClr val="D7DFDA"/>
                      </a:solidFill>
                      <a:prstDash val="solid"/>
                    </a:lnT>
                  </a:tcPr>
                </a:tc>
                <a:tc>
                  <a:txBody>
                    <a:bodyPr/>
                    <a:p>
                      <a:pPr>
                        <a:defRPr/>
                      </a:pPr>
                      <a:r>
                        <a:rPr sz="1800" b="0">
                          <a:solidFill>
                            <a:srgbClr val="18201D"/>
                          </a:solidFill>
                          <a:latin typeface="Plus Jakarta Sans"/>
                          <a:ea typeface="Arial"/>
                          <a:cs typeface="Arial"/>
                        </a:rPr>
                        <a:t>1,359.17</a:t>
                      </a:r>
                      <a:endParaRPr/>
                    </a:p>
                  </a:txBody>
                  <a:tcPr marL="91440" marR="91440" marT="45720" marB="45720" anchor="ctr">
                    <a:lnR w="9525" algn="ctr">
                      <a:solidFill>
                        <a:srgbClr val="D7DFDA"/>
                      </a:solidFill>
                    </a:lnR>
                    <a:lnB w="9525" algn="ctr">
                      <a:solidFill>
                        <a:srgbClr val="D7DFDA"/>
                      </a:solidFill>
                    </a:lnB>
                    <a:solidFill>
                      <a:srgbClr val="FFFFFF"/>
                    </a:solidFill>
                    <a:lnL w="9525">
                      <a:solidFill>
                        <a:srgbClr val="D7DFDA"/>
                      </a:solidFill>
                      <a:prstDash val="solid"/>
                    </a:lnL>
                    <a:lnT w="9525">
                      <a:solidFill>
                        <a:srgbClr val="D7DFDA"/>
                      </a:solidFill>
                      <a:prstDash val="solid"/>
                    </a:lnT>
                  </a:tcPr>
                </a:tc>
              </a:tr>
              <a:tr h="453118">
                <a:tc>
                  <a:txBody>
                    <a:bodyPr/>
                    <a:p>
                      <a:pPr>
                        <a:defRPr/>
                      </a:pPr>
                      <a:r>
                        <a:rPr sz="1800" b="0">
                          <a:solidFill>
                            <a:srgbClr val="18201D"/>
                          </a:solidFill>
                          <a:latin typeface="Plus Jakarta Sans"/>
                          <a:ea typeface="Arial"/>
                          <a:cs typeface="Arial"/>
                        </a:rPr>
                        <a:t>BlackRock</a:t>
                      </a:r>
                      <a:endParaRPr/>
                    </a:p>
                  </a:txBody>
                  <a:tcPr marL="91440" marR="91440" marT="45720" marB="45720" anchor="ctr">
                    <a:lnL w="9525" algn="ctr">
                      <a:solidFill>
                        <a:srgbClr val="D7DFDA"/>
                      </a:solidFill>
                    </a:lnL>
                    <a:lnR w="9525" algn="ctr">
                      <a:solidFill>
                        <a:srgbClr val="D7DFDA"/>
                      </a:solidFill>
                    </a:lnR>
                    <a:lnB w="9525" algn="ctr">
                      <a:solidFill>
                        <a:srgbClr val="D7DFDA"/>
                      </a:solidFill>
                    </a:lnB>
                    <a:solidFill>
                      <a:srgbClr val="F9FAFB"/>
                    </a:solidFill>
                    <a:lnT w="9525">
                      <a:solidFill>
                        <a:srgbClr val="D7DFDA"/>
                      </a:solidFill>
                      <a:prstDash val="solid"/>
                    </a:lnT>
                  </a:tcPr>
                </a:tc>
                <a:tc>
                  <a:txBody>
                    <a:bodyPr/>
                    <a:p>
                      <a:pPr>
                        <a:defRPr/>
                      </a:pPr>
                      <a:r>
                        <a:rPr sz="1800" b="0">
                          <a:solidFill>
                            <a:srgbClr val="18201D"/>
                          </a:solidFill>
                          <a:latin typeface="JetBrains Mono"/>
                          <a:ea typeface="Arial"/>
                          <a:cs typeface="Arial"/>
                        </a:rPr>
                        <a:t>BLK</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c>
                  <a:txBody>
                    <a:bodyPr/>
                    <a:p>
                      <a:pPr>
                        <a:defRPr/>
                      </a:pPr>
                      <a:r>
                        <a:rPr sz="1800" b="0">
                          <a:solidFill>
                            <a:srgbClr val="18201D"/>
                          </a:solidFill>
                          <a:latin typeface="Plus Jakarta Sans"/>
                          <a:ea typeface="Arial"/>
                          <a:cs typeface="Arial"/>
                        </a:rPr>
                        <a:t>1,147.54</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r>
              <a:tr h="453118">
                <a:tc>
                  <a:txBody>
                    <a:bodyPr/>
                    <a:p>
                      <a:pPr>
                        <a:defRPr/>
                      </a:pPr>
                      <a:r>
                        <a:rPr sz="1800" b="0">
                          <a:solidFill>
                            <a:srgbClr val="18201D"/>
                          </a:solidFill>
                          <a:latin typeface="Plus Jakarta Sans"/>
                          <a:ea typeface="Arial"/>
                          <a:cs typeface="Arial"/>
                        </a:rPr>
                        <a:t>Costco</a:t>
                      </a:r>
                      <a:endParaRPr/>
                    </a:p>
                  </a:txBody>
                  <a:tcPr marL="91440" marR="91440" marT="45720" marB="45720" anchor="ctr">
                    <a:lnL w="9525" algn="ctr">
                      <a:solidFill>
                        <a:srgbClr val="D7DFDA"/>
                      </a:solidFill>
                    </a:lnL>
                    <a:lnR w="9525" algn="ctr">
                      <a:solidFill>
                        <a:srgbClr val="D7DFDA"/>
                      </a:solidFill>
                    </a:lnR>
                    <a:lnB w="9525" algn="ctr">
                      <a:solidFill>
                        <a:srgbClr val="D7DFDA"/>
                      </a:solidFill>
                    </a:lnB>
                    <a:solidFill>
                      <a:srgbClr val="FFFFFF"/>
                    </a:solidFill>
                    <a:lnT w="9525">
                      <a:solidFill>
                        <a:srgbClr val="D7DFDA"/>
                      </a:solidFill>
                      <a:prstDash val="solid"/>
                    </a:lnT>
                  </a:tcPr>
                </a:tc>
                <a:tc>
                  <a:txBody>
                    <a:bodyPr/>
                    <a:p>
                      <a:pPr>
                        <a:defRPr/>
                      </a:pPr>
                      <a:r>
                        <a:rPr sz="1800" b="0">
                          <a:solidFill>
                            <a:srgbClr val="18201D"/>
                          </a:solidFill>
                          <a:latin typeface="JetBrains Mono"/>
                          <a:ea typeface="Arial"/>
                          <a:cs typeface="Arial"/>
                        </a:rPr>
                        <a:t>COST</a:t>
                      </a:r>
                      <a:endParaRPr/>
                    </a:p>
                  </a:txBody>
                  <a:tcPr marL="91440" marR="91440" marT="45720" marB="45720" anchor="ctr">
                    <a:lnR w="9525" algn="ctr">
                      <a:solidFill>
                        <a:srgbClr val="D7DFDA"/>
                      </a:solidFill>
                    </a:lnR>
                    <a:lnB w="9525" algn="ctr">
                      <a:solidFill>
                        <a:srgbClr val="D7DFDA"/>
                      </a:solidFill>
                    </a:lnB>
                    <a:solidFill>
                      <a:srgbClr val="FFFFFF"/>
                    </a:solidFill>
                    <a:lnL w="9525">
                      <a:solidFill>
                        <a:srgbClr val="D7DFDA"/>
                      </a:solidFill>
                      <a:prstDash val="solid"/>
                    </a:lnL>
                    <a:lnT w="9525">
                      <a:solidFill>
                        <a:srgbClr val="D7DFDA"/>
                      </a:solidFill>
                      <a:prstDash val="solid"/>
                    </a:lnT>
                  </a:tcPr>
                </a:tc>
                <a:tc>
                  <a:txBody>
                    <a:bodyPr/>
                    <a:p>
                      <a:pPr>
                        <a:defRPr/>
                      </a:pPr>
                      <a:r>
                        <a:rPr sz="1800" b="0">
                          <a:solidFill>
                            <a:srgbClr val="18201D"/>
                          </a:solidFill>
                          <a:latin typeface="Plus Jakarta Sans"/>
                          <a:ea typeface="Arial"/>
                          <a:cs typeface="Arial"/>
                        </a:rPr>
                        <a:t>1,012.28</a:t>
                      </a:r>
                      <a:endParaRPr/>
                    </a:p>
                  </a:txBody>
                  <a:tcPr marL="91440" marR="91440" marT="45720" marB="45720" anchor="ctr">
                    <a:lnR w="9525" algn="ctr">
                      <a:solidFill>
                        <a:srgbClr val="D7DFDA"/>
                      </a:solidFill>
                    </a:lnR>
                    <a:lnB w="9525" algn="ctr">
                      <a:solidFill>
                        <a:srgbClr val="D7DFDA"/>
                      </a:solidFill>
                    </a:lnB>
                    <a:solidFill>
                      <a:srgbClr val="FFFFFF"/>
                    </a:solidFill>
                    <a:lnL w="9525">
                      <a:solidFill>
                        <a:srgbClr val="D7DFDA"/>
                      </a:solidFill>
                      <a:prstDash val="solid"/>
                    </a:lnL>
                    <a:lnT w="9525">
                      <a:solidFill>
                        <a:srgbClr val="D7DFDA"/>
                      </a:solidFill>
                      <a:prstDash val="solid"/>
                    </a:lnT>
                  </a:tcPr>
                </a:tc>
              </a:tr>
            </a:tbl>
          </a:graphicData>
        </a:graphic>
      </p:graphicFrame>
      <p:sp>
        <p:nvSpPr>
          <p:cNvPr id="918231252" name="prime-text-5"/>
          <p:cNvSpPr>
            <a:spLocks noGrp="1"/>
          </p:cNvSpPr>
          <p:nvPr/>
        </p:nvSpPr>
        <p:spPr bwMode="auto">
          <a:xfrm>
            <a:off x="6953250" y="2247900"/>
            <a:ext cx="4629150" cy="1076325"/>
          </a:xfrm>
          <a:prstGeom prst="rect">
            <a:avLst/>
          </a:prstGeom>
          <a:noFill/>
          <a:ln w="0">
            <a:solidFill/>
            <a:prstDash val="solid"/>
          </a:ln>
        </p:spPr>
        <p:txBody>
          <a:bodyPr wrap="square" lIns="0" tIns="0" rIns="0" bIns="0" anchor="t">
            <a:noAutofit/>
          </a:bodyPr>
          <a:lstStyle>
            <a:defPPr algn="l">
              <a:defRPr sz="2350" b="1">
                <a:solidFill>
                  <a:srgbClr val="0DBE85"/>
                </a:solidFill>
                <a:latin typeface="Arial"/>
                <a:ea typeface="Arial"/>
                <a:cs typeface="Arial"/>
              </a:defRPr>
            </a:defPPr>
            <a:lvl1pPr algn="l">
              <a:defRPr sz="2350" b="1">
                <a:solidFill>
                  <a:srgbClr val="0DBE85"/>
                </a:solidFill>
                <a:latin typeface="Arial"/>
                <a:ea typeface="Arial"/>
                <a:cs typeface="Arial"/>
              </a:defRPr>
            </a:lvl1pPr>
            <a:lvl2pPr algn="l">
              <a:defRPr sz="2350" b="1">
                <a:solidFill>
                  <a:srgbClr val="0DBE85"/>
                </a:solidFill>
                <a:latin typeface="Arial"/>
                <a:ea typeface="Arial"/>
                <a:cs typeface="Arial"/>
              </a:defRPr>
            </a:lvl2pPr>
            <a:lvl3pPr algn="l">
              <a:defRPr sz="2350" b="1">
                <a:solidFill>
                  <a:srgbClr val="0DBE85"/>
                </a:solidFill>
                <a:latin typeface="Arial"/>
                <a:ea typeface="Arial"/>
                <a:cs typeface="Arial"/>
              </a:defRPr>
            </a:lvl3pPr>
            <a:lvl4pPr algn="l">
              <a:defRPr sz="2350" b="1">
                <a:solidFill>
                  <a:srgbClr val="0DBE85"/>
                </a:solidFill>
                <a:latin typeface="Arial"/>
                <a:ea typeface="Arial"/>
                <a:cs typeface="Arial"/>
              </a:defRPr>
            </a:lvl4pPr>
            <a:lvl5pPr algn="l">
              <a:defRPr sz="2350" b="1">
                <a:solidFill>
                  <a:srgbClr val="0DBE85"/>
                </a:solidFill>
                <a:latin typeface="Arial"/>
                <a:ea typeface="Arial"/>
                <a:cs typeface="Arial"/>
              </a:defRPr>
            </a:lvl5pPr>
            <a:lvl6pPr algn="l">
              <a:defRPr sz="2350" b="1">
                <a:solidFill>
                  <a:srgbClr val="0DBE85"/>
                </a:solidFill>
                <a:latin typeface="Arial"/>
                <a:ea typeface="Arial"/>
                <a:cs typeface="Arial"/>
              </a:defRPr>
            </a:lvl6pPr>
            <a:lvl7pPr algn="l">
              <a:defRPr sz="2350" b="1">
                <a:solidFill>
                  <a:srgbClr val="0DBE85"/>
                </a:solidFill>
                <a:latin typeface="Arial"/>
                <a:ea typeface="Arial"/>
                <a:cs typeface="Arial"/>
              </a:defRPr>
            </a:lvl7pPr>
            <a:lvl8pPr algn="l">
              <a:defRPr sz="2350" b="1">
                <a:solidFill>
                  <a:srgbClr val="0DBE85"/>
                </a:solidFill>
                <a:latin typeface="Arial"/>
                <a:ea typeface="Arial"/>
                <a:cs typeface="Arial"/>
              </a:defRPr>
            </a:lvl8pPr>
            <a:lvl9pPr algn="l">
              <a:defRPr sz="2350" b="1">
                <a:solidFill>
                  <a:srgbClr val="0DBE85"/>
                </a:solidFill>
                <a:latin typeface="Arial"/>
                <a:ea typeface="Arial"/>
                <a:cs typeface="Arial"/>
              </a:defRPr>
            </a:lvl9pPr>
          </a:lstStyle>
          <a:p>
            <a:pPr algn="l">
              <a:defRPr sz="2350" b="1">
                <a:solidFill>
                  <a:srgbClr val="0DBE85"/>
                </a:solidFill>
                <a:latin typeface="Arial"/>
                <a:ea typeface="Arial"/>
                <a:cs typeface="Arial"/>
              </a:defRPr>
            </a:pPr>
            <a:r>
              <a:rPr sz="2350" b="1">
                <a:solidFill>
                  <a:srgbClr val="0DBE85"/>
                </a:solidFill>
                <a:latin typeface="Outfit"/>
                <a:ea typeface="Arial"/>
                <a:cs typeface="Arial"/>
              </a:rPr>
              <a:t>A US$300 budget cannot buy</a:t>
            </a:r>
            <a:endParaRPr/>
          </a:p>
          <a:p>
            <a:pPr algn="l">
              <a:defRPr sz="2350" b="1">
                <a:solidFill>
                  <a:srgbClr val="0DBE85"/>
                </a:solidFill>
                <a:latin typeface="Arial"/>
                <a:ea typeface="Arial"/>
                <a:cs typeface="Arial"/>
              </a:defRPr>
            </a:pPr>
            <a:r>
              <a:rPr sz="2350" b="1">
                <a:solidFill>
                  <a:srgbClr val="0DBE85"/>
                </a:solidFill>
                <a:latin typeface="Outfit"/>
                <a:ea typeface="Arial"/>
                <a:cs typeface="Arial"/>
              </a:rPr>
              <a:t>one whole share in these examples</a:t>
            </a:r>
            <a:endParaRPr/>
          </a:p>
        </p:txBody>
      </p:sp>
      <p:sp>
        <p:nvSpPr>
          <p:cNvPr id="914272633" name="prime-text-6"/>
          <p:cNvSpPr>
            <a:spLocks noGrp="1"/>
          </p:cNvSpPr>
          <p:nvPr/>
        </p:nvSpPr>
        <p:spPr bwMode="auto">
          <a:xfrm>
            <a:off x="6953250" y="3667125"/>
            <a:ext cx="4629150" cy="428625"/>
          </a:xfrm>
          <a:prstGeom prst="rect">
            <a:avLst/>
          </a:prstGeom>
          <a:noFill/>
          <a:ln w="0">
            <a:solidFill/>
            <a:prstDash val="solid"/>
          </a:ln>
        </p:spPr>
        <p:txBody>
          <a:bodyPr wrap="square" lIns="0" tIns="0" rIns="0" bIns="0" anchor="t">
            <a:noAutofit/>
          </a:bodyPr>
          <a:lstStyle>
            <a:defPPr algn="l">
              <a:defRPr sz="2200" b="1">
                <a:solidFill>
                  <a:srgbClr val="D97706"/>
                </a:solidFill>
                <a:latin typeface="Arial"/>
                <a:ea typeface="Arial"/>
                <a:cs typeface="Arial"/>
              </a:defRPr>
            </a:defPPr>
            <a:lvl1pPr algn="l">
              <a:defRPr sz="2200" b="1">
                <a:solidFill>
                  <a:srgbClr val="D97706"/>
                </a:solidFill>
                <a:latin typeface="Arial"/>
                <a:ea typeface="Arial"/>
                <a:cs typeface="Arial"/>
              </a:defRPr>
            </a:lvl1pPr>
            <a:lvl2pPr algn="l">
              <a:defRPr sz="2200" b="1">
                <a:solidFill>
                  <a:srgbClr val="D97706"/>
                </a:solidFill>
                <a:latin typeface="Arial"/>
                <a:ea typeface="Arial"/>
                <a:cs typeface="Arial"/>
              </a:defRPr>
            </a:lvl2pPr>
            <a:lvl3pPr algn="l">
              <a:defRPr sz="2200" b="1">
                <a:solidFill>
                  <a:srgbClr val="D97706"/>
                </a:solidFill>
                <a:latin typeface="Arial"/>
                <a:ea typeface="Arial"/>
                <a:cs typeface="Arial"/>
              </a:defRPr>
            </a:lvl3pPr>
            <a:lvl4pPr algn="l">
              <a:defRPr sz="2200" b="1">
                <a:solidFill>
                  <a:srgbClr val="D97706"/>
                </a:solidFill>
                <a:latin typeface="Arial"/>
                <a:ea typeface="Arial"/>
                <a:cs typeface="Arial"/>
              </a:defRPr>
            </a:lvl4pPr>
            <a:lvl5pPr algn="l">
              <a:defRPr sz="2200" b="1">
                <a:solidFill>
                  <a:srgbClr val="D97706"/>
                </a:solidFill>
                <a:latin typeface="Arial"/>
                <a:ea typeface="Arial"/>
                <a:cs typeface="Arial"/>
              </a:defRPr>
            </a:lvl5pPr>
            <a:lvl6pPr algn="l">
              <a:defRPr sz="2200" b="1">
                <a:solidFill>
                  <a:srgbClr val="D97706"/>
                </a:solidFill>
                <a:latin typeface="Arial"/>
                <a:ea typeface="Arial"/>
                <a:cs typeface="Arial"/>
              </a:defRPr>
            </a:lvl6pPr>
            <a:lvl7pPr algn="l">
              <a:defRPr sz="2200" b="1">
                <a:solidFill>
                  <a:srgbClr val="D97706"/>
                </a:solidFill>
                <a:latin typeface="Arial"/>
                <a:ea typeface="Arial"/>
                <a:cs typeface="Arial"/>
              </a:defRPr>
            </a:lvl7pPr>
            <a:lvl8pPr algn="l">
              <a:defRPr sz="2200" b="1">
                <a:solidFill>
                  <a:srgbClr val="D97706"/>
                </a:solidFill>
                <a:latin typeface="Arial"/>
                <a:ea typeface="Arial"/>
                <a:cs typeface="Arial"/>
              </a:defRPr>
            </a:lvl8pPr>
            <a:lvl9pPr algn="l">
              <a:defRPr sz="2200" b="1">
                <a:solidFill>
                  <a:srgbClr val="D97706"/>
                </a:solidFill>
                <a:latin typeface="Arial"/>
                <a:ea typeface="Arial"/>
                <a:cs typeface="Arial"/>
              </a:defRPr>
            </a:lvl9pPr>
          </a:lstStyle>
          <a:p>
            <a:pPr algn="l">
              <a:defRPr sz="2200" b="1">
                <a:solidFill>
                  <a:srgbClr val="D97706"/>
                </a:solidFill>
                <a:latin typeface="Arial"/>
                <a:ea typeface="Arial"/>
                <a:cs typeface="Arial"/>
              </a:defRPr>
            </a:pPr>
            <a:r>
              <a:rPr sz="2200" b="1">
                <a:solidFill>
                  <a:srgbClr val="D97706"/>
                </a:solidFill>
                <a:latin typeface="Outfit"/>
                <a:ea typeface="Arial"/>
                <a:cs typeface="Arial"/>
              </a:rPr>
              <a:t>Local access varies</a:t>
            </a:r>
            <a:endParaRPr/>
          </a:p>
        </p:txBody>
      </p:sp>
      <p:sp>
        <p:nvSpPr>
          <p:cNvPr id="1113551399" name="prime-text-7"/>
          <p:cNvSpPr>
            <a:spLocks noGrp="1"/>
          </p:cNvSpPr>
          <p:nvPr/>
        </p:nvSpPr>
        <p:spPr bwMode="auto">
          <a:xfrm>
            <a:off x="6953250" y="4257675"/>
            <a:ext cx="4629150" cy="1285875"/>
          </a:xfrm>
          <a:prstGeom prst="rect">
            <a:avLst/>
          </a:prstGeom>
          <a:noFill/>
          <a:ln w="0">
            <a:solidFill/>
            <a:prstDash val="solid"/>
          </a:ln>
        </p:spPr>
        <p:txBody>
          <a:bodyPr wrap="square" lIns="0" tIns="0" rIns="0" bIns="0" anchor="t">
            <a:noAutofit/>
          </a:bodyPr>
          <a:lstStyle>
            <a:defPPr algn="l">
              <a:defRPr sz="2100" b="0">
                <a:solidFill>
                  <a:srgbClr val="18201D"/>
                </a:solidFill>
                <a:latin typeface="Arial"/>
                <a:ea typeface="Arial"/>
                <a:cs typeface="Arial"/>
              </a:defRPr>
            </a:defPPr>
            <a:lvl1pPr algn="l">
              <a:defRPr sz="2100" b="0">
                <a:solidFill>
                  <a:srgbClr val="18201D"/>
                </a:solidFill>
                <a:latin typeface="Arial"/>
                <a:ea typeface="Arial"/>
                <a:cs typeface="Arial"/>
              </a:defRPr>
            </a:lvl1pPr>
            <a:lvl2pPr algn="l">
              <a:defRPr sz="2100" b="0">
                <a:solidFill>
                  <a:srgbClr val="18201D"/>
                </a:solidFill>
                <a:latin typeface="Arial"/>
                <a:ea typeface="Arial"/>
                <a:cs typeface="Arial"/>
              </a:defRPr>
            </a:lvl2pPr>
            <a:lvl3pPr algn="l">
              <a:defRPr sz="2100" b="0">
                <a:solidFill>
                  <a:srgbClr val="18201D"/>
                </a:solidFill>
                <a:latin typeface="Arial"/>
                <a:ea typeface="Arial"/>
                <a:cs typeface="Arial"/>
              </a:defRPr>
            </a:lvl3pPr>
            <a:lvl4pPr algn="l">
              <a:defRPr sz="2100" b="0">
                <a:solidFill>
                  <a:srgbClr val="18201D"/>
                </a:solidFill>
                <a:latin typeface="Arial"/>
                <a:ea typeface="Arial"/>
                <a:cs typeface="Arial"/>
              </a:defRPr>
            </a:lvl4pPr>
            <a:lvl5pPr algn="l">
              <a:defRPr sz="2100" b="0">
                <a:solidFill>
                  <a:srgbClr val="18201D"/>
                </a:solidFill>
                <a:latin typeface="Arial"/>
                <a:ea typeface="Arial"/>
                <a:cs typeface="Arial"/>
              </a:defRPr>
            </a:lvl5pPr>
            <a:lvl6pPr algn="l">
              <a:defRPr sz="2100" b="0">
                <a:solidFill>
                  <a:srgbClr val="18201D"/>
                </a:solidFill>
                <a:latin typeface="Arial"/>
                <a:ea typeface="Arial"/>
                <a:cs typeface="Arial"/>
              </a:defRPr>
            </a:lvl6pPr>
            <a:lvl7pPr algn="l">
              <a:defRPr sz="2100" b="0">
                <a:solidFill>
                  <a:srgbClr val="18201D"/>
                </a:solidFill>
                <a:latin typeface="Arial"/>
                <a:ea typeface="Arial"/>
                <a:cs typeface="Arial"/>
              </a:defRPr>
            </a:lvl7pPr>
            <a:lvl8pPr algn="l">
              <a:defRPr sz="2100" b="0">
                <a:solidFill>
                  <a:srgbClr val="18201D"/>
                </a:solidFill>
                <a:latin typeface="Arial"/>
                <a:ea typeface="Arial"/>
                <a:cs typeface="Arial"/>
              </a:defRPr>
            </a:lvl8pPr>
            <a:lvl9pPr algn="l">
              <a:defRPr sz="2100" b="0">
                <a:solidFill>
                  <a:srgbClr val="18201D"/>
                </a:solidFill>
                <a:latin typeface="Arial"/>
                <a:ea typeface="Arial"/>
                <a:cs typeface="Arial"/>
              </a:defRPr>
            </a:lvl9pPr>
          </a:lstStyle>
          <a:p>
            <a:pPr algn="l">
              <a:defRPr sz="2100" b="0">
                <a:solidFill>
                  <a:srgbClr val="18201D"/>
                </a:solidFill>
                <a:latin typeface="Arial"/>
                <a:ea typeface="Arial"/>
                <a:cs typeface="Arial"/>
              </a:defRPr>
            </a:pPr>
            <a:r>
              <a:rPr sz="2100" b="0">
                <a:solidFill>
                  <a:srgbClr val="18201D"/>
                </a:solidFill>
                <a:latin typeface="Outfit"/>
                <a:ea typeface="Arial"/>
                <a:cs typeface="Arial"/>
              </a:rPr>
              <a:t>Eligible accounts, overseas funding rules and local product coverage can limit global investing access.</a:t>
            </a:r>
            <a:endParaRPr/>
          </a:p>
        </p:txBody>
      </p:sp>
      <p:sp>
        <p:nvSpPr>
          <p:cNvPr id="1926053228" name="prime-text-8"/>
          <p:cNvSpPr>
            <a:spLocks noGrp="1"/>
          </p:cNvSpPr>
          <p:nvPr/>
        </p:nvSpPr>
        <p:spPr bwMode="auto">
          <a:xfrm>
            <a:off x="609600" y="6076950"/>
            <a:ext cx="10972800" cy="323850"/>
          </a:xfrm>
          <a:prstGeom prst="rect">
            <a:avLst/>
          </a:prstGeom>
          <a:noFill/>
          <a:ln w="0">
            <a:solidFill/>
            <a:prstDash val="solid"/>
          </a:ln>
        </p:spPr>
        <p:txBody>
          <a:bodyPr wrap="square" lIns="0" tIns="0" rIns="0" bIns="0" anchor="t">
            <a:noAutofit/>
          </a:bodyPr>
          <a:lstStyle>
            <a:defPPr algn="l">
              <a:defRPr sz="1500" b="0">
                <a:solidFill>
                  <a:srgbClr val="5D6A67"/>
                </a:solidFill>
                <a:latin typeface="Arial"/>
                <a:ea typeface="Arial"/>
                <a:cs typeface="Arial"/>
              </a:defRPr>
            </a:defPPr>
            <a:lvl1pPr algn="l">
              <a:defRPr sz="1500" b="0">
                <a:solidFill>
                  <a:srgbClr val="5D6A67"/>
                </a:solidFill>
                <a:latin typeface="Arial"/>
                <a:ea typeface="Arial"/>
                <a:cs typeface="Arial"/>
              </a:defRPr>
            </a:lvl1pPr>
            <a:lvl2pPr algn="l">
              <a:defRPr sz="1500" b="0">
                <a:solidFill>
                  <a:srgbClr val="5D6A67"/>
                </a:solidFill>
                <a:latin typeface="Arial"/>
                <a:ea typeface="Arial"/>
                <a:cs typeface="Arial"/>
              </a:defRPr>
            </a:lvl2pPr>
            <a:lvl3pPr algn="l">
              <a:defRPr sz="1500" b="0">
                <a:solidFill>
                  <a:srgbClr val="5D6A67"/>
                </a:solidFill>
                <a:latin typeface="Arial"/>
                <a:ea typeface="Arial"/>
                <a:cs typeface="Arial"/>
              </a:defRPr>
            </a:lvl3pPr>
            <a:lvl4pPr algn="l">
              <a:defRPr sz="1500" b="0">
                <a:solidFill>
                  <a:srgbClr val="5D6A67"/>
                </a:solidFill>
                <a:latin typeface="Arial"/>
                <a:ea typeface="Arial"/>
                <a:cs typeface="Arial"/>
              </a:defRPr>
            </a:lvl4pPr>
            <a:lvl5pPr algn="l">
              <a:defRPr sz="1500" b="0">
                <a:solidFill>
                  <a:srgbClr val="5D6A67"/>
                </a:solidFill>
                <a:latin typeface="Arial"/>
                <a:ea typeface="Arial"/>
                <a:cs typeface="Arial"/>
              </a:defRPr>
            </a:lvl5pPr>
            <a:lvl6pPr algn="l">
              <a:defRPr sz="1500" b="0">
                <a:solidFill>
                  <a:srgbClr val="5D6A67"/>
                </a:solidFill>
                <a:latin typeface="Arial"/>
                <a:ea typeface="Arial"/>
                <a:cs typeface="Arial"/>
              </a:defRPr>
            </a:lvl6pPr>
            <a:lvl7pPr algn="l">
              <a:defRPr sz="1500" b="0">
                <a:solidFill>
                  <a:srgbClr val="5D6A67"/>
                </a:solidFill>
                <a:latin typeface="Arial"/>
                <a:ea typeface="Arial"/>
                <a:cs typeface="Arial"/>
              </a:defRPr>
            </a:lvl7pPr>
            <a:lvl8pPr algn="l">
              <a:defRPr sz="1500" b="0">
                <a:solidFill>
                  <a:srgbClr val="5D6A67"/>
                </a:solidFill>
                <a:latin typeface="Arial"/>
                <a:ea typeface="Arial"/>
                <a:cs typeface="Arial"/>
              </a:defRPr>
            </a:lvl8pPr>
            <a:lvl9pPr algn="l">
              <a:defRPr sz="1500" b="0">
                <a:solidFill>
                  <a:srgbClr val="5D6A67"/>
                </a:solidFill>
                <a:latin typeface="Arial"/>
                <a:ea typeface="Arial"/>
                <a:cs typeface="Arial"/>
              </a:defRPr>
            </a:lvl9pPr>
          </a:lstStyle>
          <a:p>
            <a:pPr algn="l">
              <a:defRPr sz="1500" b="0">
                <a:solidFill>
                  <a:srgbClr val="5D6A67"/>
                </a:solidFill>
                <a:latin typeface="Arial"/>
                <a:ea typeface="Arial"/>
                <a:cs typeface="Arial"/>
              </a:defRPr>
            </a:pPr>
            <a:r>
              <a:rPr sz="1500" b="0">
                <a:solidFill>
                  <a:srgbClr val="5D6A67"/>
                </a:solidFill>
                <a:latin typeface="Plus Jakarta Sans"/>
                <a:ea typeface="Arial"/>
                <a:cs typeface="Arial"/>
              </a:rPr>
              <a:t>Fractional brokerage already helps some investors. Broker, customer and product eligibility still vary.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070503991" name="prime-text-9"/>
          <p:cNvSpPr>
            <a:spLocks noGrp="1"/>
          </p:cNvSpPr>
          <p:nvPr/>
        </p:nvSpPr>
        <p:spPr bwMode="auto">
          <a:xfrm>
            <a:off x="609600" y="504825"/>
            <a:ext cx="10972800" cy="828675"/>
          </a:xfrm>
          <a:prstGeom prst="rect">
            <a:avLst/>
          </a:prstGeom>
          <a:noFill/>
          <a:ln w="0">
            <a:solidFill/>
            <a:prstDash val="solid"/>
          </a:ln>
        </p:spPr>
        <p:txBody>
          <a:bodyPr wrap="square" lIns="0" tIns="0" rIns="0" bIns="0" anchor="t">
            <a:noAutofit/>
          </a:bodyPr>
          <a:lstStyle>
            <a:defPPr algn="l">
              <a:defRPr sz="3300" b="1">
                <a:solidFill>
                  <a:srgbClr val="18201D"/>
                </a:solidFill>
                <a:latin typeface="Arial"/>
                <a:ea typeface="Arial"/>
                <a:cs typeface="Arial"/>
              </a:defRPr>
            </a:defPPr>
            <a:lvl1pPr algn="l">
              <a:defRPr sz="3300" b="1">
                <a:solidFill>
                  <a:srgbClr val="18201D"/>
                </a:solidFill>
                <a:latin typeface="Arial"/>
                <a:ea typeface="Arial"/>
                <a:cs typeface="Arial"/>
              </a:defRPr>
            </a:lvl1pPr>
            <a:lvl2pPr algn="l">
              <a:defRPr sz="3300" b="1">
                <a:solidFill>
                  <a:srgbClr val="18201D"/>
                </a:solidFill>
                <a:latin typeface="Arial"/>
                <a:ea typeface="Arial"/>
                <a:cs typeface="Arial"/>
              </a:defRPr>
            </a:lvl2pPr>
            <a:lvl3pPr algn="l">
              <a:defRPr sz="3300" b="1">
                <a:solidFill>
                  <a:srgbClr val="18201D"/>
                </a:solidFill>
                <a:latin typeface="Arial"/>
                <a:ea typeface="Arial"/>
                <a:cs typeface="Arial"/>
              </a:defRPr>
            </a:lvl3pPr>
            <a:lvl4pPr algn="l">
              <a:defRPr sz="3300" b="1">
                <a:solidFill>
                  <a:srgbClr val="18201D"/>
                </a:solidFill>
                <a:latin typeface="Arial"/>
                <a:ea typeface="Arial"/>
                <a:cs typeface="Arial"/>
              </a:defRPr>
            </a:lvl4pPr>
            <a:lvl5pPr algn="l">
              <a:defRPr sz="3300" b="1">
                <a:solidFill>
                  <a:srgbClr val="18201D"/>
                </a:solidFill>
                <a:latin typeface="Arial"/>
                <a:ea typeface="Arial"/>
                <a:cs typeface="Arial"/>
              </a:defRPr>
            </a:lvl5pPr>
            <a:lvl6pPr algn="l">
              <a:defRPr sz="3300" b="1">
                <a:solidFill>
                  <a:srgbClr val="18201D"/>
                </a:solidFill>
                <a:latin typeface="Arial"/>
                <a:ea typeface="Arial"/>
                <a:cs typeface="Arial"/>
              </a:defRPr>
            </a:lvl6pPr>
            <a:lvl7pPr algn="l">
              <a:defRPr sz="3300" b="1">
                <a:solidFill>
                  <a:srgbClr val="18201D"/>
                </a:solidFill>
                <a:latin typeface="Arial"/>
                <a:ea typeface="Arial"/>
                <a:cs typeface="Arial"/>
              </a:defRPr>
            </a:lvl7pPr>
            <a:lvl8pPr algn="l">
              <a:defRPr sz="3300" b="1">
                <a:solidFill>
                  <a:srgbClr val="18201D"/>
                </a:solidFill>
                <a:latin typeface="Arial"/>
                <a:ea typeface="Arial"/>
                <a:cs typeface="Arial"/>
              </a:defRPr>
            </a:lvl8pPr>
            <a:lvl9pPr algn="l">
              <a:defRPr sz="3300" b="1">
                <a:solidFill>
                  <a:srgbClr val="18201D"/>
                </a:solidFill>
                <a:latin typeface="Arial"/>
                <a:ea typeface="Arial"/>
                <a:cs typeface="Arial"/>
              </a:defRPr>
            </a:lvl9pPr>
          </a:lstStyle>
          <a:p>
            <a:pPr algn="l">
              <a:defRPr sz="3300" b="1">
                <a:solidFill>
                  <a:srgbClr val="18201D"/>
                </a:solidFill>
                <a:latin typeface="Arial"/>
                <a:ea typeface="Arial"/>
                <a:cs typeface="Arial"/>
              </a:defRPr>
            </a:pPr>
            <a:r>
              <a:rPr sz="3300" b="1">
                <a:solidFill>
                  <a:srgbClr val="18201D"/>
                </a:solidFill>
                <a:latin typeface="Outfit"/>
                <a:ea typeface="Arial"/>
                <a:cs typeface="Arial"/>
              </a:rPr>
              <a:t>Global equity access for stablecoin adoption</a:t>
            </a:r>
            <a:endParaRPr/>
          </a:p>
        </p:txBody>
      </p:sp>
      <p:sp>
        <p:nvSpPr>
          <p:cNvPr id="1469461857" name="prime-text-10"/>
          <p:cNvSpPr>
            <a:spLocks noGrp="1"/>
          </p:cNvSpPr>
          <p:nvPr/>
        </p:nvSpPr>
        <p:spPr bwMode="auto">
          <a:xfrm>
            <a:off x="609600" y="6438899"/>
            <a:ext cx="3619500" cy="238125"/>
          </a:xfrm>
          <a:prstGeom prst="rect">
            <a:avLst/>
          </a:prstGeom>
          <a:noFill/>
          <a:ln w="0">
            <a:solidFill/>
            <a:prstDash val="solid"/>
          </a:ln>
        </p:spPr>
        <p:txBody>
          <a:bodyPr wrap="square" lIns="0" tIns="0" rIns="0" bIns="0" anchor="t">
            <a:noAutofit/>
          </a:bodyPr>
          <a:lstStyle>
            <a:defPPr algn="l">
              <a:defRPr sz="1200" b="1">
                <a:solidFill>
                  <a:srgbClr val="0DBE85"/>
                </a:solidFill>
                <a:latin typeface="Arial"/>
                <a:ea typeface="Arial"/>
                <a:cs typeface="Arial"/>
              </a:defRPr>
            </a:defPPr>
            <a:lvl1pPr algn="l">
              <a:defRPr sz="1200" b="1">
                <a:solidFill>
                  <a:srgbClr val="0DBE85"/>
                </a:solidFill>
                <a:latin typeface="Arial"/>
                <a:ea typeface="Arial"/>
                <a:cs typeface="Arial"/>
              </a:defRPr>
            </a:lvl1pPr>
            <a:lvl2pPr algn="l">
              <a:defRPr sz="1200" b="1">
                <a:solidFill>
                  <a:srgbClr val="0DBE85"/>
                </a:solidFill>
                <a:latin typeface="Arial"/>
                <a:ea typeface="Arial"/>
                <a:cs typeface="Arial"/>
              </a:defRPr>
            </a:lvl2pPr>
            <a:lvl3pPr algn="l">
              <a:defRPr sz="1200" b="1">
                <a:solidFill>
                  <a:srgbClr val="0DBE85"/>
                </a:solidFill>
                <a:latin typeface="Arial"/>
                <a:ea typeface="Arial"/>
                <a:cs typeface="Arial"/>
              </a:defRPr>
            </a:lvl3pPr>
            <a:lvl4pPr algn="l">
              <a:defRPr sz="1200" b="1">
                <a:solidFill>
                  <a:srgbClr val="0DBE85"/>
                </a:solidFill>
                <a:latin typeface="Arial"/>
                <a:ea typeface="Arial"/>
                <a:cs typeface="Arial"/>
              </a:defRPr>
            </a:lvl4pPr>
            <a:lvl5pPr algn="l">
              <a:defRPr sz="1200" b="1">
                <a:solidFill>
                  <a:srgbClr val="0DBE85"/>
                </a:solidFill>
                <a:latin typeface="Arial"/>
                <a:ea typeface="Arial"/>
                <a:cs typeface="Arial"/>
              </a:defRPr>
            </a:lvl5pPr>
            <a:lvl6pPr algn="l">
              <a:defRPr sz="1200" b="1">
                <a:solidFill>
                  <a:srgbClr val="0DBE85"/>
                </a:solidFill>
                <a:latin typeface="Arial"/>
                <a:ea typeface="Arial"/>
                <a:cs typeface="Arial"/>
              </a:defRPr>
            </a:lvl6pPr>
            <a:lvl7pPr algn="l">
              <a:defRPr sz="1200" b="1">
                <a:solidFill>
                  <a:srgbClr val="0DBE85"/>
                </a:solidFill>
                <a:latin typeface="Arial"/>
                <a:ea typeface="Arial"/>
                <a:cs typeface="Arial"/>
              </a:defRPr>
            </a:lvl7pPr>
            <a:lvl8pPr algn="l">
              <a:defRPr sz="1200" b="1">
                <a:solidFill>
                  <a:srgbClr val="0DBE85"/>
                </a:solidFill>
                <a:latin typeface="Arial"/>
                <a:ea typeface="Arial"/>
                <a:cs typeface="Arial"/>
              </a:defRPr>
            </a:lvl8pPr>
            <a:lvl9pPr algn="l">
              <a:defRPr sz="1200" b="1">
                <a:solidFill>
                  <a:srgbClr val="0DBE85"/>
                </a:solidFill>
                <a:latin typeface="Arial"/>
                <a:ea typeface="Arial"/>
                <a:cs typeface="Arial"/>
              </a:defRPr>
            </a:lvl9pPr>
          </a:lstStyle>
          <a:p>
            <a:pPr algn="l">
              <a:defRPr sz="1200" b="1">
                <a:solidFill>
                  <a:srgbClr val="0DBE85"/>
                </a:solidFill>
                <a:latin typeface="Arial"/>
                <a:ea typeface="Arial"/>
                <a:cs typeface="Arial"/>
              </a:defRPr>
            </a:pPr>
            <a:r>
              <a:rPr sz="1200" b="1">
                <a:solidFill>
                  <a:srgbClr val="0AA372"/>
                </a:solidFill>
                <a:latin typeface="JetBrains Mono"/>
                <a:ea typeface="Arial"/>
                <a:cs typeface="Arial"/>
              </a:rPr>
              <a:t>D-SHARE / PRIME</a:t>
            </a:r>
            <a:endParaRPr/>
          </a:p>
        </p:txBody>
      </p:sp>
      <p:sp>
        <p:nvSpPr>
          <p:cNvPr id="792476018" name="prime-text-11"/>
          <p:cNvSpPr>
            <a:spLocks noGrp="1"/>
          </p:cNvSpPr>
          <p:nvPr/>
        </p:nvSpPr>
        <p:spPr bwMode="auto">
          <a:xfrm>
            <a:off x="11020424" y="6438899"/>
            <a:ext cx="561975" cy="238125"/>
          </a:xfrm>
          <a:prstGeom prst="rect">
            <a:avLst/>
          </a:prstGeom>
          <a:noFill/>
          <a:ln w="0">
            <a:solidFill/>
            <a:prstDash val="solid"/>
          </a:ln>
        </p:spPr>
        <p:txBody>
          <a:bodyPr wrap="square" lIns="0" tIns="0" rIns="0" bIns="0" anchor="t">
            <a:noAutofit/>
          </a:bodyPr>
          <a:lstStyle>
            <a:defPPr algn="r">
              <a:defRPr sz="1200" b="0">
                <a:solidFill>
                  <a:srgbClr val="5D6A67"/>
                </a:solidFill>
                <a:latin typeface="Arial"/>
                <a:ea typeface="Arial"/>
                <a:cs typeface="Arial"/>
              </a:defRPr>
            </a:defPPr>
            <a:lvl1pPr algn="r">
              <a:defRPr sz="1200" b="0">
                <a:solidFill>
                  <a:srgbClr val="5D6A67"/>
                </a:solidFill>
                <a:latin typeface="Arial"/>
                <a:ea typeface="Arial"/>
                <a:cs typeface="Arial"/>
              </a:defRPr>
            </a:lvl1pPr>
            <a:lvl2pPr algn="r">
              <a:defRPr sz="1200" b="0">
                <a:solidFill>
                  <a:srgbClr val="5D6A67"/>
                </a:solidFill>
                <a:latin typeface="Arial"/>
                <a:ea typeface="Arial"/>
                <a:cs typeface="Arial"/>
              </a:defRPr>
            </a:lvl2pPr>
            <a:lvl3pPr algn="r">
              <a:defRPr sz="1200" b="0">
                <a:solidFill>
                  <a:srgbClr val="5D6A67"/>
                </a:solidFill>
                <a:latin typeface="Arial"/>
                <a:ea typeface="Arial"/>
                <a:cs typeface="Arial"/>
              </a:defRPr>
            </a:lvl3pPr>
            <a:lvl4pPr algn="r">
              <a:defRPr sz="1200" b="0">
                <a:solidFill>
                  <a:srgbClr val="5D6A67"/>
                </a:solidFill>
                <a:latin typeface="Arial"/>
                <a:ea typeface="Arial"/>
                <a:cs typeface="Arial"/>
              </a:defRPr>
            </a:lvl4pPr>
            <a:lvl5pPr algn="r">
              <a:defRPr sz="1200" b="0">
                <a:solidFill>
                  <a:srgbClr val="5D6A67"/>
                </a:solidFill>
                <a:latin typeface="Arial"/>
                <a:ea typeface="Arial"/>
                <a:cs typeface="Arial"/>
              </a:defRPr>
            </a:lvl5pPr>
            <a:lvl6pPr algn="r">
              <a:defRPr sz="1200" b="0">
                <a:solidFill>
                  <a:srgbClr val="5D6A67"/>
                </a:solidFill>
                <a:latin typeface="Arial"/>
                <a:ea typeface="Arial"/>
                <a:cs typeface="Arial"/>
              </a:defRPr>
            </a:lvl6pPr>
            <a:lvl7pPr algn="r">
              <a:defRPr sz="1200" b="0">
                <a:solidFill>
                  <a:srgbClr val="5D6A67"/>
                </a:solidFill>
                <a:latin typeface="Arial"/>
                <a:ea typeface="Arial"/>
                <a:cs typeface="Arial"/>
              </a:defRPr>
            </a:lvl7pPr>
            <a:lvl8pPr algn="r">
              <a:defRPr sz="1200" b="0">
                <a:solidFill>
                  <a:srgbClr val="5D6A67"/>
                </a:solidFill>
                <a:latin typeface="Arial"/>
                <a:ea typeface="Arial"/>
                <a:cs typeface="Arial"/>
              </a:defRPr>
            </a:lvl8pPr>
            <a:lvl9pPr algn="r">
              <a:defRPr sz="1200" b="0">
                <a:solidFill>
                  <a:srgbClr val="5D6A67"/>
                </a:solidFill>
                <a:latin typeface="Arial"/>
                <a:ea typeface="Arial"/>
                <a:cs typeface="Arial"/>
              </a:defRPr>
            </a:lvl9pPr>
          </a:lstStyle>
          <a:p>
            <a:pPr algn="r">
              <a:defRPr sz="1200" b="0">
                <a:solidFill>
                  <a:srgbClr val="5D6A67"/>
                </a:solidFill>
                <a:latin typeface="Arial"/>
                <a:ea typeface="Arial"/>
                <a:cs typeface="Arial"/>
              </a:defRPr>
            </a:pPr>
            <a:r>
              <a:rPr sz="1200" b="0">
                <a:solidFill>
                  <a:srgbClr val="5D6A67"/>
                </a:solidFill>
                <a:latin typeface="JetBrains Mono"/>
                <a:ea typeface="Arial"/>
                <a:cs typeface="Arial"/>
              </a:rPr>
              <a:t>03</a:t>
            </a:r>
            <a:endParaRPr/>
          </a:p>
        </p:txBody>
      </p:sp>
      <p:sp>
        <p:nvSpPr>
          <p:cNvPr id="572541300" name="prime-text-12"/>
          <p:cNvSpPr>
            <a:spLocks noGrp="1"/>
          </p:cNvSpPr>
          <p:nvPr/>
        </p:nvSpPr>
        <p:spPr bwMode="auto">
          <a:xfrm>
            <a:off x="609600" y="1409700"/>
            <a:ext cx="10972800" cy="466725"/>
          </a:xfrm>
          <a:prstGeom prst="rect">
            <a:avLst/>
          </a:prstGeom>
          <a:noFill/>
          <a:ln w="0">
            <a:solidFill/>
            <a:prstDash val="solid"/>
          </a:ln>
        </p:spPr>
        <p:txBody>
          <a:bodyPr wrap="square" lIns="0" tIns="0" rIns="0" bIns="0" anchor="t">
            <a:noAutofit/>
          </a:bodyPr>
          <a:lstStyle>
            <a:defPPr algn="l">
              <a:defRPr sz="2250" b="1">
                <a:solidFill>
                  <a:srgbClr val="0DBE85"/>
                </a:solidFill>
                <a:latin typeface="Arial"/>
                <a:ea typeface="Arial"/>
                <a:cs typeface="Arial"/>
              </a:defRPr>
            </a:defPPr>
            <a:lvl1pPr algn="l">
              <a:defRPr sz="2250" b="1">
                <a:solidFill>
                  <a:srgbClr val="0DBE85"/>
                </a:solidFill>
                <a:latin typeface="Arial"/>
                <a:ea typeface="Arial"/>
                <a:cs typeface="Arial"/>
              </a:defRPr>
            </a:lvl1pPr>
            <a:lvl2pPr algn="l">
              <a:defRPr sz="2250" b="1">
                <a:solidFill>
                  <a:srgbClr val="0DBE85"/>
                </a:solidFill>
                <a:latin typeface="Arial"/>
                <a:ea typeface="Arial"/>
                <a:cs typeface="Arial"/>
              </a:defRPr>
            </a:lvl2pPr>
            <a:lvl3pPr algn="l">
              <a:defRPr sz="2250" b="1">
                <a:solidFill>
                  <a:srgbClr val="0DBE85"/>
                </a:solidFill>
                <a:latin typeface="Arial"/>
                <a:ea typeface="Arial"/>
                <a:cs typeface="Arial"/>
              </a:defRPr>
            </a:lvl3pPr>
            <a:lvl4pPr algn="l">
              <a:defRPr sz="2250" b="1">
                <a:solidFill>
                  <a:srgbClr val="0DBE85"/>
                </a:solidFill>
                <a:latin typeface="Arial"/>
                <a:ea typeface="Arial"/>
                <a:cs typeface="Arial"/>
              </a:defRPr>
            </a:lvl4pPr>
            <a:lvl5pPr algn="l">
              <a:defRPr sz="2250" b="1">
                <a:solidFill>
                  <a:srgbClr val="0DBE85"/>
                </a:solidFill>
                <a:latin typeface="Arial"/>
                <a:ea typeface="Arial"/>
                <a:cs typeface="Arial"/>
              </a:defRPr>
            </a:lvl5pPr>
            <a:lvl6pPr algn="l">
              <a:defRPr sz="2250" b="1">
                <a:solidFill>
                  <a:srgbClr val="0DBE85"/>
                </a:solidFill>
                <a:latin typeface="Arial"/>
                <a:ea typeface="Arial"/>
                <a:cs typeface="Arial"/>
              </a:defRPr>
            </a:lvl6pPr>
            <a:lvl7pPr algn="l">
              <a:defRPr sz="2250" b="1">
                <a:solidFill>
                  <a:srgbClr val="0DBE85"/>
                </a:solidFill>
                <a:latin typeface="Arial"/>
                <a:ea typeface="Arial"/>
                <a:cs typeface="Arial"/>
              </a:defRPr>
            </a:lvl7pPr>
            <a:lvl8pPr algn="l">
              <a:defRPr sz="2250" b="1">
                <a:solidFill>
                  <a:srgbClr val="0DBE85"/>
                </a:solidFill>
                <a:latin typeface="Arial"/>
                <a:ea typeface="Arial"/>
                <a:cs typeface="Arial"/>
              </a:defRPr>
            </a:lvl8pPr>
            <a:lvl9pPr algn="l">
              <a:defRPr sz="2250" b="1">
                <a:solidFill>
                  <a:srgbClr val="0DBE85"/>
                </a:solidFill>
                <a:latin typeface="Arial"/>
                <a:ea typeface="Arial"/>
                <a:cs typeface="Arial"/>
              </a:defRPr>
            </a:lvl9pPr>
          </a:lstStyle>
          <a:p>
            <a:pPr algn="l">
              <a:defRPr sz="2250" b="1">
                <a:solidFill>
                  <a:srgbClr val="0DBE85"/>
                </a:solidFill>
                <a:latin typeface="Arial"/>
                <a:ea typeface="Arial"/>
                <a:cs typeface="Arial"/>
              </a:defRPr>
            </a:pPr>
            <a:r>
              <a:rPr sz="2250" b="1">
                <a:solidFill>
                  <a:srgbClr val="0DBE85"/>
                </a:solidFill>
                <a:latin typeface="Outfit"/>
                <a:ea typeface="Arial"/>
                <a:cs typeface="Arial"/>
              </a:rPr>
              <a:t>Leading payments engineering to capital markets</a:t>
            </a:r>
            <a:endParaRPr/>
          </a:p>
        </p:txBody>
      </p:sp>
      <p:sp>
        <p:nvSpPr>
          <p:cNvPr id="1783720819" name="prime-text-13"/>
          <p:cNvSpPr>
            <a:spLocks noGrp="1"/>
          </p:cNvSpPr>
          <p:nvPr/>
        </p:nvSpPr>
        <p:spPr bwMode="auto">
          <a:xfrm>
            <a:off x="609600" y="2276475"/>
            <a:ext cx="5191125" cy="704850"/>
          </a:xfrm>
          <a:prstGeom prst="rect">
            <a:avLst/>
          </a:prstGeom>
          <a:noFill/>
          <a:ln w="0">
            <a:solidFill/>
            <a:prstDash val="solid"/>
          </a:ln>
        </p:spPr>
        <p:txBody>
          <a:bodyPr wrap="square" lIns="0" tIns="0" rIns="0" bIns="0" anchor="t">
            <a:noAutofit/>
          </a:bodyPr>
          <a:lstStyle>
            <a:defPPr algn="l">
              <a:defRPr sz="3850" b="1">
                <a:solidFill>
                  <a:srgbClr val="0DBE85"/>
                </a:solidFill>
                <a:latin typeface="Arial"/>
                <a:ea typeface="Arial"/>
                <a:cs typeface="Arial"/>
              </a:defRPr>
            </a:defPPr>
            <a:lvl1pPr algn="l">
              <a:defRPr sz="3850" b="1">
                <a:solidFill>
                  <a:srgbClr val="0DBE85"/>
                </a:solidFill>
                <a:latin typeface="Arial"/>
                <a:ea typeface="Arial"/>
                <a:cs typeface="Arial"/>
              </a:defRPr>
            </a:lvl1pPr>
            <a:lvl2pPr algn="l">
              <a:defRPr sz="3850" b="1">
                <a:solidFill>
                  <a:srgbClr val="0DBE85"/>
                </a:solidFill>
                <a:latin typeface="Arial"/>
                <a:ea typeface="Arial"/>
                <a:cs typeface="Arial"/>
              </a:defRPr>
            </a:lvl2pPr>
            <a:lvl3pPr algn="l">
              <a:defRPr sz="3850" b="1">
                <a:solidFill>
                  <a:srgbClr val="0DBE85"/>
                </a:solidFill>
                <a:latin typeface="Arial"/>
                <a:ea typeface="Arial"/>
                <a:cs typeface="Arial"/>
              </a:defRPr>
            </a:lvl3pPr>
            <a:lvl4pPr algn="l">
              <a:defRPr sz="3850" b="1">
                <a:solidFill>
                  <a:srgbClr val="0DBE85"/>
                </a:solidFill>
                <a:latin typeface="Arial"/>
                <a:ea typeface="Arial"/>
                <a:cs typeface="Arial"/>
              </a:defRPr>
            </a:lvl4pPr>
            <a:lvl5pPr algn="l">
              <a:defRPr sz="3850" b="1">
                <a:solidFill>
                  <a:srgbClr val="0DBE85"/>
                </a:solidFill>
                <a:latin typeface="Arial"/>
                <a:ea typeface="Arial"/>
                <a:cs typeface="Arial"/>
              </a:defRPr>
            </a:lvl5pPr>
            <a:lvl6pPr algn="l">
              <a:defRPr sz="3850" b="1">
                <a:solidFill>
                  <a:srgbClr val="0DBE85"/>
                </a:solidFill>
                <a:latin typeface="Arial"/>
                <a:ea typeface="Arial"/>
                <a:cs typeface="Arial"/>
              </a:defRPr>
            </a:lvl6pPr>
            <a:lvl7pPr algn="l">
              <a:defRPr sz="3850" b="1">
                <a:solidFill>
                  <a:srgbClr val="0DBE85"/>
                </a:solidFill>
                <a:latin typeface="Arial"/>
                <a:ea typeface="Arial"/>
                <a:cs typeface="Arial"/>
              </a:defRPr>
            </a:lvl7pPr>
            <a:lvl8pPr algn="l">
              <a:defRPr sz="3850" b="1">
                <a:solidFill>
                  <a:srgbClr val="0DBE85"/>
                </a:solidFill>
                <a:latin typeface="Arial"/>
                <a:ea typeface="Arial"/>
                <a:cs typeface="Arial"/>
              </a:defRPr>
            </a:lvl8pPr>
            <a:lvl9pPr algn="l">
              <a:defRPr sz="3850" b="1">
                <a:solidFill>
                  <a:srgbClr val="0DBE85"/>
                </a:solidFill>
                <a:latin typeface="Arial"/>
                <a:ea typeface="Arial"/>
                <a:cs typeface="Arial"/>
              </a:defRPr>
            </a:lvl9pPr>
          </a:lstStyle>
          <a:p>
            <a:pPr algn="l">
              <a:defRPr sz="3850" b="1">
                <a:solidFill>
                  <a:srgbClr val="0DBE85"/>
                </a:solidFill>
                <a:latin typeface="Arial"/>
                <a:ea typeface="Arial"/>
                <a:cs typeface="Arial"/>
              </a:defRPr>
            </a:pPr>
            <a:r>
              <a:rPr sz="3850" b="1">
                <a:solidFill>
                  <a:srgbClr val="0DBE85"/>
                </a:solidFill>
                <a:latin typeface="Outfit"/>
                <a:ea typeface="Arial"/>
                <a:cs typeface="Arial"/>
              </a:rPr>
              <a:t>35% to 42%</a:t>
            </a:r>
            <a:endParaRPr/>
          </a:p>
        </p:txBody>
      </p:sp>
      <p:sp>
        <p:nvSpPr>
          <p:cNvPr id="533228016" name="prime-text-14"/>
          <p:cNvSpPr>
            <a:spLocks noGrp="1"/>
          </p:cNvSpPr>
          <p:nvPr/>
        </p:nvSpPr>
        <p:spPr bwMode="auto">
          <a:xfrm>
            <a:off x="609600" y="3171825"/>
            <a:ext cx="5191125" cy="1114425"/>
          </a:xfrm>
          <a:prstGeom prst="rect">
            <a:avLst/>
          </a:prstGeom>
          <a:noFill/>
          <a:ln w="0">
            <a:solidFill/>
            <a:prstDash val="solid"/>
          </a:ln>
        </p:spPr>
        <p:txBody>
          <a:bodyPr wrap="square" lIns="0" tIns="0" rIns="0" bIns="0" anchor="t">
            <a:noAutofit/>
          </a:bodyPr>
          <a:lstStyle>
            <a:defPPr algn="l">
              <a:defRPr sz="2100" b="0">
                <a:solidFill>
                  <a:srgbClr val="18201D"/>
                </a:solidFill>
                <a:latin typeface="Arial"/>
                <a:ea typeface="Arial"/>
                <a:cs typeface="Arial"/>
              </a:defRPr>
            </a:defPPr>
            <a:lvl1pPr algn="l">
              <a:defRPr sz="2100" b="0">
                <a:solidFill>
                  <a:srgbClr val="18201D"/>
                </a:solidFill>
                <a:latin typeface="Arial"/>
                <a:ea typeface="Arial"/>
                <a:cs typeface="Arial"/>
              </a:defRPr>
            </a:lvl1pPr>
            <a:lvl2pPr algn="l">
              <a:defRPr sz="2100" b="0">
                <a:solidFill>
                  <a:srgbClr val="18201D"/>
                </a:solidFill>
                <a:latin typeface="Arial"/>
                <a:ea typeface="Arial"/>
                <a:cs typeface="Arial"/>
              </a:defRPr>
            </a:lvl2pPr>
            <a:lvl3pPr algn="l">
              <a:defRPr sz="2100" b="0">
                <a:solidFill>
                  <a:srgbClr val="18201D"/>
                </a:solidFill>
                <a:latin typeface="Arial"/>
                <a:ea typeface="Arial"/>
                <a:cs typeface="Arial"/>
              </a:defRPr>
            </a:lvl3pPr>
            <a:lvl4pPr algn="l">
              <a:defRPr sz="2100" b="0">
                <a:solidFill>
                  <a:srgbClr val="18201D"/>
                </a:solidFill>
                <a:latin typeface="Arial"/>
                <a:ea typeface="Arial"/>
                <a:cs typeface="Arial"/>
              </a:defRPr>
            </a:lvl4pPr>
            <a:lvl5pPr algn="l">
              <a:defRPr sz="2100" b="0">
                <a:solidFill>
                  <a:srgbClr val="18201D"/>
                </a:solidFill>
                <a:latin typeface="Arial"/>
                <a:ea typeface="Arial"/>
                <a:cs typeface="Arial"/>
              </a:defRPr>
            </a:lvl5pPr>
            <a:lvl6pPr algn="l">
              <a:defRPr sz="2100" b="0">
                <a:solidFill>
                  <a:srgbClr val="18201D"/>
                </a:solidFill>
                <a:latin typeface="Arial"/>
                <a:ea typeface="Arial"/>
                <a:cs typeface="Arial"/>
              </a:defRPr>
            </a:lvl6pPr>
            <a:lvl7pPr algn="l">
              <a:defRPr sz="2100" b="0">
                <a:solidFill>
                  <a:srgbClr val="18201D"/>
                </a:solidFill>
                <a:latin typeface="Arial"/>
                <a:ea typeface="Arial"/>
                <a:cs typeface="Arial"/>
              </a:defRPr>
            </a:lvl7pPr>
            <a:lvl8pPr algn="l">
              <a:defRPr sz="2100" b="0">
                <a:solidFill>
                  <a:srgbClr val="18201D"/>
                </a:solidFill>
                <a:latin typeface="Arial"/>
                <a:ea typeface="Arial"/>
                <a:cs typeface="Arial"/>
              </a:defRPr>
            </a:lvl8pPr>
            <a:lvl9pPr algn="l">
              <a:defRPr sz="2100" b="0">
                <a:solidFill>
                  <a:srgbClr val="18201D"/>
                </a:solidFill>
                <a:latin typeface="Arial"/>
                <a:ea typeface="Arial"/>
                <a:cs typeface="Arial"/>
              </a:defRPr>
            </a:lvl9pPr>
          </a:lstStyle>
          <a:p>
            <a:pPr algn="l">
              <a:defRPr sz="2100" b="0">
                <a:solidFill>
                  <a:srgbClr val="18201D"/>
                </a:solidFill>
                <a:latin typeface="Arial"/>
                <a:ea typeface="Arial"/>
                <a:cs typeface="Arial"/>
              </a:defRPr>
            </a:pPr>
            <a:r>
              <a:rPr sz="2100" b="0">
                <a:solidFill>
                  <a:srgbClr val="18201D"/>
                </a:solidFill>
                <a:latin typeface="Outfit"/>
                <a:ea typeface="Arial"/>
                <a:cs typeface="Arial"/>
              </a:rPr>
              <a:t>Digital merchant payments among adults</a:t>
            </a:r>
            <a:endParaRPr/>
          </a:p>
          <a:p>
            <a:pPr algn="l">
              <a:defRPr sz="2100" b="0">
                <a:solidFill>
                  <a:srgbClr val="18201D"/>
                </a:solidFill>
                <a:latin typeface="Arial"/>
                <a:ea typeface="Arial"/>
                <a:cs typeface="Arial"/>
              </a:defRPr>
            </a:pPr>
            <a:r>
              <a:rPr sz="2100" b="0">
                <a:solidFill>
                  <a:srgbClr val="18201D"/>
                </a:solidFill>
                <a:latin typeface="Outfit"/>
                <a:ea typeface="Arial"/>
                <a:cs typeface="Arial"/>
              </a:rPr>
              <a:t>in low- and middle-income countries,</a:t>
            </a:r>
            <a:endParaRPr/>
          </a:p>
          <a:p>
            <a:pPr algn="l">
              <a:defRPr sz="2100" b="0">
                <a:solidFill>
                  <a:srgbClr val="18201D"/>
                </a:solidFill>
                <a:latin typeface="Arial"/>
                <a:ea typeface="Arial"/>
                <a:cs typeface="Arial"/>
              </a:defRPr>
            </a:pPr>
            <a:r>
              <a:rPr sz="2100" b="0">
                <a:solidFill>
                  <a:srgbClr val="18201D"/>
                </a:solidFill>
                <a:latin typeface="Outfit"/>
                <a:ea typeface="Arial"/>
                <a:cs typeface="Arial"/>
              </a:rPr>
              <a:t>2021 to 2024</a:t>
            </a:r>
            <a:endParaRPr/>
          </a:p>
        </p:txBody>
      </p:sp>
      <p:sp>
        <p:nvSpPr>
          <p:cNvPr id="267864229" name="prime-text-15"/>
          <p:cNvSpPr>
            <a:spLocks noGrp="1"/>
          </p:cNvSpPr>
          <p:nvPr/>
        </p:nvSpPr>
        <p:spPr bwMode="auto">
          <a:xfrm>
            <a:off x="609600" y="4505325"/>
            <a:ext cx="5191125" cy="352425"/>
          </a:xfrm>
          <a:prstGeom prst="rect">
            <a:avLst/>
          </a:prstGeom>
          <a:noFill/>
          <a:ln w="0">
            <a:solidFill/>
            <a:prstDash val="solid"/>
          </a:ln>
        </p:spPr>
        <p:txBody>
          <a:bodyPr wrap="square" lIns="0" tIns="0" rIns="0" bIns="0" anchor="t">
            <a:noAutofit/>
          </a:bodyPr>
          <a:lstStyle>
            <a:defPPr algn="l">
              <a:defRPr sz="1650" b="0">
                <a:solidFill>
                  <a:srgbClr val="5D6A67"/>
                </a:solidFill>
                <a:latin typeface="Arial"/>
                <a:ea typeface="Arial"/>
                <a:cs typeface="Arial"/>
              </a:defRPr>
            </a:defPPr>
            <a:lvl1pPr algn="l">
              <a:defRPr sz="1650" b="0">
                <a:solidFill>
                  <a:srgbClr val="5D6A67"/>
                </a:solidFill>
                <a:latin typeface="Arial"/>
                <a:ea typeface="Arial"/>
                <a:cs typeface="Arial"/>
              </a:defRPr>
            </a:lvl1pPr>
            <a:lvl2pPr algn="l">
              <a:defRPr sz="1650" b="0">
                <a:solidFill>
                  <a:srgbClr val="5D6A67"/>
                </a:solidFill>
                <a:latin typeface="Arial"/>
                <a:ea typeface="Arial"/>
                <a:cs typeface="Arial"/>
              </a:defRPr>
            </a:lvl2pPr>
            <a:lvl3pPr algn="l">
              <a:defRPr sz="1650" b="0">
                <a:solidFill>
                  <a:srgbClr val="5D6A67"/>
                </a:solidFill>
                <a:latin typeface="Arial"/>
                <a:ea typeface="Arial"/>
                <a:cs typeface="Arial"/>
              </a:defRPr>
            </a:lvl3pPr>
            <a:lvl4pPr algn="l">
              <a:defRPr sz="1650" b="0">
                <a:solidFill>
                  <a:srgbClr val="5D6A67"/>
                </a:solidFill>
                <a:latin typeface="Arial"/>
                <a:ea typeface="Arial"/>
                <a:cs typeface="Arial"/>
              </a:defRPr>
            </a:lvl4pPr>
            <a:lvl5pPr algn="l">
              <a:defRPr sz="1650" b="0">
                <a:solidFill>
                  <a:srgbClr val="5D6A67"/>
                </a:solidFill>
                <a:latin typeface="Arial"/>
                <a:ea typeface="Arial"/>
                <a:cs typeface="Arial"/>
              </a:defRPr>
            </a:lvl5pPr>
            <a:lvl6pPr algn="l">
              <a:defRPr sz="1650" b="0">
                <a:solidFill>
                  <a:srgbClr val="5D6A67"/>
                </a:solidFill>
                <a:latin typeface="Arial"/>
                <a:ea typeface="Arial"/>
                <a:cs typeface="Arial"/>
              </a:defRPr>
            </a:lvl6pPr>
            <a:lvl7pPr algn="l">
              <a:defRPr sz="1650" b="0">
                <a:solidFill>
                  <a:srgbClr val="5D6A67"/>
                </a:solidFill>
                <a:latin typeface="Arial"/>
                <a:ea typeface="Arial"/>
                <a:cs typeface="Arial"/>
              </a:defRPr>
            </a:lvl7pPr>
            <a:lvl8pPr algn="l">
              <a:defRPr sz="1650" b="0">
                <a:solidFill>
                  <a:srgbClr val="5D6A67"/>
                </a:solidFill>
                <a:latin typeface="Arial"/>
                <a:ea typeface="Arial"/>
                <a:cs typeface="Arial"/>
              </a:defRPr>
            </a:lvl8pPr>
            <a:lvl9pPr algn="l">
              <a:defRPr sz="1650" b="0">
                <a:solidFill>
                  <a:srgbClr val="5D6A67"/>
                </a:solidFill>
                <a:latin typeface="Arial"/>
                <a:ea typeface="Arial"/>
                <a:cs typeface="Arial"/>
              </a:defRPr>
            </a:lvl9pPr>
          </a:lstStyle>
          <a:p>
            <a:pPr algn="l">
              <a:defRPr sz="1650" b="0">
                <a:solidFill>
                  <a:srgbClr val="5D6A67"/>
                </a:solidFill>
                <a:latin typeface="Arial"/>
                <a:ea typeface="Arial"/>
                <a:cs typeface="Arial"/>
              </a:defRPr>
            </a:pPr>
            <a:r>
              <a:rPr sz="1650" b="0">
                <a:solidFill>
                  <a:srgbClr val="5D6A67"/>
                </a:solidFill>
                <a:latin typeface="Plus Jakarta Sans"/>
                <a:ea typeface="Arial"/>
                <a:cs typeface="Arial"/>
              </a:rPr>
              <a:t>World Bank Global Findex 2025</a:t>
            </a:r>
            <a:endParaRPr/>
          </a:p>
        </p:txBody>
      </p:sp>
      <p:sp>
        <p:nvSpPr>
          <p:cNvPr id="1453782872" name="prime-text-16"/>
          <p:cNvSpPr>
            <a:spLocks noGrp="1"/>
          </p:cNvSpPr>
          <p:nvPr/>
        </p:nvSpPr>
        <p:spPr bwMode="auto">
          <a:xfrm>
            <a:off x="6496050" y="2276475"/>
            <a:ext cx="5086350" cy="704850"/>
          </a:xfrm>
          <a:prstGeom prst="rect">
            <a:avLst/>
          </a:prstGeom>
          <a:noFill/>
          <a:ln w="0">
            <a:solidFill/>
            <a:prstDash val="solid"/>
          </a:ln>
        </p:spPr>
        <p:txBody>
          <a:bodyPr wrap="square" lIns="0" tIns="0" rIns="0" bIns="0" anchor="t">
            <a:noAutofit/>
          </a:bodyPr>
          <a:lstStyle>
            <a:defPPr algn="l">
              <a:defRPr sz="3850" b="1">
                <a:solidFill>
                  <a:srgbClr val="0DBE85"/>
                </a:solidFill>
                <a:latin typeface="Arial"/>
                <a:ea typeface="Arial"/>
                <a:cs typeface="Arial"/>
              </a:defRPr>
            </a:defPPr>
            <a:lvl1pPr algn="l">
              <a:defRPr sz="3850" b="1">
                <a:solidFill>
                  <a:srgbClr val="0DBE85"/>
                </a:solidFill>
                <a:latin typeface="Arial"/>
                <a:ea typeface="Arial"/>
                <a:cs typeface="Arial"/>
              </a:defRPr>
            </a:lvl1pPr>
            <a:lvl2pPr algn="l">
              <a:defRPr sz="3850" b="1">
                <a:solidFill>
                  <a:srgbClr val="0DBE85"/>
                </a:solidFill>
                <a:latin typeface="Arial"/>
                <a:ea typeface="Arial"/>
                <a:cs typeface="Arial"/>
              </a:defRPr>
            </a:lvl2pPr>
            <a:lvl3pPr algn="l">
              <a:defRPr sz="3850" b="1">
                <a:solidFill>
                  <a:srgbClr val="0DBE85"/>
                </a:solidFill>
                <a:latin typeface="Arial"/>
                <a:ea typeface="Arial"/>
                <a:cs typeface="Arial"/>
              </a:defRPr>
            </a:lvl3pPr>
            <a:lvl4pPr algn="l">
              <a:defRPr sz="3850" b="1">
                <a:solidFill>
                  <a:srgbClr val="0DBE85"/>
                </a:solidFill>
                <a:latin typeface="Arial"/>
                <a:ea typeface="Arial"/>
                <a:cs typeface="Arial"/>
              </a:defRPr>
            </a:lvl4pPr>
            <a:lvl5pPr algn="l">
              <a:defRPr sz="3850" b="1">
                <a:solidFill>
                  <a:srgbClr val="0DBE85"/>
                </a:solidFill>
                <a:latin typeface="Arial"/>
                <a:ea typeface="Arial"/>
                <a:cs typeface="Arial"/>
              </a:defRPr>
            </a:lvl5pPr>
            <a:lvl6pPr algn="l">
              <a:defRPr sz="3850" b="1">
                <a:solidFill>
                  <a:srgbClr val="0DBE85"/>
                </a:solidFill>
                <a:latin typeface="Arial"/>
                <a:ea typeface="Arial"/>
                <a:cs typeface="Arial"/>
              </a:defRPr>
            </a:lvl6pPr>
            <a:lvl7pPr algn="l">
              <a:defRPr sz="3850" b="1">
                <a:solidFill>
                  <a:srgbClr val="0DBE85"/>
                </a:solidFill>
                <a:latin typeface="Arial"/>
                <a:ea typeface="Arial"/>
                <a:cs typeface="Arial"/>
              </a:defRPr>
            </a:lvl7pPr>
            <a:lvl8pPr algn="l">
              <a:defRPr sz="3850" b="1">
                <a:solidFill>
                  <a:srgbClr val="0DBE85"/>
                </a:solidFill>
                <a:latin typeface="Arial"/>
                <a:ea typeface="Arial"/>
                <a:cs typeface="Arial"/>
              </a:defRPr>
            </a:lvl8pPr>
            <a:lvl9pPr algn="l">
              <a:defRPr sz="3850" b="1">
                <a:solidFill>
                  <a:srgbClr val="0DBE85"/>
                </a:solidFill>
                <a:latin typeface="Arial"/>
                <a:ea typeface="Arial"/>
                <a:cs typeface="Arial"/>
              </a:defRPr>
            </a:lvl9pPr>
          </a:lstStyle>
          <a:p>
            <a:pPr algn="l">
              <a:defRPr sz="3850" b="1">
                <a:solidFill>
                  <a:srgbClr val="0DBE85"/>
                </a:solidFill>
                <a:latin typeface="Arial"/>
                <a:ea typeface="Arial"/>
                <a:cs typeface="Arial"/>
              </a:defRPr>
            </a:pPr>
            <a:r>
              <a:rPr sz="3850" b="1">
                <a:solidFill>
                  <a:srgbClr val="0DBE85"/>
                </a:solidFill>
                <a:latin typeface="Outfit"/>
                <a:ea typeface="Arial"/>
                <a:cs typeface="Arial"/>
              </a:rPr>
              <a:t>+9.8%</a:t>
            </a:r>
            <a:endParaRPr/>
          </a:p>
        </p:txBody>
      </p:sp>
      <p:sp>
        <p:nvSpPr>
          <p:cNvPr id="2050674493" name="prime-text-17"/>
          <p:cNvSpPr>
            <a:spLocks noGrp="1"/>
          </p:cNvSpPr>
          <p:nvPr/>
        </p:nvSpPr>
        <p:spPr bwMode="auto">
          <a:xfrm>
            <a:off x="6496050" y="3171825"/>
            <a:ext cx="5086350" cy="1114425"/>
          </a:xfrm>
          <a:prstGeom prst="rect">
            <a:avLst/>
          </a:prstGeom>
          <a:noFill/>
          <a:ln w="0">
            <a:solidFill/>
            <a:prstDash val="solid"/>
          </a:ln>
        </p:spPr>
        <p:txBody>
          <a:bodyPr wrap="square" lIns="0" tIns="0" rIns="0" bIns="0" anchor="t">
            <a:noAutofit/>
          </a:bodyPr>
          <a:lstStyle>
            <a:defPPr algn="l">
              <a:defRPr sz="2100" b="0">
                <a:solidFill>
                  <a:srgbClr val="18201D"/>
                </a:solidFill>
                <a:latin typeface="Arial"/>
                <a:ea typeface="Arial"/>
                <a:cs typeface="Arial"/>
              </a:defRPr>
            </a:defPPr>
            <a:lvl1pPr algn="l">
              <a:defRPr sz="2100" b="0">
                <a:solidFill>
                  <a:srgbClr val="18201D"/>
                </a:solidFill>
                <a:latin typeface="Arial"/>
                <a:ea typeface="Arial"/>
                <a:cs typeface="Arial"/>
              </a:defRPr>
            </a:lvl1pPr>
            <a:lvl2pPr algn="l">
              <a:defRPr sz="2100" b="0">
                <a:solidFill>
                  <a:srgbClr val="18201D"/>
                </a:solidFill>
                <a:latin typeface="Arial"/>
                <a:ea typeface="Arial"/>
                <a:cs typeface="Arial"/>
              </a:defRPr>
            </a:lvl2pPr>
            <a:lvl3pPr algn="l">
              <a:defRPr sz="2100" b="0">
                <a:solidFill>
                  <a:srgbClr val="18201D"/>
                </a:solidFill>
                <a:latin typeface="Arial"/>
                <a:ea typeface="Arial"/>
                <a:cs typeface="Arial"/>
              </a:defRPr>
            </a:lvl3pPr>
            <a:lvl4pPr algn="l">
              <a:defRPr sz="2100" b="0">
                <a:solidFill>
                  <a:srgbClr val="18201D"/>
                </a:solidFill>
                <a:latin typeface="Arial"/>
                <a:ea typeface="Arial"/>
                <a:cs typeface="Arial"/>
              </a:defRPr>
            </a:lvl4pPr>
            <a:lvl5pPr algn="l">
              <a:defRPr sz="2100" b="0">
                <a:solidFill>
                  <a:srgbClr val="18201D"/>
                </a:solidFill>
                <a:latin typeface="Arial"/>
                <a:ea typeface="Arial"/>
                <a:cs typeface="Arial"/>
              </a:defRPr>
            </a:lvl5pPr>
            <a:lvl6pPr algn="l">
              <a:defRPr sz="2100" b="0">
                <a:solidFill>
                  <a:srgbClr val="18201D"/>
                </a:solidFill>
                <a:latin typeface="Arial"/>
                <a:ea typeface="Arial"/>
                <a:cs typeface="Arial"/>
              </a:defRPr>
            </a:lvl6pPr>
            <a:lvl7pPr algn="l">
              <a:defRPr sz="2100" b="0">
                <a:solidFill>
                  <a:srgbClr val="18201D"/>
                </a:solidFill>
                <a:latin typeface="Arial"/>
                <a:ea typeface="Arial"/>
                <a:cs typeface="Arial"/>
              </a:defRPr>
            </a:lvl7pPr>
            <a:lvl8pPr algn="l">
              <a:defRPr sz="2100" b="0">
                <a:solidFill>
                  <a:srgbClr val="18201D"/>
                </a:solidFill>
                <a:latin typeface="Arial"/>
                <a:ea typeface="Arial"/>
                <a:cs typeface="Arial"/>
              </a:defRPr>
            </a:lvl8pPr>
            <a:lvl9pPr algn="l">
              <a:defRPr sz="2100" b="0">
                <a:solidFill>
                  <a:srgbClr val="18201D"/>
                </a:solidFill>
                <a:latin typeface="Arial"/>
                <a:ea typeface="Arial"/>
                <a:cs typeface="Arial"/>
              </a:defRPr>
            </a:lvl9pPr>
          </a:lstStyle>
          <a:p>
            <a:pPr algn="l">
              <a:defRPr sz="2100" b="0">
                <a:solidFill>
                  <a:srgbClr val="18201D"/>
                </a:solidFill>
                <a:latin typeface="Arial"/>
                <a:ea typeface="Arial"/>
                <a:cs typeface="Arial"/>
              </a:defRPr>
            </a:pPr>
            <a:r>
              <a:rPr sz="2100" b="0">
                <a:solidFill>
                  <a:srgbClr val="18201D"/>
                </a:solidFill>
                <a:latin typeface="Outfit"/>
                <a:ea typeface="Arial"/>
                <a:cs typeface="Arial"/>
              </a:rPr>
              <a:t>Latin America crypto economic activity,</a:t>
            </a:r>
            <a:endParaRPr/>
          </a:p>
          <a:p>
            <a:pPr algn="l">
              <a:defRPr sz="2100" b="0">
                <a:solidFill>
                  <a:srgbClr val="18201D"/>
                </a:solidFill>
                <a:latin typeface="Arial"/>
                <a:ea typeface="Arial"/>
                <a:cs typeface="Arial"/>
              </a:defRPr>
            </a:pPr>
            <a:r>
              <a:rPr sz="2100" b="0">
                <a:solidFill>
                  <a:srgbClr val="18201D"/>
                </a:solidFill>
                <a:latin typeface="Outfit"/>
                <a:ea typeface="Arial"/>
                <a:cs typeface="Arial"/>
              </a:rPr>
              <a:t>12 months to June 2026 versus the</a:t>
            </a:r>
            <a:endParaRPr/>
          </a:p>
          <a:p>
            <a:pPr algn="l">
              <a:defRPr sz="2100" b="0">
                <a:solidFill>
                  <a:srgbClr val="18201D"/>
                </a:solidFill>
                <a:latin typeface="Arial"/>
                <a:ea typeface="Arial"/>
                <a:cs typeface="Arial"/>
              </a:defRPr>
            </a:pPr>
            <a:r>
              <a:rPr sz="2100" b="0">
                <a:solidFill>
                  <a:srgbClr val="18201D"/>
                </a:solidFill>
                <a:latin typeface="Outfit"/>
                <a:ea typeface="Arial"/>
                <a:cs typeface="Arial"/>
              </a:rPr>
              <a:t>previous 12 months</a:t>
            </a:r>
            <a:endParaRPr/>
          </a:p>
        </p:txBody>
      </p:sp>
      <p:sp>
        <p:nvSpPr>
          <p:cNvPr id="1715140004" name="prime-text-18"/>
          <p:cNvSpPr>
            <a:spLocks noGrp="1"/>
          </p:cNvSpPr>
          <p:nvPr/>
        </p:nvSpPr>
        <p:spPr bwMode="auto">
          <a:xfrm>
            <a:off x="6496050" y="4505325"/>
            <a:ext cx="5086350" cy="352425"/>
          </a:xfrm>
          <a:prstGeom prst="rect">
            <a:avLst/>
          </a:prstGeom>
          <a:noFill/>
          <a:ln w="0">
            <a:solidFill/>
            <a:prstDash val="solid"/>
          </a:ln>
        </p:spPr>
        <p:txBody>
          <a:bodyPr wrap="square" lIns="0" tIns="0" rIns="0" bIns="0" anchor="t">
            <a:noAutofit/>
          </a:bodyPr>
          <a:lstStyle>
            <a:defPPr algn="l">
              <a:defRPr sz="1650" b="0">
                <a:solidFill>
                  <a:srgbClr val="5D6A67"/>
                </a:solidFill>
                <a:latin typeface="Arial"/>
                <a:ea typeface="Arial"/>
                <a:cs typeface="Arial"/>
              </a:defRPr>
            </a:defPPr>
            <a:lvl1pPr algn="l">
              <a:defRPr sz="1650" b="0">
                <a:solidFill>
                  <a:srgbClr val="5D6A67"/>
                </a:solidFill>
                <a:latin typeface="Arial"/>
                <a:ea typeface="Arial"/>
                <a:cs typeface="Arial"/>
              </a:defRPr>
            </a:lvl1pPr>
            <a:lvl2pPr algn="l">
              <a:defRPr sz="1650" b="0">
                <a:solidFill>
                  <a:srgbClr val="5D6A67"/>
                </a:solidFill>
                <a:latin typeface="Arial"/>
                <a:ea typeface="Arial"/>
                <a:cs typeface="Arial"/>
              </a:defRPr>
            </a:lvl2pPr>
            <a:lvl3pPr algn="l">
              <a:defRPr sz="1650" b="0">
                <a:solidFill>
                  <a:srgbClr val="5D6A67"/>
                </a:solidFill>
                <a:latin typeface="Arial"/>
                <a:ea typeface="Arial"/>
                <a:cs typeface="Arial"/>
              </a:defRPr>
            </a:lvl3pPr>
            <a:lvl4pPr algn="l">
              <a:defRPr sz="1650" b="0">
                <a:solidFill>
                  <a:srgbClr val="5D6A67"/>
                </a:solidFill>
                <a:latin typeface="Arial"/>
                <a:ea typeface="Arial"/>
                <a:cs typeface="Arial"/>
              </a:defRPr>
            </a:lvl4pPr>
            <a:lvl5pPr algn="l">
              <a:defRPr sz="1650" b="0">
                <a:solidFill>
                  <a:srgbClr val="5D6A67"/>
                </a:solidFill>
                <a:latin typeface="Arial"/>
                <a:ea typeface="Arial"/>
                <a:cs typeface="Arial"/>
              </a:defRPr>
            </a:lvl5pPr>
            <a:lvl6pPr algn="l">
              <a:defRPr sz="1650" b="0">
                <a:solidFill>
                  <a:srgbClr val="5D6A67"/>
                </a:solidFill>
                <a:latin typeface="Arial"/>
                <a:ea typeface="Arial"/>
                <a:cs typeface="Arial"/>
              </a:defRPr>
            </a:lvl6pPr>
            <a:lvl7pPr algn="l">
              <a:defRPr sz="1650" b="0">
                <a:solidFill>
                  <a:srgbClr val="5D6A67"/>
                </a:solidFill>
                <a:latin typeface="Arial"/>
                <a:ea typeface="Arial"/>
                <a:cs typeface="Arial"/>
              </a:defRPr>
            </a:lvl7pPr>
            <a:lvl8pPr algn="l">
              <a:defRPr sz="1650" b="0">
                <a:solidFill>
                  <a:srgbClr val="5D6A67"/>
                </a:solidFill>
                <a:latin typeface="Arial"/>
                <a:ea typeface="Arial"/>
                <a:cs typeface="Arial"/>
              </a:defRPr>
            </a:lvl8pPr>
            <a:lvl9pPr algn="l">
              <a:defRPr sz="1650" b="0">
                <a:solidFill>
                  <a:srgbClr val="5D6A67"/>
                </a:solidFill>
                <a:latin typeface="Arial"/>
                <a:ea typeface="Arial"/>
                <a:cs typeface="Arial"/>
              </a:defRPr>
            </a:lvl9pPr>
          </a:lstStyle>
          <a:p>
            <a:pPr algn="l">
              <a:defRPr sz="1650" b="0">
                <a:solidFill>
                  <a:srgbClr val="5D6A67"/>
                </a:solidFill>
                <a:latin typeface="Arial"/>
                <a:ea typeface="Arial"/>
                <a:cs typeface="Arial"/>
              </a:defRPr>
            </a:pPr>
            <a:r>
              <a:rPr sz="1650" b="0">
                <a:solidFill>
                  <a:srgbClr val="5D6A67"/>
                </a:solidFill>
                <a:latin typeface="Plus Jakarta Sans"/>
                <a:ea typeface="Arial"/>
                <a:cs typeface="Arial"/>
              </a:rPr>
              <a:t>Chainalysis 2026 adoption report</a:t>
            </a:r>
            <a:endParaRPr/>
          </a:p>
        </p:txBody>
      </p:sp>
      <p:sp>
        <p:nvSpPr>
          <p:cNvPr id="1510771854" name="prime-text-19"/>
          <p:cNvSpPr>
            <a:spLocks noGrp="1"/>
          </p:cNvSpPr>
          <p:nvPr/>
        </p:nvSpPr>
        <p:spPr bwMode="auto">
          <a:xfrm>
            <a:off x="609600" y="5238750"/>
            <a:ext cx="10972800" cy="742950"/>
          </a:xfrm>
          <a:prstGeom prst="rect">
            <a:avLst/>
          </a:prstGeom>
          <a:noFill/>
          <a:ln w="0">
            <a:solidFill/>
            <a:prstDash val="solid"/>
          </a:ln>
        </p:spPr>
        <p:txBody>
          <a:bodyPr wrap="square" lIns="0" tIns="0" rIns="0" bIns="0" anchor="t">
            <a:noAutofit/>
          </a:bodyPr>
          <a:lstStyle>
            <a:defPPr algn="l">
              <a:defRPr sz="2200" b="1">
                <a:solidFill>
                  <a:srgbClr val="18201D"/>
                </a:solidFill>
                <a:latin typeface="Arial"/>
                <a:ea typeface="Arial"/>
                <a:cs typeface="Arial"/>
              </a:defRPr>
            </a:defPPr>
            <a:lvl1pPr algn="l">
              <a:defRPr sz="2200" b="1">
                <a:solidFill>
                  <a:srgbClr val="18201D"/>
                </a:solidFill>
                <a:latin typeface="Arial"/>
                <a:ea typeface="Arial"/>
                <a:cs typeface="Arial"/>
              </a:defRPr>
            </a:lvl1pPr>
            <a:lvl2pPr algn="l">
              <a:defRPr sz="2200" b="1">
                <a:solidFill>
                  <a:srgbClr val="18201D"/>
                </a:solidFill>
                <a:latin typeface="Arial"/>
                <a:ea typeface="Arial"/>
                <a:cs typeface="Arial"/>
              </a:defRPr>
            </a:lvl2pPr>
            <a:lvl3pPr algn="l">
              <a:defRPr sz="2200" b="1">
                <a:solidFill>
                  <a:srgbClr val="18201D"/>
                </a:solidFill>
                <a:latin typeface="Arial"/>
                <a:ea typeface="Arial"/>
                <a:cs typeface="Arial"/>
              </a:defRPr>
            </a:lvl3pPr>
            <a:lvl4pPr algn="l">
              <a:defRPr sz="2200" b="1">
                <a:solidFill>
                  <a:srgbClr val="18201D"/>
                </a:solidFill>
                <a:latin typeface="Arial"/>
                <a:ea typeface="Arial"/>
                <a:cs typeface="Arial"/>
              </a:defRPr>
            </a:lvl4pPr>
            <a:lvl5pPr algn="l">
              <a:defRPr sz="2200" b="1">
                <a:solidFill>
                  <a:srgbClr val="18201D"/>
                </a:solidFill>
                <a:latin typeface="Arial"/>
                <a:ea typeface="Arial"/>
                <a:cs typeface="Arial"/>
              </a:defRPr>
            </a:lvl5pPr>
            <a:lvl6pPr algn="l">
              <a:defRPr sz="2200" b="1">
                <a:solidFill>
                  <a:srgbClr val="18201D"/>
                </a:solidFill>
                <a:latin typeface="Arial"/>
                <a:ea typeface="Arial"/>
                <a:cs typeface="Arial"/>
              </a:defRPr>
            </a:lvl6pPr>
            <a:lvl7pPr algn="l">
              <a:defRPr sz="2200" b="1">
                <a:solidFill>
                  <a:srgbClr val="18201D"/>
                </a:solidFill>
                <a:latin typeface="Arial"/>
                <a:ea typeface="Arial"/>
                <a:cs typeface="Arial"/>
              </a:defRPr>
            </a:lvl7pPr>
            <a:lvl8pPr algn="l">
              <a:defRPr sz="2200" b="1">
                <a:solidFill>
                  <a:srgbClr val="18201D"/>
                </a:solidFill>
                <a:latin typeface="Arial"/>
                <a:ea typeface="Arial"/>
                <a:cs typeface="Arial"/>
              </a:defRPr>
            </a:lvl8pPr>
            <a:lvl9pPr algn="l">
              <a:defRPr sz="2200" b="1">
                <a:solidFill>
                  <a:srgbClr val="18201D"/>
                </a:solidFill>
                <a:latin typeface="Arial"/>
                <a:ea typeface="Arial"/>
                <a:cs typeface="Arial"/>
              </a:defRPr>
            </a:lvl9pPr>
          </a:lstStyle>
          <a:p>
            <a:pPr algn="l">
              <a:defRPr sz="2200" b="1">
                <a:solidFill>
                  <a:srgbClr val="18201D"/>
                </a:solidFill>
                <a:latin typeface="Arial"/>
                <a:ea typeface="Arial"/>
                <a:cs typeface="Arial"/>
              </a:defRPr>
            </a:pPr>
            <a:r>
              <a:rPr sz="2200" b="1">
                <a:solidFill>
                  <a:srgbClr val="18201D"/>
                </a:solidFill>
                <a:latin typeface="Outfit"/>
                <a:ea typeface="Arial"/>
                <a:cs typeface="Arial"/>
              </a:rPr>
              <a:t>Market adoption of stablecoin to invest in global equity</a:t>
            </a:r>
            <a:endParaRPr/>
          </a:p>
          <a:p>
            <a:pPr algn="l">
              <a:defRPr sz="2200" b="1">
                <a:solidFill>
                  <a:srgbClr val="18201D"/>
                </a:solidFill>
                <a:latin typeface="Arial"/>
                <a:ea typeface="Arial"/>
                <a:cs typeface="Arial"/>
              </a:defRPr>
            </a:pPr>
            <a:r>
              <a:rPr sz="2200" b="1">
                <a:solidFill>
                  <a:srgbClr val="18201D"/>
                </a:solidFill>
                <a:latin typeface="Outfit"/>
                <a:ea typeface="Arial"/>
                <a:cs typeface="Arial"/>
              </a:rPr>
              <a:t>through accountable financial structure.</a:t>
            </a:r>
            <a:endParaRPr/>
          </a:p>
        </p:txBody>
      </p:sp>
      <p:sp>
        <p:nvSpPr>
          <p:cNvPr id="834868954" name="prime-text-20"/>
          <p:cNvSpPr>
            <a:spLocks noGrp="1"/>
          </p:cNvSpPr>
          <p:nvPr/>
        </p:nvSpPr>
        <p:spPr bwMode="auto">
          <a:xfrm>
            <a:off x="609600" y="6076950"/>
            <a:ext cx="10972800" cy="323850"/>
          </a:xfrm>
          <a:prstGeom prst="rect">
            <a:avLst/>
          </a:prstGeom>
          <a:noFill/>
          <a:ln w="0">
            <a:solidFill/>
            <a:prstDash val="solid"/>
          </a:ln>
        </p:spPr>
        <p:txBody>
          <a:bodyPr wrap="square" lIns="0" tIns="0" rIns="0" bIns="0" anchor="t">
            <a:noAutofit/>
          </a:bodyPr>
          <a:lstStyle>
            <a:defPPr algn="l">
              <a:defRPr sz="1450" b="0">
                <a:solidFill>
                  <a:srgbClr val="5D6A67"/>
                </a:solidFill>
                <a:latin typeface="Arial"/>
                <a:ea typeface="Arial"/>
                <a:cs typeface="Arial"/>
              </a:defRPr>
            </a:defPPr>
            <a:lvl1pPr algn="l">
              <a:defRPr sz="1450" b="0">
                <a:solidFill>
                  <a:srgbClr val="5D6A67"/>
                </a:solidFill>
                <a:latin typeface="Arial"/>
                <a:ea typeface="Arial"/>
                <a:cs typeface="Arial"/>
              </a:defRPr>
            </a:lvl1pPr>
            <a:lvl2pPr algn="l">
              <a:defRPr sz="1450" b="0">
                <a:solidFill>
                  <a:srgbClr val="5D6A67"/>
                </a:solidFill>
                <a:latin typeface="Arial"/>
                <a:ea typeface="Arial"/>
                <a:cs typeface="Arial"/>
              </a:defRPr>
            </a:lvl2pPr>
            <a:lvl3pPr algn="l">
              <a:defRPr sz="1450" b="0">
                <a:solidFill>
                  <a:srgbClr val="5D6A67"/>
                </a:solidFill>
                <a:latin typeface="Arial"/>
                <a:ea typeface="Arial"/>
                <a:cs typeface="Arial"/>
              </a:defRPr>
            </a:lvl3pPr>
            <a:lvl4pPr algn="l">
              <a:defRPr sz="1450" b="0">
                <a:solidFill>
                  <a:srgbClr val="5D6A67"/>
                </a:solidFill>
                <a:latin typeface="Arial"/>
                <a:ea typeface="Arial"/>
                <a:cs typeface="Arial"/>
              </a:defRPr>
            </a:lvl4pPr>
            <a:lvl5pPr algn="l">
              <a:defRPr sz="1450" b="0">
                <a:solidFill>
                  <a:srgbClr val="5D6A67"/>
                </a:solidFill>
                <a:latin typeface="Arial"/>
                <a:ea typeface="Arial"/>
                <a:cs typeface="Arial"/>
              </a:defRPr>
            </a:lvl5pPr>
            <a:lvl6pPr algn="l">
              <a:defRPr sz="1450" b="0">
                <a:solidFill>
                  <a:srgbClr val="5D6A67"/>
                </a:solidFill>
                <a:latin typeface="Arial"/>
                <a:ea typeface="Arial"/>
                <a:cs typeface="Arial"/>
              </a:defRPr>
            </a:lvl6pPr>
            <a:lvl7pPr algn="l">
              <a:defRPr sz="1450" b="0">
                <a:solidFill>
                  <a:srgbClr val="5D6A67"/>
                </a:solidFill>
                <a:latin typeface="Arial"/>
                <a:ea typeface="Arial"/>
                <a:cs typeface="Arial"/>
              </a:defRPr>
            </a:lvl7pPr>
            <a:lvl8pPr algn="l">
              <a:defRPr sz="1450" b="0">
                <a:solidFill>
                  <a:srgbClr val="5D6A67"/>
                </a:solidFill>
                <a:latin typeface="Arial"/>
                <a:ea typeface="Arial"/>
                <a:cs typeface="Arial"/>
              </a:defRPr>
            </a:lvl8pPr>
            <a:lvl9pPr algn="l">
              <a:defRPr sz="1450" b="0">
                <a:solidFill>
                  <a:srgbClr val="5D6A67"/>
                </a:solidFill>
                <a:latin typeface="Arial"/>
                <a:ea typeface="Arial"/>
                <a:cs typeface="Arial"/>
              </a:defRPr>
            </a:lvl9pPr>
          </a:lstStyle>
          <a:p>
            <a:pPr algn="l">
              <a:defRPr sz="1450" b="0">
                <a:solidFill>
                  <a:srgbClr val="5D6A67"/>
                </a:solidFill>
                <a:latin typeface="Arial"/>
                <a:ea typeface="Arial"/>
                <a:cs typeface="Arial"/>
              </a:defRPr>
            </a:pPr>
            <a:r>
              <a:rPr sz="1450" b="0">
                <a:solidFill>
                  <a:srgbClr val="5D6A67"/>
                </a:solidFill>
                <a:latin typeface="Plus Jakarta Sans"/>
                <a:ea typeface="Arial"/>
                <a:cs typeface="Arial"/>
              </a:rPr>
              <a:t>Payments and crypto indicators support the thesis. Local DeFi use and D-SHARE demand need direct validation.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245869885" name="budget-revision-text-3"/>
          <p:cNvSpPr>
            <a:spLocks noGrp="1"/>
          </p:cNvSpPr>
          <p:nvPr/>
        </p:nvSpPr>
        <p:spPr bwMode="auto">
          <a:xfrm>
            <a:off x="609600" y="504825"/>
            <a:ext cx="5715000" cy="828675"/>
          </a:xfrm>
          <a:prstGeom prst="rect">
            <a:avLst/>
          </a:prstGeom>
          <a:noFill/>
          <a:ln w="0">
            <a:solidFill/>
            <a:prstDash val="solid"/>
          </a:ln>
        </p:spPr>
        <p:txBody>
          <a:bodyPr wrap="square" lIns="0" tIns="0" rIns="0" bIns="0" anchor="t">
            <a:noAutofit/>
          </a:bodyPr>
          <a:lstStyle>
            <a:defPPr algn="l">
              <a:defRPr sz="3300" b="1">
                <a:solidFill>
                  <a:srgbClr val="18201D"/>
                </a:solidFill>
                <a:latin typeface="Arial"/>
                <a:ea typeface="Arial"/>
                <a:cs typeface="Arial"/>
              </a:defRPr>
            </a:defPPr>
            <a:lvl1pPr algn="l">
              <a:buNone/>
              <a:defRPr sz="3300" b="1">
                <a:solidFill>
                  <a:srgbClr val="18201D"/>
                </a:solidFill>
                <a:latin typeface="Arial"/>
                <a:ea typeface="Arial"/>
                <a:cs typeface="Arial"/>
              </a:defRPr>
            </a:lvl1pPr>
            <a:lvl2pPr algn="l">
              <a:buNone/>
              <a:defRPr sz="3300" b="1">
                <a:solidFill>
                  <a:srgbClr val="18201D"/>
                </a:solidFill>
                <a:latin typeface="Arial"/>
                <a:ea typeface="Arial"/>
                <a:cs typeface="Arial"/>
              </a:defRPr>
            </a:lvl2pPr>
            <a:lvl3pPr algn="l">
              <a:buNone/>
              <a:defRPr sz="3300" b="1">
                <a:solidFill>
                  <a:srgbClr val="18201D"/>
                </a:solidFill>
                <a:latin typeface="Arial"/>
                <a:ea typeface="Arial"/>
                <a:cs typeface="Arial"/>
              </a:defRPr>
            </a:lvl3pPr>
            <a:lvl4pPr algn="l">
              <a:buNone/>
              <a:defRPr sz="3300" b="1">
                <a:solidFill>
                  <a:srgbClr val="18201D"/>
                </a:solidFill>
                <a:latin typeface="Arial"/>
                <a:ea typeface="Arial"/>
                <a:cs typeface="Arial"/>
              </a:defRPr>
            </a:lvl4pPr>
            <a:lvl5pPr algn="l">
              <a:buNone/>
              <a:defRPr sz="3300" b="1">
                <a:solidFill>
                  <a:srgbClr val="18201D"/>
                </a:solidFill>
                <a:latin typeface="Arial"/>
                <a:ea typeface="Arial"/>
                <a:cs typeface="Arial"/>
              </a:defRPr>
            </a:lvl5pPr>
            <a:lvl6pPr algn="l">
              <a:buNone/>
              <a:defRPr sz="3300" b="1">
                <a:solidFill>
                  <a:srgbClr val="18201D"/>
                </a:solidFill>
                <a:latin typeface="Arial"/>
                <a:ea typeface="Arial"/>
                <a:cs typeface="Arial"/>
              </a:defRPr>
            </a:lvl6pPr>
            <a:lvl7pPr algn="l">
              <a:buNone/>
              <a:defRPr sz="3300" b="1">
                <a:solidFill>
                  <a:srgbClr val="18201D"/>
                </a:solidFill>
                <a:latin typeface="Arial"/>
                <a:ea typeface="Arial"/>
                <a:cs typeface="Arial"/>
              </a:defRPr>
            </a:lvl7pPr>
            <a:lvl8pPr algn="l">
              <a:buNone/>
              <a:defRPr sz="3300" b="1">
                <a:solidFill>
                  <a:srgbClr val="18201D"/>
                </a:solidFill>
                <a:latin typeface="Arial"/>
                <a:ea typeface="Arial"/>
                <a:cs typeface="Arial"/>
              </a:defRPr>
            </a:lvl8pPr>
            <a:lvl9pPr algn="l">
              <a:buNone/>
              <a:defRPr sz="3300" b="1">
                <a:solidFill>
                  <a:srgbClr val="18201D"/>
                </a:solidFill>
                <a:latin typeface="Arial"/>
                <a:ea typeface="Arial"/>
                <a:cs typeface="Arial"/>
              </a:defRPr>
            </a:lvl9pPr>
          </a:lstStyle>
          <a:p>
            <a:pPr algn="l">
              <a:buNone/>
              <a:defRPr sz="3300" b="1">
                <a:solidFill>
                  <a:srgbClr val="18201D"/>
                </a:solidFill>
                <a:latin typeface="Arial"/>
                <a:ea typeface="Arial"/>
                <a:cs typeface="Arial"/>
              </a:defRPr>
            </a:pPr>
            <a:r>
              <a:rPr sz="3300" b="1">
                <a:solidFill>
                  <a:srgbClr val="18201D"/>
                </a:solidFill>
                <a:latin typeface="Outfit"/>
                <a:ea typeface="Arial"/>
                <a:cs typeface="Arial"/>
              </a:rPr>
              <a:t>D-SHARE</a:t>
            </a:r>
            <a:endParaRPr/>
          </a:p>
        </p:txBody>
      </p:sp>
      <p:sp>
        <p:nvSpPr>
          <p:cNvPr id="292219297" name="budget-revision-text-4"/>
          <p:cNvSpPr>
            <a:spLocks noGrp="1"/>
          </p:cNvSpPr>
          <p:nvPr/>
        </p:nvSpPr>
        <p:spPr bwMode="auto">
          <a:xfrm>
            <a:off x="609600" y="6438899"/>
            <a:ext cx="3619500" cy="238125"/>
          </a:xfrm>
          <a:prstGeom prst="rect">
            <a:avLst/>
          </a:prstGeom>
          <a:noFill/>
          <a:ln w="0">
            <a:solidFill/>
            <a:prstDash val="solid"/>
          </a:ln>
        </p:spPr>
        <p:txBody>
          <a:bodyPr wrap="square" lIns="0" tIns="0" rIns="0" bIns="0" anchor="t">
            <a:noAutofit/>
          </a:bodyPr>
          <a:lstStyle>
            <a:defPPr algn="l">
              <a:defRPr sz="1200" b="1">
                <a:solidFill>
                  <a:srgbClr val="0DBE85"/>
                </a:solidFill>
                <a:latin typeface="Arial"/>
                <a:ea typeface="Arial"/>
                <a:cs typeface="Arial"/>
              </a:defRPr>
            </a:defPPr>
            <a:lvl1pPr algn="l">
              <a:buNone/>
              <a:defRPr sz="1200" b="1">
                <a:solidFill>
                  <a:srgbClr val="0DBE85"/>
                </a:solidFill>
                <a:latin typeface="Arial"/>
                <a:ea typeface="Arial"/>
                <a:cs typeface="Arial"/>
              </a:defRPr>
            </a:lvl1pPr>
            <a:lvl2pPr algn="l">
              <a:buNone/>
              <a:defRPr sz="1200" b="1">
                <a:solidFill>
                  <a:srgbClr val="0DBE85"/>
                </a:solidFill>
                <a:latin typeface="Arial"/>
                <a:ea typeface="Arial"/>
                <a:cs typeface="Arial"/>
              </a:defRPr>
            </a:lvl2pPr>
            <a:lvl3pPr algn="l">
              <a:buNone/>
              <a:defRPr sz="1200" b="1">
                <a:solidFill>
                  <a:srgbClr val="0DBE85"/>
                </a:solidFill>
                <a:latin typeface="Arial"/>
                <a:ea typeface="Arial"/>
                <a:cs typeface="Arial"/>
              </a:defRPr>
            </a:lvl3pPr>
            <a:lvl4pPr algn="l">
              <a:buNone/>
              <a:defRPr sz="1200" b="1">
                <a:solidFill>
                  <a:srgbClr val="0DBE85"/>
                </a:solidFill>
                <a:latin typeface="Arial"/>
                <a:ea typeface="Arial"/>
                <a:cs typeface="Arial"/>
              </a:defRPr>
            </a:lvl4pPr>
            <a:lvl5pPr algn="l">
              <a:buNone/>
              <a:defRPr sz="1200" b="1">
                <a:solidFill>
                  <a:srgbClr val="0DBE85"/>
                </a:solidFill>
                <a:latin typeface="Arial"/>
                <a:ea typeface="Arial"/>
                <a:cs typeface="Arial"/>
              </a:defRPr>
            </a:lvl5pPr>
            <a:lvl6pPr algn="l">
              <a:buNone/>
              <a:defRPr sz="1200" b="1">
                <a:solidFill>
                  <a:srgbClr val="0DBE85"/>
                </a:solidFill>
                <a:latin typeface="Arial"/>
                <a:ea typeface="Arial"/>
                <a:cs typeface="Arial"/>
              </a:defRPr>
            </a:lvl6pPr>
            <a:lvl7pPr algn="l">
              <a:buNone/>
              <a:defRPr sz="1200" b="1">
                <a:solidFill>
                  <a:srgbClr val="0DBE85"/>
                </a:solidFill>
                <a:latin typeface="Arial"/>
                <a:ea typeface="Arial"/>
                <a:cs typeface="Arial"/>
              </a:defRPr>
            </a:lvl7pPr>
            <a:lvl8pPr algn="l">
              <a:buNone/>
              <a:defRPr sz="1200" b="1">
                <a:solidFill>
                  <a:srgbClr val="0DBE85"/>
                </a:solidFill>
                <a:latin typeface="Arial"/>
                <a:ea typeface="Arial"/>
                <a:cs typeface="Arial"/>
              </a:defRPr>
            </a:lvl8pPr>
            <a:lvl9pPr algn="l">
              <a:buNone/>
              <a:defRPr sz="1200" b="1">
                <a:solidFill>
                  <a:srgbClr val="0DBE85"/>
                </a:solidFill>
                <a:latin typeface="Arial"/>
                <a:ea typeface="Arial"/>
                <a:cs typeface="Arial"/>
              </a:defRPr>
            </a:lvl9pPr>
          </a:lstStyle>
          <a:p>
            <a:pPr algn="l">
              <a:buNone/>
              <a:defRPr sz="1200" b="1">
                <a:solidFill>
                  <a:srgbClr val="0DBE85"/>
                </a:solidFill>
                <a:latin typeface="Arial"/>
                <a:ea typeface="Arial"/>
                <a:cs typeface="Arial"/>
              </a:defRPr>
            </a:pPr>
            <a:r>
              <a:rPr sz="1200" b="1">
                <a:solidFill>
                  <a:srgbClr val="0AA372"/>
                </a:solidFill>
                <a:latin typeface="JetBrains Mono"/>
                <a:ea typeface="Arial"/>
                <a:cs typeface="Arial"/>
              </a:rPr>
              <a:t>D-SHARE / PRIME</a:t>
            </a:r>
            <a:endParaRPr/>
          </a:p>
        </p:txBody>
      </p:sp>
      <p:sp>
        <p:nvSpPr>
          <p:cNvPr id="29842278" name="budget-revision-text-5"/>
          <p:cNvSpPr>
            <a:spLocks noGrp="1"/>
          </p:cNvSpPr>
          <p:nvPr/>
        </p:nvSpPr>
        <p:spPr bwMode="auto">
          <a:xfrm>
            <a:off x="11020424" y="6438899"/>
            <a:ext cx="561975" cy="238125"/>
          </a:xfrm>
          <a:prstGeom prst="rect">
            <a:avLst/>
          </a:prstGeom>
          <a:noFill/>
          <a:ln w="0">
            <a:solidFill/>
            <a:prstDash val="solid"/>
          </a:ln>
        </p:spPr>
        <p:txBody>
          <a:bodyPr wrap="square" lIns="0" tIns="0" rIns="0" bIns="0" anchor="t">
            <a:noAutofit/>
          </a:bodyPr>
          <a:lstStyle>
            <a:defPPr algn="r">
              <a:defRPr sz="1200" b="0">
                <a:solidFill>
                  <a:srgbClr val="5D6A67"/>
                </a:solidFill>
                <a:latin typeface="Arial"/>
                <a:ea typeface="Arial"/>
                <a:cs typeface="Arial"/>
              </a:defRPr>
            </a:defPPr>
            <a:lvl1pPr algn="r">
              <a:buNone/>
              <a:defRPr sz="1200" b="0">
                <a:solidFill>
                  <a:srgbClr val="5D6A67"/>
                </a:solidFill>
                <a:latin typeface="Arial"/>
                <a:ea typeface="Arial"/>
                <a:cs typeface="Arial"/>
              </a:defRPr>
            </a:lvl1pPr>
            <a:lvl2pPr algn="r">
              <a:buNone/>
              <a:defRPr sz="1200" b="0">
                <a:solidFill>
                  <a:srgbClr val="5D6A67"/>
                </a:solidFill>
                <a:latin typeface="Arial"/>
                <a:ea typeface="Arial"/>
                <a:cs typeface="Arial"/>
              </a:defRPr>
            </a:lvl2pPr>
            <a:lvl3pPr algn="r">
              <a:buNone/>
              <a:defRPr sz="1200" b="0">
                <a:solidFill>
                  <a:srgbClr val="5D6A67"/>
                </a:solidFill>
                <a:latin typeface="Arial"/>
                <a:ea typeface="Arial"/>
                <a:cs typeface="Arial"/>
              </a:defRPr>
            </a:lvl3pPr>
            <a:lvl4pPr algn="r">
              <a:buNone/>
              <a:defRPr sz="1200" b="0">
                <a:solidFill>
                  <a:srgbClr val="5D6A67"/>
                </a:solidFill>
                <a:latin typeface="Arial"/>
                <a:ea typeface="Arial"/>
                <a:cs typeface="Arial"/>
              </a:defRPr>
            </a:lvl4pPr>
            <a:lvl5pPr algn="r">
              <a:buNone/>
              <a:defRPr sz="1200" b="0">
                <a:solidFill>
                  <a:srgbClr val="5D6A67"/>
                </a:solidFill>
                <a:latin typeface="Arial"/>
                <a:ea typeface="Arial"/>
                <a:cs typeface="Arial"/>
              </a:defRPr>
            </a:lvl5pPr>
            <a:lvl6pPr algn="r">
              <a:buNone/>
              <a:defRPr sz="1200" b="0">
                <a:solidFill>
                  <a:srgbClr val="5D6A67"/>
                </a:solidFill>
                <a:latin typeface="Arial"/>
                <a:ea typeface="Arial"/>
                <a:cs typeface="Arial"/>
              </a:defRPr>
            </a:lvl6pPr>
            <a:lvl7pPr algn="r">
              <a:buNone/>
              <a:defRPr sz="1200" b="0">
                <a:solidFill>
                  <a:srgbClr val="5D6A67"/>
                </a:solidFill>
                <a:latin typeface="Arial"/>
                <a:ea typeface="Arial"/>
                <a:cs typeface="Arial"/>
              </a:defRPr>
            </a:lvl7pPr>
            <a:lvl8pPr algn="r">
              <a:buNone/>
              <a:defRPr sz="1200" b="0">
                <a:solidFill>
                  <a:srgbClr val="5D6A67"/>
                </a:solidFill>
                <a:latin typeface="Arial"/>
                <a:ea typeface="Arial"/>
                <a:cs typeface="Arial"/>
              </a:defRPr>
            </a:lvl8pPr>
            <a:lvl9pPr algn="r">
              <a:buNone/>
              <a:defRPr sz="1200" b="0">
                <a:solidFill>
                  <a:srgbClr val="5D6A67"/>
                </a:solidFill>
                <a:latin typeface="Arial"/>
                <a:ea typeface="Arial"/>
                <a:cs typeface="Arial"/>
              </a:defRPr>
            </a:lvl9pPr>
          </a:lstStyle>
          <a:p>
            <a:pPr algn="r">
              <a:buNone/>
              <a:defRPr sz="1200" b="0">
                <a:solidFill>
                  <a:srgbClr val="5D6A67"/>
                </a:solidFill>
                <a:latin typeface="Arial"/>
                <a:ea typeface="Arial"/>
                <a:cs typeface="Arial"/>
              </a:defRPr>
            </a:pPr>
            <a:r>
              <a:rPr sz="1200" b="0">
                <a:solidFill>
                  <a:srgbClr val="5D6A67"/>
                </a:solidFill>
                <a:latin typeface="JetBrains Mono"/>
                <a:ea typeface="Arial"/>
                <a:cs typeface="Arial"/>
              </a:rPr>
              <a:t>04</a:t>
            </a:r>
            <a:endParaRPr/>
          </a:p>
        </p:txBody>
      </p:sp>
      <p:sp>
        <p:nvSpPr>
          <p:cNvPr id="988876245" name="budget-revision-text-21"/>
          <p:cNvSpPr>
            <a:spLocks noGrp="1"/>
          </p:cNvSpPr>
          <p:nvPr/>
        </p:nvSpPr>
        <p:spPr bwMode="auto">
          <a:xfrm>
            <a:off x="609600" y="6076950"/>
            <a:ext cx="10972800" cy="323850"/>
          </a:xfrm>
          <a:prstGeom prst="rect">
            <a:avLst/>
          </a:prstGeom>
          <a:noFill/>
          <a:ln w="0">
            <a:solidFill/>
            <a:prstDash val="solid"/>
          </a:ln>
        </p:spPr>
        <p:txBody>
          <a:bodyPr wrap="square" lIns="0" tIns="0" rIns="0" bIns="0" anchor="t">
            <a:noAutofit/>
          </a:bodyPr>
          <a:lstStyle>
            <a:defPPr algn="l">
              <a:defRPr sz="1500" b="0">
                <a:solidFill>
                  <a:srgbClr val="5D6A67"/>
                </a:solidFill>
                <a:latin typeface="Arial"/>
                <a:ea typeface="Arial"/>
                <a:cs typeface="Arial"/>
              </a:defRPr>
            </a:defPPr>
            <a:lvl1pPr algn="l">
              <a:buNone/>
              <a:defRPr sz="1500" b="0">
                <a:solidFill>
                  <a:srgbClr val="5D6A67"/>
                </a:solidFill>
                <a:latin typeface="Arial"/>
                <a:ea typeface="Arial"/>
                <a:cs typeface="Arial"/>
              </a:defRPr>
            </a:lvl1pPr>
            <a:lvl2pPr algn="l">
              <a:buNone/>
              <a:defRPr sz="1500" b="0">
                <a:solidFill>
                  <a:srgbClr val="5D6A67"/>
                </a:solidFill>
                <a:latin typeface="Arial"/>
                <a:ea typeface="Arial"/>
                <a:cs typeface="Arial"/>
              </a:defRPr>
            </a:lvl2pPr>
            <a:lvl3pPr algn="l">
              <a:buNone/>
              <a:defRPr sz="1500" b="0">
                <a:solidFill>
                  <a:srgbClr val="5D6A67"/>
                </a:solidFill>
                <a:latin typeface="Arial"/>
                <a:ea typeface="Arial"/>
                <a:cs typeface="Arial"/>
              </a:defRPr>
            </a:lvl3pPr>
            <a:lvl4pPr algn="l">
              <a:buNone/>
              <a:defRPr sz="1500" b="0">
                <a:solidFill>
                  <a:srgbClr val="5D6A67"/>
                </a:solidFill>
                <a:latin typeface="Arial"/>
                <a:ea typeface="Arial"/>
                <a:cs typeface="Arial"/>
              </a:defRPr>
            </a:lvl4pPr>
            <a:lvl5pPr algn="l">
              <a:buNone/>
              <a:defRPr sz="1500" b="0">
                <a:solidFill>
                  <a:srgbClr val="5D6A67"/>
                </a:solidFill>
                <a:latin typeface="Arial"/>
                <a:ea typeface="Arial"/>
                <a:cs typeface="Arial"/>
              </a:defRPr>
            </a:lvl5pPr>
            <a:lvl6pPr algn="l">
              <a:buNone/>
              <a:defRPr sz="1500" b="0">
                <a:solidFill>
                  <a:srgbClr val="5D6A67"/>
                </a:solidFill>
                <a:latin typeface="Arial"/>
                <a:ea typeface="Arial"/>
                <a:cs typeface="Arial"/>
              </a:defRPr>
            </a:lvl6pPr>
            <a:lvl7pPr algn="l">
              <a:buNone/>
              <a:defRPr sz="1500" b="0">
                <a:solidFill>
                  <a:srgbClr val="5D6A67"/>
                </a:solidFill>
                <a:latin typeface="Arial"/>
                <a:ea typeface="Arial"/>
                <a:cs typeface="Arial"/>
              </a:defRPr>
            </a:lvl7pPr>
            <a:lvl8pPr algn="l">
              <a:buNone/>
              <a:defRPr sz="1500" b="0">
                <a:solidFill>
                  <a:srgbClr val="5D6A67"/>
                </a:solidFill>
                <a:latin typeface="Arial"/>
                <a:ea typeface="Arial"/>
                <a:cs typeface="Arial"/>
              </a:defRPr>
            </a:lvl8pPr>
            <a:lvl9pPr algn="l">
              <a:buNone/>
              <a:defRPr sz="1500" b="0">
                <a:solidFill>
                  <a:srgbClr val="5D6A67"/>
                </a:solidFill>
                <a:latin typeface="Arial"/>
                <a:ea typeface="Arial"/>
                <a:cs typeface="Arial"/>
              </a:defRPr>
            </a:lvl9pPr>
          </a:lstStyle>
          <a:p>
            <a:pPr algn="l">
              <a:buNone/>
              <a:defRPr sz="1500" b="0">
                <a:solidFill>
                  <a:srgbClr val="5D6A67"/>
                </a:solidFill>
                <a:latin typeface="Arial"/>
                <a:ea typeface="Arial"/>
                <a:cs typeface="Arial"/>
              </a:defRPr>
            </a:pPr>
            <a:r>
              <a:rPr sz="1500" b="0">
                <a:solidFill>
                  <a:srgbClr val="5D6A67"/>
                </a:solidFill>
                <a:latin typeface="Plus Jakarta Sans"/>
                <a:ea typeface="Arial"/>
                <a:cs typeface="Arial"/>
              </a:rPr>
              <a:t>One token records one receipt unit. Custody and programme documents establish backing and holder rights.</a:t>
            </a:r>
            <a:endParaRPr/>
          </a:p>
        </p:txBody>
      </p:sp>
      <p:pic>
        <p:nvPicPr>
          <p:cNvPr id="2024474646" name=""/>
          <p:cNvPicPr>
            <a:picLocks noChangeAspect="1"/>
          </p:cNvPicPr>
          <p:nvPr/>
        </p:nvPicPr>
        <p:blipFill rotWithShape="1">
          <a:blip r:embed="rId3"/>
          <a:stretch/>
        </p:blipFill>
        <p:spPr bwMode="auto">
          <a:xfrm flipH="0" flipV="0">
            <a:off x="1641499" y="1052512"/>
            <a:ext cx="8720666" cy="4903751"/>
          </a:xfrm>
          <a:prstGeom prst="rect">
            <a:avLst/>
          </a:prstGeom>
          <a:ln>
            <a:solid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296692596" name="access-revision-text-59"/>
          <p:cNvSpPr>
            <a:spLocks noGrp="1"/>
          </p:cNvSpPr>
          <p:nvPr/>
        </p:nvSpPr>
        <p:spPr bwMode="auto">
          <a:xfrm>
            <a:off x="609600" y="504825"/>
            <a:ext cx="10972800" cy="828675"/>
          </a:xfrm>
          <a:prstGeom prst="rect">
            <a:avLst/>
          </a:prstGeom>
          <a:noFill/>
          <a:ln w="0">
            <a:solidFill/>
            <a:prstDash val="solid"/>
          </a:ln>
        </p:spPr>
        <p:txBody>
          <a:bodyPr wrap="square" lIns="0" tIns="0" rIns="0" bIns="0" anchor="t">
            <a:noAutofit/>
          </a:bodyPr>
          <a:lstStyle>
            <a:defPPr algn="l">
              <a:defRPr sz="3300" b="1">
                <a:solidFill>
                  <a:srgbClr val="18201D"/>
                </a:solidFill>
                <a:latin typeface="Arial"/>
                <a:ea typeface="Arial"/>
                <a:cs typeface="Arial"/>
              </a:defRPr>
            </a:defPPr>
            <a:lvl1pPr algn="l">
              <a:buNone/>
              <a:defRPr sz="3300" b="1">
                <a:solidFill>
                  <a:srgbClr val="18201D"/>
                </a:solidFill>
                <a:latin typeface="Arial"/>
                <a:ea typeface="Arial"/>
                <a:cs typeface="Arial"/>
              </a:defRPr>
            </a:lvl1pPr>
            <a:lvl2pPr algn="l">
              <a:buNone/>
              <a:defRPr sz="3300" b="1">
                <a:solidFill>
                  <a:srgbClr val="18201D"/>
                </a:solidFill>
                <a:latin typeface="Arial"/>
                <a:ea typeface="Arial"/>
                <a:cs typeface="Arial"/>
              </a:defRPr>
            </a:lvl2pPr>
            <a:lvl3pPr algn="l">
              <a:buNone/>
              <a:defRPr sz="3300" b="1">
                <a:solidFill>
                  <a:srgbClr val="18201D"/>
                </a:solidFill>
                <a:latin typeface="Arial"/>
                <a:ea typeface="Arial"/>
                <a:cs typeface="Arial"/>
              </a:defRPr>
            </a:lvl3pPr>
            <a:lvl4pPr algn="l">
              <a:buNone/>
              <a:defRPr sz="3300" b="1">
                <a:solidFill>
                  <a:srgbClr val="18201D"/>
                </a:solidFill>
                <a:latin typeface="Arial"/>
                <a:ea typeface="Arial"/>
                <a:cs typeface="Arial"/>
              </a:defRPr>
            </a:lvl4pPr>
            <a:lvl5pPr algn="l">
              <a:buNone/>
              <a:defRPr sz="3300" b="1">
                <a:solidFill>
                  <a:srgbClr val="18201D"/>
                </a:solidFill>
                <a:latin typeface="Arial"/>
                <a:ea typeface="Arial"/>
                <a:cs typeface="Arial"/>
              </a:defRPr>
            </a:lvl5pPr>
            <a:lvl6pPr algn="l">
              <a:buNone/>
              <a:defRPr sz="3300" b="1">
                <a:solidFill>
                  <a:srgbClr val="18201D"/>
                </a:solidFill>
                <a:latin typeface="Arial"/>
                <a:ea typeface="Arial"/>
                <a:cs typeface="Arial"/>
              </a:defRPr>
            </a:lvl6pPr>
            <a:lvl7pPr algn="l">
              <a:buNone/>
              <a:defRPr sz="3300" b="1">
                <a:solidFill>
                  <a:srgbClr val="18201D"/>
                </a:solidFill>
                <a:latin typeface="Arial"/>
                <a:ea typeface="Arial"/>
                <a:cs typeface="Arial"/>
              </a:defRPr>
            </a:lvl7pPr>
            <a:lvl8pPr algn="l">
              <a:buNone/>
              <a:defRPr sz="3300" b="1">
                <a:solidFill>
                  <a:srgbClr val="18201D"/>
                </a:solidFill>
                <a:latin typeface="Arial"/>
                <a:ea typeface="Arial"/>
                <a:cs typeface="Arial"/>
              </a:defRPr>
            </a:lvl8pPr>
            <a:lvl9pPr algn="l">
              <a:buNone/>
              <a:defRPr sz="3300" b="1">
                <a:solidFill>
                  <a:srgbClr val="18201D"/>
                </a:solidFill>
                <a:latin typeface="Arial"/>
                <a:ea typeface="Arial"/>
                <a:cs typeface="Arial"/>
              </a:defRPr>
            </a:lvl9pPr>
          </a:lstStyle>
          <a:p>
            <a:pPr algn="l">
              <a:buNone/>
              <a:defRPr sz="3300" b="1">
                <a:solidFill>
                  <a:srgbClr val="18201D"/>
                </a:solidFill>
                <a:latin typeface="Arial"/>
                <a:ea typeface="Arial"/>
                <a:cs typeface="Arial"/>
              </a:defRPr>
            </a:pPr>
            <a:r>
              <a:rPr sz="3300" b="1">
                <a:solidFill>
                  <a:srgbClr val="18201D"/>
                </a:solidFill>
                <a:latin typeface="Outfit"/>
                <a:ea typeface="Arial"/>
                <a:cs typeface="Arial"/>
              </a:rPr>
              <a:t>1. Create the product</a:t>
            </a:r>
            <a:endParaRPr/>
          </a:p>
        </p:txBody>
      </p:sp>
      <p:sp>
        <p:nvSpPr>
          <p:cNvPr id="1631262847" name="access-revision-text-60"/>
          <p:cNvSpPr>
            <a:spLocks noGrp="1"/>
          </p:cNvSpPr>
          <p:nvPr/>
        </p:nvSpPr>
        <p:spPr bwMode="auto">
          <a:xfrm>
            <a:off x="609600" y="1409700"/>
            <a:ext cx="10972800" cy="609600"/>
          </a:xfrm>
          <a:prstGeom prst="rect">
            <a:avLst/>
          </a:prstGeom>
          <a:noFill/>
          <a:ln w="0">
            <a:solidFill/>
            <a:prstDash val="solid"/>
          </a:ln>
        </p:spPr>
        <p:txBody>
          <a:bodyPr wrap="square" lIns="0" tIns="0" rIns="0" bIns="0" anchor="t">
            <a:noAutofit/>
          </a:bodyPr>
          <a:lstStyle>
            <a:defPPr algn="l">
              <a:defRPr sz="1900" b="0">
                <a:solidFill>
                  <a:srgbClr val="5D6A67"/>
                </a:solidFill>
                <a:latin typeface="Arial"/>
                <a:ea typeface="Arial"/>
                <a:cs typeface="Arial"/>
              </a:defRPr>
            </a:defPPr>
            <a:lvl1pPr algn="l">
              <a:buNone/>
              <a:defRPr sz="1900" b="0">
                <a:solidFill>
                  <a:srgbClr val="5D6A67"/>
                </a:solidFill>
                <a:latin typeface="Arial"/>
                <a:ea typeface="Arial"/>
                <a:cs typeface="Arial"/>
              </a:defRPr>
            </a:lvl1pPr>
            <a:lvl2pPr algn="l">
              <a:buNone/>
              <a:defRPr sz="1900" b="0">
                <a:solidFill>
                  <a:srgbClr val="5D6A67"/>
                </a:solidFill>
                <a:latin typeface="Arial"/>
                <a:ea typeface="Arial"/>
                <a:cs typeface="Arial"/>
              </a:defRPr>
            </a:lvl2pPr>
            <a:lvl3pPr algn="l">
              <a:buNone/>
              <a:defRPr sz="1900" b="0">
                <a:solidFill>
                  <a:srgbClr val="5D6A67"/>
                </a:solidFill>
                <a:latin typeface="Arial"/>
                <a:ea typeface="Arial"/>
                <a:cs typeface="Arial"/>
              </a:defRPr>
            </a:lvl3pPr>
            <a:lvl4pPr algn="l">
              <a:buNone/>
              <a:defRPr sz="1900" b="0">
                <a:solidFill>
                  <a:srgbClr val="5D6A67"/>
                </a:solidFill>
                <a:latin typeface="Arial"/>
                <a:ea typeface="Arial"/>
                <a:cs typeface="Arial"/>
              </a:defRPr>
            </a:lvl4pPr>
            <a:lvl5pPr algn="l">
              <a:buNone/>
              <a:defRPr sz="1900" b="0">
                <a:solidFill>
                  <a:srgbClr val="5D6A67"/>
                </a:solidFill>
                <a:latin typeface="Arial"/>
                <a:ea typeface="Arial"/>
                <a:cs typeface="Arial"/>
              </a:defRPr>
            </a:lvl5pPr>
            <a:lvl6pPr algn="l">
              <a:buNone/>
              <a:defRPr sz="1900" b="0">
                <a:solidFill>
                  <a:srgbClr val="5D6A67"/>
                </a:solidFill>
                <a:latin typeface="Arial"/>
                <a:ea typeface="Arial"/>
                <a:cs typeface="Arial"/>
              </a:defRPr>
            </a:lvl6pPr>
            <a:lvl7pPr algn="l">
              <a:buNone/>
              <a:defRPr sz="1900" b="0">
                <a:solidFill>
                  <a:srgbClr val="5D6A67"/>
                </a:solidFill>
                <a:latin typeface="Arial"/>
                <a:ea typeface="Arial"/>
                <a:cs typeface="Arial"/>
              </a:defRPr>
            </a:lvl7pPr>
            <a:lvl8pPr algn="l">
              <a:buNone/>
              <a:defRPr sz="1900" b="0">
                <a:solidFill>
                  <a:srgbClr val="5D6A67"/>
                </a:solidFill>
                <a:latin typeface="Arial"/>
                <a:ea typeface="Arial"/>
                <a:cs typeface="Arial"/>
              </a:defRPr>
            </a:lvl8pPr>
            <a:lvl9pPr algn="l">
              <a:buNone/>
              <a:defRPr sz="1900" b="0">
                <a:solidFill>
                  <a:srgbClr val="5D6A67"/>
                </a:solidFill>
                <a:latin typeface="Arial"/>
                <a:ea typeface="Arial"/>
                <a:cs typeface="Arial"/>
              </a:defRPr>
            </a:lvl9pPr>
          </a:lstStyle>
          <a:p>
            <a:pPr algn="l">
              <a:buNone/>
              <a:defRPr sz="1900" b="0">
                <a:solidFill>
                  <a:srgbClr val="5D6A67"/>
                </a:solidFill>
                <a:latin typeface="Arial"/>
                <a:ea typeface="Arial"/>
                <a:cs typeface="Arial"/>
              </a:defRPr>
            </a:pPr>
            <a:r>
              <a:rPr sz="1900" b="0">
                <a:solidFill>
                  <a:srgbClr val="5D6A67"/>
                </a:solidFill>
                <a:latin typeface="Plus Jakarta Sans"/>
                <a:ea typeface="Arial"/>
                <a:cs typeface="Arial"/>
              </a:rPr>
              <a:t>Fictional GlobalTech series GT-01. One token records one programme receipt unit.</a:t>
            </a:r>
            <a:endParaRPr/>
          </a:p>
        </p:txBody>
      </p:sp>
      <p:sp>
        <p:nvSpPr>
          <p:cNvPr id="1078070113" name="access-revision-text-61"/>
          <p:cNvSpPr>
            <a:spLocks noGrp="1"/>
          </p:cNvSpPr>
          <p:nvPr/>
        </p:nvSpPr>
        <p:spPr bwMode="auto">
          <a:xfrm>
            <a:off x="609600" y="6438899"/>
            <a:ext cx="3619500" cy="238125"/>
          </a:xfrm>
          <a:prstGeom prst="rect">
            <a:avLst/>
          </a:prstGeom>
          <a:noFill/>
          <a:ln w="0">
            <a:solidFill/>
            <a:prstDash val="solid"/>
          </a:ln>
        </p:spPr>
        <p:txBody>
          <a:bodyPr wrap="square" lIns="0" tIns="0" rIns="0" bIns="0" anchor="t">
            <a:noAutofit/>
          </a:bodyPr>
          <a:lstStyle>
            <a:defPPr algn="l">
              <a:defRPr sz="1200" b="1">
                <a:solidFill>
                  <a:srgbClr val="0DBE85"/>
                </a:solidFill>
                <a:latin typeface="Arial"/>
                <a:ea typeface="Arial"/>
                <a:cs typeface="Arial"/>
              </a:defRPr>
            </a:defPPr>
            <a:lvl1pPr algn="l">
              <a:buNone/>
              <a:defRPr sz="1200" b="1">
                <a:solidFill>
                  <a:srgbClr val="0DBE85"/>
                </a:solidFill>
                <a:latin typeface="Arial"/>
                <a:ea typeface="Arial"/>
                <a:cs typeface="Arial"/>
              </a:defRPr>
            </a:lvl1pPr>
            <a:lvl2pPr algn="l">
              <a:buNone/>
              <a:defRPr sz="1200" b="1">
                <a:solidFill>
                  <a:srgbClr val="0DBE85"/>
                </a:solidFill>
                <a:latin typeface="Arial"/>
                <a:ea typeface="Arial"/>
                <a:cs typeface="Arial"/>
              </a:defRPr>
            </a:lvl2pPr>
            <a:lvl3pPr algn="l">
              <a:buNone/>
              <a:defRPr sz="1200" b="1">
                <a:solidFill>
                  <a:srgbClr val="0DBE85"/>
                </a:solidFill>
                <a:latin typeface="Arial"/>
                <a:ea typeface="Arial"/>
                <a:cs typeface="Arial"/>
              </a:defRPr>
            </a:lvl3pPr>
            <a:lvl4pPr algn="l">
              <a:buNone/>
              <a:defRPr sz="1200" b="1">
                <a:solidFill>
                  <a:srgbClr val="0DBE85"/>
                </a:solidFill>
                <a:latin typeface="Arial"/>
                <a:ea typeface="Arial"/>
                <a:cs typeface="Arial"/>
              </a:defRPr>
            </a:lvl4pPr>
            <a:lvl5pPr algn="l">
              <a:buNone/>
              <a:defRPr sz="1200" b="1">
                <a:solidFill>
                  <a:srgbClr val="0DBE85"/>
                </a:solidFill>
                <a:latin typeface="Arial"/>
                <a:ea typeface="Arial"/>
                <a:cs typeface="Arial"/>
              </a:defRPr>
            </a:lvl5pPr>
            <a:lvl6pPr algn="l">
              <a:buNone/>
              <a:defRPr sz="1200" b="1">
                <a:solidFill>
                  <a:srgbClr val="0DBE85"/>
                </a:solidFill>
                <a:latin typeface="Arial"/>
                <a:ea typeface="Arial"/>
                <a:cs typeface="Arial"/>
              </a:defRPr>
            </a:lvl6pPr>
            <a:lvl7pPr algn="l">
              <a:buNone/>
              <a:defRPr sz="1200" b="1">
                <a:solidFill>
                  <a:srgbClr val="0DBE85"/>
                </a:solidFill>
                <a:latin typeface="Arial"/>
                <a:ea typeface="Arial"/>
                <a:cs typeface="Arial"/>
              </a:defRPr>
            </a:lvl7pPr>
            <a:lvl8pPr algn="l">
              <a:buNone/>
              <a:defRPr sz="1200" b="1">
                <a:solidFill>
                  <a:srgbClr val="0DBE85"/>
                </a:solidFill>
                <a:latin typeface="Arial"/>
                <a:ea typeface="Arial"/>
                <a:cs typeface="Arial"/>
              </a:defRPr>
            </a:lvl8pPr>
            <a:lvl9pPr algn="l">
              <a:buNone/>
              <a:defRPr sz="1200" b="1">
                <a:solidFill>
                  <a:srgbClr val="0DBE85"/>
                </a:solidFill>
                <a:latin typeface="Arial"/>
                <a:ea typeface="Arial"/>
                <a:cs typeface="Arial"/>
              </a:defRPr>
            </a:lvl9pPr>
          </a:lstStyle>
          <a:p>
            <a:pPr algn="l">
              <a:buNone/>
              <a:defRPr sz="1200" b="1">
                <a:solidFill>
                  <a:srgbClr val="0DBE85"/>
                </a:solidFill>
                <a:latin typeface="Arial"/>
                <a:ea typeface="Arial"/>
                <a:cs typeface="Arial"/>
              </a:defRPr>
            </a:pPr>
            <a:r>
              <a:rPr sz="1200" b="1">
                <a:solidFill>
                  <a:srgbClr val="0AA372"/>
                </a:solidFill>
                <a:latin typeface="JetBrains Mono"/>
                <a:ea typeface="Arial"/>
                <a:cs typeface="Arial"/>
              </a:rPr>
              <a:t>D-SHARE / PRIME</a:t>
            </a:r>
            <a:endParaRPr/>
          </a:p>
        </p:txBody>
      </p:sp>
      <p:sp>
        <p:nvSpPr>
          <p:cNvPr id="904989397" name="access-revision-text-62"/>
          <p:cNvSpPr>
            <a:spLocks noGrp="1"/>
          </p:cNvSpPr>
          <p:nvPr/>
        </p:nvSpPr>
        <p:spPr bwMode="auto">
          <a:xfrm>
            <a:off x="11020424" y="6438899"/>
            <a:ext cx="561975" cy="238125"/>
          </a:xfrm>
          <a:prstGeom prst="rect">
            <a:avLst/>
          </a:prstGeom>
          <a:noFill/>
          <a:ln w="0">
            <a:solidFill/>
            <a:prstDash val="solid"/>
          </a:ln>
        </p:spPr>
        <p:txBody>
          <a:bodyPr wrap="square" lIns="0" tIns="0" rIns="0" bIns="0" anchor="t">
            <a:noAutofit/>
          </a:bodyPr>
          <a:lstStyle>
            <a:defPPr algn="r">
              <a:defRPr sz="1200" b="0">
                <a:solidFill>
                  <a:srgbClr val="5D6A67"/>
                </a:solidFill>
                <a:latin typeface="Arial"/>
                <a:ea typeface="Arial"/>
                <a:cs typeface="Arial"/>
              </a:defRPr>
            </a:defPPr>
            <a:lvl1pPr algn="r">
              <a:buNone/>
              <a:defRPr sz="1200" b="0">
                <a:solidFill>
                  <a:srgbClr val="5D6A67"/>
                </a:solidFill>
                <a:latin typeface="Arial"/>
                <a:ea typeface="Arial"/>
                <a:cs typeface="Arial"/>
              </a:defRPr>
            </a:lvl1pPr>
            <a:lvl2pPr algn="r">
              <a:buNone/>
              <a:defRPr sz="1200" b="0">
                <a:solidFill>
                  <a:srgbClr val="5D6A67"/>
                </a:solidFill>
                <a:latin typeface="Arial"/>
                <a:ea typeface="Arial"/>
                <a:cs typeface="Arial"/>
              </a:defRPr>
            </a:lvl2pPr>
            <a:lvl3pPr algn="r">
              <a:buNone/>
              <a:defRPr sz="1200" b="0">
                <a:solidFill>
                  <a:srgbClr val="5D6A67"/>
                </a:solidFill>
                <a:latin typeface="Arial"/>
                <a:ea typeface="Arial"/>
                <a:cs typeface="Arial"/>
              </a:defRPr>
            </a:lvl3pPr>
            <a:lvl4pPr algn="r">
              <a:buNone/>
              <a:defRPr sz="1200" b="0">
                <a:solidFill>
                  <a:srgbClr val="5D6A67"/>
                </a:solidFill>
                <a:latin typeface="Arial"/>
                <a:ea typeface="Arial"/>
                <a:cs typeface="Arial"/>
              </a:defRPr>
            </a:lvl4pPr>
            <a:lvl5pPr algn="r">
              <a:buNone/>
              <a:defRPr sz="1200" b="0">
                <a:solidFill>
                  <a:srgbClr val="5D6A67"/>
                </a:solidFill>
                <a:latin typeface="Arial"/>
                <a:ea typeface="Arial"/>
                <a:cs typeface="Arial"/>
              </a:defRPr>
            </a:lvl5pPr>
            <a:lvl6pPr algn="r">
              <a:buNone/>
              <a:defRPr sz="1200" b="0">
                <a:solidFill>
                  <a:srgbClr val="5D6A67"/>
                </a:solidFill>
                <a:latin typeface="Arial"/>
                <a:ea typeface="Arial"/>
                <a:cs typeface="Arial"/>
              </a:defRPr>
            </a:lvl6pPr>
            <a:lvl7pPr algn="r">
              <a:buNone/>
              <a:defRPr sz="1200" b="0">
                <a:solidFill>
                  <a:srgbClr val="5D6A67"/>
                </a:solidFill>
                <a:latin typeface="Arial"/>
                <a:ea typeface="Arial"/>
                <a:cs typeface="Arial"/>
              </a:defRPr>
            </a:lvl7pPr>
            <a:lvl8pPr algn="r">
              <a:buNone/>
              <a:defRPr sz="1200" b="0">
                <a:solidFill>
                  <a:srgbClr val="5D6A67"/>
                </a:solidFill>
                <a:latin typeface="Arial"/>
                <a:ea typeface="Arial"/>
                <a:cs typeface="Arial"/>
              </a:defRPr>
            </a:lvl8pPr>
            <a:lvl9pPr algn="r">
              <a:buNone/>
              <a:defRPr sz="1200" b="0">
                <a:solidFill>
                  <a:srgbClr val="5D6A67"/>
                </a:solidFill>
                <a:latin typeface="Arial"/>
                <a:ea typeface="Arial"/>
                <a:cs typeface="Arial"/>
              </a:defRPr>
            </a:lvl9pPr>
          </a:lstStyle>
          <a:p>
            <a:pPr algn="r">
              <a:buNone/>
              <a:defRPr sz="1200" b="0">
                <a:solidFill>
                  <a:srgbClr val="5D6A67"/>
                </a:solidFill>
                <a:latin typeface="Arial"/>
                <a:ea typeface="Arial"/>
                <a:cs typeface="Arial"/>
              </a:defRPr>
            </a:pPr>
            <a:r>
              <a:rPr sz="1200" b="0">
                <a:solidFill>
                  <a:srgbClr val="5D6A67"/>
                </a:solidFill>
                <a:latin typeface="JetBrains Mono"/>
                <a:ea typeface="Arial"/>
                <a:cs typeface="Arial"/>
              </a:rPr>
              <a:t>05</a:t>
            </a:r>
            <a:endParaRPr/>
          </a:p>
        </p:txBody>
      </p:sp>
      <p:sp>
        <p:nvSpPr>
          <p:cNvPr id="1328322790" name="access-revision-text-63"/>
          <p:cNvSpPr>
            <a:spLocks noGrp="1"/>
          </p:cNvSpPr>
          <p:nvPr/>
        </p:nvSpPr>
        <p:spPr bwMode="auto">
          <a:xfrm>
            <a:off x="609600" y="2247900"/>
            <a:ext cx="3333750" cy="762000"/>
          </a:xfrm>
          <a:prstGeom prst="rect">
            <a:avLst/>
          </a:prstGeom>
          <a:noFill/>
          <a:ln w="0">
            <a:solidFill/>
            <a:prstDash val="solid"/>
          </a:ln>
        </p:spPr>
        <p:txBody>
          <a:bodyPr wrap="square" lIns="0" tIns="0" rIns="0" bIns="0" anchor="t">
            <a:noAutofit/>
          </a:bodyPr>
          <a:lstStyle>
            <a:defPPr algn="l">
              <a:defRPr sz="4150" b="1">
                <a:solidFill>
                  <a:srgbClr val="18201D"/>
                </a:solidFill>
                <a:latin typeface="Arial"/>
                <a:ea typeface="Arial"/>
                <a:cs typeface="Arial"/>
              </a:defRPr>
            </a:defPPr>
            <a:lvl1pPr algn="l">
              <a:buNone/>
              <a:defRPr sz="4150" b="1">
                <a:solidFill>
                  <a:srgbClr val="18201D"/>
                </a:solidFill>
                <a:latin typeface="Arial"/>
                <a:ea typeface="Arial"/>
                <a:cs typeface="Arial"/>
              </a:defRPr>
            </a:lvl1pPr>
            <a:lvl2pPr algn="l">
              <a:buNone/>
              <a:defRPr sz="4150" b="1">
                <a:solidFill>
                  <a:srgbClr val="18201D"/>
                </a:solidFill>
                <a:latin typeface="Arial"/>
                <a:ea typeface="Arial"/>
                <a:cs typeface="Arial"/>
              </a:defRPr>
            </a:lvl2pPr>
            <a:lvl3pPr algn="l">
              <a:buNone/>
              <a:defRPr sz="4150" b="1">
                <a:solidFill>
                  <a:srgbClr val="18201D"/>
                </a:solidFill>
                <a:latin typeface="Arial"/>
                <a:ea typeface="Arial"/>
                <a:cs typeface="Arial"/>
              </a:defRPr>
            </a:lvl3pPr>
            <a:lvl4pPr algn="l">
              <a:buNone/>
              <a:defRPr sz="4150" b="1">
                <a:solidFill>
                  <a:srgbClr val="18201D"/>
                </a:solidFill>
                <a:latin typeface="Arial"/>
                <a:ea typeface="Arial"/>
                <a:cs typeface="Arial"/>
              </a:defRPr>
            </a:lvl4pPr>
            <a:lvl5pPr algn="l">
              <a:buNone/>
              <a:defRPr sz="4150" b="1">
                <a:solidFill>
                  <a:srgbClr val="18201D"/>
                </a:solidFill>
                <a:latin typeface="Arial"/>
                <a:ea typeface="Arial"/>
                <a:cs typeface="Arial"/>
              </a:defRPr>
            </a:lvl5pPr>
            <a:lvl6pPr algn="l">
              <a:buNone/>
              <a:defRPr sz="4150" b="1">
                <a:solidFill>
                  <a:srgbClr val="18201D"/>
                </a:solidFill>
                <a:latin typeface="Arial"/>
                <a:ea typeface="Arial"/>
                <a:cs typeface="Arial"/>
              </a:defRPr>
            </a:lvl6pPr>
            <a:lvl7pPr algn="l">
              <a:buNone/>
              <a:defRPr sz="4150" b="1">
                <a:solidFill>
                  <a:srgbClr val="18201D"/>
                </a:solidFill>
                <a:latin typeface="Arial"/>
                <a:ea typeface="Arial"/>
                <a:cs typeface="Arial"/>
              </a:defRPr>
            </a:lvl7pPr>
            <a:lvl8pPr algn="l">
              <a:buNone/>
              <a:defRPr sz="4150" b="1">
                <a:solidFill>
                  <a:srgbClr val="18201D"/>
                </a:solidFill>
                <a:latin typeface="Arial"/>
                <a:ea typeface="Arial"/>
                <a:cs typeface="Arial"/>
              </a:defRPr>
            </a:lvl8pPr>
            <a:lvl9pPr algn="l">
              <a:buNone/>
              <a:defRPr sz="4150" b="1">
                <a:solidFill>
                  <a:srgbClr val="18201D"/>
                </a:solidFill>
                <a:latin typeface="Arial"/>
                <a:ea typeface="Arial"/>
                <a:cs typeface="Arial"/>
              </a:defRPr>
            </a:lvl9pPr>
          </a:lstStyle>
          <a:p>
            <a:pPr algn="l">
              <a:buNone/>
              <a:defRPr sz="4150" b="1">
                <a:solidFill>
                  <a:srgbClr val="18201D"/>
                </a:solidFill>
                <a:latin typeface="Arial"/>
                <a:ea typeface="Arial"/>
                <a:cs typeface="Arial"/>
              </a:defRPr>
            </a:pPr>
            <a:r>
              <a:rPr sz="4150" b="1">
                <a:solidFill>
                  <a:srgbClr val="18201D"/>
                </a:solidFill>
                <a:latin typeface="Outfit"/>
                <a:ea typeface="Arial"/>
                <a:cs typeface="Arial"/>
              </a:rPr>
              <a:t>US$1,200</a:t>
            </a:r>
            <a:endParaRPr/>
          </a:p>
        </p:txBody>
      </p:sp>
      <p:sp>
        <p:nvSpPr>
          <p:cNvPr id="1915550818" name="access-revision-text-64"/>
          <p:cNvSpPr>
            <a:spLocks noGrp="1"/>
          </p:cNvSpPr>
          <p:nvPr/>
        </p:nvSpPr>
        <p:spPr bwMode="auto">
          <a:xfrm>
            <a:off x="609600" y="3114675"/>
            <a:ext cx="3333750" cy="447675"/>
          </a:xfrm>
          <a:prstGeom prst="rect">
            <a:avLst/>
          </a:prstGeom>
          <a:noFill/>
          <a:ln w="0">
            <a:solidFill/>
            <a:prstDash val="solid"/>
          </a:ln>
        </p:spPr>
        <p:txBody>
          <a:bodyPr wrap="square" lIns="0" tIns="0" rIns="0" bIns="0" anchor="t">
            <a:noAutofit/>
          </a:bodyPr>
          <a:lstStyle>
            <a:defPPr algn="l">
              <a:defRPr sz="2050" b="0">
                <a:solidFill>
                  <a:srgbClr val="5D6A67"/>
                </a:solidFill>
                <a:latin typeface="Arial"/>
                <a:ea typeface="Arial"/>
                <a:cs typeface="Arial"/>
              </a:defRPr>
            </a:defPPr>
            <a:lvl1pPr algn="l">
              <a:buNone/>
              <a:defRPr sz="2050" b="0">
                <a:solidFill>
                  <a:srgbClr val="5D6A67"/>
                </a:solidFill>
                <a:latin typeface="Arial"/>
                <a:ea typeface="Arial"/>
                <a:cs typeface="Arial"/>
              </a:defRPr>
            </a:lvl1pPr>
            <a:lvl2pPr algn="l">
              <a:buNone/>
              <a:defRPr sz="2050" b="0">
                <a:solidFill>
                  <a:srgbClr val="5D6A67"/>
                </a:solidFill>
                <a:latin typeface="Arial"/>
                <a:ea typeface="Arial"/>
                <a:cs typeface="Arial"/>
              </a:defRPr>
            </a:lvl2pPr>
            <a:lvl3pPr algn="l">
              <a:buNone/>
              <a:defRPr sz="2050" b="0">
                <a:solidFill>
                  <a:srgbClr val="5D6A67"/>
                </a:solidFill>
                <a:latin typeface="Arial"/>
                <a:ea typeface="Arial"/>
                <a:cs typeface="Arial"/>
              </a:defRPr>
            </a:lvl3pPr>
            <a:lvl4pPr algn="l">
              <a:buNone/>
              <a:defRPr sz="2050" b="0">
                <a:solidFill>
                  <a:srgbClr val="5D6A67"/>
                </a:solidFill>
                <a:latin typeface="Arial"/>
                <a:ea typeface="Arial"/>
                <a:cs typeface="Arial"/>
              </a:defRPr>
            </a:lvl4pPr>
            <a:lvl5pPr algn="l">
              <a:buNone/>
              <a:defRPr sz="2050" b="0">
                <a:solidFill>
                  <a:srgbClr val="5D6A67"/>
                </a:solidFill>
                <a:latin typeface="Arial"/>
                <a:ea typeface="Arial"/>
                <a:cs typeface="Arial"/>
              </a:defRPr>
            </a:lvl5pPr>
            <a:lvl6pPr algn="l">
              <a:buNone/>
              <a:defRPr sz="2050" b="0">
                <a:solidFill>
                  <a:srgbClr val="5D6A67"/>
                </a:solidFill>
                <a:latin typeface="Arial"/>
                <a:ea typeface="Arial"/>
                <a:cs typeface="Arial"/>
              </a:defRPr>
            </a:lvl6pPr>
            <a:lvl7pPr algn="l">
              <a:buNone/>
              <a:defRPr sz="2050" b="0">
                <a:solidFill>
                  <a:srgbClr val="5D6A67"/>
                </a:solidFill>
                <a:latin typeface="Arial"/>
                <a:ea typeface="Arial"/>
                <a:cs typeface="Arial"/>
              </a:defRPr>
            </a:lvl7pPr>
            <a:lvl8pPr algn="l">
              <a:buNone/>
              <a:defRPr sz="2050" b="0">
                <a:solidFill>
                  <a:srgbClr val="5D6A67"/>
                </a:solidFill>
                <a:latin typeface="Arial"/>
                <a:ea typeface="Arial"/>
                <a:cs typeface="Arial"/>
              </a:defRPr>
            </a:lvl8pPr>
            <a:lvl9pPr algn="l">
              <a:buNone/>
              <a:defRPr sz="2050" b="0">
                <a:solidFill>
                  <a:srgbClr val="5D6A67"/>
                </a:solidFill>
                <a:latin typeface="Arial"/>
                <a:ea typeface="Arial"/>
                <a:cs typeface="Arial"/>
              </a:defRPr>
            </a:lvl9pPr>
          </a:lstStyle>
          <a:p>
            <a:pPr algn="l">
              <a:buNone/>
              <a:defRPr sz="2050" b="0">
                <a:solidFill>
                  <a:srgbClr val="5D6A67"/>
                </a:solidFill>
                <a:latin typeface="Arial"/>
                <a:ea typeface="Arial"/>
                <a:cs typeface="Arial"/>
              </a:defRPr>
            </a:pPr>
            <a:r>
              <a:rPr sz="2050" b="0">
                <a:solidFill>
                  <a:srgbClr val="5D6A67"/>
                </a:solidFill>
                <a:latin typeface="Outfit"/>
                <a:ea typeface="Arial"/>
                <a:cs typeface="Arial"/>
              </a:rPr>
              <a:t>Underlying share price</a:t>
            </a:r>
            <a:endParaRPr/>
          </a:p>
        </p:txBody>
      </p:sp>
      <p:sp>
        <p:nvSpPr>
          <p:cNvPr id="1840828365" name="access-revision-text-65"/>
          <p:cNvSpPr>
            <a:spLocks noGrp="1"/>
          </p:cNvSpPr>
          <p:nvPr/>
        </p:nvSpPr>
        <p:spPr bwMode="auto">
          <a:xfrm>
            <a:off x="4638675" y="2247900"/>
            <a:ext cx="2857500" cy="762000"/>
          </a:xfrm>
          <a:prstGeom prst="rect">
            <a:avLst/>
          </a:prstGeom>
          <a:noFill/>
          <a:ln w="0">
            <a:solidFill/>
            <a:prstDash val="solid"/>
          </a:ln>
        </p:spPr>
        <p:txBody>
          <a:bodyPr wrap="square" lIns="0" tIns="0" rIns="0" bIns="0" anchor="t">
            <a:noAutofit/>
          </a:bodyPr>
          <a:lstStyle>
            <a:defPPr algn="l">
              <a:defRPr sz="4150" b="1">
                <a:solidFill>
                  <a:srgbClr val="0DBE85"/>
                </a:solidFill>
                <a:latin typeface="Arial"/>
                <a:ea typeface="Arial"/>
                <a:cs typeface="Arial"/>
              </a:defRPr>
            </a:defPPr>
            <a:lvl1pPr algn="l">
              <a:buNone/>
              <a:defRPr sz="4150" b="1">
                <a:solidFill>
                  <a:srgbClr val="0DBE85"/>
                </a:solidFill>
                <a:latin typeface="Arial"/>
                <a:ea typeface="Arial"/>
                <a:cs typeface="Arial"/>
              </a:defRPr>
            </a:lvl1pPr>
            <a:lvl2pPr algn="l">
              <a:buNone/>
              <a:defRPr sz="4150" b="1">
                <a:solidFill>
                  <a:srgbClr val="0DBE85"/>
                </a:solidFill>
                <a:latin typeface="Arial"/>
                <a:ea typeface="Arial"/>
                <a:cs typeface="Arial"/>
              </a:defRPr>
            </a:lvl2pPr>
            <a:lvl3pPr algn="l">
              <a:buNone/>
              <a:defRPr sz="4150" b="1">
                <a:solidFill>
                  <a:srgbClr val="0DBE85"/>
                </a:solidFill>
                <a:latin typeface="Arial"/>
                <a:ea typeface="Arial"/>
                <a:cs typeface="Arial"/>
              </a:defRPr>
            </a:lvl3pPr>
            <a:lvl4pPr algn="l">
              <a:buNone/>
              <a:defRPr sz="4150" b="1">
                <a:solidFill>
                  <a:srgbClr val="0DBE85"/>
                </a:solidFill>
                <a:latin typeface="Arial"/>
                <a:ea typeface="Arial"/>
                <a:cs typeface="Arial"/>
              </a:defRPr>
            </a:lvl4pPr>
            <a:lvl5pPr algn="l">
              <a:buNone/>
              <a:defRPr sz="4150" b="1">
                <a:solidFill>
                  <a:srgbClr val="0DBE85"/>
                </a:solidFill>
                <a:latin typeface="Arial"/>
                <a:ea typeface="Arial"/>
                <a:cs typeface="Arial"/>
              </a:defRPr>
            </a:lvl5pPr>
            <a:lvl6pPr algn="l">
              <a:buNone/>
              <a:defRPr sz="4150" b="1">
                <a:solidFill>
                  <a:srgbClr val="0DBE85"/>
                </a:solidFill>
                <a:latin typeface="Arial"/>
                <a:ea typeface="Arial"/>
                <a:cs typeface="Arial"/>
              </a:defRPr>
            </a:lvl6pPr>
            <a:lvl7pPr algn="l">
              <a:buNone/>
              <a:defRPr sz="4150" b="1">
                <a:solidFill>
                  <a:srgbClr val="0DBE85"/>
                </a:solidFill>
                <a:latin typeface="Arial"/>
                <a:ea typeface="Arial"/>
                <a:cs typeface="Arial"/>
              </a:defRPr>
            </a:lvl7pPr>
            <a:lvl8pPr algn="l">
              <a:buNone/>
              <a:defRPr sz="4150" b="1">
                <a:solidFill>
                  <a:srgbClr val="0DBE85"/>
                </a:solidFill>
                <a:latin typeface="Arial"/>
                <a:ea typeface="Arial"/>
                <a:cs typeface="Arial"/>
              </a:defRPr>
            </a:lvl8pPr>
            <a:lvl9pPr algn="l">
              <a:buNone/>
              <a:defRPr sz="4150" b="1">
                <a:solidFill>
                  <a:srgbClr val="0DBE85"/>
                </a:solidFill>
                <a:latin typeface="Arial"/>
                <a:ea typeface="Arial"/>
                <a:cs typeface="Arial"/>
              </a:defRPr>
            </a:lvl9pPr>
          </a:lstStyle>
          <a:p>
            <a:pPr algn="l">
              <a:buNone/>
              <a:defRPr sz="4150" b="1">
                <a:solidFill>
                  <a:srgbClr val="0DBE85"/>
                </a:solidFill>
                <a:latin typeface="Arial"/>
                <a:ea typeface="Arial"/>
                <a:cs typeface="Arial"/>
              </a:defRPr>
            </a:pPr>
            <a:r>
              <a:rPr sz="4150" b="1">
                <a:solidFill>
                  <a:srgbClr val="0DBE85"/>
                </a:solidFill>
                <a:latin typeface="Outfit"/>
                <a:ea typeface="Arial"/>
                <a:cs typeface="Arial"/>
              </a:rPr>
              <a:t>0.01</a:t>
            </a:r>
            <a:endParaRPr/>
          </a:p>
        </p:txBody>
      </p:sp>
      <p:sp>
        <p:nvSpPr>
          <p:cNvPr id="68278633" name="access-revision-text-66"/>
          <p:cNvSpPr>
            <a:spLocks noGrp="1"/>
          </p:cNvSpPr>
          <p:nvPr/>
        </p:nvSpPr>
        <p:spPr bwMode="auto">
          <a:xfrm>
            <a:off x="4638675" y="3114675"/>
            <a:ext cx="2857500" cy="447675"/>
          </a:xfrm>
          <a:prstGeom prst="rect">
            <a:avLst/>
          </a:prstGeom>
          <a:noFill/>
          <a:ln w="0">
            <a:solidFill/>
            <a:prstDash val="solid"/>
          </a:ln>
        </p:spPr>
        <p:txBody>
          <a:bodyPr wrap="square" lIns="0" tIns="0" rIns="0" bIns="0" anchor="t">
            <a:noAutofit/>
          </a:bodyPr>
          <a:lstStyle>
            <a:defPPr algn="l">
              <a:defRPr sz="2050" b="0">
                <a:solidFill>
                  <a:srgbClr val="5D6A67"/>
                </a:solidFill>
                <a:latin typeface="Arial"/>
                <a:ea typeface="Arial"/>
                <a:cs typeface="Arial"/>
              </a:defRPr>
            </a:defPPr>
            <a:lvl1pPr algn="l">
              <a:buNone/>
              <a:defRPr sz="2050" b="0">
                <a:solidFill>
                  <a:srgbClr val="5D6A67"/>
                </a:solidFill>
                <a:latin typeface="Arial"/>
                <a:ea typeface="Arial"/>
                <a:cs typeface="Arial"/>
              </a:defRPr>
            </a:lvl1pPr>
            <a:lvl2pPr algn="l">
              <a:buNone/>
              <a:defRPr sz="2050" b="0">
                <a:solidFill>
                  <a:srgbClr val="5D6A67"/>
                </a:solidFill>
                <a:latin typeface="Arial"/>
                <a:ea typeface="Arial"/>
                <a:cs typeface="Arial"/>
              </a:defRPr>
            </a:lvl2pPr>
            <a:lvl3pPr algn="l">
              <a:buNone/>
              <a:defRPr sz="2050" b="0">
                <a:solidFill>
                  <a:srgbClr val="5D6A67"/>
                </a:solidFill>
                <a:latin typeface="Arial"/>
                <a:ea typeface="Arial"/>
                <a:cs typeface="Arial"/>
              </a:defRPr>
            </a:lvl3pPr>
            <a:lvl4pPr algn="l">
              <a:buNone/>
              <a:defRPr sz="2050" b="0">
                <a:solidFill>
                  <a:srgbClr val="5D6A67"/>
                </a:solidFill>
                <a:latin typeface="Arial"/>
                <a:ea typeface="Arial"/>
                <a:cs typeface="Arial"/>
              </a:defRPr>
            </a:lvl4pPr>
            <a:lvl5pPr algn="l">
              <a:buNone/>
              <a:defRPr sz="2050" b="0">
                <a:solidFill>
                  <a:srgbClr val="5D6A67"/>
                </a:solidFill>
                <a:latin typeface="Arial"/>
                <a:ea typeface="Arial"/>
                <a:cs typeface="Arial"/>
              </a:defRPr>
            </a:lvl5pPr>
            <a:lvl6pPr algn="l">
              <a:buNone/>
              <a:defRPr sz="2050" b="0">
                <a:solidFill>
                  <a:srgbClr val="5D6A67"/>
                </a:solidFill>
                <a:latin typeface="Arial"/>
                <a:ea typeface="Arial"/>
                <a:cs typeface="Arial"/>
              </a:defRPr>
            </a:lvl6pPr>
            <a:lvl7pPr algn="l">
              <a:buNone/>
              <a:defRPr sz="2050" b="0">
                <a:solidFill>
                  <a:srgbClr val="5D6A67"/>
                </a:solidFill>
                <a:latin typeface="Arial"/>
                <a:ea typeface="Arial"/>
                <a:cs typeface="Arial"/>
              </a:defRPr>
            </a:lvl7pPr>
            <a:lvl8pPr algn="l">
              <a:buNone/>
              <a:defRPr sz="2050" b="0">
                <a:solidFill>
                  <a:srgbClr val="5D6A67"/>
                </a:solidFill>
                <a:latin typeface="Arial"/>
                <a:ea typeface="Arial"/>
                <a:cs typeface="Arial"/>
              </a:defRPr>
            </a:lvl8pPr>
            <a:lvl9pPr algn="l">
              <a:buNone/>
              <a:defRPr sz="2050" b="0">
                <a:solidFill>
                  <a:srgbClr val="5D6A67"/>
                </a:solidFill>
                <a:latin typeface="Arial"/>
                <a:ea typeface="Arial"/>
                <a:cs typeface="Arial"/>
              </a:defRPr>
            </a:lvl9pPr>
          </a:lstStyle>
          <a:p>
            <a:pPr algn="l">
              <a:buNone/>
              <a:defRPr sz="2050" b="0">
                <a:solidFill>
                  <a:srgbClr val="5D6A67"/>
                </a:solidFill>
                <a:latin typeface="Arial"/>
                <a:ea typeface="Arial"/>
                <a:cs typeface="Arial"/>
              </a:defRPr>
            </a:pPr>
            <a:r>
              <a:rPr sz="2050" b="0">
                <a:solidFill>
                  <a:srgbClr val="5D6A67"/>
                </a:solidFill>
                <a:latin typeface="Outfit"/>
                <a:ea typeface="Arial"/>
                <a:cs typeface="Arial"/>
              </a:rPr>
              <a:t>Share per receipt</a:t>
            </a:r>
            <a:endParaRPr/>
          </a:p>
        </p:txBody>
      </p:sp>
      <p:sp>
        <p:nvSpPr>
          <p:cNvPr id="1435458464" name="access-revision-text-67"/>
          <p:cNvSpPr>
            <a:spLocks noGrp="1"/>
          </p:cNvSpPr>
          <p:nvPr/>
        </p:nvSpPr>
        <p:spPr bwMode="auto">
          <a:xfrm>
            <a:off x="8477250" y="2247900"/>
            <a:ext cx="3105150" cy="762000"/>
          </a:xfrm>
          <a:prstGeom prst="rect">
            <a:avLst/>
          </a:prstGeom>
          <a:noFill/>
          <a:ln w="0">
            <a:solidFill/>
            <a:prstDash val="solid"/>
          </a:ln>
        </p:spPr>
        <p:txBody>
          <a:bodyPr wrap="square" lIns="0" tIns="0" rIns="0" bIns="0" anchor="t">
            <a:noAutofit/>
          </a:bodyPr>
          <a:lstStyle>
            <a:defPPr algn="l">
              <a:defRPr sz="4150" b="1">
                <a:solidFill>
                  <a:srgbClr val="18201D"/>
                </a:solidFill>
                <a:latin typeface="Arial"/>
                <a:ea typeface="Arial"/>
                <a:cs typeface="Arial"/>
              </a:defRPr>
            </a:defPPr>
            <a:lvl1pPr algn="l">
              <a:buNone/>
              <a:defRPr sz="4150" b="1">
                <a:solidFill>
                  <a:srgbClr val="18201D"/>
                </a:solidFill>
                <a:latin typeface="Arial"/>
                <a:ea typeface="Arial"/>
                <a:cs typeface="Arial"/>
              </a:defRPr>
            </a:lvl1pPr>
            <a:lvl2pPr algn="l">
              <a:buNone/>
              <a:defRPr sz="4150" b="1">
                <a:solidFill>
                  <a:srgbClr val="18201D"/>
                </a:solidFill>
                <a:latin typeface="Arial"/>
                <a:ea typeface="Arial"/>
                <a:cs typeface="Arial"/>
              </a:defRPr>
            </a:lvl2pPr>
            <a:lvl3pPr algn="l">
              <a:buNone/>
              <a:defRPr sz="4150" b="1">
                <a:solidFill>
                  <a:srgbClr val="18201D"/>
                </a:solidFill>
                <a:latin typeface="Arial"/>
                <a:ea typeface="Arial"/>
                <a:cs typeface="Arial"/>
              </a:defRPr>
            </a:lvl3pPr>
            <a:lvl4pPr algn="l">
              <a:buNone/>
              <a:defRPr sz="4150" b="1">
                <a:solidFill>
                  <a:srgbClr val="18201D"/>
                </a:solidFill>
                <a:latin typeface="Arial"/>
                <a:ea typeface="Arial"/>
                <a:cs typeface="Arial"/>
              </a:defRPr>
            </a:lvl4pPr>
            <a:lvl5pPr algn="l">
              <a:buNone/>
              <a:defRPr sz="4150" b="1">
                <a:solidFill>
                  <a:srgbClr val="18201D"/>
                </a:solidFill>
                <a:latin typeface="Arial"/>
                <a:ea typeface="Arial"/>
                <a:cs typeface="Arial"/>
              </a:defRPr>
            </a:lvl5pPr>
            <a:lvl6pPr algn="l">
              <a:buNone/>
              <a:defRPr sz="4150" b="1">
                <a:solidFill>
                  <a:srgbClr val="18201D"/>
                </a:solidFill>
                <a:latin typeface="Arial"/>
                <a:ea typeface="Arial"/>
                <a:cs typeface="Arial"/>
              </a:defRPr>
            </a:lvl6pPr>
            <a:lvl7pPr algn="l">
              <a:buNone/>
              <a:defRPr sz="4150" b="1">
                <a:solidFill>
                  <a:srgbClr val="18201D"/>
                </a:solidFill>
                <a:latin typeface="Arial"/>
                <a:ea typeface="Arial"/>
                <a:cs typeface="Arial"/>
              </a:defRPr>
            </a:lvl7pPr>
            <a:lvl8pPr algn="l">
              <a:buNone/>
              <a:defRPr sz="4150" b="1">
                <a:solidFill>
                  <a:srgbClr val="18201D"/>
                </a:solidFill>
                <a:latin typeface="Arial"/>
                <a:ea typeface="Arial"/>
                <a:cs typeface="Arial"/>
              </a:defRPr>
            </a:lvl8pPr>
            <a:lvl9pPr algn="l">
              <a:buNone/>
              <a:defRPr sz="4150" b="1">
                <a:solidFill>
                  <a:srgbClr val="18201D"/>
                </a:solidFill>
                <a:latin typeface="Arial"/>
                <a:ea typeface="Arial"/>
                <a:cs typeface="Arial"/>
              </a:defRPr>
            </a:lvl9pPr>
          </a:lstStyle>
          <a:p>
            <a:pPr algn="l">
              <a:buNone/>
              <a:defRPr sz="4150" b="1">
                <a:solidFill>
                  <a:srgbClr val="18201D"/>
                </a:solidFill>
                <a:latin typeface="Arial"/>
                <a:ea typeface="Arial"/>
                <a:cs typeface="Arial"/>
              </a:defRPr>
            </a:pPr>
            <a:r>
              <a:rPr sz="4150" b="1">
                <a:solidFill>
                  <a:srgbClr val="18201D"/>
                </a:solidFill>
                <a:latin typeface="Outfit"/>
                <a:ea typeface="Arial"/>
                <a:cs typeface="Arial"/>
              </a:rPr>
              <a:t>US$12</a:t>
            </a:r>
            <a:endParaRPr/>
          </a:p>
        </p:txBody>
      </p:sp>
      <p:sp>
        <p:nvSpPr>
          <p:cNvPr id="1061924567" name="access-revision-text-68"/>
          <p:cNvSpPr>
            <a:spLocks noGrp="1"/>
          </p:cNvSpPr>
          <p:nvPr/>
        </p:nvSpPr>
        <p:spPr bwMode="auto">
          <a:xfrm>
            <a:off x="8477250" y="3114675"/>
            <a:ext cx="3105150" cy="447675"/>
          </a:xfrm>
          <a:prstGeom prst="rect">
            <a:avLst/>
          </a:prstGeom>
          <a:noFill/>
          <a:ln w="0">
            <a:solidFill/>
            <a:prstDash val="solid"/>
          </a:ln>
        </p:spPr>
        <p:txBody>
          <a:bodyPr wrap="square" lIns="0" tIns="0" rIns="0" bIns="0" anchor="t">
            <a:noAutofit/>
          </a:bodyPr>
          <a:lstStyle>
            <a:defPPr algn="l">
              <a:defRPr sz="2050" b="0">
                <a:solidFill>
                  <a:srgbClr val="5D6A67"/>
                </a:solidFill>
                <a:latin typeface="Arial"/>
                <a:ea typeface="Arial"/>
                <a:cs typeface="Arial"/>
              </a:defRPr>
            </a:defPPr>
            <a:lvl1pPr algn="l">
              <a:buNone/>
              <a:defRPr sz="2050" b="0">
                <a:solidFill>
                  <a:srgbClr val="5D6A67"/>
                </a:solidFill>
                <a:latin typeface="Arial"/>
                <a:ea typeface="Arial"/>
                <a:cs typeface="Arial"/>
              </a:defRPr>
            </a:lvl1pPr>
            <a:lvl2pPr algn="l">
              <a:buNone/>
              <a:defRPr sz="2050" b="0">
                <a:solidFill>
                  <a:srgbClr val="5D6A67"/>
                </a:solidFill>
                <a:latin typeface="Arial"/>
                <a:ea typeface="Arial"/>
                <a:cs typeface="Arial"/>
              </a:defRPr>
            </a:lvl2pPr>
            <a:lvl3pPr algn="l">
              <a:buNone/>
              <a:defRPr sz="2050" b="0">
                <a:solidFill>
                  <a:srgbClr val="5D6A67"/>
                </a:solidFill>
                <a:latin typeface="Arial"/>
                <a:ea typeface="Arial"/>
                <a:cs typeface="Arial"/>
              </a:defRPr>
            </a:lvl3pPr>
            <a:lvl4pPr algn="l">
              <a:buNone/>
              <a:defRPr sz="2050" b="0">
                <a:solidFill>
                  <a:srgbClr val="5D6A67"/>
                </a:solidFill>
                <a:latin typeface="Arial"/>
                <a:ea typeface="Arial"/>
                <a:cs typeface="Arial"/>
              </a:defRPr>
            </a:lvl4pPr>
            <a:lvl5pPr algn="l">
              <a:buNone/>
              <a:defRPr sz="2050" b="0">
                <a:solidFill>
                  <a:srgbClr val="5D6A67"/>
                </a:solidFill>
                <a:latin typeface="Arial"/>
                <a:ea typeface="Arial"/>
                <a:cs typeface="Arial"/>
              </a:defRPr>
            </a:lvl5pPr>
            <a:lvl6pPr algn="l">
              <a:buNone/>
              <a:defRPr sz="2050" b="0">
                <a:solidFill>
                  <a:srgbClr val="5D6A67"/>
                </a:solidFill>
                <a:latin typeface="Arial"/>
                <a:ea typeface="Arial"/>
                <a:cs typeface="Arial"/>
              </a:defRPr>
            </a:lvl6pPr>
            <a:lvl7pPr algn="l">
              <a:buNone/>
              <a:defRPr sz="2050" b="0">
                <a:solidFill>
                  <a:srgbClr val="5D6A67"/>
                </a:solidFill>
                <a:latin typeface="Arial"/>
                <a:ea typeface="Arial"/>
                <a:cs typeface="Arial"/>
              </a:defRPr>
            </a:lvl7pPr>
            <a:lvl8pPr algn="l">
              <a:buNone/>
              <a:defRPr sz="2050" b="0">
                <a:solidFill>
                  <a:srgbClr val="5D6A67"/>
                </a:solidFill>
                <a:latin typeface="Arial"/>
                <a:ea typeface="Arial"/>
                <a:cs typeface="Arial"/>
              </a:defRPr>
            </a:lvl8pPr>
            <a:lvl9pPr algn="l">
              <a:buNone/>
              <a:defRPr sz="2050" b="0">
                <a:solidFill>
                  <a:srgbClr val="5D6A67"/>
                </a:solidFill>
                <a:latin typeface="Arial"/>
                <a:ea typeface="Arial"/>
                <a:cs typeface="Arial"/>
              </a:defRPr>
            </a:lvl9pPr>
          </a:lstStyle>
          <a:p>
            <a:pPr algn="l">
              <a:buNone/>
              <a:defRPr sz="2050" b="0">
                <a:solidFill>
                  <a:srgbClr val="5D6A67"/>
                </a:solidFill>
                <a:latin typeface="Arial"/>
                <a:ea typeface="Arial"/>
                <a:cs typeface="Arial"/>
              </a:defRPr>
            </a:pPr>
            <a:r>
              <a:rPr sz="2050" b="0">
                <a:solidFill>
                  <a:srgbClr val="5D6A67"/>
                </a:solidFill>
                <a:latin typeface="Outfit"/>
                <a:ea typeface="Arial"/>
                <a:cs typeface="Arial"/>
              </a:rPr>
              <a:t>Indicative receipt value</a:t>
            </a:r>
            <a:endParaRPr/>
          </a:p>
        </p:txBody>
      </p:sp>
      <p:sp>
        <p:nvSpPr>
          <p:cNvPr id="1116002262" name="access-diagram-line-69"/>
          <p:cNvSpPr>
            <a:spLocks noGrp="1"/>
          </p:cNvSpPr>
          <p:nvPr/>
        </p:nvSpPr>
        <p:spPr bwMode="auto">
          <a:xfrm>
            <a:off x="609600" y="3714750"/>
            <a:ext cx="10972800" cy="0"/>
          </a:xfrm>
          <a:prstGeom prst="line">
            <a:avLst/>
          </a:prstGeom>
          <a:noFill/>
          <a:ln w="12383">
            <a:solidFill>
              <a:srgbClr val="D7DFDA"/>
            </a:solidFill>
            <a:prstDash val="solid"/>
          </a:ln>
        </p:spPr>
        <p:txBody>
          <a:bodyPr/>
          <a:p/>
        </p:txBody>
      </p:sp>
      <p:sp>
        <p:nvSpPr>
          <p:cNvPr id="1667826522" name="access-revision-text-70"/>
          <p:cNvSpPr>
            <a:spLocks noGrp="1"/>
          </p:cNvSpPr>
          <p:nvPr/>
        </p:nvSpPr>
        <p:spPr bwMode="auto">
          <a:xfrm>
            <a:off x="609600" y="3952875"/>
            <a:ext cx="10972800" cy="495300"/>
          </a:xfrm>
          <a:prstGeom prst="rect">
            <a:avLst/>
          </a:prstGeom>
          <a:noFill/>
          <a:ln w="0">
            <a:solidFill/>
            <a:prstDash val="solid"/>
          </a:ln>
        </p:spPr>
        <p:txBody>
          <a:bodyPr wrap="square" lIns="0" tIns="0" rIns="0" bIns="0" anchor="t">
            <a:noAutofit/>
          </a:bodyPr>
          <a:lstStyle>
            <a:defPPr algn="l">
              <a:defRPr sz="2500" b="1">
                <a:solidFill>
                  <a:srgbClr val="0DBE85"/>
                </a:solidFill>
                <a:latin typeface="Arial"/>
                <a:ea typeface="Arial"/>
                <a:cs typeface="Arial"/>
              </a:defRPr>
            </a:defPPr>
            <a:lvl1pPr algn="l">
              <a:buNone/>
              <a:defRPr sz="2500" b="1">
                <a:solidFill>
                  <a:srgbClr val="0DBE85"/>
                </a:solidFill>
                <a:latin typeface="Arial"/>
                <a:ea typeface="Arial"/>
                <a:cs typeface="Arial"/>
              </a:defRPr>
            </a:lvl1pPr>
            <a:lvl2pPr algn="l">
              <a:buNone/>
              <a:defRPr sz="2500" b="1">
                <a:solidFill>
                  <a:srgbClr val="0DBE85"/>
                </a:solidFill>
                <a:latin typeface="Arial"/>
                <a:ea typeface="Arial"/>
                <a:cs typeface="Arial"/>
              </a:defRPr>
            </a:lvl2pPr>
            <a:lvl3pPr algn="l">
              <a:buNone/>
              <a:defRPr sz="2500" b="1">
                <a:solidFill>
                  <a:srgbClr val="0DBE85"/>
                </a:solidFill>
                <a:latin typeface="Arial"/>
                <a:ea typeface="Arial"/>
                <a:cs typeface="Arial"/>
              </a:defRPr>
            </a:lvl3pPr>
            <a:lvl4pPr algn="l">
              <a:buNone/>
              <a:defRPr sz="2500" b="1">
                <a:solidFill>
                  <a:srgbClr val="0DBE85"/>
                </a:solidFill>
                <a:latin typeface="Arial"/>
                <a:ea typeface="Arial"/>
                <a:cs typeface="Arial"/>
              </a:defRPr>
            </a:lvl4pPr>
            <a:lvl5pPr algn="l">
              <a:buNone/>
              <a:defRPr sz="2500" b="1">
                <a:solidFill>
                  <a:srgbClr val="0DBE85"/>
                </a:solidFill>
                <a:latin typeface="Arial"/>
                <a:ea typeface="Arial"/>
                <a:cs typeface="Arial"/>
              </a:defRPr>
            </a:lvl5pPr>
            <a:lvl6pPr algn="l">
              <a:buNone/>
              <a:defRPr sz="2500" b="1">
                <a:solidFill>
                  <a:srgbClr val="0DBE85"/>
                </a:solidFill>
                <a:latin typeface="Arial"/>
                <a:ea typeface="Arial"/>
                <a:cs typeface="Arial"/>
              </a:defRPr>
            </a:lvl6pPr>
            <a:lvl7pPr algn="l">
              <a:buNone/>
              <a:defRPr sz="2500" b="1">
                <a:solidFill>
                  <a:srgbClr val="0DBE85"/>
                </a:solidFill>
                <a:latin typeface="Arial"/>
                <a:ea typeface="Arial"/>
                <a:cs typeface="Arial"/>
              </a:defRPr>
            </a:lvl7pPr>
            <a:lvl8pPr algn="l">
              <a:buNone/>
              <a:defRPr sz="2500" b="1">
                <a:solidFill>
                  <a:srgbClr val="0DBE85"/>
                </a:solidFill>
                <a:latin typeface="Arial"/>
                <a:ea typeface="Arial"/>
                <a:cs typeface="Arial"/>
              </a:defRPr>
            </a:lvl8pPr>
            <a:lvl9pPr algn="l">
              <a:buNone/>
              <a:defRPr sz="2500" b="1">
                <a:solidFill>
                  <a:srgbClr val="0DBE85"/>
                </a:solidFill>
                <a:latin typeface="Arial"/>
                <a:ea typeface="Arial"/>
                <a:cs typeface="Arial"/>
              </a:defRPr>
            </a:lvl9pPr>
          </a:lstStyle>
          <a:p>
            <a:pPr algn="l">
              <a:buNone/>
              <a:defRPr sz="2500" b="1">
                <a:solidFill>
                  <a:srgbClr val="0DBE85"/>
                </a:solidFill>
                <a:latin typeface="Arial"/>
                <a:ea typeface="Arial"/>
                <a:cs typeface="Arial"/>
              </a:defRPr>
            </a:pPr>
            <a:r>
              <a:rPr sz="2500" b="1">
                <a:solidFill>
                  <a:srgbClr val="0DBE85"/>
                </a:solidFill>
                <a:latin typeface="Outfit"/>
                <a:ea typeface="Arial"/>
                <a:cs typeface="Arial"/>
              </a:rPr>
              <a:t>100 receipts represent one underlying share</a:t>
            </a:r>
            <a:endParaRPr/>
          </a:p>
        </p:txBody>
      </p:sp>
      <p:sp>
        <p:nvSpPr>
          <p:cNvPr id="148144306" name="access-revision-text-71"/>
          <p:cNvSpPr>
            <a:spLocks noGrp="1"/>
          </p:cNvSpPr>
          <p:nvPr/>
        </p:nvSpPr>
        <p:spPr bwMode="auto">
          <a:xfrm>
            <a:off x="609600" y="4791075"/>
            <a:ext cx="3333750" cy="409575"/>
          </a:xfrm>
          <a:prstGeom prst="rect">
            <a:avLst/>
          </a:prstGeom>
          <a:noFill/>
          <a:ln w="0">
            <a:solidFill/>
            <a:prstDash val="solid"/>
          </a:ln>
        </p:spPr>
        <p:txBody>
          <a:bodyPr wrap="square" lIns="0" tIns="0" rIns="0" bIns="0" anchor="t">
            <a:noAutofit/>
          </a:bodyPr>
          <a:lstStyle>
            <a:defPPr algn="l">
              <a:defRPr sz="2100" b="1">
                <a:solidFill>
                  <a:srgbClr val="D97706"/>
                </a:solidFill>
                <a:latin typeface="Arial"/>
                <a:ea typeface="Arial"/>
                <a:cs typeface="Arial"/>
              </a:defRPr>
            </a:defPPr>
            <a:lvl1pPr algn="l">
              <a:buNone/>
              <a:defRPr sz="2100" b="1">
                <a:solidFill>
                  <a:srgbClr val="D97706"/>
                </a:solidFill>
                <a:latin typeface="Arial"/>
                <a:ea typeface="Arial"/>
                <a:cs typeface="Arial"/>
              </a:defRPr>
            </a:lvl1pPr>
            <a:lvl2pPr algn="l">
              <a:buNone/>
              <a:defRPr sz="2100" b="1">
                <a:solidFill>
                  <a:srgbClr val="D97706"/>
                </a:solidFill>
                <a:latin typeface="Arial"/>
                <a:ea typeface="Arial"/>
                <a:cs typeface="Arial"/>
              </a:defRPr>
            </a:lvl2pPr>
            <a:lvl3pPr algn="l">
              <a:buNone/>
              <a:defRPr sz="2100" b="1">
                <a:solidFill>
                  <a:srgbClr val="D97706"/>
                </a:solidFill>
                <a:latin typeface="Arial"/>
                <a:ea typeface="Arial"/>
                <a:cs typeface="Arial"/>
              </a:defRPr>
            </a:lvl3pPr>
            <a:lvl4pPr algn="l">
              <a:buNone/>
              <a:defRPr sz="2100" b="1">
                <a:solidFill>
                  <a:srgbClr val="D97706"/>
                </a:solidFill>
                <a:latin typeface="Arial"/>
                <a:ea typeface="Arial"/>
                <a:cs typeface="Arial"/>
              </a:defRPr>
            </a:lvl4pPr>
            <a:lvl5pPr algn="l">
              <a:buNone/>
              <a:defRPr sz="2100" b="1">
                <a:solidFill>
                  <a:srgbClr val="D97706"/>
                </a:solidFill>
                <a:latin typeface="Arial"/>
                <a:ea typeface="Arial"/>
                <a:cs typeface="Arial"/>
              </a:defRPr>
            </a:lvl5pPr>
            <a:lvl6pPr algn="l">
              <a:buNone/>
              <a:defRPr sz="2100" b="1">
                <a:solidFill>
                  <a:srgbClr val="D97706"/>
                </a:solidFill>
                <a:latin typeface="Arial"/>
                <a:ea typeface="Arial"/>
                <a:cs typeface="Arial"/>
              </a:defRPr>
            </a:lvl6pPr>
            <a:lvl7pPr algn="l">
              <a:buNone/>
              <a:defRPr sz="2100" b="1">
                <a:solidFill>
                  <a:srgbClr val="D97706"/>
                </a:solidFill>
                <a:latin typeface="Arial"/>
                <a:ea typeface="Arial"/>
                <a:cs typeface="Arial"/>
              </a:defRPr>
            </a:lvl7pPr>
            <a:lvl8pPr algn="l">
              <a:buNone/>
              <a:defRPr sz="2100" b="1">
                <a:solidFill>
                  <a:srgbClr val="D97706"/>
                </a:solidFill>
                <a:latin typeface="Arial"/>
                <a:ea typeface="Arial"/>
                <a:cs typeface="Arial"/>
              </a:defRPr>
            </a:lvl8pPr>
            <a:lvl9pPr algn="l">
              <a:buNone/>
              <a:defRPr sz="2100" b="1">
                <a:solidFill>
                  <a:srgbClr val="D97706"/>
                </a:solidFill>
                <a:latin typeface="Arial"/>
                <a:ea typeface="Arial"/>
                <a:cs typeface="Arial"/>
              </a:defRPr>
            </a:lvl9pPr>
          </a:lstStyle>
          <a:p>
            <a:pPr algn="l">
              <a:buNone/>
              <a:defRPr sz="2100" b="1">
                <a:solidFill>
                  <a:srgbClr val="D97706"/>
                </a:solidFill>
                <a:latin typeface="Arial"/>
                <a:ea typeface="Arial"/>
                <a:cs typeface="Arial"/>
              </a:defRPr>
            </a:pPr>
            <a:r>
              <a:rPr sz="2100" b="1">
                <a:solidFill>
                  <a:srgbClr val="D97706"/>
                </a:solidFill>
                <a:latin typeface="Outfit"/>
                <a:ea typeface="Arial"/>
                <a:cs typeface="Arial"/>
              </a:rPr>
              <a:t>Programme design</a:t>
            </a:r>
            <a:endParaRPr/>
          </a:p>
        </p:txBody>
      </p:sp>
      <p:sp>
        <p:nvSpPr>
          <p:cNvPr id="23295934" name="access-revision-text-72"/>
          <p:cNvSpPr>
            <a:spLocks noGrp="1"/>
          </p:cNvSpPr>
          <p:nvPr/>
        </p:nvSpPr>
        <p:spPr bwMode="auto">
          <a:xfrm>
            <a:off x="4638675" y="4762500"/>
            <a:ext cx="6943725" cy="1028700"/>
          </a:xfrm>
          <a:prstGeom prst="rect">
            <a:avLst/>
          </a:prstGeom>
          <a:noFill/>
          <a:ln w="0">
            <a:solidFill/>
            <a:prstDash val="solid"/>
          </a:ln>
        </p:spPr>
        <p:txBody>
          <a:bodyPr wrap="square" lIns="0" tIns="0" rIns="0" bIns="0" anchor="t">
            <a:noAutofit/>
          </a:bodyPr>
          <a:lstStyle>
            <a:defPPr algn="l">
              <a:defRPr sz="2100" b="0">
                <a:solidFill>
                  <a:srgbClr val="18201D"/>
                </a:solidFill>
                <a:latin typeface="Arial"/>
                <a:ea typeface="Arial"/>
                <a:cs typeface="Arial"/>
              </a:defRPr>
            </a:defPPr>
            <a:lvl1pPr algn="l">
              <a:buNone/>
              <a:defRPr sz="2100" b="0">
                <a:solidFill>
                  <a:srgbClr val="18201D"/>
                </a:solidFill>
                <a:latin typeface="Arial"/>
                <a:ea typeface="Arial"/>
                <a:cs typeface="Arial"/>
              </a:defRPr>
            </a:lvl1pPr>
            <a:lvl2pPr algn="l">
              <a:buNone/>
              <a:defRPr sz="2100" b="0">
                <a:solidFill>
                  <a:srgbClr val="18201D"/>
                </a:solidFill>
                <a:latin typeface="Arial"/>
                <a:ea typeface="Arial"/>
                <a:cs typeface="Arial"/>
              </a:defRPr>
            </a:lvl2pPr>
            <a:lvl3pPr algn="l">
              <a:buNone/>
              <a:defRPr sz="2100" b="0">
                <a:solidFill>
                  <a:srgbClr val="18201D"/>
                </a:solidFill>
                <a:latin typeface="Arial"/>
                <a:ea typeface="Arial"/>
                <a:cs typeface="Arial"/>
              </a:defRPr>
            </a:lvl3pPr>
            <a:lvl4pPr algn="l">
              <a:buNone/>
              <a:defRPr sz="2100" b="0">
                <a:solidFill>
                  <a:srgbClr val="18201D"/>
                </a:solidFill>
                <a:latin typeface="Arial"/>
                <a:ea typeface="Arial"/>
                <a:cs typeface="Arial"/>
              </a:defRPr>
            </a:lvl4pPr>
            <a:lvl5pPr algn="l">
              <a:buNone/>
              <a:defRPr sz="2100" b="0">
                <a:solidFill>
                  <a:srgbClr val="18201D"/>
                </a:solidFill>
                <a:latin typeface="Arial"/>
                <a:ea typeface="Arial"/>
                <a:cs typeface="Arial"/>
              </a:defRPr>
            </a:lvl5pPr>
            <a:lvl6pPr algn="l">
              <a:buNone/>
              <a:defRPr sz="2100" b="0">
                <a:solidFill>
                  <a:srgbClr val="18201D"/>
                </a:solidFill>
                <a:latin typeface="Arial"/>
                <a:ea typeface="Arial"/>
                <a:cs typeface="Arial"/>
              </a:defRPr>
            </a:lvl6pPr>
            <a:lvl7pPr algn="l">
              <a:buNone/>
              <a:defRPr sz="2100" b="0">
                <a:solidFill>
                  <a:srgbClr val="18201D"/>
                </a:solidFill>
                <a:latin typeface="Arial"/>
                <a:ea typeface="Arial"/>
                <a:cs typeface="Arial"/>
              </a:defRPr>
            </a:lvl7pPr>
            <a:lvl8pPr algn="l">
              <a:buNone/>
              <a:defRPr sz="2100" b="0">
                <a:solidFill>
                  <a:srgbClr val="18201D"/>
                </a:solidFill>
                <a:latin typeface="Arial"/>
                <a:ea typeface="Arial"/>
                <a:cs typeface="Arial"/>
              </a:defRPr>
            </a:lvl8pPr>
            <a:lvl9pPr algn="l">
              <a:buNone/>
              <a:defRPr sz="2100" b="0">
                <a:solidFill>
                  <a:srgbClr val="18201D"/>
                </a:solidFill>
                <a:latin typeface="Arial"/>
                <a:ea typeface="Arial"/>
                <a:cs typeface="Arial"/>
              </a:defRPr>
            </a:lvl9pPr>
          </a:lstStyle>
          <a:p>
            <a:pPr algn="l">
              <a:buNone/>
              <a:defRPr sz="2100" b="0">
                <a:solidFill>
                  <a:srgbClr val="18201D"/>
                </a:solidFill>
                <a:latin typeface="Arial"/>
                <a:ea typeface="Arial"/>
                <a:cs typeface="Arial"/>
              </a:defRPr>
            </a:pPr>
            <a:r>
              <a:rPr sz="2100" b="0">
                <a:solidFill>
                  <a:srgbClr val="18201D"/>
                </a:solidFill>
                <a:latin typeface="Outfit"/>
                <a:ea typeface="Arial"/>
                <a:cs typeface="Arial"/>
              </a:rPr>
              <a:t>The sponsor sets the ratio and holder rights. Custody evidence supports issuance. Brokers distribute to eligible investors.</a:t>
            </a:r>
            <a:endParaRPr/>
          </a:p>
        </p:txBody>
      </p:sp>
      <p:sp>
        <p:nvSpPr>
          <p:cNvPr id="265605071" name="access-revision-text-73"/>
          <p:cNvSpPr>
            <a:spLocks noGrp="1"/>
          </p:cNvSpPr>
          <p:nvPr/>
        </p:nvSpPr>
        <p:spPr bwMode="auto">
          <a:xfrm>
            <a:off x="609600" y="6076950"/>
            <a:ext cx="10972800" cy="323850"/>
          </a:xfrm>
          <a:prstGeom prst="rect">
            <a:avLst/>
          </a:prstGeom>
          <a:noFill/>
          <a:ln w="0">
            <a:solidFill/>
            <a:prstDash val="solid"/>
          </a:ln>
        </p:spPr>
        <p:txBody>
          <a:bodyPr wrap="square" lIns="0" tIns="0" rIns="0" bIns="0" anchor="t">
            <a:noAutofit/>
          </a:bodyPr>
          <a:lstStyle>
            <a:defPPr algn="l">
              <a:defRPr sz="1500" b="0">
                <a:solidFill>
                  <a:srgbClr val="5D6A67"/>
                </a:solidFill>
                <a:latin typeface="Arial"/>
                <a:ea typeface="Arial"/>
                <a:cs typeface="Arial"/>
              </a:defRPr>
            </a:defPPr>
            <a:lvl1pPr algn="l">
              <a:buNone/>
              <a:defRPr sz="1500" b="0">
                <a:solidFill>
                  <a:srgbClr val="5D6A67"/>
                </a:solidFill>
                <a:latin typeface="Arial"/>
                <a:ea typeface="Arial"/>
                <a:cs typeface="Arial"/>
              </a:defRPr>
            </a:lvl1pPr>
            <a:lvl2pPr algn="l">
              <a:buNone/>
              <a:defRPr sz="1500" b="0">
                <a:solidFill>
                  <a:srgbClr val="5D6A67"/>
                </a:solidFill>
                <a:latin typeface="Arial"/>
                <a:ea typeface="Arial"/>
                <a:cs typeface="Arial"/>
              </a:defRPr>
            </a:lvl2pPr>
            <a:lvl3pPr algn="l">
              <a:buNone/>
              <a:defRPr sz="1500" b="0">
                <a:solidFill>
                  <a:srgbClr val="5D6A67"/>
                </a:solidFill>
                <a:latin typeface="Arial"/>
                <a:ea typeface="Arial"/>
                <a:cs typeface="Arial"/>
              </a:defRPr>
            </a:lvl3pPr>
            <a:lvl4pPr algn="l">
              <a:buNone/>
              <a:defRPr sz="1500" b="0">
                <a:solidFill>
                  <a:srgbClr val="5D6A67"/>
                </a:solidFill>
                <a:latin typeface="Arial"/>
                <a:ea typeface="Arial"/>
                <a:cs typeface="Arial"/>
              </a:defRPr>
            </a:lvl4pPr>
            <a:lvl5pPr algn="l">
              <a:buNone/>
              <a:defRPr sz="1500" b="0">
                <a:solidFill>
                  <a:srgbClr val="5D6A67"/>
                </a:solidFill>
                <a:latin typeface="Arial"/>
                <a:ea typeface="Arial"/>
                <a:cs typeface="Arial"/>
              </a:defRPr>
            </a:lvl5pPr>
            <a:lvl6pPr algn="l">
              <a:buNone/>
              <a:defRPr sz="1500" b="0">
                <a:solidFill>
                  <a:srgbClr val="5D6A67"/>
                </a:solidFill>
                <a:latin typeface="Arial"/>
                <a:ea typeface="Arial"/>
                <a:cs typeface="Arial"/>
              </a:defRPr>
            </a:lvl6pPr>
            <a:lvl7pPr algn="l">
              <a:buNone/>
              <a:defRPr sz="1500" b="0">
                <a:solidFill>
                  <a:srgbClr val="5D6A67"/>
                </a:solidFill>
                <a:latin typeface="Arial"/>
                <a:ea typeface="Arial"/>
                <a:cs typeface="Arial"/>
              </a:defRPr>
            </a:lvl7pPr>
            <a:lvl8pPr algn="l">
              <a:buNone/>
              <a:defRPr sz="1500" b="0">
                <a:solidFill>
                  <a:srgbClr val="5D6A67"/>
                </a:solidFill>
                <a:latin typeface="Arial"/>
                <a:ea typeface="Arial"/>
                <a:cs typeface="Arial"/>
              </a:defRPr>
            </a:lvl8pPr>
            <a:lvl9pPr algn="l">
              <a:buNone/>
              <a:defRPr sz="1500" b="0">
                <a:solidFill>
                  <a:srgbClr val="5D6A67"/>
                </a:solidFill>
                <a:latin typeface="Arial"/>
                <a:ea typeface="Arial"/>
                <a:cs typeface="Arial"/>
              </a:defRPr>
            </a:lvl9pPr>
          </a:lstStyle>
          <a:p>
            <a:pPr algn="l">
              <a:buNone/>
              <a:defRPr sz="1500" b="0">
                <a:solidFill>
                  <a:srgbClr val="5D6A67"/>
                </a:solidFill>
                <a:latin typeface="Arial"/>
                <a:ea typeface="Arial"/>
                <a:cs typeface="Arial"/>
              </a:defRPr>
            </a:pPr>
            <a:r>
              <a:rPr sz="1500" b="0">
                <a:solidFill>
                  <a:srgbClr val="5D6A67"/>
                </a:solidFill>
                <a:latin typeface="Plus Jakarta Sans"/>
                <a:ea typeface="Arial"/>
                <a:cs typeface="Arial"/>
              </a:rPr>
              <a:t>Illustrative value = share price × receipt ratio. Market quotes, fees, taxes and FX can change the actual price.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418557568" name="dlt-text-33"/>
          <p:cNvSpPr>
            <a:spLocks noGrp="1"/>
          </p:cNvSpPr>
          <p:nvPr/>
        </p:nvSpPr>
        <p:spPr bwMode="auto">
          <a:xfrm>
            <a:off x="609600" y="504825"/>
            <a:ext cx="10972800" cy="828675"/>
          </a:xfrm>
          <a:prstGeom prst="rect">
            <a:avLst/>
          </a:prstGeom>
          <a:noFill/>
          <a:ln w="0">
            <a:solidFill/>
            <a:prstDash val="solid"/>
          </a:ln>
        </p:spPr>
        <p:txBody>
          <a:bodyPr wrap="square" lIns="0" tIns="0" rIns="0" bIns="0" anchor="t">
            <a:noAutofit/>
          </a:bodyPr>
          <a:lstStyle>
            <a:defPPr algn="l">
              <a:defRPr sz="3300" b="1">
                <a:solidFill>
                  <a:srgbClr val="18201D"/>
                </a:solidFill>
                <a:latin typeface="Arial"/>
                <a:ea typeface="Arial"/>
                <a:cs typeface="Arial"/>
              </a:defRPr>
            </a:defPPr>
            <a:lvl1pPr algn="l">
              <a:buNone/>
              <a:defRPr sz="3300" b="1">
                <a:solidFill>
                  <a:srgbClr val="18201D"/>
                </a:solidFill>
                <a:latin typeface="Arial"/>
                <a:ea typeface="Arial"/>
                <a:cs typeface="Arial"/>
              </a:defRPr>
            </a:lvl1pPr>
            <a:lvl2pPr algn="l">
              <a:buNone/>
              <a:defRPr sz="3300" b="1">
                <a:solidFill>
                  <a:srgbClr val="18201D"/>
                </a:solidFill>
                <a:latin typeface="Arial"/>
                <a:ea typeface="Arial"/>
                <a:cs typeface="Arial"/>
              </a:defRPr>
            </a:lvl2pPr>
            <a:lvl3pPr algn="l">
              <a:buNone/>
              <a:defRPr sz="3300" b="1">
                <a:solidFill>
                  <a:srgbClr val="18201D"/>
                </a:solidFill>
                <a:latin typeface="Arial"/>
                <a:ea typeface="Arial"/>
                <a:cs typeface="Arial"/>
              </a:defRPr>
            </a:lvl3pPr>
            <a:lvl4pPr algn="l">
              <a:buNone/>
              <a:defRPr sz="3300" b="1">
                <a:solidFill>
                  <a:srgbClr val="18201D"/>
                </a:solidFill>
                <a:latin typeface="Arial"/>
                <a:ea typeface="Arial"/>
                <a:cs typeface="Arial"/>
              </a:defRPr>
            </a:lvl4pPr>
            <a:lvl5pPr algn="l">
              <a:buNone/>
              <a:defRPr sz="3300" b="1">
                <a:solidFill>
                  <a:srgbClr val="18201D"/>
                </a:solidFill>
                <a:latin typeface="Arial"/>
                <a:ea typeface="Arial"/>
                <a:cs typeface="Arial"/>
              </a:defRPr>
            </a:lvl5pPr>
            <a:lvl6pPr algn="l">
              <a:buNone/>
              <a:defRPr sz="3300" b="1">
                <a:solidFill>
                  <a:srgbClr val="18201D"/>
                </a:solidFill>
                <a:latin typeface="Arial"/>
                <a:ea typeface="Arial"/>
                <a:cs typeface="Arial"/>
              </a:defRPr>
            </a:lvl6pPr>
            <a:lvl7pPr algn="l">
              <a:buNone/>
              <a:defRPr sz="3300" b="1">
                <a:solidFill>
                  <a:srgbClr val="18201D"/>
                </a:solidFill>
                <a:latin typeface="Arial"/>
                <a:ea typeface="Arial"/>
                <a:cs typeface="Arial"/>
              </a:defRPr>
            </a:lvl7pPr>
            <a:lvl8pPr algn="l">
              <a:buNone/>
              <a:defRPr sz="3300" b="1">
                <a:solidFill>
                  <a:srgbClr val="18201D"/>
                </a:solidFill>
                <a:latin typeface="Arial"/>
                <a:ea typeface="Arial"/>
                <a:cs typeface="Arial"/>
              </a:defRPr>
            </a:lvl8pPr>
            <a:lvl9pPr algn="l">
              <a:buNone/>
              <a:defRPr sz="3300" b="1">
                <a:solidFill>
                  <a:srgbClr val="18201D"/>
                </a:solidFill>
                <a:latin typeface="Arial"/>
                <a:ea typeface="Arial"/>
                <a:cs typeface="Arial"/>
              </a:defRPr>
            </a:lvl9pPr>
          </a:lstStyle>
          <a:p>
            <a:pPr algn="l">
              <a:buNone/>
              <a:defRPr sz="3300" b="1">
                <a:solidFill>
                  <a:srgbClr val="18201D"/>
                </a:solidFill>
                <a:latin typeface="Arial"/>
                <a:ea typeface="Arial"/>
                <a:cs typeface="Arial"/>
              </a:defRPr>
            </a:pPr>
            <a:r>
              <a:rPr sz="3300" b="1">
                <a:solidFill>
                  <a:srgbClr val="18201D"/>
                </a:solidFill>
                <a:latin typeface="Outfit"/>
                <a:ea typeface="Arial"/>
                <a:cs typeface="Arial"/>
              </a:rPr>
              <a:t>2. Issue receipts backed by shares</a:t>
            </a:r>
            <a:endParaRPr/>
          </a:p>
        </p:txBody>
      </p:sp>
      <p:sp>
        <p:nvSpPr>
          <p:cNvPr id="1930833799" name="dlt-text-34"/>
          <p:cNvSpPr>
            <a:spLocks noGrp="1"/>
          </p:cNvSpPr>
          <p:nvPr/>
        </p:nvSpPr>
        <p:spPr bwMode="auto">
          <a:xfrm>
            <a:off x="609600" y="1409700"/>
            <a:ext cx="10972800" cy="685800"/>
          </a:xfrm>
          <a:prstGeom prst="rect">
            <a:avLst/>
          </a:prstGeom>
          <a:noFill/>
          <a:ln w="0">
            <a:solidFill/>
            <a:prstDash val="solid"/>
          </a:ln>
        </p:spPr>
        <p:txBody>
          <a:bodyPr wrap="square" lIns="0" tIns="0" rIns="0" bIns="0" anchor="t">
            <a:noAutofit/>
          </a:bodyPr>
          <a:lstStyle>
            <a:defPPr algn="l">
              <a:defRPr sz="1900" b="0">
                <a:solidFill>
                  <a:srgbClr val="5D6A67"/>
                </a:solidFill>
                <a:latin typeface="Arial"/>
                <a:ea typeface="Arial"/>
                <a:cs typeface="Arial"/>
              </a:defRPr>
            </a:defPPr>
            <a:lvl1pPr algn="l">
              <a:buNone/>
              <a:defRPr sz="1900" b="0">
                <a:solidFill>
                  <a:srgbClr val="5D6A67"/>
                </a:solidFill>
                <a:latin typeface="Arial"/>
                <a:ea typeface="Arial"/>
                <a:cs typeface="Arial"/>
              </a:defRPr>
            </a:lvl1pPr>
            <a:lvl2pPr algn="l">
              <a:buNone/>
              <a:defRPr sz="1900" b="0">
                <a:solidFill>
                  <a:srgbClr val="5D6A67"/>
                </a:solidFill>
                <a:latin typeface="Arial"/>
                <a:ea typeface="Arial"/>
                <a:cs typeface="Arial"/>
              </a:defRPr>
            </a:lvl2pPr>
            <a:lvl3pPr algn="l">
              <a:buNone/>
              <a:defRPr sz="1900" b="0">
                <a:solidFill>
                  <a:srgbClr val="5D6A67"/>
                </a:solidFill>
                <a:latin typeface="Arial"/>
                <a:ea typeface="Arial"/>
                <a:cs typeface="Arial"/>
              </a:defRPr>
            </a:lvl3pPr>
            <a:lvl4pPr algn="l">
              <a:buNone/>
              <a:defRPr sz="1900" b="0">
                <a:solidFill>
                  <a:srgbClr val="5D6A67"/>
                </a:solidFill>
                <a:latin typeface="Arial"/>
                <a:ea typeface="Arial"/>
                <a:cs typeface="Arial"/>
              </a:defRPr>
            </a:lvl4pPr>
            <a:lvl5pPr algn="l">
              <a:buNone/>
              <a:defRPr sz="1900" b="0">
                <a:solidFill>
                  <a:srgbClr val="5D6A67"/>
                </a:solidFill>
                <a:latin typeface="Arial"/>
                <a:ea typeface="Arial"/>
                <a:cs typeface="Arial"/>
              </a:defRPr>
            </a:lvl5pPr>
            <a:lvl6pPr algn="l">
              <a:buNone/>
              <a:defRPr sz="1900" b="0">
                <a:solidFill>
                  <a:srgbClr val="5D6A67"/>
                </a:solidFill>
                <a:latin typeface="Arial"/>
                <a:ea typeface="Arial"/>
                <a:cs typeface="Arial"/>
              </a:defRPr>
            </a:lvl6pPr>
            <a:lvl7pPr algn="l">
              <a:buNone/>
              <a:defRPr sz="1900" b="0">
                <a:solidFill>
                  <a:srgbClr val="5D6A67"/>
                </a:solidFill>
                <a:latin typeface="Arial"/>
                <a:ea typeface="Arial"/>
                <a:cs typeface="Arial"/>
              </a:defRPr>
            </a:lvl7pPr>
            <a:lvl8pPr algn="l">
              <a:buNone/>
              <a:defRPr sz="1900" b="0">
                <a:solidFill>
                  <a:srgbClr val="5D6A67"/>
                </a:solidFill>
                <a:latin typeface="Arial"/>
                <a:ea typeface="Arial"/>
                <a:cs typeface="Arial"/>
              </a:defRPr>
            </a:lvl8pPr>
            <a:lvl9pPr algn="l">
              <a:buNone/>
              <a:defRPr sz="1900" b="0">
                <a:solidFill>
                  <a:srgbClr val="5D6A67"/>
                </a:solidFill>
                <a:latin typeface="Arial"/>
                <a:ea typeface="Arial"/>
                <a:cs typeface="Arial"/>
              </a:defRPr>
            </a:lvl9pPr>
          </a:lstStyle>
          <a:p>
            <a:pPr algn="l">
              <a:buNone/>
              <a:defRPr sz="1900" b="0">
                <a:solidFill>
                  <a:srgbClr val="5D6A67"/>
                </a:solidFill>
                <a:latin typeface="Arial"/>
                <a:ea typeface="Arial"/>
                <a:cs typeface="Arial"/>
              </a:defRPr>
            </a:pPr>
            <a:r>
              <a:rPr sz="1900" b="0">
                <a:solidFill>
                  <a:srgbClr val="5D6A67"/>
                </a:solidFill>
                <a:latin typeface="Plus Jakarta Sans"/>
                <a:ea typeface="Arial"/>
                <a:cs typeface="Arial"/>
              </a:rPr>
              <a:t>Illustrative: 1,000 shares / 0.01 share per receipt = 100,000 receipt tokens.</a:t>
            </a:r>
            <a:endParaRPr/>
          </a:p>
        </p:txBody>
      </p:sp>
      <p:sp>
        <p:nvSpPr>
          <p:cNvPr id="1366237411" name="dlt-text-35"/>
          <p:cNvSpPr>
            <a:spLocks noGrp="1"/>
          </p:cNvSpPr>
          <p:nvPr/>
        </p:nvSpPr>
        <p:spPr bwMode="auto">
          <a:xfrm>
            <a:off x="609600" y="6438899"/>
            <a:ext cx="2857500" cy="238125"/>
          </a:xfrm>
          <a:prstGeom prst="rect">
            <a:avLst/>
          </a:prstGeom>
          <a:noFill/>
          <a:ln w="0">
            <a:solidFill/>
            <a:prstDash val="solid"/>
          </a:ln>
        </p:spPr>
        <p:txBody>
          <a:bodyPr wrap="square" lIns="0" tIns="0" rIns="0" bIns="0" anchor="t">
            <a:noAutofit/>
          </a:bodyPr>
          <a:lstStyle>
            <a:defPPr algn="l">
              <a:defRPr sz="1200" b="1">
                <a:solidFill>
                  <a:srgbClr val="0DBE85"/>
                </a:solidFill>
                <a:latin typeface="Arial"/>
                <a:ea typeface="Arial"/>
                <a:cs typeface="Arial"/>
              </a:defRPr>
            </a:defPPr>
            <a:lvl1pPr algn="l">
              <a:buNone/>
              <a:defRPr sz="1200" b="1">
                <a:solidFill>
                  <a:srgbClr val="0DBE85"/>
                </a:solidFill>
                <a:latin typeface="Arial"/>
                <a:ea typeface="Arial"/>
                <a:cs typeface="Arial"/>
              </a:defRPr>
            </a:lvl1pPr>
            <a:lvl2pPr algn="l">
              <a:buNone/>
              <a:defRPr sz="1200" b="1">
                <a:solidFill>
                  <a:srgbClr val="0DBE85"/>
                </a:solidFill>
                <a:latin typeface="Arial"/>
                <a:ea typeface="Arial"/>
                <a:cs typeface="Arial"/>
              </a:defRPr>
            </a:lvl2pPr>
            <a:lvl3pPr algn="l">
              <a:buNone/>
              <a:defRPr sz="1200" b="1">
                <a:solidFill>
                  <a:srgbClr val="0DBE85"/>
                </a:solidFill>
                <a:latin typeface="Arial"/>
                <a:ea typeface="Arial"/>
                <a:cs typeface="Arial"/>
              </a:defRPr>
            </a:lvl3pPr>
            <a:lvl4pPr algn="l">
              <a:buNone/>
              <a:defRPr sz="1200" b="1">
                <a:solidFill>
                  <a:srgbClr val="0DBE85"/>
                </a:solidFill>
                <a:latin typeface="Arial"/>
                <a:ea typeface="Arial"/>
                <a:cs typeface="Arial"/>
              </a:defRPr>
            </a:lvl4pPr>
            <a:lvl5pPr algn="l">
              <a:buNone/>
              <a:defRPr sz="1200" b="1">
                <a:solidFill>
                  <a:srgbClr val="0DBE85"/>
                </a:solidFill>
                <a:latin typeface="Arial"/>
                <a:ea typeface="Arial"/>
                <a:cs typeface="Arial"/>
              </a:defRPr>
            </a:lvl5pPr>
            <a:lvl6pPr algn="l">
              <a:buNone/>
              <a:defRPr sz="1200" b="1">
                <a:solidFill>
                  <a:srgbClr val="0DBE85"/>
                </a:solidFill>
                <a:latin typeface="Arial"/>
                <a:ea typeface="Arial"/>
                <a:cs typeface="Arial"/>
              </a:defRPr>
            </a:lvl6pPr>
            <a:lvl7pPr algn="l">
              <a:buNone/>
              <a:defRPr sz="1200" b="1">
                <a:solidFill>
                  <a:srgbClr val="0DBE85"/>
                </a:solidFill>
                <a:latin typeface="Arial"/>
                <a:ea typeface="Arial"/>
                <a:cs typeface="Arial"/>
              </a:defRPr>
            </a:lvl7pPr>
            <a:lvl8pPr algn="l">
              <a:buNone/>
              <a:defRPr sz="1200" b="1">
                <a:solidFill>
                  <a:srgbClr val="0DBE85"/>
                </a:solidFill>
                <a:latin typeface="Arial"/>
                <a:ea typeface="Arial"/>
                <a:cs typeface="Arial"/>
              </a:defRPr>
            </a:lvl8pPr>
            <a:lvl9pPr algn="l">
              <a:buNone/>
              <a:defRPr sz="1200" b="1">
                <a:solidFill>
                  <a:srgbClr val="0DBE85"/>
                </a:solidFill>
                <a:latin typeface="Arial"/>
                <a:ea typeface="Arial"/>
                <a:cs typeface="Arial"/>
              </a:defRPr>
            </a:lvl9pPr>
          </a:lstStyle>
          <a:p>
            <a:pPr algn="l">
              <a:buNone/>
              <a:defRPr sz="1200" b="1">
                <a:solidFill>
                  <a:srgbClr val="0DBE85"/>
                </a:solidFill>
                <a:latin typeface="Arial"/>
                <a:ea typeface="Arial"/>
                <a:cs typeface="Arial"/>
              </a:defRPr>
            </a:pPr>
            <a:r>
              <a:rPr sz="1200" b="1">
                <a:solidFill>
                  <a:srgbClr val="0AA372"/>
                </a:solidFill>
                <a:latin typeface="JetBrains Mono"/>
                <a:ea typeface="Arial"/>
                <a:cs typeface="Arial"/>
              </a:rPr>
              <a:t>D-SHARE / PRIME</a:t>
            </a:r>
            <a:endParaRPr/>
          </a:p>
        </p:txBody>
      </p:sp>
      <p:sp>
        <p:nvSpPr>
          <p:cNvPr id="917839546" name="dlt-text-36"/>
          <p:cNvSpPr>
            <a:spLocks noGrp="1"/>
          </p:cNvSpPr>
          <p:nvPr/>
        </p:nvSpPr>
        <p:spPr bwMode="auto">
          <a:xfrm>
            <a:off x="11020424" y="6438899"/>
            <a:ext cx="561975" cy="238125"/>
          </a:xfrm>
          <a:prstGeom prst="rect">
            <a:avLst/>
          </a:prstGeom>
          <a:noFill/>
          <a:ln w="0">
            <a:solidFill/>
            <a:prstDash val="solid"/>
          </a:ln>
        </p:spPr>
        <p:txBody>
          <a:bodyPr wrap="square" lIns="0" tIns="0" rIns="0" bIns="0" anchor="t">
            <a:noAutofit/>
          </a:bodyPr>
          <a:lstStyle>
            <a:defPPr algn="r">
              <a:defRPr sz="1200" b="0">
                <a:solidFill>
                  <a:srgbClr val="5D6A67"/>
                </a:solidFill>
                <a:latin typeface="Arial"/>
                <a:ea typeface="Arial"/>
                <a:cs typeface="Arial"/>
              </a:defRPr>
            </a:defPPr>
            <a:lvl1pPr algn="r">
              <a:buNone/>
              <a:defRPr sz="1200" b="0">
                <a:solidFill>
                  <a:srgbClr val="5D6A67"/>
                </a:solidFill>
                <a:latin typeface="Arial"/>
                <a:ea typeface="Arial"/>
                <a:cs typeface="Arial"/>
              </a:defRPr>
            </a:lvl1pPr>
            <a:lvl2pPr algn="r">
              <a:buNone/>
              <a:defRPr sz="1200" b="0">
                <a:solidFill>
                  <a:srgbClr val="5D6A67"/>
                </a:solidFill>
                <a:latin typeface="Arial"/>
                <a:ea typeface="Arial"/>
                <a:cs typeface="Arial"/>
              </a:defRPr>
            </a:lvl2pPr>
            <a:lvl3pPr algn="r">
              <a:buNone/>
              <a:defRPr sz="1200" b="0">
                <a:solidFill>
                  <a:srgbClr val="5D6A67"/>
                </a:solidFill>
                <a:latin typeface="Arial"/>
                <a:ea typeface="Arial"/>
                <a:cs typeface="Arial"/>
              </a:defRPr>
            </a:lvl3pPr>
            <a:lvl4pPr algn="r">
              <a:buNone/>
              <a:defRPr sz="1200" b="0">
                <a:solidFill>
                  <a:srgbClr val="5D6A67"/>
                </a:solidFill>
                <a:latin typeface="Arial"/>
                <a:ea typeface="Arial"/>
                <a:cs typeface="Arial"/>
              </a:defRPr>
            </a:lvl4pPr>
            <a:lvl5pPr algn="r">
              <a:buNone/>
              <a:defRPr sz="1200" b="0">
                <a:solidFill>
                  <a:srgbClr val="5D6A67"/>
                </a:solidFill>
                <a:latin typeface="Arial"/>
                <a:ea typeface="Arial"/>
                <a:cs typeface="Arial"/>
              </a:defRPr>
            </a:lvl5pPr>
            <a:lvl6pPr algn="r">
              <a:buNone/>
              <a:defRPr sz="1200" b="0">
                <a:solidFill>
                  <a:srgbClr val="5D6A67"/>
                </a:solidFill>
                <a:latin typeface="Arial"/>
                <a:ea typeface="Arial"/>
                <a:cs typeface="Arial"/>
              </a:defRPr>
            </a:lvl6pPr>
            <a:lvl7pPr algn="r">
              <a:buNone/>
              <a:defRPr sz="1200" b="0">
                <a:solidFill>
                  <a:srgbClr val="5D6A67"/>
                </a:solidFill>
                <a:latin typeface="Arial"/>
                <a:ea typeface="Arial"/>
                <a:cs typeface="Arial"/>
              </a:defRPr>
            </a:lvl7pPr>
            <a:lvl8pPr algn="r">
              <a:buNone/>
              <a:defRPr sz="1200" b="0">
                <a:solidFill>
                  <a:srgbClr val="5D6A67"/>
                </a:solidFill>
                <a:latin typeface="Arial"/>
                <a:ea typeface="Arial"/>
                <a:cs typeface="Arial"/>
              </a:defRPr>
            </a:lvl8pPr>
            <a:lvl9pPr algn="r">
              <a:buNone/>
              <a:defRPr sz="1200" b="0">
                <a:solidFill>
                  <a:srgbClr val="5D6A67"/>
                </a:solidFill>
                <a:latin typeface="Arial"/>
                <a:ea typeface="Arial"/>
                <a:cs typeface="Arial"/>
              </a:defRPr>
            </a:lvl9pPr>
          </a:lstStyle>
          <a:p>
            <a:pPr algn="r">
              <a:buNone/>
              <a:defRPr sz="1200" b="0">
                <a:solidFill>
                  <a:srgbClr val="5D6A67"/>
                </a:solidFill>
                <a:latin typeface="Arial"/>
                <a:ea typeface="Arial"/>
                <a:cs typeface="Arial"/>
              </a:defRPr>
            </a:pPr>
            <a:r>
              <a:rPr sz="1200" b="0">
                <a:solidFill>
                  <a:srgbClr val="5D6A67"/>
                </a:solidFill>
                <a:latin typeface="JetBrains Mono"/>
                <a:ea typeface="Arial"/>
                <a:cs typeface="Arial"/>
              </a:rPr>
              <a:t>06</a:t>
            </a:r>
            <a:endParaRPr/>
          </a:p>
        </p:txBody>
      </p:sp>
      <p:sp>
        <p:nvSpPr>
          <p:cNvPr id="123166482" name="dlt-text-37"/>
          <p:cNvSpPr>
            <a:spLocks noGrp="1"/>
          </p:cNvSpPr>
          <p:nvPr/>
        </p:nvSpPr>
        <p:spPr bwMode="auto">
          <a:xfrm>
            <a:off x="609600" y="1819275"/>
            <a:ext cx="2476500" cy="247650"/>
          </a:xfrm>
          <a:prstGeom prst="rect">
            <a:avLst/>
          </a:prstGeom>
          <a:noFill/>
          <a:ln w="0">
            <a:solidFill/>
            <a:prstDash val="solid"/>
          </a:ln>
        </p:spPr>
        <p:txBody>
          <a:bodyPr wrap="square" lIns="0" tIns="0" rIns="0" bIns="0" anchor="t">
            <a:noAutofit/>
          </a:bodyPr>
          <a:lstStyle>
            <a:defPPr algn="l">
              <a:defRPr sz="1500" b="0">
                <a:solidFill>
                  <a:srgbClr val="0891B2"/>
                </a:solidFill>
                <a:latin typeface="Arial"/>
                <a:ea typeface="Arial"/>
                <a:cs typeface="Arial"/>
              </a:defRPr>
            </a:defPPr>
            <a:lvl1pPr algn="l">
              <a:buNone/>
              <a:defRPr sz="1500" b="0">
                <a:solidFill>
                  <a:srgbClr val="0891B2"/>
                </a:solidFill>
                <a:latin typeface="Arial"/>
                <a:ea typeface="Arial"/>
                <a:cs typeface="Arial"/>
              </a:defRPr>
            </a:lvl1pPr>
            <a:lvl2pPr algn="l">
              <a:buNone/>
              <a:defRPr sz="1500" b="0">
                <a:solidFill>
                  <a:srgbClr val="0891B2"/>
                </a:solidFill>
                <a:latin typeface="Arial"/>
                <a:ea typeface="Arial"/>
                <a:cs typeface="Arial"/>
              </a:defRPr>
            </a:lvl2pPr>
            <a:lvl3pPr algn="l">
              <a:buNone/>
              <a:defRPr sz="1500" b="0">
                <a:solidFill>
                  <a:srgbClr val="0891B2"/>
                </a:solidFill>
                <a:latin typeface="Arial"/>
                <a:ea typeface="Arial"/>
                <a:cs typeface="Arial"/>
              </a:defRPr>
            </a:lvl3pPr>
            <a:lvl4pPr algn="l">
              <a:buNone/>
              <a:defRPr sz="1500" b="0">
                <a:solidFill>
                  <a:srgbClr val="0891B2"/>
                </a:solidFill>
                <a:latin typeface="Arial"/>
                <a:ea typeface="Arial"/>
                <a:cs typeface="Arial"/>
              </a:defRPr>
            </a:lvl4pPr>
            <a:lvl5pPr algn="l">
              <a:buNone/>
              <a:defRPr sz="1500" b="0">
                <a:solidFill>
                  <a:srgbClr val="0891B2"/>
                </a:solidFill>
                <a:latin typeface="Arial"/>
                <a:ea typeface="Arial"/>
                <a:cs typeface="Arial"/>
              </a:defRPr>
            </a:lvl5pPr>
            <a:lvl6pPr algn="l">
              <a:buNone/>
              <a:defRPr sz="1500" b="0">
                <a:solidFill>
                  <a:srgbClr val="0891B2"/>
                </a:solidFill>
                <a:latin typeface="Arial"/>
                <a:ea typeface="Arial"/>
                <a:cs typeface="Arial"/>
              </a:defRPr>
            </a:lvl6pPr>
            <a:lvl7pPr algn="l">
              <a:buNone/>
              <a:defRPr sz="1500" b="0">
                <a:solidFill>
                  <a:srgbClr val="0891B2"/>
                </a:solidFill>
                <a:latin typeface="Arial"/>
                <a:ea typeface="Arial"/>
                <a:cs typeface="Arial"/>
              </a:defRPr>
            </a:lvl7pPr>
            <a:lvl8pPr algn="l">
              <a:buNone/>
              <a:defRPr sz="1500" b="0">
                <a:solidFill>
                  <a:srgbClr val="0891B2"/>
                </a:solidFill>
                <a:latin typeface="Arial"/>
                <a:ea typeface="Arial"/>
                <a:cs typeface="Arial"/>
              </a:defRPr>
            </a:lvl8pPr>
            <a:lvl9pPr algn="l">
              <a:buNone/>
              <a:defRPr sz="1500" b="0">
                <a:solidFill>
                  <a:srgbClr val="0891B2"/>
                </a:solidFill>
                <a:latin typeface="Arial"/>
                <a:ea typeface="Arial"/>
                <a:cs typeface="Arial"/>
              </a:defRPr>
            </a:lvl9pPr>
          </a:lstStyle>
          <a:p>
            <a:pPr algn="l">
              <a:buNone/>
              <a:defRPr sz="1500" b="0">
                <a:solidFill>
                  <a:srgbClr val="0891B2"/>
                </a:solidFill>
                <a:latin typeface="Arial"/>
                <a:ea typeface="Arial"/>
                <a:cs typeface="Arial"/>
              </a:defRPr>
            </a:pPr>
            <a:r>
              <a:rPr sz="1500" b="0">
                <a:solidFill>
                  <a:srgbClr val="0891B2"/>
                </a:solidFill>
                <a:latin typeface="Plus Jakarta Sans"/>
                <a:ea typeface="Arial"/>
                <a:cs typeface="Arial"/>
              </a:rPr>
              <a:t>Blue = securities</a:t>
            </a:r>
            <a:endParaRPr/>
          </a:p>
        </p:txBody>
      </p:sp>
      <p:sp>
        <p:nvSpPr>
          <p:cNvPr id="32223196" name="dlt-text-38"/>
          <p:cNvSpPr>
            <a:spLocks noGrp="1"/>
          </p:cNvSpPr>
          <p:nvPr/>
        </p:nvSpPr>
        <p:spPr bwMode="auto">
          <a:xfrm>
            <a:off x="3276600" y="1819275"/>
            <a:ext cx="5000625" cy="247650"/>
          </a:xfrm>
          <a:prstGeom prst="rect">
            <a:avLst/>
          </a:prstGeom>
          <a:noFill/>
          <a:ln w="0">
            <a:solidFill/>
            <a:prstDash val="solid"/>
          </a:ln>
        </p:spPr>
        <p:txBody>
          <a:bodyPr wrap="square" lIns="0" tIns="0" rIns="0" bIns="0" anchor="t">
            <a:noAutofit/>
          </a:bodyPr>
          <a:lstStyle>
            <a:defPPr algn="l">
              <a:defRPr sz="1500" b="0">
                <a:solidFill>
                  <a:srgbClr val="7C3AED"/>
                </a:solidFill>
                <a:latin typeface="Arial"/>
                <a:ea typeface="Arial"/>
                <a:cs typeface="Arial"/>
              </a:defRPr>
            </a:defPPr>
            <a:lvl1pPr algn="l">
              <a:buNone/>
              <a:defRPr sz="1500" b="0">
                <a:solidFill>
                  <a:srgbClr val="7C3AED"/>
                </a:solidFill>
                <a:latin typeface="Arial"/>
                <a:ea typeface="Arial"/>
                <a:cs typeface="Arial"/>
              </a:defRPr>
            </a:lvl1pPr>
            <a:lvl2pPr algn="l">
              <a:buNone/>
              <a:defRPr sz="1500" b="0">
                <a:solidFill>
                  <a:srgbClr val="7C3AED"/>
                </a:solidFill>
                <a:latin typeface="Arial"/>
                <a:ea typeface="Arial"/>
                <a:cs typeface="Arial"/>
              </a:defRPr>
            </a:lvl2pPr>
            <a:lvl3pPr algn="l">
              <a:buNone/>
              <a:defRPr sz="1500" b="0">
                <a:solidFill>
                  <a:srgbClr val="7C3AED"/>
                </a:solidFill>
                <a:latin typeface="Arial"/>
                <a:ea typeface="Arial"/>
                <a:cs typeface="Arial"/>
              </a:defRPr>
            </a:lvl3pPr>
            <a:lvl4pPr algn="l">
              <a:buNone/>
              <a:defRPr sz="1500" b="0">
                <a:solidFill>
                  <a:srgbClr val="7C3AED"/>
                </a:solidFill>
                <a:latin typeface="Arial"/>
                <a:ea typeface="Arial"/>
                <a:cs typeface="Arial"/>
              </a:defRPr>
            </a:lvl4pPr>
            <a:lvl5pPr algn="l">
              <a:buNone/>
              <a:defRPr sz="1500" b="0">
                <a:solidFill>
                  <a:srgbClr val="7C3AED"/>
                </a:solidFill>
                <a:latin typeface="Arial"/>
                <a:ea typeface="Arial"/>
                <a:cs typeface="Arial"/>
              </a:defRPr>
            </a:lvl5pPr>
            <a:lvl6pPr algn="l">
              <a:buNone/>
              <a:defRPr sz="1500" b="0">
                <a:solidFill>
                  <a:srgbClr val="7C3AED"/>
                </a:solidFill>
                <a:latin typeface="Arial"/>
                <a:ea typeface="Arial"/>
                <a:cs typeface="Arial"/>
              </a:defRPr>
            </a:lvl6pPr>
            <a:lvl7pPr algn="l">
              <a:buNone/>
              <a:defRPr sz="1500" b="0">
                <a:solidFill>
                  <a:srgbClr val="7C3AED"/>
                </a:solidFill>
                <a:latin typeface="Arial"/>
                <a:ea typeface="Arial"/>
                <a:cs typeface="Arial"/>
              </a:defRPr>
            </a:lvl7pPr>
            <a:lvl8pPr algn="l">
              <a:buNone/>
              <a:defRPr sz="1500" b="0">
                <a:solidFill>
                  <a:srgbClr val="7C3AED"/>
                </a:solidFill>
                <a:latin typeface="Arial"/>
                <a:ea typeface="Arial"/>
                <a:cs typeface="Arial"/>
              </a:defRPr>
            </a:lvl8pPr>
            <a:lvl9pPr algn="l">
              <a:buNone/>
              <a:defRPr sz="1500" b="0">
                <a:solidFill>
                  <a:srgbClr val="7C3AED"/>
                </a:solidFill>
                <a:latin typeface="Arial"/>
                <a:ea typeface="Arial"/>
                <a:cs typeface="Arial"/>
              </a:defRPr>
            </a:lvl9pPr>
          </a:lstStyle>
          <a:p>
            <a:pPr algn="l">
              <a:buNone/>
              <a:defRPr sz="1500" b="0">
                <a:solidFill>
                  <a:srgbClr val="7C3AED"/>
                </a:solidFill>
                <a:latin typeface="Arial"/>
                <a:ea typeface="Arial"/>
                <a:cs typeface="Arial"/>
              </a:defRPr>
            </a:pPr>
            <a:r>
              <a:rPr sz="1500" b="0">
                <a:solidFill>
                  <a:srgbClr val="7C3AED"/>
                </a:solidFill>
                <a:latin typeface="Plus Jakarta Sans"/>
                <a:ea typeface="Arial"/>
                <a:cs typeface="Arial"/>
              </a:rPr>
              <a:t>Purple = instructions and confirmations</a:t>
            </a:r>
            <a:endParaRPr/>
          </a:p>
        </p:txBody>
      </p:sp>
      <p:sp>
        <p:nvSpPr>
          <p:cNvPr id="1663019197" name="dlt-text-39"/>
          <p:cNvSpPr>
            <a:spLocks noGrp="1"/>
          </p:cNvSpPr>
          <p:nvPr/>
        </p:nvSpPr>
        <p:spPr bwMode="auto">
          <a:xfrm>
            <a:off x="8705850" y="1819275"/>
            <a:ext cx="2876550" cy="247650"/>
          </a:xfrm>
          <a:prstGeom prst="rect">
            <a:avLst/>
          </a:prstGeom>
          <a:noFill/>
          <a:ln w="0">
            <a:solidFill/>
            <a:prstDash val="solid"/>
          </a:ln>
        </p:spPr>
        <p:txBody>
          <a:bodyPr wrap="square" lIns="0" tIns="0" rIns="0" bIns="0" anchor="t">
            <a:noAutofit/>
          </a:bodyPr>
          <a:lstStyle>
            <a:defPPr algn="l">
              <a:defRPr sz="1500" b="0">
                <a:solidFill>
                  <a:srgbClr val="059669"/>
                </a:solidFill>
                <a:latin typeface="Arial"/>
                <a:ea typeface="Arial"/>
                <a:cs typeface="Arial"/>
              </a:defRPr>
            </a:defPPr>
            <a:lvl1pPr algn="l">
              <a:buNone/>
              <a:defRPr sz="1500" b="0">
                <a:solidFill>
                  <a:srgbClr val="059669"/>
                </a:solidFill>
                <a:latin typeface="Arial"/>
                <a:ea typeface="Arial"/>
                <a:cs typeface="Arial"/>
              </a:defRPr>
            </a:lvl1pPr>
            <a:lvl2pPr algn="l">
              <a:buNone/>
              <a:defRPr sz="1500" b="0">
                <a:solidFill>
                  <a:srgbClr val="059669"/>
                </a:solidFill>
                <a:latin typeface="Arial"/>
                <a:ea typeface="Arial"/>
                <a:cs typeface="Arial"/>
              </a:defRPr>
            </a:lvl2pPr>
            <a:lvl3pPr algn="l">
              <a:buNone/>
              <a:defRPr sz="1500" b="0">
                <a:solidFill>
                  <a:srgbClr val="059669"/>
                </a:solidFill>
                <a:latin typeface="Arial"/>
                <a:ea typeface="Arial"/>
                <a:cs typeface="Arial"/>
              </a:defRPr>
            </a:lvl3pPr>
            <a:lvl4pPr algn="l">
              <a:buNone/>
              <a:defRPr sz="1500" b="0">
                <a:solidFill>
                  <a:srgbClr val="059669"/>
                </a:solidFill>
                <a:latin typeface="Arial"/>
                <a:ea typeface="Arial"/>
                <a:cs typeface="Arial"/>
              </a:defRPr>
            </a:lvl4pPr>
            <a:lvl5pPr algn="l">
              <a:buNone/>
              <a:defRPr sz="1500" b="0">
                <a:solidFill>
                  <a:srgbClr val="059669"/>
                </a:solidFill>
                <a:latin typeface="Arial"/>
                <a:ea typeface="Arial"/>
                <a:cs typeface="Arial"/>
              </a:defRPr>
            </a:lvl5pPr>
            <a:lvl6pPr algn="l">
              <a:buNone/>
              <a:defRPr sz="1500" b="0">
                <a:solidFill>
                  <a:srgbClr val="059669"/>
                </a:solidFill>
                <a:latin typeface="Arial"/>
                <a:ea typeface="Arial"/>
                <a:cs typeface="Arial"/>
              </a:defRPr>
            </a:lvl6pPr>
            <a:lvl7pPr algn="l">
              <a:buNone/>
              <a:defRPr sz="1500" b="0">
                <a:solidFill>
                  <a:srgbClr val="059669"/>
                </a:solidFill>
                <a:latin typeface="Arial"/>
                <a:ea typeface="Arial"/>
                <a:cs typeface="Arial"/>
              </a:defRPr>
            </a:lvl7pPr>
            <a:lvl8pPr algn="l">
              <a:buNone/>
              <a:defRPr sz="1500" b="0">
                <a:solidFill>
                  <a:srgbClr val="059669"/>
                </a:solidFill>
                <a:latin typeface="Arial"/>
                <a:ea typeface="Arial"/>
                <a:cs typeface="Arial"/>
              </a:defRPr>
            </a:lvl8pPr>
            <a:lvl9pPr algn="l">
              <a:buNone/>
              <a:defRPr sz="1500" b="0">
                <a:solidFill>
                  <a:srgbClr val="059669"/>
                </a:solidFill>
                <a:latin typeface="Arial"/>
                <a:ea typeface="Arial"/>
                <a:cs typeface="Arial"/>
              </a:defRPr>
            </a:lvl9pPr>
          </a:lstStyle>
          <a:p>
            <a:pPr algn="l">
              <a:buNone/>
              <a:defRPr sz="1500" b="0">
                <a:solidFill>
                  <a:srgbClr val="059669"/>
                </a:solidFill>
                <a:latin typeface="Arial"/>
                <a:ea typeface="Arial"/>
                <a:cs typeface="Arial"/>
              </a:defRPr>
            </a:pPr>
            <a:r>
              <a:rPr sz="1500" b="0">
                <a:solidFill>
                  <a:srgbClr val="059669"/>
                </a:solidFill>
                <a:latin typeface="Plus Jakarta Sans"/>
                <a:ea typeface="Arial"/>
                <a:cs typeface="Arial"/>
              </a:rPr>
              <a:t>Green = stablecoin cash</a:t>
            </a:r>
            <a:endParaRPr/>
          </a:p>
        </p:txBody>
      </p:sp>
      <p:sp>
        <p:nvSpPr>
          <p:cNvPr id="1691087005" name="participant-head-40"/>
          <p:cNvSpPr>
            <a:spLocks noGrp="1"/>
          </p:cNvSpPr>
          <p:nvPr/>
        </p:nvSpPr>
        <p:spPr bwMode="auto">
          <a:xfrm>
            <a:off x="1885950" y="2143125"/>
            <a:ext cx="190500" cy="190500"/>
          </a:xfrm>
          <a:prstGeom prst="ellipse">
            <a:avLst/>
          </a:prstGeom>
          <a:solidFill>
            <a:srgbClr val="18201D"/>
          </a:solidFill>
          <a:ln w="0">
            <a:solidFill/>
            <a:prstDash val="solid"/>
          </a:ln>
        </p:spPr>
        <p:txBody>
          <a:bodyPr/>
          <a:p/>
        </p:txBody>
      </p:sp>
      <p:sp>
        <p:nvSpPr>
          <p:cNvPr id="540978518" name="participant-body-41"/>
          <p:cNvSpPr>
            <a:spLocks noGrp="1"/>
          </p:cNvSpPr>
          <p:nvPr/>
        </p:nvSpPr>
        <p:spPr bwMode="auto">
          <a:xfrm>
            <a:off x="1809750" y="2362199"/>
            <a:ext cx="342900" cy="180975"/>
          </a:xfrm>
          <a:prstGeom prst="roundRect">
            <a:avLst>
              <a:gd name="adj" fmla="val 42105"/>
            </a:avLst>
          </a:prstGeom>
          <a:solidFill>
            <a:srgbClr val="18201D"/>
          </a:solidFill>
          <a:ln w="0">
            <a:solidFill/>
            <a:prstDash val="solid"/>
          </a:ln>
        </p:spPr>
        <p:txBody>
          <a:bodyPr/>
          <a:p/>
        </p:txBody>
      </p:sp>
      <p:sp>
        <p:nvSpPr>
          <p:cNvPr id="1538549344" name="dlt-text-42"/>
          <p:cNvSpPr>
            <a:spLocks noGrp="1"/>
          </p:cNvSpPr>
          <p:nvPr/>
        </p:nvSpPr>
        <p:spPr bwMode="auto">
          <a:xfrm>
            <a:off x="781050" y="2600325"/>
            <a:ext cx="2400300" cy="571500"/>
          </a:xfrm>
          <a:prstGeom prst="rect">
            <a:avLst/>
          </a:prstGeom>
          <a:noFill/>
          <a:ln w="0">
            <a:solidFill/>
            <a:prstDash val="solid"/>
          </a:ln>
        </p:spPr>
        <p:txBody>
          <a:bodyPr wrap="square" lIns="0" tIns="0" rIns="0" bIns="0" anchor="t">
            <a:noAutofit/>
          </a:bodyPr>
          <a:lstStyle>
            <a:defPPr algn="ctr">
              <a:defRPr sz="1800" b="1">
                <a:solidFill>
                  <a:srgbClr val="18201D"/>
                </a:solidFill>
                <a:latin typeface="Arial"/>
                <a:ea typeface="Arial"/>
                <a:cs typeface="Arial"/>
              </a:defRPr>
            </a:defPPr>
            <a:lvl1pPr algn="ctr">
              <a:buNone/>
              <a:defRPr sz="1800" b="1">
                <a:solidFill>
                  <a:srgbClr val="18201D"/>
                </a:solidFill>
                <a:latin typeface="Arial"/>
                <a:ea typeface="Arial"/>
                <a:cs typeface="Arial"/>
              </a:defRPr>
            </a:lvl1pPr>
            <a:lvl2pPr algn="ctr">
              <a:buNone/>
              <a:defRPr sz="1800" b="1">
                <a:solidFill>
                  <a:srgbClr val="18201D"/>
                </a:solidFill>
                <a:latin typeface="Arial"/>
                <a:ea typeface="Arial"/>
                <a:cs typeface="Arial"/>
              </a:defRPr>
            </a:lvl2pPr>
            <a:lvl3pPr algn="ctr">
              <a:buNone/>
              <a:defRPr sz="1800" b="1">
                <a:solidFill>
                  <a:srgbClr val="18201D"/>
                </a:solidFill>
                <a:latin typeface="Arial"/>
                <a:ea typeface="Arial"/>
                <a:cs typeface="Arial"/>
              </a:defRPr>
            </a:lvl3pPr>
            <a:lvl4pPr algn="ctr">
              <a:buNone/>
              <a:defRPr sz="1800" b="1">
                <a:solidFill>
                  <a:srgbClr val="18201D"/>
                </a:solidFill>
                <a:latin typeface="Arial"/>
                <a:ea typeface="Arial"/>
                <a:cs typeface="Arial"/>
              </a:defRPr>
            </a:lvl4pPr>
            <a:lvl5pPr algn="ctr">
              <a:buNone/>
              <a:defRPr sz="1800" b="1">
                <a:solidFill>
                  <a:srgbClr val="18201D"/>
                </a:solidFill>
                <a:latin typeface="Arial"/>
                <a:ea typeface="Arial"/>
                <a:cs typeface="Arial"/>
              </a:defRPr>
            </a:lvl5pPr>
            <a:lvl6pPr algn="ctr">
              <a:buNone/>
              <a:defRPr sz="1800" b="1">
                <a:solidFill>
                  <a:srgbClr val="18201D"/>
                </a:solidFill>
                <a:latin typeface="Arial"/>
                <a:ea typeface="Arial"/>
                <a:cs typeface="Arial"/>
              </a:defRPr>
            </a:lvl6pPr>
            <a:lvl7pPr algn="ctr">
              <a:buNone/>
              <a:defRPr sz="1800" b="1">
                <a:solidFill>
                  <a:srgbClr val="18201D"/>
                </a:solidFill>
                <a:latin typeface="Arial"/>
                <a:ea typeface="Arial"/>
                <a:cs typeface="Arial"/>
              </a:defRPr>
            </a:lvl7pPr>
            <a:lvl8pPr algn="ctr">
              <a:buNone/>
              <a:defRPr sz="1800" b="1">
                <a:solidFill>
                  <a:srgbClr val="18201D"/>
                </a:solidFill>
                <a:latin typeface="Arial"/>
                <a:ea typeface="Arial"/>
                <a:cs typeface="Arial"/>
              </a:defRPr>
            </a:lvl8pPr>
            <a:lvl9pPr algn="ctr">
              <a:buNone/>
              <a:defRPr sz="1800" b="1">
                <a:solidFill>
                  <a:srgbClr val="18201D"/>
                </a:solidFill>
                <a:latin typeface="Arial"/>
                <a:ea typeface="Arial"/>
                <a:cs typeface="Arial"/>
              </a:defRPr>
            </a:lvl9pPr>
          </a:lstStyle>
          <a:p>
            <a:pPr algn="ctr">
              <a:buNone/>
              <a:defRPr sz="1800" b="1">
                <a:solidFill>
                  <a:srgbClr val="18201D"/>
                </a:solidFill>
                <a:latin typeface="Arial"/>
                <a:ea typeface="Arial"/>
                <a:cs typeface="Arial"/>
              </a:defRPr>
            </a:pPr>
            <a:r>
              <a:rPr sz="1800" b="1">
                <a:solidFill>
                  <a:srgbClr val="18201D"/>
                </a:solidFill>
                <a:latin typeface="Outfit"/>
                <a:ea typeface="Arial"/>
                <a:cs typeface="Arial"/>
              </a:rPr>
              <a:t>Authorized</a:t>
            </a:r>
            <a:endParaRPr/>
          </a:p>
          <a:p>
            <a:pPr algn="ctr">
              <a:buNone/>
              <a:defRPr sz="1800" b="1">
                <a:solidFill>
                  <a:srgbClr val="18201D"/>
                </a:solidFill>
                <a:latin typeface="Arial"/>
                <a:ea typeface="Arial"/>
                <a:cs typeface="Arial"/>
              </a:defRPr>
            </a:pPr>
            <a:r>
              <a:rPr sz="1800" b="1">
                <a:solidFill>
                  <a:srgbClr val="18201D"/>
                </a:solidFill>
                <a:latin typeface="Outfit"/>
                <a:ea typeface="Arial"/>
                <a:cs typeface="Arial"/>
              </a:rPr>
              <a:t>participant</a:t>
            </a:r>
            <a:endParaRPr/>
          </a:p>
        </p:txBody>
      </p:sp>
      <p:sp>
        <p:nvSpPr>
          <p:cNvPr id="781490283" name="diagram-line-43"/>
          <p:cNvSpPr>
            <a:spLocks noGrp="1"/>
          </p:cNvSpPr>
          <p:nvPr/>
        </p:nvSpPr>
        <p:spPr bwMode="auto">
          <a:xfrm>
            <a:off x="1981200" y="3171825"/>
            <a:ext cx="0" cy="2686050"/>
          </a:xfrm>
          <a:prstGeom prst="line">
            <a:avLst/>
          </a:prstGeom>
          <a:noFill/>
          <a:ln w="10478">
            <a:solidFill>
              <a:srgbClr val="D7DFDA"/>
            </a:solidFill>
            <a:prstDash val="dash"/>
          </a:ln>
        </p:spPr>
        <p:txBody>
          <a:bodyPr/>
          <a:p/>
        </p:txBody>
      </p:sp>
      <p:sp>
        <p:nvSpPr>
          <p:cNvPr id="2005745522" name="participant-head-44"/>
          <p:cNvSpPr>
            <a:spLocks noGrp="1"/>
          </p:cNvSpPr>
          <p:nvPr/>
        </p:nvSpPr>
        <p:spPr bwMode="auto">
          <a:xfrm>
            <a:off x="4629150" y="2143125"/>
            <a:ext cx="190500" cy="190500"/>
          </a:xfrm>
          <a:prstGeom prst="ellipse">
            <a:avLst/>
          </a:prstGeom>
          <a:solidFill>
            <a:srgbClr val="18201D"/>
          </a:solidFill>
          <a:ln w="0">
            <a:solidFill/>
            <a:prstDash val="solid"/>
          </a:ln>
        </p:spPr>
        <p:txBody>
          <a:bodyPr/>
          <a:p/>
        </p:txBody>
      </p:sp>
      <p:sp>
        <p:nvSpPr>
          <p:cNvPr id="564499676" name="participant-body-45"/>
          <p:cNvSpPr>
            <a:spLocks noGrp="1"/>
          </p:cNvSpPr>
          <p:nvPr/>
        </p:nvSpPr>
        <p:spPr bwMode="auto">
          <a:xfrm>
            <a:off x="4552950" y="2362199"/>
            <a:ext cx="342900" cy="180975"/>
          </a:xfrm>
          <a:prstGeom prst="roundRect">
            <a:avLst>
              <a:gd name="adj" fmla="val 42105"/>
            </a:avLst>
          </a:prstGeom>
          <a:solidFill>
            <a:srgbClr val="18201D"/>
          </a:solidFill>
          <a:ln w="0">
            <a:solidFill/>
            <a:prstDash val="solid"/>
          </a:ln>
        </p:spPr>
        <p:txBody>
          <a:bodyPr/>
          <a:p/>
        </p:txBody>
      </p:sp>
      <p:sp>
        <p:nvSpPr>
          <p:cNvPr id="1528041132" name="dlt-text-46"/>
          <p:cNvSpPr>
            <a:spLocks noGrp="1"/>
          </p:cNvSpPr>
          <p:nvPr/>
        </p:nvSpPr>
        <p:spPr bwMode="auto">
          <a:xfrm>
            <a:off x="3524250" y="2600325"/>
            <a:ext cx="2400300" cy="571500"/>
          </a:xfrm>
          <a:prstGeom prst="rect">
            <a:avLst/>
          </a:prstGeom>
          <a:noFill/>
          <a:ln w="0">
            <a:solidFill/>
            <a:prstDash val="solid"/>
          </a:ln>
        </p:spPr>
        <p:txBody>
          <a:bodyPr wrap="square" lIns="0" tIns="0" rIns="0" bIns="0" anchor="t">
            <a:noAutofit/>
          </a:bodyPr>
          <a:lstStyle>
            <a:defPPr algn="ctr">
              <a:defRPr sz="1800" b="1">
                <a:solidFill>
                  <a:srgbClr val="18201D"/>
                </a:solidFill>
                <a:latin typeface="Arial"/>
                <a:ea typeface="Arial"/>
                <a:cs typeface="Arial"/>
              </a:defRPr>
            </a:defPPr>
            <a:lvl1pPr algn="ctr">
              <a:buNone/>
              <a:defRPr sz="1800" b="1">
                <a:solidFill>
                  <a:srgbClr val="18201D"/>
                </a:solidFill>
                <a:latin typeface="Arial"/>
                <a:ea typeface="Arial"/>
                <a:cs typeface="Arial"/>
              </a:defRPr>
            </a:lvl1pPr>
            <a:lvl2pPr algn="ctr">
              <a:buNone/>
              <a:defRPr sz="1800" b="1">
                <a:solidFill>
                  <a:srgbClr val="18201D"/>
                </a:solidFill>
                <a:latin typeface="Arial"/>
                <a:ea typeface="Arial"/>
                <a:cs typeface="Arial"/>
              </a:defRPr>
            </a:lvl2pPr>
            <a:lvl3pPr algn="ctr">
              <a:buNone/>
              <a:defRPr sz="1800" b="1">
                <a:solidFill>
                  <a:srgbClr val="18201D"/>
                </a:solidFill>
                <a:latin typeface="Arial"/>
                <a:ea typeface="Arial"/>
                <a:cs typeface="Arial"/>
              </a:defRPr>
            </a:lvl3pPr>
            <a:lvl4pPr algn="ctr">
              <a:buNone/>
              <a:defRPr sz="1800" b="1">
                <a:solidFill>
                  <a:srgbClr val="18201D"/>
                </a:solidFill>
                <a:latin typeface="Arial"/>
                <a:ea typeface="Arial"/>
                <a:cs typeface="Arial"/>
              </a:defRPr>
            </a:lvl4pPr>
            <a:lvl5pPr algn="ctr">
              <a:buNone/>
              <a:defRPr sz="1800" b="1">
                <a:solidFill>
                  <a:srgbClr val="18201D"/>
                </a:solidFill>
                <a:latin typeface="Arial"/>
                <a:ea typeface="Arial"/>
                <a:cs typeface="Arial"/>
              </a:defRPr>
            </a:lvl5pPr>
            <a:lvl6pPr algn="ctr">
              <a:buNone/>
              <a:defRPr sz="1800" b="1">
                <a:solidFill>
                  <a:srgbClr val="18201D"/>
                </a:solidFill>
                <a:latin typeface="Arial"/>
                <a:ea typeface="Arial"/>
                <a:cs typeface="Arial"/>
              </a:defRPr>
            </a:lvl6pPr>
            <a:lvl7pPr algn="ctr">
              <a:buNone/>
              <a:defRPr sz="1800" b="1">
                <a:solidFill>
                  <a:srgbClr val="18201D"/>
                </a:solidFill>
                <a:latin typeface="Arial"/>
                <a:ea typeface="Arial"/>
                <a:cs typeface="Arial"/>
              </a:defRPr>
            </a:lvl7pPr>
            <a:lvl8pPr algn="ctr">
              <a:buNone/>
              <a:defRPr sz="1800" b="1">
                <a:solidFill>
                  <a:srgbClr val="18201D"/>
                </a:solidFill>
                <a:latin typeface="Arial"/>
                <a:ea typeface="Arial"/>
                <a:cs typeface="Arial"/>
              </a:defRPr>
            </a:lvl8pPr>
            <a:lvl9pPr algn="ctr">
              <a:buNone/>
              <a:defRPr sz="1800" b="1">
                <a:solidFill>
                  <a:srgbClr val="18201D"/>
                </a:solidFill>
                <a:latin typeface="Arial"/>
                <a:ea typeface="Arial"/>
                <a:cs typeface="Arial"/>
              </a:defRPr>
            </a:lvl9pPr>
          </a:lstStyle>
          <a:p>
            <a:pPr algn="ctr">
              <a:buNone/>
              <a:defRPr sz="1800" b="1">
                <a:solidFill>
                  <a:srgbClr val="18201D"/>
                </a:solidFill>
                <a:latin typeface="Arial"/>
                <a:ea typeface="Arial"/>
                <a:cs typeface="Arial"/>
              </a:defRPr>
            </a:pPr>
            <a:r>
              <a:rPr sz="1800" b="1">
                <a:solidFill>
                  <a:srgbClr val="18201D"/>
                </a:solidFill>
                <a:latin typeface="Outfit"/>
                <a:ea typeface="Arial"/>
                <a:cs typeface="Arial"/>
              </a:rPr>
              <a:t>Underlying</a:t>
            </a:r>
            <a:endParaRPr/>
          </a:p>
          <a:p>
            <a:pPr algn="ctr">
              <a:buNone/>
              <a:defRPr sz="1800" b="1">
                <a:solidFill>
                  <a:srgbClr val="18201D"/>
                </a:solidFill>
                <a:latin typeface="Arial"/>
                <a:ea typeface="Arial"/>
                <a:cs typeface="Arial"/>
              </a:defRPr>
            </a:pPr>
            <a:r>
              <a:rPr sz="1800" b="1">
                <a:solidFill>
                  <a:srgbClr val="18201D"/>
                </a:solidFill>
                <a:latin typeface="Outfit"/>
                <a:ea typeface="Arial"/>
                <a:cs typeface="Arial"/>
              </a:rPr>
              <a:t>custodian</a:t>
            </a:r>
            <a:endParaRPr/>
          </a:p>
        </p:txBody>
      </p:sp>
      <p:sp>
        <p:nvSpPr>
          <p:cNvPr id="1730185176" name="diagram-line-47"/>
          <p:cNvSpPr>
            <a:spLocks noGrp="1"/>
          </p:cNvSpPr>
          <p:nvPr/>
        </p:nvSpPr>
        <p:spPr bwMode="auto">
          <a:xfrm>
            <a:off x="4724399" y="3171825"/>
            <a:ext cx="0" cy="2686050"/>
          </a:xfrm>
          <a:prstGeom prst="line">
            <a:avLst/>
          </a:prstGeom>
          <a:noFill/>
          <a:ln w="10478">
            <a:solidFill>
              <a:srgbClr val="D7DFDA"/>
            </a:solidFill>
            <a:prstDash val="dash"/>
          </a:ln>
        </p:spPr>
        <p:txBody>
          <a:bodyPr/>
          <a:p/>
        </p:txBody>
      </p:sp>
      <p:sp>
        <p:nvSpPr>
          <p:cNvPr id="1174675879" name="participant-head-48"/>
          <p:cNvSpPr>
            <a:spLocks noGrp="1"/>
          </p:cNvSpPr>
          <p:nvPr/>
        </p:nvSpPr>
        <p:spPr bwMode="auto">
          <a:xfrm>
            <a:off x="7372350" y="2143125"/>
            <a:ext cx="190500" cy="190500"/>
          </a:xfrm>
          <a:prstGeom prst="ellipse">
            <a:avLst/>
          </a:prstGeom>
          <a:solidFill>
            <a:srgbClr val="18201D"/>
          </a:solidFill>
          <a:ln w="0">
            <a:solidFill/>
            <a:prstDash val="solid"/>
          </a:ln>
        </p:spPr>
        <p:txBody>
          <a:bodyPr/>
          <a:p/>
        </p:txBody>
      </p:sp>
      <p:sp>
        <p:nvSpPr>
          <p:cNvPr id="695492513" name="participant-body-49"/>
          <p:cNvSpPr>
            <a:spLocks noGrp="1"/>
          </p:cNvSpPr>
          <p:nvPr/>
        </p:nvSpPr>
        <p:spPr bwMode="auto">
          <a:xfrm>
            <a:off x="7296149" y="2362199"/>
            <a:ext cx="342900" cy="180975"/>
          </a:xfrm>
          <a:prstGeom prst="roundRect">
            <a:avLst>
              <a:gd name="adj" fmla="val 42105"/>
            </a:avLst>
          </a:prstGeom>
          <a:solidFill>
            <a:srgbClr val="18201D"/>
          </a:solidFill>
          <a:ln w="0">
            <a:solidFill/>
            <a:prstDash val="solid"/>
          </a:ln>
        </p:spPr>
        <p:txBody>
          <a:bodyPr/>
          <a:p/>
        </p:txBody>
      </p:sp>
      <p:sp>
        <p:nvSpPr>
          <p:cNvPr id="1287102551" name="dlt-text-50"/>
          <p:cNvSpPr>
            <a:spLocks noGrp="1"/>
          </p:cNvSpPr>
          <p:nvPr/>
        </p:nvSpPr>
        <p:spPr bwMode="auto">
          <a:xfrm>
            <a:off x="6267450" y="2600325"/>
            <a:ext cx="2400300" cy="571500"/>
          </a:xfrm>
          <a:prstGeom prst="rect">
            <a:avLst/>
          </a:prstGeom>
          <a:noFill/>
          <a:ln w="0">
            <a:solidFill/>
            <a:prstDash val="solid"/>
          </a:ln>
        </p:spPr>
        <p:txBody>
          <a:bodyPr wrap="square" lIns="0" tIns="0" rIns="0" bIns="0" anchor="t">
            <a:noAutofit/>
          </a:bodyPr>
          <a:lstStyle>
            <a:defPPr algn="ctr">
              <a:defRPr sz="1800" b="1">
                <a:solidFill>
                  <a:srgbClr val="18201D"/>
                </a:solidFill>
                <a:latin typeface="Arial"/>
                <a:ea typeface="Arial"/>
                <a:cs typeface="Arial"/>
              </a:defRPr>
            </a:defPPr>
            <a:lvl1pPr algn="ctr">
              <a:buNone/>
              <a:defRPr sz="1800" b="1">
                <a:solidFill>
                  <a:srgbClr val="18201D"/>
                </a:solidFill>
                <a:latin typeface="Arial"/>
                <a:ea typeface="Arial"/>
                <a:cs typeface="Arial"/>
              </a:defRPr>
            </a:lvl1pPr>
            <a:lvl2pPr algn="ctr">
              <a:buNone/>
              <a:defRPr sz="1800" b="1">
                <a:solidFill>
                  <a:srgbClr val="18201D"/>
                </a:solidFill>
                <a:latin typeface="Arial"/>
                <a:ea typeface="Arial"/>
                <a:cs typeface="Arial"/>
              </a:defRPr>
            </a:lvl2pPr>
            <a:lvl3pPr algn="ctr">
              <a:buNone/>
              <a:defRPr sz="1800" b="1">
                <a:solidFill>
                  <a:srgbClr val="18201D"/>
                </a:solidFill>
                <a:latin typeface="Arial"/>
                <a:ea typeface="Arial"/>
                <a:cs typeface="Arial"/>
              </a:defRPr>
            </a:lvl3pPr>
            <a:lvl4pPr algn="ctr">
              <a:buNone/>
              <a:defRPr sz="1800" b="1">
                <a:solidFill>
                  <a:srgbClr val="18201D"/>
                </a:solidFill>
                <a:latin typeface="Arial"/>
                <a:ea typeface="Arial"/>
                <a:cs typeface="Arial"/>
              </a:defRPr>
            </a:lvl4pPr>
            <a:lvl5pPr algn="ctr">
              <a:buNone/>
              <a:defRPr sz="1800" b="1">
                <a:solidFill>
                  <a:srgbClr val="18201D"/>
                </a:solidFill>
                <a:latin typeface="Arial"/>
                <a:ea typeface="Arial"/>
                <a:cs typeface="Arial"/>
              </a:defRPr>
            </a:lvl5pPr>
            <a:lvl6pPr algn="ctr">
              <a:buNone/>
              <a:defRPr sz="1800" b="1">
                <a:solidFill>
                  <a:srgbClr val="18201D"/>
                </a:solidFill>
                <a:latin typeface="Arial"/>
                <a:ea typeface="Arial"/>
                <a:cs typeface="Arial"/>
              </a:defRPr>
            </a:lvl6pPr>
            <a:lvl7pPr algn="ctr">
              <a:buNone/>
              <a:defRPr sz="1800" b="1">
                <a:solidFill>
                  <a:srgbClr val="18201D"/>
                </a:solidFill>
                <a:latin typeface="Arial"/>
                <a:ea typeface="Arial"/>
                <a:cs typeface="Arial"/>
              </a:defRPr>
            </a:lvl7pPr>
            <a:lvl8pPr algn="ctr">
              <a:buNone/>
              <a:defRPr sz="1800" b="1">
                <a:solidFill>
                  <a:srgbClr val="18201D"/>
                </a:solidFill>
                <a:latin typeface="Arial"/>
                <a:ea typeface="Arial"/>
                <a:cs typeface="Arial"/>
              </a:defRPr>
            </a:lvl8pPr>
            <a:lvl9pPr algn="ctr">
              <a:buNone/>
              <a:defRPr sz="1800" b="1">
                <a:solidFill>
                  <a:srgbClr val="18201D"/>
                </a:solidFill>
                <a:latin typeface="Arial"/>
                <a:ea typeface="Arial"/>
                <a:cs typeface="Arial"/>
              </a:defRPr>
            </a:lvl9pPr>
          </a:lstStyle>
          <a:p>
            <a:pPr algn="ctr">
              <a:buNone/>
              <a:defRPr sz="1800" b="1">
                <a:solidFill>
                  <a:srgbClr val="18201D"/>
                </a:solidFill>
                <a:latin typeface="Arial"/>
                <a:ea typeface="Arial"/>
                <a:cs typeface="Arial"/>
              </a:defRPr>
            </a:pPr>
            <a:r>
              <a:rPr sz="1800" b="1">
                <a:solidFill>
                  <a:srgbClr val="18201D"/>
                </a:solidFill>
                <a:latin typeface="Outfit"/>
                <a:ea typeface="Arial"/>
                <a:cs typeface="Arial"/>
              </a:rPr>
              <a:t>Issuer /</a:t>
            </a:r>
            <a:endParaRPr/>
          </a:p>
          <a:p>
            <a:pPr algn="ctr">
              <a:buNone/>
              <a:defRPr sz="1800" b="1">
                <a:solidFill>
                  <a:srgbClr val="18201D"/>
                </a:solidFill>
                <a:latin typeface="Arial"/>
                <a:ea typeface="Arial"/>
                <a:cs typeface="Arial"/>
              </a:defRPr>
            </a:pPr>
            <a:r>
              <a:rPr sz="1800" b="1">
                <a:solidFill>
                  <a:srgbClr val="18201D"/>
                </a:solidFill>
                <a:latin typeface="Outfit"/>
                <a:ea typeface="Arial"/>
                <a:cs typeface="Arial"/>
              </a:rPr>
              <a:t>registrar</a:t>
            </a:r>
            <a:endParaRPr/>
          </a:p>
        </p:txBody>
      </p:sp>
      <p:sp>
        <p:nvSpPr>
          <p:cNvPr id="1271203079" name="diagram-line-51"/>
          <p:cNvSpPr>
            <a:spLocks noGrp="1"/>
          </p:cNvSpPr>
          <p:nvPr/>
        </p:nvSpPr>
        <p:spPr bwMode="auto">
          <a:xfrm>
            <a:off x="7467600" y="3171825"/>
            <a:ext cx="0" cy="2686050"/>
          </a:xfrm>
          <a:prstGeom prst="line">
            <a:avLst/>
          </a:prstGeom>
          <a:noFill/>
          <a:ln w="10478">
            <a:solidFill>
              <a:srgbClr val="D7DFDA"/>
            </a:solidFill>
            <a:prstDash val="dash"/>
          </a:ln>
        </p:spPr>
        <p:txBody>
          <a:bodyPr/>
          <a:p/>
        </p:txBody>
      </p:sp>
      <p:sp>
        <p:nvSpPr>
          <p:cNvPr id="1204902959" name="ledger-node-52"/>
          <p:cNvSpPr>
            <a:spLocks noGrp="1"/>
          </p:cNvSpPr>
          <p:nvPr/>
        </p:nvSpPr>
        <p:spPr bwMode="auto">
          <a:xfrm>
            <a:off x="9972675" y="2200275"/>
            <a:ext cx="190500" cy="238125"/>
          </a:xfrm>
          <a:prstGeom prst="rect">
            <a:avLst/>
          </a:prstGeom>
          <a:solidFill>
            <a:srgbClr val="ECFEFF"/>
          </a:solidFill>
          <a:ln w="13335">
            <a:solidFill>
              <a:srgbClr val="0891B2"/>
            </a:solidFill>
            <a:prstDash val="solid"/>
          </a:ln>
        </p:spPr>
        <p:txBody>
          <a:bodyPr/>
          <a:p/>
        </p:txBody>
      </p:sp>
      <p:sp>
        <p:nvSpPr>
          <p:cNvPr id="981001820" name="ledger-node-53"/>
          <p:cNvSpPr>
            <a:spLocks noGrp="1"/>
          </p:cNvSpPr>
          <p:nvPr/>
        </p:nvSpPr>
        <p:spPr bwMode="auto">
          <a:xfrm>
            <a:off x="10267950" y="2200275"/>
            <a:ext cx="190500" cy="238125"/>
          </a:xfrm>
          <a:prstGeom prst="rect">
            <a:avLst/>
          </a:prstGeom>
          <a:solidFill>
            <a:srgbClr val="ECFEFF"/>
          </a:solidFill>
          <a:ln w="13335">
            <a:solidFill>
              <a:srgbClr val="0891B2"/>
            </a:solidFill>
            <a:prstDash val="solid"/>
          </a:ln>
        </p:spPr>
        <p:txBody>
          <a:bodyPr/>
          <a:p/>
        </p:txBody>
      </p:sp>
      <p:sp>
        <p:nvSpPr>
          <p:cNvPr id="1010623505" name="diagram-line-54"/>
          <p:cNvSpPr>
            <a:spLocks noGrp="1"/>
          </p:cNvSpPr>
          <p:nvPr/>
        </p:nvSpPr>
        <p:spPr bwMode="auto">
          <a:xfrm>
            <a:off x="10172700" y="2314575"/>
            <a:ext cx="85725" cy="0"/>
          </a:xfrm>
          <a:prstGeom prst="line">
            <a:avLst/>
          </a:prstGeom>
          <a:noFill/>
          <a:ln w="14288">
            <a:solidFill>
              <a:srgbClr val="0891B2"/>
            </a:solidFill>
            <a:prstDash val="solid"/>
          </a:ln>
        </p:spPr>
        <p:txBody>
          <a:bodyPr/>
          <a:p/>
        </p:txBody>
      </p:sp>
      <p:sp>
        <p:nvSpPr>
          <p:cNvPr id="261733182" name="dlt-text-55"/>
          <p:cNvSpPr>
            <a:spLocks noGrp="1"/>
          </p:cNvSpPr>
          <p:nvPr/>
        </p:nvSpPr>
        <p:spPr bwMode="auto">
          <a:xfrm>
            <a:off x="9010650" y="2600325"/>
            <a:ext cx="2400300" cy="571500"/>
          </a:xfrm>
          <a:prstGeom prst="rect">
            <a:avLst/>
          </a:prstGeom>
          <a:noFill/>
          <a:ln w="0">
            <a:solidFill/>
            <a:prstDash val="solid"/>
          </a:ln>
        </p:spPr>
        <p:txBody>
          <a:bodyPr wrap="square" lIns="0" tIns="0" rIns="0" bIns="0" anchor="t">
            <a:noAutofit/>
          </a:bodyPr>
          <a:lstStyle>
            <a:defPPr algn="ctr">
              <a:defRPr sz="1800" b="1">
                <a:solidFill>
                  <a:srgbClr val="18201D"/>
                </a:solidFill>
                <a:latin typeface="Arial"/>
                <a:ea typeface="Arial"/>
                <a:cs typeface="Arial"/>
              </a:defRPr>
            </a:defPPr>
            <a:lvl1pPr algn="ctr">
              <a:buNone/>
              <a:defRPr sz="1800" b="1">
                <a:solidFill>
                  <a:srgbClr val="18201D"/>
                </a:solidFill>
                <a:latin typeface="Arial"/>
                <a:ea typeface="Arial"/>
                <a:cs typeface="Arial"/>
              </a:defRPr>
            </a:lvl1pPr>
            <a:lvl2pPr algn="ctr">
              <a:buNone/>
              <a:defRPr sz="1800" b="1">
                <a:solidFill>
                  <a:srgbClr val="18201D"/>
                </a:solidFill>
                <a:latin typeface="Arial"/>
                <a:ea typeface="Arial"/>
                <a:cs typeface="Arial"/>
              </a:defRPr>
            </a:lvl2pPr>
            <a:lvl3pPr algn="ctr">
              <a:buNone/>
              <a:defRPr sz="1800" b="1">
                <a:solidFill>
                  <a:srgbClr val="18201D"/>
                </a:solidFill>
                <a:latin typeface="Arial"/>
                <a:ea typeface="Arial"/>
                <a:cs typeface="Arial"/>
              </a:defRPr>
            </a:lvl3pPr>
            <a:lvl4pPr algn="ctr">
              <a:buNone/>
              <a:defRPr sz="1800" b="1">
                <a:solidFill>
                  <a:srgbClr val="18201D"/>
                </a:solidFill>
                <a:latin typeface="Arial"/>
                <a:ea typeface="Arial"/>
                <a:cs typeface="Arial"/>
              </a:defRPr>
            </a:lvl4pPr>
            <a:lvl5pPr algn="ctr">
              <a:buNone/>
              <a:defRPr sz="1800" b="1">
                <a:solidFill>
                  <a:srgbClr val="18201D"/>
                </a:solidFill>
                <a:latin typeface="Arial"/>
                <a:ea typeface="Arial"/>
                <a:cs typeface="Arial"/>
              </a:defRPr>
            </a:lvl5pPr>
            <a:lvl6pPr algn="ctr">
              <a:buNone/>
              <a:defRPr sz="1800" b="1">
                <a:solidFill>
                  <a:srgbClr val="18201D"/>
                </a:solidFill>
                <a:latin typeface="Arial"/>
                <a:ea typeface="Arial"/>
                <a:cs typeface="Arial"/>
              </a:defRPr>
            </a:lvl6pPr>
            <a:lvl7pPr algn="ctr">
              <a:buNone/>
              <a:defRPr sz="1800" b="1">
                <a:solidFill>
                  <a:srgbClr val="18201D"/>
                </a:solidFill>
                <a:latin typeface="Arial"/>
                <a:ea typeface="Arial"/>
                <a:cs typeface="Arial"/>
              </a:defRPr>
            </a:lvl7pPr>
            <a:lvl8pPr algn="ctr">
              <a:buNone/>
              <a:defRPr sz="1800" b="1">
                <a:solidFill>
                  <a:srgbClr val="18201D"/>
                </a:solidFill>
                <a:latin typeface="Arial"/>
                <a:ea typeface="Arial"/>
                <a:cs typeface="Arial"/>
              </a:defRPr>
            </a:lvl8pPr>
            <a:lvl9pPr algn="ctr">
              <a:buNone/>
              <a:defRPr sz="1800" b="1">
                <a:solidFill>
                  <a:srgbClr val="18201D"/>
                </a:solidFill>
                <a:latin typeface="Arial"/>
                <a:ea typeface="Arial"/>
                <a:cs typeface="Arial"/>
              </a:defRPr>
            </a:lvl9pPr>
          </a:lstStyle>
          <a:p>
            <a:pPr algn="ctr">
              <a:buNone/>
              <a:defRPr sz="1800" b="1">
                <a:solidFill>
                  <a:srgbClr val="18201D"/>
                </a:solidFill>
                <a:latin typeface="Arial"/>
                <a:ea typeface="Arial"/>
                <a:cs typeface="Arial"/>
              </a:defRPr>
            </a:pPr>
            <a:r>
              <a:rPr sz="1800" b="1">
                <a:solidFill>
                  <a:srgbClr val="18201D"/>
                </a:solidFill>
                <a:latin typeface="Outfit"/>
                <a:ea typeface="Arial"/>
                <a:cs typeface="Arial"/>
              </a:rPr>
              <a:t>Permissioned</a:t>
            </a:r>
            <a:endParaRPr/>
          </a:p>
          <a:p>
            <a:pPr algn="ctr">
              <a:buNone/>
              <a:defRPr sz="1800" b="1">
                <a:solidFill>
                  <a:srgbClr val="18201D"/>
                </a:solidFill>
                <a:latin typeface="Arial"/>
                <a:ea typeface="Arial"/>
                <a:cs typeface="Arial"/>
              </a:defRPr>
            </a:pPr>
            <a:r>
              <a:rPr sz="1800" b="1">
                <a:solidFill>
                  <a:srgbClr val="18201D"/>
                </a:solidFill>
                <a:latin typeface="Outfit"/>
                <a:ea typeface="Arial"/>
                <a:cs typeface="Arial"/>
              </a:rPr>
              <a:t>DLT register</a:t>
            </a:r>
            <a:endParaRPr/>
          </a:p>
        </p:txBody>
      </p:sp>
      <p:sp>
        <p:nvSpPr>
          <p:cNvPr id="1812444169" name="diagram-line-56"/>
          <p:cNvSpPr>
            <a:spLocks noGrp="1"/>
          </p:cNvSpPr>
          <p:nvPr/>
        </p:nvSpPr>
        <p:spPr bwMode="auto">
          <a:xfrm>
            <a:off x="10210800" y="3171825"/>
            <a:ext cx="0" cy="2686050"/>
          </a:xfrm>
          <a:prstGeom prst="line">
            <a:avLst/>
          </a:prstGeom>
          <a:noFill/>
          <a:ln w="10478">
            <a:solidFill>
              <a:srgbClr val="D7DFDA"/>
            </a:solidFill>
            <a:prstDash val="dash"/>
          </a:ln>
        </p:spPr>
        <p:txBody>
          <a:bodyPr/>
          <a:p/>
        </p:txBody>
      </p:sp>
      <p:cxnSp>
        <p:nvCxnSpPr>
          <p:cNvPr id="672665983" name="diagram-line-57"/>
          <p:cNvCxnSpPr/>
          <p:nvPr/>
        </p:nvCxnSpPr>
        <p:spPr bwMode="auto">
          <a:xfrm>
            <a:off x="1981200" y="3429000"/>
            <a:ext cx="2743200" cy="0"/>
          </a:xfrm>
          <a:prstGeom prst="straightConnector1">
            <a:avLst/>
          </a:prstGeom>
          <a:ln w="22860">
            <a:solidFill>
              <a:srgbClr val="0891B2"/>
            </a:solidFill>
            <a:prstDash val="solid"/>
            <a:tailEnd type="triangle" w="sm" len="sm"/>
          </a:ln>
        </p:spPr>
      </p:cxnSp>
      <p:sp>
        <p:nvSpPr>
          <p:cNvPr id="1014658296" name="data-object-58"/>
          <p:cNvSpPr>
            <a:spLocks noGrp="1"/>
          </p:cNvSpPr>
          <p:nvPr/>
        </p:nvSpPr>
        <p:spPr bwMode="auto">
          <a:xfrm>
            <a:off x="2143125" y="3248025"/>
            <a:ext cx="2419350" cy="361950"/>
          </a:xfrm>
          <a:prstGeom prst="foldedCorner">
            <a:avLst>
              <a:gd name="adj" fmla="val 16667"/>
            </a:avLst>
          </a:prstGeom>
          <a:solidFill>
            <a:srgbClr val="ECFEFF"/>
          </a:solidFill>
          <a:ln w="10478">
            <a:solidFill>
              <a:srgbClr val="0891B2"/>
            </a:solidFill>
            <a:prstDash val="solid"/>
          </a:ln>
        </p:spPr>
        <p:txBody>
          <a:bodyPr wrap="none" lIns="85725" tIns="28575" rIns="123825" bIns="28575" anchor="ctr">
            <a:noAutofit/>
          </a:bodyPr>
          <a:lstStyle>
            <a:defPPr algn="ctr">
              <a:defRPr sz="1500" b="0">
                <a:solidFill>
                  <a:srgbClr val="18201D"/>
                </a:solidFill>
                <a:latin typeface="Arial"/>
                <a:ea typeface="Arial"/>
                <a:cs typeface="Arial"/>
              </a:defRPr>
            </a:defPPr>
            <a:lvl1pPr algn="ctr">
              <a:buNone/>
              <a:defRPr sz="1500" b="0">
                <a:solidFill>
                  <a:srgbClr val="18201D"/>
                </a:solidFill>
                <a:latin typeface="Arial"/>
                <a:ea typeface="Arial"/>
                <a:cs typeface="Arial"/>
              </a:defRPr>
            </a:lvl1pPr>
            <a:lvl2pPr algn="ctr">
              <a:buNone/>
              <a:defRPr sz="1500" b="0">
                <a:solidFill>
                  <a:srgbClr val="18201D"/>
                </a:solidFill>
                <a:latin typeface="Arial"/>
                <a:ea typeface="Arial"/>
                <a:cs typeface="Arial"/>
              </a:defRPr>
            </a:lvl2pPr>
            <a:lvl3pPr algn="ctr">
              <a:buNone/>
              <a:defRPr sz="1500" b="0">
                <a:solidFill>
                  <a:srgbClr val="18201D"/>
                </a:solidFill>
                <a:latin typeface="Arial"/>
                <a:ea typeface="Arial"/>
                <a:cs typeface="Arial"/>
              </a:defRPr>
            </a:lvl3pPr>
            <a:lvl4pPr algn="ctr">
              <a:buNone/>
              <a:defRPr sz="1500" b="0">
                <a:solidFill>
                  <a:srgbClr val="18201D"/>
                </a:solidFill>
                <a:latin typeface="Arial"/>
                <a:ea typeface="Arial"/>
                <a:cs typeface="Arial"/>
              </a:defRPr>
            </a:lvl4pPr>
            <a:lvl5pPr algn="ctr">
              <a:buNone/>
              <a:defRPr sz="1500" b="0">
                <a:solidFill>
                  <a:srgbClr val="18201D"/>
                </a:solidFill>
                <a:latin typeface="Arial"/>
                <a:ea typeface="Arial"/>
                <a:cs typeface="Arial"/>
              </a:defRPr>
            </a:lvl5pPr>
            <a:lvl6pPr algn="ctr">
              <a:buNone/>
              <a:defRPr sz="1500" b="0">
                <a:solidFill>
                  <a:srgbClr val="18201D"/>
                </a:solidFill>
                <a:latin typeface="Arial"/>
                <a:ea typeface="Arial"/>
                <a:cs typeface="Arial"/>
              </a:defRPr>
            </a:lvl6pPr>
            <a:lvl7pPr algn="ctr">
              <a:buNone/>
              <a:defRPr sz="1500" b="0">
                <a:solidFill>
                  <a:srgbClr val="18201D"/>
                </a:solidFill>
                <a:latin typeface="Arial"/>
                <a:ea typeface="Arial"/>
                <a:cs typeface="Arial"/>
              </a:defRPr>
            </a:lvl7pPr>
            <a:lvl8pPr algn="ctr">
              <a:buNone/>
              <a:defRPr sz="1500" b="0">
                <a:solidFill>
                  <a:srgbClr val="18201D"/>
                </a:solidFill>
                <a:latin typeface="Arial"/>
                <a:ea typeface="Arial"/>
                <a:cs typeface="Arial"/>
              </a:defRPr>
            </a:lvl8pPr>
            <a:lvl9pPr algn="ctr">
              <a:buNone/>
              <a:defRPr sz="1500" b="0">
                <a:solidFill>
                  <a:srgbClr val="18201D"/>
                </a:solidFill>
                <a:latin typeface="Arial"/>
                <a:ea typeface="Arial"/>
                <a:cs typeface="Arial"/>
              </a:defRPr>
            </a:lvl9pPr>
          </a:lstStyle>
          <a:p>
            <a:pPr algn="ctr">
              <a:buNone/>
              <a:defRPr sz="1500" b="0">
                <a:solidFill>
                  <a:srgbClr val="18201D"/>
                </a:solidFill>
                <a:latin typeface="Arial"/>
                <a:ea typeface="Arial"/>
                <a:cs typeface="Arial"/>
              </a:defRPr>
            </a:pPr>
            <a:r>
              <a:rPr sz="1500" b="0">
                <a:solidFill>
                  <a:srgbClr val="18201D"/>
                </a:solidFill>
                <a:latin typeface="Plus Jakarta Sans"/>
                <a:ea typeface="Arial"/>
                <a:cs typeface="Arial"/>
              </a:rPr>
              <a:t>1. 1,000 foreign shares</a:t>
            </a:r>
            <a:endParaRPr/>
          </a:p>
        </p:txBody>
      </p:sp>
      <p:cxnSp>
        <p:nvCxnSpPr>
          <p:cNvPr id="337450755" name="diagram-line-59"/>
          <p:cNvCxnSpPr/>
          <p:nvPr/>
        </p:nvCxnSpPr>
        <p:spPr bwMode="auto">
          <a:xfrm>
            <a:off x="4724399" y="4191000"/>
            <a:ext cx="2743200" cy="0"/>
          </a:xfrm>
          <a:prstGeom prst="straightConnector1">
            <a:avLst/>
          </a:prstGeom>
          <a:ln w="22860">
            <a:solidFill>
              <a:srgbClr val="7C3AED"/>
            </a:solidFill>
            <a:prstDash val="solid"/>
            <a:tailEnd type="triangle" w="sm" len="sm"/>
          </a:ln>
        </p:spPr>
      </p:cxnSp>
      <p:sp>
        <p:nvSpPr>
          <p:cNvPr id="87228185" name="data-object-60"/>
          <p:cNvSpPr>
            <a:spLocks noGrp="1"/>
          </p:cNvSpPr>
          <p:nvPr/>
        </p:nvSpPr>
        <p:spPr bwMode="auto">
          <a:xfrm>
            <a:off x="4848225" y="4010025"/>
            <a:ext cx="2495550" cy="361950"/>
          </a:xfrm>
          <a:prstGeom prst="foldedCorner">
            <a:avLst>
              <a:gd name="adj" fmla="val 16667"/>
            </a:avLst>
          </a:prstGeom>
          <a:solidFill>
            <a:srgbClr val="F5F3FF"/>
          </a:solidFill>
          <a:ln w="10478">
            <a:solidFill>
              <a:srgbClr val="7C3AED"/>
            </a:solidFill>
            <a:prstDash val="solid"/>
          </a:ln>
        </p:spPr>
        <p:txBody>
          <a:bodyPr wrap="none" lIns="85725" tIns="28575" rIns="123825" bIns="28575" anchor="ctr">
            <a:noAutofit/>
          </a:bodyPr>
          <a:lstStyle>
            <a:defPPr algn="ctr">
              <a:defRPr sz="1500" b="0">
                <a:solidFill>
                  <a:srgbClr val="18201D"/>
                </a:solidFill>
                <a:latin typeface="Arial"/>
                <a:ea typeface="Arial"/>
                <a:cs typeface="Arial"/>
              </a:defRPr>
            </a:defPPr>
            <a:lvl1pPr algn="ctr">
              <a:buNone/>
              <a:defRPr sz="1500" b="0">
                <a:solidFill>
                  <a:srgbClr val="18201D"/>
                </a:solidFill>
                <a:latin typeface="Arial"/>
                <a:ea typeface="Arial"/>
                <a:cs typeface="Arial"/>
              </a:defRPr>
            </a:lvl1pPr>
            <a:lvl2pPr algn="ctr">
              <a:buNone/>
              <a:defRPr sz="1500" b="0">
                <a:solidFill>
                  <a:srgbClr val="18201D"/>
                </a:solidFill>
                <a:latin typeface="Arial"/>
                <a:ea typeface="Arial"/>
                <a:cs typeface="Arial"/>
              </a:defRPr>
            </a:lvl2pPr>
            <a:lvl3pPr algn="ctr">
              <a:buNone/>
              <a:defRPr sz="1500" b="0">
                <a:solidFill>
                  <a:srgbClr val="18201D"/>
                </a:solidFill>
                <a:latin typeface="Arial"/>
                <a:ea typeface="Arial"/>
                <a:cs typeface="Arial"/>
              </a:defRPr>
            </a:lvl3pPr>
            <a:lvl4pPr algn="ctr">
              <a:buNone/>
              <a:defRPr sz="1500" b="0">
                <a:solidFill>
                  <a:srgbClr val="18201D"/>
                </a:solidFill>
                <a:latin typeface="Arial"/>
                <a:ea typeface="Arial"/>
                <a:cs typeface="Arial"/>
              </a:defRPr>
            </a:lvl4pPr>
            <a:lvl5pPr algn="ctr">
              <a:buNone/>
              <a:defRPr sz="1500" b="0">
                <a:solidFill>
                  <a:srgbClr val="18201D"/>
                </a:solidFill>
                <a:latin typeface="Arial"/>
                <a:ea typeface="Arial"/>
                <a:cs typeface="Arial"/>
              </a:defRPr>
            </a:lvl5pPr>
            <a:lvl6pPr algn="ctr">
              <a:buNone/>
              <a:defRPr sz="1500" b="0">
                <a:solidFill>
                  <a:srgbClr val="18201D"/>
                </a:solidFill>
                <a:latin typeface="Arial"/>
                <a:ea typeface="Arial"/>
                <a:cs typeface="Arial"/>
              </a:defRPr>
            </a:lvl6pPr>
            <a:lvl7pPr algn="ctr">
              <a:buNone/>
              <a:defRPr sz="1500" b="0">
                <a:solidFill>
                  <a:srgbClr val="18201D"/>
                </a:solidFill>
                <a:latin typeface="Arial"/>
                <a:ea typeface="Arial"/>
                <a:cs typeface="Arial"/>
              </a:defRPr>
            </a:lvl7pPr>
            <a:lvl8pPr algn="ctr">
              <a:buNone/>
              <a:defRPr sz="1500" b="0">
                <a:solidFill>
                  <a:srgbClr val="18201D"/>
                </a:solidFill>
                <a:latin typeface="Arial"/>
                <a:ea typeface="Arial"/>
                <a:cs typeface="Arial"/>
              </a:defRPr>
            </a:lvl8pPr>
            <a:lvl9pPr algn="ctr">
              <a:buNone/>
              <a:defRPr sz="1500" b="0">
                <a:solidFill>
                  <a:srgbClr val="18201D"/>
                </a:solidFill>
                <a:latin typeface="Arial"/>
                <a:ea typeface="Arial"/>
                <a:cs typeface="Arial"/>
              </a:defRPr>
            </a:lvl9pPr>
          </a:lstStyle>
          <a:p>
            <a:pPr algn="ctr">
              <a:buNone/>
              <a:defRPr sz="1500" b="0">
                <a:solidFill>
                  <a:srgbClr val="18201D"/>
                </a:solidFill>
                <a:latin typeface="Arial"/>
                <a:ea typeface="Arial"/>
                <a:cs typeface="Arial"/>
              </a:defRPr>
            </a:pPr>
            <a:r>
              <a:rPr sz="1500" b="0">
                <a:solidFill>
                  <a:srgbClr val="18201D"/>
                </a:solidFill>
                <a:latin typeface="Plus Jakarta Sans"/>
                <a:ea typeface="Arial"/>
                <a:cs typeface="Arial"/>
              </a:rPr>
              <a:t>2. Settled backing proof</a:t>
            </a:r>
            <a:endParaRPr/>
          </a:p>
        </p:txBody>
      </p:sp>
      <p:cxnSp>
        <p:nvCxnSpPr>
          <p:cNvPr id="1991914085" name="diagram-line-61"/>
          <p:cNvCxnSpPr/>
          <p:nvPr/>
        </p:nvCxnSpPr>
        <p:spPr bwMode="auto">
          <a:xfrm>
            <a:off x="7467600" y="4953000"/>
            <a:ext cx="2743200" cy="0"/>
          </a:xfrm>
          <a:prstGeom prst="straightConnector1">
            <a:avLst/>
          </a:prstGeom>
          <a:ln w="22860">
            <a:solidFill>
              <a:srgbClr val="7C3AED"/>
            </a:solidFill>
            <a:prstDash val="solid"/>
            <a:tailEnd type="triangle" w="sm" len="sm"/>
          </a:ln>
        </p:spPr>
      </p:cxnSp>
      <p:sp>
        <p:nvSpPr>
          <p:cNvPr id="477208444" name="data-object-62"/>
          <p:cNvSpPr>
            <a:spLocks noGrp="1"/>
          </p:cNvSpPr>
          <p:nvPr/>
        </p:nvSpPr>
        <p:spPr bwMode="auto">
          <a:xfrm>
            <a:off x="7629525" y="4772025"/>
            <a:ext cx="2419350" cy="361950"/>
          </a:xfrm>
          <a:prstGeom prst="foldedCorner">
            <a:avLst>
              <a:gd name="adj" fmla="val 16667"/>
            </a:avLst>
          </a:prstGeom>
          <a:solidFill>
            <a:srgbClr val="F5F3FF"/>
          </a:solidFill>
          <a:ln w="10478">
            <a:solidFill>
              <a:srgbClr val="7C3AED"/>
            </a:solidFill>
            <a:prstDash val="solid"/>
          </a:ln>
        </p:spPr>
        <p:txBody>
          <a:bodyPr wrap="none" lIns="85725" tIns="28575" rIns="123825" bIns="28575" anchor="ctr">
            <a:noAutofit/>
          </a:bodyPr>
          <a:lstStyle>
            <a:defPPr algn="ctr">
              <a:defRPr sz="1500" b="0">
                <a:solidFill>
                  <a:srgbClr val="18201D"/>
                </a:solidFill>
                <a:latin typeface="Arial"/>
                <a:ea typeface="Arial"/>
                <a:cs typeface="Arial"/>
              </a:defRPr>
            </a:defPPr>
            <a:lvl1pPr algn="ctr">
              <a:buNone/>
              <a:defRPr sz="1500" b="0">
                <a:solidFill>
                  <a:srgbClr val="18201D"/>
                </a:solidFill>
                <a:latin typeface="Arial"/>
                <a:ea typeface="Arial"/>
                <a:cs typeface="Arial"/>
              </a:defRPr>
            </a:lvl1pPr>
            <a:lvl2pPr algn="ctr">
              <a:buNone/>
              <a:defRPr sz="1500" b="0">
                <a:solidFill>
                  <a:srgbClr val="18201D"/>
                </a:solidFill>
                <a:latin typeface="Arial"/>
                <a:ea typeface="Arial"/>
                <a:cs typeface="Arial"/>
              </a:defRPr>
            </a:lvl2pPr>
            <a:lvl3pPr algn="ctr">
              <a:buNone/>
              <a:defRPr sz="1500" b="0">
                <a:solidFill>
                  <a:srgbClr val="18201D"/>
                </a:solidFill>
                <a:latin typeface="Arial"/>
                <a:ea typeface="Arial"/>
                <a:cs typeface="Arial"/>
              </a:defRPr>
            </a:lvl3pPr>
            <a:lvl4pPr algn="ctr">
              <a:buNone/>
              <a:defRPr sz="1500" b="0">
                <a:solidFill>
                  <a:srgbClr val="18201D"/>
                </a:solidFill>
                <a:latin typeface="Arial"/>
                <a:ea typeface="Arial"/>
                <a:cs typeface="Arial"/>
              </a:defRPr>
            </a:lvl4pPr>
            <a:lvl5pPr algn="ctr">
              <a:buNone/>
              <a:defRPr sz="1500" b="0">
                <a:solidFill>
                  <a:srgbClr val="18201D"/>
                </a:solidFill>
                <a:latin typeface="Arial"/>
                <a:ea typeface="Arial"/>
                <a:cs typeface="Arial"/>
              </a:defRPr>
            </a:lvl5pPr>
            <a:lvl6pPr algn="ctr">
              <a:buNone/>
              <a:defRPr sz="1500" b="0">
                <a:solidFill>
                  <a:srgbClr val="18201D"/>
                </a:solidFill>
                <a:latin typeface="Arial"/>
                <a:ea typeface="Arial"/>
                <a:cs typeface="Arial"/>
              </a:defRPr>
            </a:lvl6pPr>
            <a:lvl7pPr algn="ctr">
              <a:buNone/>
              <a:defRPr sz="1500" b="0">
                <a:solidFill>
                  <a:srgbClr val="18201D"/>
                </a:solidFill>
                <a:latin typeface="Arial"/>
                <a:ea typeface="Arial"/>
                <a:cs typeface="Arial"/>
              </a:defRPr>
            </a:lvl7pPr>
            <a:lvl8pPr algn="ctr">
              <a:buNone/>
              <a:defRPr sz="1500" b="0">
                <a:solidFill>
                  <a:srgbClr val="18201D"/>
                </a:solidFill>
                <a:latin typeface="Arial"/>
                <a:ea typeface="Arial"/>
                <a:cs typeface="Arial"/>
              </a:defRPr>
            </a:lvl8pPr>
            <a:lvl9pPr algn="ctr">
              <a:buNone/>
              <a:defRPr sz="1500" b="0">
                <a:solidFill>
                  <a:srgbClr val="18201D"/>
                </a:solidFill>
                <a:latin typeface="Arial"/>
                <a:ea typeface="Arial"/>
                <a:cs typeface="Arial"/>
              </a:defRPr>
            </a:lvl9pPr>
          </a:lstStyle>
          <a:p>
            <a:pPr algn="ctr">
              <a:buNone/>
              <a:defRPr sz="1500" b="0">
                <a:solidFill>
                  <a:srgbClr val="18201D"/>
                </a:solidFill>
                <a:latin typeface="Arial"/>
                <a:ea typeface="Arial"/>
                <a:cs typeface="Arial"/>
              </a:defRPr>
            </a:pPr>
            <a:r>
              <a:rPr sz="1500" b="0">
                <a:solidFill>
                  <a:srgbClr val="18201D"/>
                </a:solidFill>
                <a:latin typeface="Plus Jakarta Sans"/>
                <a:ea typeface="Arial"/>
                <a:cs typeface="Arial"/>
              </a:rPr>
              <a:t>3. Signed mint approval</a:t>
            </a:r>
            <a:endParaRPr/>
          </a:p>
        </p:txBody>
      </p:sp>
      <p:cxnSp>
        <p:nvCxnSpPr>
          <p:cNvPr id="2024868040" name="diagram-line-63"/>
          <p:cNvCxnSpPr/>
          <p:nvPr/>
        </p:nvCxnSpPr>
        <p:spPr bwMode="auto">
          <a:xfrm>
            <a:off x="1981200" y="5715000"/>
            <a:ext cx="8229600" cy="0"/>
          </a:xfrm>
          <a:prstGeom prst="straightConnector1">
            <a:avLst/>
          </a:prstGeom>
          <a:ln w="22860">
            <a:solidFill>
              <a:srgbClr val="0891B2"/>
            </a:solidFill>
            <a:prstDash val="solid"/>
            <a:headEnd type="triangle" w="sm" len="sm"/>
          </a:ln>
        </p:spPr>
      </p:cxnSp>
      <p:sp>
        <p:nvSpPr>
          <p:cNvPr id="1423633395" name="data-object-64"/>
          <p:cNvSpPr>
            <a:spLocks noGrp="1"/>
          </p:cNvSpPr>
          <p:nvPr/>
        </p:nvSpPr>
        <p:spPr bwMode="auto">
          <a:xfrm>
            <a:off x="3309937" y="5534025"/>
            <a:ext cx="5572125" cy="361950"/>
          </a:xfrm>
          <a:prstGeom prst="foldedCorner">
            <a:avLst>
              <a:gd name="adj" fmla="val 16667"/>
            </a:avLst>
          </a:prstGeom>
          <a:solidFill>
            <a:srgbClr val="ECFEFF"/>
          </a:solidFill>
          <a:ln w="10478">
            <a:solidFill>
              <a:srgbClr val="0891B2"/>
            </a:solidFill>
            <a:prstDash val="solid"/>
          </a:ln>
        </p:spPr>
        <p:txBody>
          <a:bodyPr wrap="none" lIns="85725" tIns="28575" rIns="123825" bIns="28575" anchor="ctr">
            <a:noAutofit/>
          </a:bodyPr>
          <a:lstStyle>
            <a:defPPr algn="ctr">
              <a:defRPr sz="1450" b="0">
                <a:solidFill>
                  <a:srgbClr val="18201D"/>
                </a:solidFill>
                <a:latin typeface="Arial"/>
                <a:ea typeface="Arial"/>
                <a:cs typeface="Arial"/>
              </a:defRPr>
            </a:defPPr>
            <a:lvl1pPr algn="ctr">
              <a:buNone/>
              <a:defRPr sz="1500" b="0">
                <a:solidFill>
                  <a:srgbClr val="18201D"/>
                </a:solidFill>
                <a:latin typeface="Arial"/>
                <a:ea typeface="Arial"/>
                <a:cs typeface="Arial"/>
              </a:defRPr>
            </a:lvl1pPr>
            <a:lvl2pPr algn="ctr">
              <a:buNone/>
              <a:defRPr sz="1500" b="0">
                <a:solidFill>
                  <a:srgbClr val="18201D"/>
                </a:solidFill>
                <a:latin typeface="Arial"/>
                <a:ea typeface="Arial"/>
                <a:cs typeface="Arial"/>
              </a:defRPr>
            </a:lvl2pPr>
            <a:lvl3pPr algn="ctr">
              <a:buNone/>
              <a:defRPr sz="1500" b="0">
                <a:solidFill>
                  <a:srgbClr val="18201D"/>
                </a:solidFill>
                <a:latin typeface="Arial"/>
                <a:ea typeface="Arial"/>
                <a:cs typeface="Arial"/>
              </a:defRPr>
            </a:lvl3pPr>
            <a:lvl4pPr algn="ctr">
              <a:buNone/>
              <a:defRPr sz="1500" b="0">
                <a:solidFill>
                  <a:srgbClr val="18201D"/>
                </a:solidFill>
                <a:latin typeface="Arial"/>
                <a:ea typeface="Arial"/>
                <a:cs typeface="Arial"/>
              </a:defRPr>
            </a:lvl4pPr>
            <a:lvl5pPr algn="ctr">
              <a:buNone/>
              <a:defRPr sz="1500" b="0">
                <a:solidFill>
                  <a:srgbClr val="18201D"/>
                </a:solidFill>
                <a:latin typeface="Arial"/>
                <a:ea typeface="Arial"/>
                <a:cs typeface="Arial"/>
              </a:defRPr>
            </a:lvl5pPr>
            <a:lvl6pPr algn="ctr">
              <a:buNone/>
              <a:defRPr sz="1500" b="0">
                <a:solidFill>
                  <a:srgbClr val="18201D"/>
                </a:solidFill>
                <a:latin typeface="Arial"/>
                <a:ea typeface="Arial"/>
                <a:cs typeface="Arial"/>
              </a:defRPr>
            </a:lvl6pPr>
            <a:lvl7pPr algn="ctr">
              <a:buNone/>
              <a:defRPr sz="1500" b="0">
                <a:solidFill>
                  <a:srgbClr val="18201D"/>
                </a:solidFill>
                <a:latin typeface="Arial"/>
                <a:ea typeface="Arial"/>
                <a:cs typeface="Arial"/>
              </a:defRPr>
            </a:lvl7pPr>
            <a:lvl8pPr algn="ctr">
              <a:buNone/>
              <a:defRPr sz="1500" b="0">
                <a:solidFill>
                  <a:srgbClr val="18201D"/>
                </a:solidFill>
                <a:latin typeface="Arial"/>
                <a:ea typeface="Arial"/>
                <a:cs typeface="Arial"/>
              </a:defRPr>
            </a:lvl8pPr>
            <a:lvl9pPr algn="ctr">
              <a:buNone/>
              <a:defRPr sz="1500" b="0">
                <a:solidFill>
                  <a:srgbClr val="18201D"/>
                </a:solidFill>
                <a:latin typeface="Arial"/>
                <a:ea typeface="Arial"/>
                <a:cs typeface="Arial"/>
              </a:defRPr>
            </a:lvl9pPr>
          </a:lstStyle>
          <a:p>
            <a:pPr algn="ctr">
              <a:buNone/>
              <a:defRPr sz="1500" b="0">
                <a:solidFill>
                  <a:srgbClr val="18201D"/>
                </a:solidFill>
                <a:latin typeface="Arial"/>
                <a:ea typeface="Arial"/>
                <a:cs typeface="Arial"/>
              </a:defRPr>
            </a:pPr>
            <a:r>
              <a:rPr sz="1450" b="0">
                <a:solidFill>
                  <a:srgbClr val="18201D"/>
                </a:solidFill>
                <a:latin typeface="Plus Jakarta Sans"/>
                <a:ea typeface="Arial"/>
                <a:cs typeface="Arial"/>
              </a:rPr>
              <a:t>4. 100,000 receipt tokens to the AP’s eligible account</a:t>
            </a:r>
            <a:endParaRPr/>
          </a:p>
        </p:txBody>
      </p:sp>
      <p:sp>
        <p:nvSpPr>
          <p:cNvPr id="594816667" name="dlt-text-65"/>
          <p:cNvSpPr>
            <a:spLocks noGrp="1"/>
          </p:cNvSpPr>
          <p:nvPr/>
        </p:nvSpPr>
        <p:spPr bwMode="auto">
          <a:xfrm>
            <a:off x="609600" y="6057900"/>
            <a:ext cx="10972800" cy="304800"/>
          </a:xfrm>
          <a:prstGeom prst="rect">
            <a:avLst/>
          </a:prstGeom>
          <a:noFill/>
          <a:ln w="0">
            <a:solidFill/>
            <a:prstDash val="solid"/>
          </a:ln>
        </p:spPr>
        <p:txBody>
          <a:bodyPr wrap="square" lIns="0" tIns="0" rIns="0" bIns="0" anchor="t">
            <a:noAutofit/>
          </a:bodyPr>
          <a:lstStyle>
            <a:defPPr algn="l">
              <a:defRPr sz="1650" b="0">
                <a:solidFill>
                  <a:srgbClr val="5D6A67"/>
                </a:solidFill>
                <a:latin typeface="Arial"/>
                <a:ea typeface="Arial"/>
                <a:cs typeface="Arial"/>
              </a:defRPr>
            </a:defPPr>
            <a:lvl1pPr algn="l">
              <a:buNone/>
              <a:defRPr sz="1650" b="0">
                <a:solidFill>
                  <a:srgbClr val="5D6A67"/>
                </a:solidFill>
                <a:latin typeface="Arial"/>
                <a:ea typeface="Arial"/>
                <a:cs typeface="Arial"/>
              </a:defRPr>
            </a:lvl1pPr>
            <a:lvl2pPr algn="l">
              <a:buNone/>
              <a:defRPr sz="1650" b="0">
                <a:solidFill>
                  <a:srgbClr val="5D6A67"/>
                </a:solidFill>
                <a:latin typeface="Arial"/>
                <a:ea typeface="Arial"/>
                <a:cs typeface="Arial"/>
              </a:defRPr>
            </a:lvl2pPr>
            <a:lvl3pPr algn="l">
              <a:buNone/>
              <a:defRPr sz="1650" b="0">
                <a:solidFill>
                  <a:srgbClr val="5D6A67"/>
                </a:solidFill>
                <a:latin typeface="Arial"/>
                <a:ea typeface="Arial"/>
                <a:cs typeface="Arial"/>
              </a:defRPr>
            </a:lvl3pPr>
            <a:lvl4pPr algn="l">
              <a:buNone/>
              <a:defRPr sz="1650" b="0">
                <a:solidFill>
                  <a:srgbClr val="5D6A67"/>
                </a:solidFill>
                <a:latin typeface="Arial"/>
                <a:ea typeface="Arial"/>
                <a:cs typeface="Arial"/>
              </a:defRPr>
            </a:lvl4pPr>
            <a:lvl5pPr algn="l">
              <a:buNone/>
              <a:defRPr sz="1650" b="0">
                <a:solidFill>
                  <a:srgbClr val="5D6A67"/>
                </a:solidFill>
                <a:latin typeface="Arial"/>
                <a:ea typeface="Arial"/>
                <a:cs typeface="Arial"/>
              </a:defRPr>
            </a:lvl5pPr>
            <a:lvl6pPr algn="l">
              <a:buNone/>
              <a:defRPr sz="1650" b="0">
                <a:solidFill>
                  <a:srgbClr val="5D6A67"/>
                </a:solidFill>
                <a:latin typeface="Arial"/>
                <a:ea typeface="Arial"/>
                <a:cs typeface="Arial"/>
              </a:defRPr>
            </a:lvl6pPr>
            <a:lvl7pPr algn="l">
              <a:buNone/>
              <a:defRPr sz="1650" b="0">
                <a:solidFill>
                  <a:srgbClr val="5D6A67"/>
                </a:solidFill>
                <a:latin typeface="Arial"/>
                <a:ea typeface="Arial"/>
                <a:cs typeface="Arial"/>
              </a:defRPr>
            </a:lvl7pPr>
            <a:lvl8pPr algn="l">
              <a:buNone/>
              <a:defRPr sz="1650" b="0">
                <a:solidFill>
                  <a:srgbClr val="5D6A67"/>
                </a:solidFill>
                <a:latin typeface="Arial"/>
                <a:ea typeface="Arial"/>
                <a:cs typeface="Arial"/>
              </a:defRPr>
            </a:lvl8pPr>
            <a:lvl9pPr algn="l">
              <a:buNone/>
              <a:defRPr sz="1650" b="0">
                <a:solidFill>
                  <a:srgbClr val="5D6A67"/>
                </a:solidFill>
                <a:latin typeface="Arial"/>
                <a:ea typeface="Arial"/>
                <a:cs typeface="Arial"/>
              </a:defRPr>
            </a:lvl9pPr>
          </a:lstStyle>
          <a:p>
            <a:pPr algn="l">
              <a:buNone/>
              <a:defRPr sz="1650" b="0">
                <a:solidFill>
                  <a:srgbClr val="5D6A67"/>
                </a:solidFill>
                <a:latin typeface="Arial"/>
                <a:ea typeface="Arial"/>
                <a:cs typeface="Arial"/>
              </a:defRPr>
            </a:pPr>
            <a:r>
              <a:rPr sz="1650" b="0">
                <a:solidFill>
                  <a:srgbClr val="5D6A67"/>
                </a:solidFill>
                <a:latin typeface="Plus Jakarta Sans"/>
                <a:ea typeface="Arial"/>
                <a:cs typeface="Arial"/>
              </a:rPr>
              <a:t>Redemption: lock and cancel receipt units, burn tokens, then release the backing.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593253019" name="access-revision-text-74"/>
          <p:cNvSpPr>
            <a:spLocks noGrp="1"/>
          </p:cNvSpPr>
          <p:nvPr/>
        </p:nvSpPr>
        <p:spPr bwMode="auto">
          <a:xfrm>
            <a:off x="609600" y="504825"/>
            <a:ext cx="10972800" cy="828675"/>
          </a:xfrm>
          <a:prstGeom prst="rect">
            <a:avLst/>
          </a:prstGeom>
          <a:noFill/>
          <a:ln w="0">
            <a:solidFill/>
            <a:prstDash val="solid"/>
          </a:ln>
        </p:spPr>
        <p:txBody>
          <a:bodyPr wrap="square" lIns="0" tIns="0" rIns="0" bIns="0" anchor="t">
            <a:noAutofit/>
          </a:bodyPr>
          <a:lstStyle>
            <a:defPPr algn="l">
              <a:defRPr sz="3300" b="1">
                <a:solidFill>
                  <a:srgbClr val="18201D"/>
                </a:solidFill>
                <a:latin typeface="Arial"/>
                <a:ea typeface="Arial"/>
                <a:cs typeface="Arial"/>
              </a:defRPr>
            </a:defPPr>
            <a:lvl1pPr algn="l">
              <a:buNone/>
              <a:defRPr sz="3300" b="1">
                <a:solidFill>
                  <a:srgbClr val="18201D"/>
                </a:solidFill>
                <a:latin typeface="Arial"/>
                <a:ea typeface="Arial"/>
                <a:cs typeface="Arial"/>
              </a:defRPr>
            </a:lvl1pPr>
            <a:lvl2pPr algn="l">
              <a:buNone/>
              <a:defRPr sz="3300" b="1">
                <a:solidFill>
                  <a:srgbClr val="18201D"/>
                </a:solidFill>
                <a:latin typeface="Arial"/>
                <a:ea typeface="Arial"/>
                <a:cs typeface="Arial"/>
              </a:defRPr>
            </a:lvl2pPr>
            <a:lvl3pPr algn="l">
              <a:buNone/>
              <a:defRPr sz="3300" b="1">
                <a:solidFill>
                  <a:srgbClr val="18201D"/>
                </a:solidFill>
                <a:latin typeface="Arial"/>
                <a:ea typeface="Arial"/>
                <a:cs typeface="Arial"/>
              </a:defRPr>
            </a:lvl3pPr>
            <a:lvl4pPr algn="l">
              <a:buNone/>
              <a:defRPr sz="3300" b="1">
                <a:solidFill>
                  <a:srgbClr val="18201D"/>
                </a:solidFill>
                <a:latin typeface="Arial"/>
                <a:ea typeface="Arial"/>
                <a:cs typeface="Arial"/>
              </a:defRPr>
            </a:lvl4pPr>
            <a:lvl5pPr algn="l">
              <a:buNone/>
              <a:defRPr sz="3300" b="1">
                <a:solidFill>
                  <a:srgbClr val="18201D"/>
                </a:solidFill>
                <a:latin typeface="Arial"/>
                <a:ea typeface="Arial"/>
                <a:cs typeface="Arial"/>
              </a:defRPr>
            </a:lvl5pPr>
            <a:lvl6pPr algn="l">
              <a:buNone/>
              <a:defRPr sz="3300" b="1">
                <a:solidFill>
                  <a:srgbClr val="18201D"/>
                </a:solidFill>
                <a:latin typeface="Arial"/>
                <a:ea typeface="Arial"/>
                <a:cs typeface="Arial"/>
              </a:defRPr>
            </a:lvl6pPr>
            <a:lvl7pPr algn="l">
              <a:buNone/>
              <a:defRPr sz="3300" b="1">
                <a:solidFill>
                  <a:srgbClr val="18201D"/>
                </a:solidFill>
                <a:latin typeface="Arial"/>
                <a:ea typeface="Arial"/>
                <a:cs typeface="Arial"/>
              </a:defRPr>
            </a:lvl7pPr>
            <a:lvl8pPr algn="l">
              <a:buNone/>
              <a:defRPr sz="3300" b="1">
                <a:solidFill>
                  <a:srgbClr val="18201D"/>
                </a:solidFill>
                <a:latin typeface="Arial"/>
                <a:ea typeface="Arial"/>
                <a:cs typeface="Arial"/>
              </a:defRPr>
            </a:lvl8pPr>
            <a:lvl9pPr algn="l">
              <a:buNone/>
              <a:defRPr sz="3300" b="1">
                <a:solidFill>
                  <a:srgbClr val="18201D"/>
                </a:solidFill>
                <a:latin typeface="Arial"/>
                <a:ea typeface="Arial"/>
                <a:cs typeface="Arial"/>
              </a:defRPr>
            </a:lvl9pPr>
          </a:lstStyle>
          <a:p>
            <a:pPr algn="l">
              <a:buNone/>
              <a:defRPr sz="3300" b="1">
                <a:solidFill>
                  <a:srgbClr val="18201D"/>
                </a:solidFill>
                <a:latin typeface="Arial"/>
                <a:ea typeface="Arial"/>
                <a:cs typeface="Arial"/>
              </a:defRPr>
            </a:pPr>
            <a:r>
              <a:rPr sz="3300" b="1">
                <a:solidFill>
                  <a:srgbClr val="18201D"/>
                </a:solidFill>
                <a:latin typeface="Outfit"/>
                <a:ea typeface="Arial"/>
                <a:cs typeface="Arial"/>
              </a:rPr>
              <a:t>3. An investor buys D-SHARE receipts</a:t>
            </a:r>
            <a:endParaRPr/>
          </a:p>
        </p:txBody>
      </p:sp>
      <p:sp>
        <p:nvSpPr>
          <p:cNvPr id="1681642728" name="access-revision-text-75"/>
          <p:cNvSpPr>
            <a:spLocks noGrp="1"/>
          </p:cNvSpPr>
          <p:nvPr/>
        </p:nvSpPr>
        <p:spPr bwMode="auto">
          <a:xfrm>
            <a:off x="609600" y="1409700"/>
            <a:ext cx="10972800" cy="609600"/>
          </a:xfrm>
          <a:prstGeom prst="rect">
            <a:avLst/>
          </a:prstGeom>
          <a:noFill/>
          <a:ln w="0">
            <a:solidFill/>
            <a:prstDash val="solid"/>
          </a:ln>
        </p:spPr>
        <p:txBody>
          <a:bodyPr wrap="square" lIns="0" tIns="0" rIns="0" bIns="0" anchor="t">
            <a:noAutofit/>
          </a:bodyPr>
          <a:lstStyle>
            <a:defPPr algn="l">
              <a:defRPr sz="1900" b="0">
                <a:solidFill>
                  <a:srgbClr val="5D6A67"/>
                </a:solidFill>
                <a:latin typeface="Arial"/>
                <a:ea typeface="Arial"/>
                <a:cs typeface="Arial"/>
              </a:defRPr>
            </a:defPPr>
            <a:lvl1pPr algn="l">
              <a:buNone/>
              <a:defRPr sz="1900" b="0">
                <a:solidFill>
                  <a:srgbClr val="5D6A67"/>
                </a:solidFill>
                <a:latin typeface="Arial"/>
                <a:ea typeface="Arial"/>
                <a:cs typeface="Arial"/>
              </a:defRPr>
            </a:lvl1pPr>
            <a:lvl2pPr algn="l">
              <a:buNone/>
              <a:defRPr sz="1900" b="0">
                <a:solidFill>
                  <a:srgbClr val="5D6A67"/>
                </a:solidFill>
                <a:latin typeface="Arial"/>
                <a:ea typeface="Arial"/>
                <a:cs typeface="Arial"/>
              </a:defRPr>
            </a:lvl2pPr>
            <a:lvl3pPr algn="l">
              <a:buNone/>
              <a:defRPr sz="1900" b="0">
                <a:solidFill>
                  <a:srgbClr val="5D6A67"/>
                </a:solidFill>
                <a:latin typeface="Arial"/>
                <a:ea typeface="Arial"/>
                <a:cs typeface="Arial"/>
              </a:defRPr>
            </a:lvl3pPr>
            <a:lvl4pPr algn="l">
              <a:buNone/>
              <a:defRPr sz="1900" b="0">
                <a:solidFill>
                  <a:srgbClr val="5D6A67"/>
                </a:solidFill>
                <a:latin typeface="Arial"/>
                <a:ea typeface="Arial"/>
                <a:cs typeface="Arial"/>
              </a:defRPr>
            </a:lvl4pPr>
            <a:lvl5pPr algn="l">
              <a:buNone/>
              <a:defRPr sz="1900" b="0">
                <a:solidFill>
                  <a:srgbClr val="5D6A67"/>
                </a:solidFill>
                <a:latin typeface="Arial"/>
                <a:ea typeface="Arial"/>
                <a:cs typeface="Arial"/>
              </a:defRPr>
            </a:lvl5pPr>
            <a:lvl6pPr algn="l">
              <a:buNone/>
              <a:defRPr sz="1900" b="0">
                <a:solidFill>
                  <a:srgbClr val="5D6A67"/>
                </a:solidFill>
                <a:latin typeface="Arial"/>
                <a:ea typeface="Arial"/>
                <a:cs typeface="Arial"/>
              </a:defRPr>
            </a:lvl6pPr>
            <a:lvl7pPr algn="l">
              <a:buNone/>
              <a:defRPr sz="1900" b="0">
                <a:solidFill>
                  <a:srgbClr val="5D6A67"/>
                </a:solidFill>
                <a:latin typeface="Arial"/>
                <a:ea typeface="Arial"/>
                <a:cs typeface="Arial"/>
              </a:defRPr>
            </a:lvl7pPr>
            <a:lvl8pPr algn="l">
              <a:buNone/>
              <a:defRPr sz="1900" b="0">
                <a:solidFill>
                  <a:srgbClr val="5D6A67"/>
                </a:solidFill>
                <a:latin typeface="Arial"/>
                <a:ea typeface="Arial"/>
                <a:cs typeface="Arial"/>
              </a:defRPr>
            </a:lvl8pPr>
            <a:lvl9pPr algn="l">
              <a:buNone/>
              <a:defRPr sz="1900" b="0">
                <a:solidFill>
                  <a:srgbClr val="5D6A67"/>
                </a:solidFill>
                <a:latin typeface="Arial"/>
                <a:ea typeface="Arial"/>
                <a:cs typeface="Arial"/>
              </a:defRPr>
            </a:lvl9pPr>
          </a:lstStyle>
          <a:p>
            <a:pPr algn="l">
              <a:buNone/>
              <a:defRPr sz="1900" b="0">
                <a:solidFill>
                  <a:srgbClr val="5D6A67"/>
                </a:solidFill>
                <a:latin typeface="Arial"/>
                <a:ea typeface="Arial"/>
                <a:cs typeface="Arial"/>
              </a:defRPr>
            </a:pPr>
            <a:r>
              <a:rPr sz="1900" b="0">
                <a:solidFill>
                  <a:srgbClr val="5D6A67"/>
                </a:solidFill>
                <a:latin typeface="Plus Jakarta Sans"/>
                <a:ea typeface="Arial"/>
                <a:cs typeface="Arial"/>
              </a:rPr>
              <a:t>25 receipt units at US$12 = US$300, with a 0.25-share economic interest.</a:t>
            </a:r>
            <a:endParaRPr/>
          </a:p>
        </p:txBody>
      </p:sp>
      <p:sp>
        <p:nvSpPr>
          <p:cNvPr id="168501149" name="access-revision-text-76"/>
          <p:cNvSpPr>
            <a:spLocks noGrp="1"/>
          </p:cNvSpPr>
          <p:nvPr/>
        </p:nvSpPr>
        <p:spPr bwMode="auto">
          <a:xfrm>
            <a:off x="609600" y="6438899"/>
            <a:ext cx="3619500" cy="238125"/>
          </a:xfrm>
          <a:prstGeom prst="rect">
            <a:avLst/>
          </a:prstGeom>
          <a:noFill/>
          <a:ln w="0">
            <a:solidFill/>
            <a:prstDash val="solid"/>
          </a:ln>
        </p:spPr>
        <p:txBody>
          <a:bodyPr wrap="square" lIns="0" tIns="0" rIns="0" bIns="0" anchor="t">
            <a:noAutofit/>
          </a:bodyPr>
          <a:lstStyle>
            <a:defPPr algn="l">
              <a:defRPr sz="1200" b="1">
                <a:solidFill>
                  <a:srgbClr val="0DBE85"/>
                </a:solidFill>
                <a:latin typeface="Arial"/>
                <a:ea typeface="Arial"/>
                <a:cs typeface="Arial"/>
              </a:defRPr>
            </a:defPPr>
            <a:lvl1pPr algn="l">
              <a:buNone/>
              <a:defRPr sz="1200" b="1">
                <a:solidFill>
                  <a:srgbClr val="0DBE85"/>
                </a:solidFill>
                <a:latin typeface="Arial"/>
                <a:ea typeface="Arial"/>
                <a:cs typeface="Arial"/>
              </a:defRPr>
            </a:lvl1pPr>
            <a:lvl2pPr algn="l">
              <a:buNone/>
              <a:defRPr sz="1200" b="1">
                <a:solidFill>
                  <a:srgbClr val="0DBE85"/>
                </a:solidFill>
                <a:latin typeface="Arial"/>
                <a:ea typeface="Arial"/>
                <a:cs typeface="Arial"/>
              </a:defRPr>
            </a:lvl2pPr>
            <a:lvl3pPr algn="l">
              <a:buNone/>
              <a:defRPr sz="1200" b="1">
                <a:solidFill>
                  <a:srgbClr val="0DBE85"/>
                </a:solidFill>
                <a:latin typeface="Arial"/>
                <a:ea typeface="Arial"/>
                <a:cs typeface="Arial"/>
              </a:defRPr>
            </a:lvl3pPr>
            <a:lvl4pPr algn="l">
              <a:buNone/>
              <a:defRPr sz="1200" b="1">
                <a:solidFill>
                  <a:srgbClr val="0DBE85"/>
                </a:solidFill>
                <a:latin typeface="Arial"/>
                <a:ea typeface="Arial"/>
                <a:cs typeface="Arial"/>
              </a:defRPr>
            </a:lvl4pPr>
            <a:lvl5pPr algn="l">
              <a:buNone/>
              <a:defRPr sz="1200" b="1">
                <a:solidFill>
                  <a:srgbClr val="0DBE85"/>
                </a:solidFill>
                <a:latin typeface="Arial"/>
                <a:ea typeface="Arial"/>
                <a:cs typeface="Arial"/>
              </a:defRPr>
            </a:lvl5pPr>
            <a:lvl6pPr algn="l">
              <a:buNone/>
              <a:defRPr sz="1200" b="1">
                <a:solidFill>
                  <a:srgbClr val="0DBE85"/>
                </a:solidFill>
                <a:latin typeface="Arial"/>
                <a:ea typeface="Arial"/>
                <a:cs typeface="Arial"/>
              </a:defRPr>
            </a:lvl6pPr>
            <a:lvl7pPr algn="l">
              <a:buNone/>
              <a:defRPr sz="1200" b="1">
                <a:solidFill>
                  <a:srgbClr val="0DBE85"/>
                </a:solidFill>
                <a:latin typeface="Arial"/>
                <a:ea typeface="Arial"/>
                <a:cs typeface="Arial"/>
              </a:defRPr>
            </a:lvl7pPr>
            <a:lvl8pPr algn="l">
              <a:buNone/>
              <a:defRPr sz="1200" b="1">
                <a:solidFill>
                  <a:srgbClr val="0DBE85"/>
                </a:solidFill>
                <a:latin typeface="Arial"/>
                <a:ea typeface="Arial"/>
                <a:cs typeface="Arial"/>
              </a:defRPr>
            </a:lvl8pPr>
            <a:lvl9pPr algn="l">
              <a:buNone/>
              <a:defRPr sz="1200" b="1">
                <a:solidFill>
                  <a:srgbClr val="0DBE85"/>
                </a:solidFill>
                <a:latin typeface="Arial"/>
                <a:ea typeface="Arial"/>
                <a:cs typeface="Arial"/>
              </a:defRPr>
            </a:lvl9pPr>
          </a:lstStyle>
          <a:p>
            <a:pPr algn="l">
              <a:buNone/>
              <a:defRPr sz="1200" b="1">
                <a:solidFill>
                  <a:srgbClr val="0DBE85"/>
                </a:solidFill>
                <a:latin typeface="Arial"/>
                <a:ea typeface="Arial"/>
                <a:cs typeface="Arial"/>
              </a:defRPr>
            </a:pPr>
            <a:r>
              <a:rPr sz="1200" b="1">
                <a:solidFill>
                  <a:srgbClr val="0AA372"/>
                </a:solidFill>
                <a:latin typeface="JetBrains Mono"/>
                <a:ea typeface="Arial"/>
                <a:cs typeface="Arial"/>
              </a:rPr>
              <a:t>D-SHARE / PRIME</a:t>
            </a:r>
            <a:endParaRPr/>
          </a:p>
        </p:txBody>
      </p:sp>
      <p:sp>
        <p:nvSpPr>
          <p:cNvPr id="889125197" name="access-revision-text-77"/>
          <p:cNvSpPr>
            <a:spLocks noGrp="1"/>
          </p:cNvSpPr>
          <p:nvPr/>
        </p:nvSpPr>
        <p:spPr bwMode="auto">
          <a:xfrm>
            <a:off x="11020424" y="6438899"/>
            <a:ext cx="561975" cy="238125"/>
          </a:xfrm>
          <a:prstGeom prst="rect">
            <a:avLst/>
          </a:prstGeom>
          <a:noFill/>
          <a:ln w="0">
            <a:solidFill/>
            <a:prstDash val="solid"/>
          </a:ln>
        </p:spPr>
        <p:txBody>
          <a:bodyPr wrap="square" lIns="0" tIns="0" rIns="0" bIns="0" anchor="t">
            <a:noAutofit/>
          </a:bodyPr>
          <a:lstStyle>
            <a:defPPr algn="r">
              <a:defRPr sz="1200" b="0">
                <a:solidFill>
                  <a:srgbClr val="5D6A67"/>
                </a:solidFill>
                <a:latin typeface="Arial"/>
                <a:ea typeface="Arial"/>
                <a:cs typeface="Arial"/>
              </a:defRPr>
            </a:defPPr>
            <a:lvl1pPr algn="r">
              <a:buNone/>
              <a:defRPr sz="1200" b="0">
                <a:solidFill>
                  <a:srgbClr val="5D6A67"/>
                </a:solidFill>
                <a:latin typeface="Arial"/>
                <a:ea typeface="Arial"/>
                <a:cs typeface="Arial"/>
              </a:defRPr>
            </a:lvl1pPr>
            <a:lvl2pPr algn="r">
              <a:buNone/>
              <a:defRPr sz="1200" b="0">
                <a:solidFill>
                  <a:srgbClr val="5D6A67"/>
                </a:solidFill>
                <a:latin typeface="Arial"/>
                <a:ea typeface="Arial"/>
                <a:cs typeface="Arial"/>
              </a:defRPr>
            </a:lvl2pPr>
            <a:lvl3pPr algn="r">
              <a:buNone/>
              <a:defRPr sz="1200" b="0">
                <a:solidFill>
                  <a:srgbClr val="5D6A67"/>
                </a:solidFill>
                <a:latin typeface="Arial"/>
                <a:ea typeface="Arial"/>
                <a:cs typeface="Arial"/>
              </a:defRPr>
            </a:lvl3pPr>
            <a:lvl4pPr algn="r">
              <a:buNone/>
              <a:defRPr sz="1200" b="0">
                <a:solidFill>
                  <a:srgbClr val="5D6A67"/>
                </a:solidFill>
                <a:latin typeface="Arial"/>
                <a:ea typeface="Arial"/>
                <a:cs typeface="Arial"/>
              </a:defRPr>
            </a:lvl4pPr>
            <a:lvl5pPr algn="r">
              <a:buNone/>
              <a:defRPr sz="1200" b="0">
                <a:solidFill>
                  <a:srgbClr val="5D6A67"/>
                </a:solidFill>
                <a:latin typeface="Arial"/>
                <a:ea typeface="Arial"/>
                <a:cs typeface="Arial"/>
              </a:defRPr>
            </a:lvl5pPr>
            <a:lvl6pPr algn="r">
              <a:buNone/>
              <a:defRPr sz="1200" b="0">
                <a:solidFill>
                  <a:srgbClr val="5D6A67"/>
                </a:solidFill>
                <a:latin typeface="Arial"/>
                <a:ea typeface="Arial"/>
                <a:cs typeface="Arial"/>
              </a:defRPr>
            </a:lvl6pPr>
            <a:lvl7pPr algn="r">
              <a:buNone/>
              <a:defRPr sz="1200" b="0">
                <a:solidFill>
                  <a:srgbClr val="5D6A67"/>
                </a:solidFill>
                <a:latin typeface="Arial"/>
                <a:ea typeface="Arial"/>
                <a:cs typeface="Arial"/>
              </a:defRPr>
            </a:lvl7pPr>
            <a:lvl8pPr algn="r">
              <a:buNone/>
              <a:defRPr sz="1200" b="0">
                <a:solidFill>
                  <a:srgbClr val="5D6A67"/>
                </a:solidFill>
                <a:latin typeface="Arial"/>
                <a:ea typeface="Arial"/>
                <a:cs typeface="Arial"/>
              </a:defRPr>
            </a:lvl8pPr>
            <a:lvl9pPr algn="r">
              <a:buNone/>
              <a:defRPr sz="1200" b="0">
                <a:solidFill>
                  <a:srgbClr val="5D6A67"/>
                </a:solidFill>
                <a:latin typeface="Arial"/>
                <a:ea typeface="Arial"/>
                <a:cs typeface="Arial"/>
              </a:defRPr>
            </a:lvl9pPr>
          </a:lstStyle>
          <a:p>
            <a:pPr algn="r">
              <a:buNone/>
              <a:defRPr sz="1200" b="0">
                <a:solidFill>
                  <a:srgbClr val="5D6A67"/>
                </a:solidFill>
                <a:latin typeface="Arial"/>
                <a:ea typeface="Arial"/>
                <a:cs typeface="Arial"/>
              </a:defRPr>
            </a:pPr>
            <a:r>
              <a:rPr sz="1200" b="0">
                <a:solidFill>
                  <a:srgbClr val="5D6A67"/>
                </a:solidFill>
                <a:latin typeface="JetBrains Mono"/>
                <a:ea typeface="Arial"/>
                <a:cs typeface="Arial"/>
              </a:rPr>
              <a:t>07</a:t>
            </a:r>
            <a:endParaRPr/>
          </a:p>
        </p:txBody>
      </p:sp>
      <p:sp>
        <p:nvSpPr>
          <p:cNvPr id="882767671" name="access-revision-text-78"/>
          <p:cNvSpPr>
            <a:spLocks noGrp="1"/>
          </p:cNvSpPr>
          <p:nvPr/>
        </p:nvSpPr>
        <p:spPr bwMode="auto">
          <a:xfrm>
            <a:off x="609600" y="1819275"/>
            <a:ext cx="2476500" cy="247650"/>
          </a:xfrm>
          <a:prstGeom prst="rect">
            <a:avLst/>
          </a:prstGeom>
          <a:noFill/>
          <a:ln w="0">
            <a:solidFill/>
            <a:prstDash val="solid"/>
          </a:ln>
        </p:spPr>
        <p:txBody>
          <a:bodyPr wrap="square" lIns="0" tIns="0" rIns="0" bIns="0" anchor="t">
            <a:noAutofit/>
          </a:bodyPr>
          <a:lstStyle>
            <a:defPPr algn="l">
              <a:defRPr sz="1500" b="0">
                <a:solidFill>
                  <a:srgbClr val="0891B2"/>
                </a:solidFill>
                <a:latin typeface="Arial"/>
                <a:ea typeface="Arial"/>
                <a:cs typeface="Arial"/>
              </a:defRPr>
            </a:defPPr>
            <a:lvl1pPr algn="l">
              <a:buNone/>
              <a:defRPr sz="1500" b="0">
                <a:solidFill>
                  <a:srgbClr val="0891B2"/>
                </a:solidFill>
                <a:latin typeface="Arial"/>
                <a:ea typeface="Arial"/>
                <a:cs typeface="Arial"/>
              </a:defRPr>
            </a:lvl1pPr>
            <a:lvl2pPr algn="l">
              <a:buNone/>
              <a:defRPr sz="1500" b="0">
                <a:solidFill>
                  <a:srgbClr val="0891B2"/>
                </a:solidFill>
                <a:latin typeface="Arial"/>
                <a:ea typeface="Arial"/>
                <a:cs typeface="Arial"/>
              </a:defRPr>
            </a:lvl2pPr>
            <a:lvl3pPr algn="l">
              <a:buNone/>
              <a:defRPr sz="1500" b="0">
                <a:solidFill>
                  <a:srgbClr val="0891B2"/>
                </a:solidFill>
                <a:latin typeface="Arial"/>
                <a:ea typeface="Arial"/>
                <a:cs typeface="Arial"/>
              </a:defRPr>
            </a:lvl3pPr>
            <a:lvl4pPr algn="l">
              <a:buNone/>
              <a:defRPr sz="1500" b="0">
                <a:solidFill>
                  <a:srgbClr val="0891B2"/>
                </a:solidFill>
                <a:latin typeface="Arial"/>
                <a:ea typeface="Arial"/>
                <a:cs typeface="Arial"/>
              </a:defRPr>
            </a:lvl4pPr>
            <a:lvl5pPr algn="l">
              <a:buNone/>
              <a:defRPr sz="1500" b="0">
                <a:solidFill>
                  <a:srgbClr val="0891B2"/>
                </a:solidFill>
                <a:latin typeface="Arial"/>
                <a:ea typeface="Arial"/>
                <a:cs typeface="Arial"/>
              </a:defRPr>
            </a:lvl5pPr>
            <a:lvl6pPr algn="l">
              <a:buNone/>
              <a:defRPr sz="1500" b="0">
                <a:solidFill>
                  <a:srgbClr val="0891B2"/>
                </a:solidFill>
                <a:latin typeface="Arial"/>
                <a:ea typeface="Arial"/>
                <a:cs typeface="Arial"/>
              </a:defRPr>
            </a:lvl6pPr>
            <a:lvl7pPr algn="l">
              <a:buNone/>
              <a:defRPr sz="1500" b="0">
                <a:solidFill>
                  <a:srgbClr val="0891B2"/>
                </a:solidFill>
                <a:latin typeface="Arial"/>
                <a:ea typeface="Arial"/>
                <a:cs typeface="Arial"/>
              </a:defRPr>
            </a:lvl7pPr>
            <a:lvl8pPr algn="l">
              <a:buNone/>
              <a:defRPr sz="1500" b="0">
                <a:solidFill>
                  <a:srgbClr val="0891B2"/>
                </a:solidFill>
                <a:latin typeface="Arial"/>
                <a:ea typeface="Arial"/>
                <a:cs typeface="Arial"/>
              </a:defRPr>
            </a:lvl8pPr>
            <a:lvl9pPr algn="l">
              <a:buNone/>
              <a:defRPr sz="1500" b="0">
                <a:solidFill>
                  <a:srgbClr val="0891B2"/>
                </a:solidFill>
                <a:latin typeface="Arial"/>
                <a:ea typeface="Arial"/>
                <a:cs typeface="Arial"/>
              </a:defRPr>
            </a:lvl9pPr>
          </a:lstStyle>
          <a:p>
            <a:pPr algn="l">
              <a:buNone/>
              <a:defRPr sz="1500" b="0">
                <a:solidFill>
                  <a:srgbClr val="0891B2"/>
                </a:solidFill>
                <a:latin typeface="Arial"/>
                <a:ea typeface="Arial"/>
                <a:cs typeface="Arial"/>
              </a:defRPr>
            </a:pPr>
            <a:r>
              <a:rPr sz="1500" b="0">
                <a:solidFill>
                  <a:srgbClr val="0891B2"/>
                </a:solidFill>
                <a:latin typeface="Plus Jakarta Sans"/>
                <a:ea typeface="Arial"/>
                <a:cs typeface="Arial"/>
              </a:rPr>
              <a:t>Blue = securities</a:t>
            </a:r>
            <a:endParaRPr/>
          </a:p>
        </p:txBody>
      </p:sp>
      <p:sp>
        <p:nvSpPr>
          <p:cNvPr id="1997645028" name="access-revision-text-79"/>
          <p:cNvSpPr>
            <a:spLocks noGrp="1"/>
          </p:cNvSpPr>
          <p:nvPr/>
        </p:nvSpPr>
        <p:spPr bwMode="auto">
          <a:xfrm>
            <a:off x="3276600" y="1819275"/>
            <a:ext cx="5000625" cy="247650"/>
          </a:xfrm>
          <a:prstGeom prst="rect">
            <a:avLst/>
          </a:prstGeom>
          <a:noFill/>
          <a:ln w="0">
            <a:solidFill/>
            <a:prstDash val="solid"/>
          </a:ln>
        </p:spPr>
        <p:txBody>
          <a:bodyPr wrap="square" lIns="0" tIns="0" rIns="0" bIns="0" anchor="t">
            <a:noAutofit/>
          </a:bodyPr>
          <a:lstStyle>
            <a:defPPr algn="l">
              <a:defRPr sz="1500" b="0">
                <a:solidFill>
                  <a:srgbClr val="7C3AED"/>
                </a:solidFill>
                <a:latin typeface="Arial"/>
                <a:ea typeface="Arial"/>
                <a:cs typeface="Arial"/>
              </a:defRPr>
            </a:defPPr>
            <a:lvl1pPr algn="l">
              <a:buNone/>
              <a:defRPr sz="1500" b="0">
                <a:solidFill>
                  <a:srgbClr val="7C3AED"/>
                </a:solidFill>
                <a:latin typeface="Arial"/>
                <a:ea typeface="Arial"/>
                <a:cs typeface="Arial"/>
              </a:defRPr>
            </a:lvl1pPr>
            <a:lvl2pPr algn="l">
              <a:buNone/>
              <a:defRPr sz="1500" b="0">
                <a:solidFill>
                  <a:srgbClr val="7C3AED"/>
                </a:solidFill>
                <a:latin typeface="Arial"/>
                <a:ea typeface="Arial"/>
                <a:cs typeface="Arial"/>
              </a:defRPr>
            </a:lvl2pPr>
            <a:lvl3pPr algn="l">
              <a:buNone/>
              <a:defRPr sz="1500" b="0">
                <a:solidFill>
                  <a:srgbClr val="7C3AED"/>
                </a:solidFill>
                <a:latin typeface="Arial"/>
                <a:ea typeface="Arial"/>
                <a:cs typeface="Arial"/>
              </a:defRPr>
            </a:lvl3pPr>
            <a:lvl4pPr algn="l">
              <a:buNone/>
              <a:defRPr sz="1500" b="0">
                <a:solidFill>
                  <a:srgbClr val="7C3AED"/>
                </a:solidFill>
                <a:latin typeface="Arial"/>
                <a:ea typeface="Arial"/>
                <a:cs typeface="Arial"/>
              </a:defRPr>
            </a:lvl4pPr>
            <a:lvl5pPr algn="l">
              <a:buNone/>
              <a:defRPr sz="1500" b="0">
                <a:solidFill>
                  <a:srgbClr val="7C3AED"/>
                </a:solidFill>
                <a:latin typeface="Arial"/>
                <a:ea typeface="Arial"/>
                <a:cs typeface="Arial"/>
              </a:defRPr>
            </a:lvl5pPr>
            <a:lvl6pPr algn="l">
              <a:buNone/>
              <a:defRPr sz="1500" b="0">
                <a:solidFill>
                  <a:srgbClr val="7C3AED"/>
                </a:solidFill>
                <a:latin typeface="Arial"/>
                <a:ea typeface="Arial"/>
                <a:cs typeface="Arial"/>
              </a:defRPr>
            </a:lvl6pPr>
            <a:lvl7pPr algn="l">
              <a:buNone/>
              <a:defRPr sz="1500" b="0">
                <a:solidFill>
                  <a:srgbClr val="7C3AED"/>
                </a:solidFill>
                <a:latin typeface="Arial"/>
                <a:ea typeface="Arial"/>
                <a:cs typeface="Arial"/>
              </a:defRPr>
            </a:lvl7pPr>
            <a:lvl8pPr algn="l">
              <a:buNone/>
              <a:defRPr sz="1500" b="0">
                <a:solidFill>
                  <a:srgbClr val="7C3AED"/>
                </a:solidFill>
                <a:latin typeface="Arial"/>
                <a:ea typeface="Arial"/>
                <a:cs typeface="Arial"/>
              </a:defRPr>
            </a:lvl8pPr>
            <a:lvl9pPr algn="l">
              <a:buNone/>
              <a:defRPr sz="1500" b="0">
                <a:solidFill>
                  <a:srgbClr val="7C3AED"/>
                </a:solidFill>
                <a:latin typeface="Arial"/>
                <a:ea typeface="Arial"/>
                <a:cs typeface="Arial"/>
              </a:defRPr>
            </a:lvl9pPr>
          </a:lstStyle>
          <a:p>
            <a:pPr algn="l">
              <a:buNone/>
              <a:defRPr sz="1500" b="0">
                <a:solidFill>
                  <a:srgbClr val="7C3AED"/>
                </a:solidFill>
                <a:latin typeface="Arial"/>
                <a:ea typeface="Arial"/>
                <a:cs typeface="Arial"/>
              </a:defRPr>
            </a:pPr>
            <a:r>
              <a:rPr sz="1500" b="0">
                <a:solidFill>
                  <a:srgbClr val="7C3AED"/>
                </a:solidFill>
                <a:latin typeface="Plus Jakarta Sans"/>
                <a:ea typeface="Arial"/>
                <a:cs typeface="Arial"/>
              </a:rPr>
              <a:t>Purple = instructions and confirmations</a:t>
            </a:r>
            <a:endParaRPr/>
          </a:p>
        </p:txBody>
      </p:sp>
      <p:sp>
        <p:nvSpPr>
          <p:cNvPr id="619153117" name="access-revision-text-80"/>
          <p:cNvSpPr>
            <a:spLocks noGrp="1"/>
          </p:cNvSpPr>
          <p:nvPr/>
        </p:nvSpPr>
        <p:spPr bwMode="auto">
          <a:xfrm>
            <a:off x="8705850" y="1819275"/>
            <a:ext cx="2876550" cy="247650"/>
          </a:xfrm>
          <a:prstGeom prst="rect">
            <a:avLst/>
          </a:prstGeom>
          <a:noFill/>
          <a:ln w="0">
            <a:solidFill/>
            <a:prstDash val="solid"/>
          </a:ln>
        </p:spPr>
        <p:txBody>
          <a:bodyPr wrap="square" lIns="0" tIns="0" rIns="0" bIns="0" anchor="t">
            <a:noAutofit/>
          </a:bodyPr>
          <a:lstStyle>
            <a:defPPr algn="l">
              <a:defRPr sz="1500" b="0">
                <a:solidFill>
                  <a:srgbClr val="059669"/>
                </a:solidFill>
                <a:latin typeface="Arial"/>
                <a:ea typeface="Arial"/>
                <a:cs typeface="Arial"/>
              </a:defRPr>
            </a:defPPr>
            <a:lvl1pPr algn="l">
              <a:buNone/>
              <a:defRPr sz="1500" b="0">
                <a:solidFill>
                  <a:srgbClr val="059669"/>
                </a:solidFill>
                <a:latin typeface="Arial"/>
                <a:ea typeface="Arial"/>
                <a:cs typeface="Arial"/>
              </a:defRPr>
            </a:lvl1pPr>
            <a:lvl2pPr algn="l">
              <a:buNone/>
              <a:defRPr sz="1500" b="0">
                <a:solidFill>
                  <a:srgbClr val="059669"/>
                </a:solidFill>
                <a:latin typeface="Arial"/>
                <a:ea typeface="Arial"/>
                <a:cs typeface="Arial"/>
              </a:defRPr>
            </a:lvl2pPr>
            <a:lvl3pPr algn="l">
              <a:buNone/>
              <a:defRPr sz="1500" b="0">
                <a:solidFill>
                  <a:srgbClr val="059669"/>
                </a:solidFill>
                <a:latin typeface="Arial"/>
                <a:ea typeface="Arial"/>
                <a:cs typeface="Arial"/>
              </a:defRPr>
            </a:lvl3pPr>
            <a:lvl4pPr algn="l">
              <a:buNone/>
              <a:defRPr sz="1500" b="0">
                <a:solidFill>
                  <a:srgbClr val="059669"/>
                </a:solidFill>
                <a:latin typeface="Arial"/>
                <a:ea typeface="Arial"/>
                <a:cs typeface="Arial"/>
              </a:defRPr>
            </a:lvl4pPr>
            <a:lvl5pPr algn="l">
              <a:buNone/>
              <a:defRPr sz="1500" b="0">
                <a:solidFill>
                  <a:srgbClr val="059669"/>
                </a:solidFill>
                <a:latin typeface="Arial"/>
                <a:ea typeface="Arial"/>
                <a:cs typeface="Arial"/>
              </a:defRPr>
            </a:lvl5pPr>
            <a:lvl6pPr algn="l">
              <a:buNone/>
              <a:defRPr sz="1500" b="0">
                <a:solidFill>
                  <a:srgbClr val="059669"/>
                </a:solidFill>
                <a:latin typeface="Arial"/>
                <a:ea typeface="Arial"/>
                <a:cs typeface="Arial"/>
              </a:defRPr>
            </a:lvl6pPr>
            <a:lvl7pPr algn="l">
              <a:buNone/>
              <a:defRPr sz="1500" b="0">
                <a:solidFill>
                  <a:srgbClr val="059669"/>
                </a:solidFill>
                <a:latin typeface="Arial"/>
                <a:ea typeface="Arial"/>
                <a:cs typeface="Arial"/>
              </a:defRPr>
            </a:lvl7pPr>
            <a:lvl8pPr algn="l">
              <a:buNone/>
              <a:defRPr sz="1500" b="0">
                <a:solidFill>
                  <a:srgbClr val="059669"/>
                </a:solidFill>
                <a:latin typeface="Arial"/>
                <a:ea typeface="Arial"/>
                <a:cs typeface="Arial"/>
              </a:defRPr>
            </a:lvl8pPr>
            <a:lvl9pPr algn="l">
              <a:buNone/>
              <a:defRPr sz="1500" b="0">
                <a:solidFill>
                  <a:srgbClr val="059669"/>
                </a:solidFill>
                <a:latin typeface="Arial"/>
                <a:ea typeface="Arial"/>
                <a:cs typeface="Arial"/>
              </a:defRPr>
            </a:lvl9pPr>
          </a:lstStyle>
          <a:p>
            <a:pPr algn="l">
              <a:buNone/>
              <a:defRPr sz="1500" b="0">
                <a:solidFill>
                  <a:srgbClr val="059669"/>
                </a:solidFill>
                <a:latin typeface="Arial"/>
                <a:ea typeface="Arial"/>
                <a:cs typeface="Arial"/>
              </a:defRPr>
            </a:pPr>
            <a:r>
              <a:rPr sz="1500" b="0">
                <a:solidFill>
                  <a:srgbClr val="059669"/>
                </a:solidFill>
                <a:latin typeface="Plus Jakarta Sans"/>
                <a:ea typeface="Arial"/>
                <a:cs typeface="Arial"/>
              </a:rPr>
              <a:t>Green = cash or stablecoins</a:t>
            </a:r>
            <a:endParaRPr/>
          </a:p>
        </p:txBody>
      </p:sp>
      <p:sp>
        <p:nvSpPr>
          <p:cNvPr id="1623796525" name="access-participant-head-81"/>
          <p:cNvSpPr>
            <a:spLocks noGrp="1"/>
          </p:cNvSpPr>
          <p:nvPr/>
        </p:nvSpPr>
        <p:spPr bwMode="auto">
          <a:xfrm>
            <a:off x="1885950" y="2133600"/>
            <a:ext cx="190500" cy="190500"/>
          </a:xfrm>
          <a:prstGeom prst="ellipse">
            <a:avLst/>
          </a:prstGeom>
          <a:solidFill>
            <a:srgbClr val="18201D"/>
          </a:solidFill>
          <a:ln w="0">
            <a:solidFill/>
            <a:prstDash val="solid"/>
          </a:ln>
        </p:spPr>
        <p:txBody>
          <a:bodyPr/>
          <a:p/>
        </p:txBody>
      </p:sp>
      <p:sp>
        <p:nvSpPr>
          <p:cNvPr id="979902350" name="access-participant-body-82"/>
          <p:cNvSpPr>
            <a:spLocks noGrp="1"/>
          </p:cNvSpPr>
          <p:nvPr/>
        </p:nvSpPr>
        <p:spPr bwMode="auto">
          <a:xfrm>
            <a:off x="1809750" y="2352675"/>
            <a:ext cx="342900" cy="180975"/>
          </a:xfrm>
          <a:prstGeom prst="roundRect">
            <a:avLst>
              <a:gd name="adj" fmla="val 42105"/>
            </a:avLst>
          </a:prstGeom>
          <a:solidFill>
            <a:srgbClr val="18201D"/>
          </a:solidFill>
          <a:ln w="0">
            <a:solidFill/>
            <a:prstDash val="solid"/>
          </a:ln>
        </p:spPr>
        <p:txBody>
          <a:bodyPr/>
          <a:p/>
        </p:txBody>
      </p:sp>
      <p:sp>
        <p:nvSpPr>
          <p:cNvPr id="208077730" name="access-revision-text-83"/>
          <p:cNvSpPr>
            <a:spLocks noGrp="1"/>
          </p:cNvSpPr>
          <p:nvPr/>
        </p:nvSpPr>
        <p:spPr bwMode="auto">
          <a:xfrm>
            <a:off x="781050" y="2590800"/>
            <a:ext cx="2400300" cy="571500"/>
          </a:xfrm>
          <a:prstGeom prst="rect">
            <a:avLst/>
          </a:prstGeom>
          <a:noFill/>
          <a:ln w="0">
            <a:solidFill/>
            <a:prstDash val="solid"/>
          </a:ln>
        </p:spPr>
        <p:txBody>
          <a:bodyPr wrap="square" lIns="0" tIns="0" rIns="0" bIns="0" anchor="t">
            <a:noAutofit/>
          </a:bodyPr>
          <a:lstStyle>
            <a:defPPr algn="ctr">
              <a:defRPr sz="1800" b="1">
                <a:solidFill>
                  <a:srgbClr val="18201D"/>
                </a:solidFill>
                <a:latin typeface="Arial"/>
                <a:ea typeface="Arial"/>
                <a:cs typeface="Arial"/>
              </a:defRPr>
            </a:defPPr>
            <a:lvl1pPr algn="ctr">
              <a:buNone/>
              <a:defRPr sz="1800" b="1">
                <a:solidFill>
                  <a:srgbClr val="18201D"/>
                </a:solidFill>
                <a:latin typeface="Arial"/>
                <a:ea typeface="Arial"/>
                <a:cs typeface="Arial"/>
              </a:defRPr>
            </a:lvl1pPr>
            <a:lvl2pPr algn="ctr">
              <a:buNone/>
              <a:defRPr sz="1800" b="1">
                <a:solidFill>
                  <a:srgbClr val="18201D"/>
                </a:solidFill>
                <a:latin typeface="Arial"/>
                <a:ea typeface="Arial"/>
                <a:cs typeface="Arial"/>
              </a:defRPr>
            </a:lvl2pPr>
            <a:lvl3pPr algn="ctr">
              <a:buNone/>
              <a:defRPr sz="1800" b="1">
                <a:solidFill>
                  <a:srgbClr val="18201D"/>
                </a:solidFill>
                <a:latin typeface="Arial"/>
                <a:ea typeface="Arial"/>
                <a:cs typeface="Arial"/>
              </a:defRPr>
            </a:lvl3pPr>
            <a:lvl4pPr algn="ctr">
              <a:buNone/>
              <a:defRPr sz="1800" b="1">
                <a:solidFill>
                  <a:srgbClr val="18201D"/>
                </a:solidFill>
                <a:latin typeface="Arial"/>
                <a:ea typeface="Arial"/>
                <a:cs typeface="Arial"/>
              </a:defRPr>
            </a:lvl4pPr>
            <a:lvl5pPr algn="ctr">
              <a:buNone/>
              <a:defRPr sz="1800" b="1">
                <a:solidFill>
                  <a:srgbClr val="18201D"/>
                </a:solidFill>
                <a:latin typeface="Arial"/>
                <a:ea typeface="Arial"/>
                <a:cs typeface="Arial"/>
              </a:defRPr>
            </a:lvl5pPr>
            <a:lvl6pPr algn="ctr">
              <a:buNone/>
              <a:defRPr sz="1800" b="1">
                <a:solidFill>
                  <a:srgbClr val="18201D"/>
                </a:solidFill>
                <a:latin typeface="Arial"/>
                <a:ea typeface="Arial"/>
                <a:cs typeface="Arial"/>
              </a:defRPr>
            </a:lvl6pPr>
            <a:lvl7pPr algn="ctr">
              <a:buNone/>
              <a:defRPr sz="1800" b="1">
                <a:solidFill>
                  <a:srgbClr val="18201D"/>
                </a:solidFill>
                <a:latin typeface="Arial"/>
                <a:ea typeface="Arial"/>
                <a:cs typeface="Arial"/>
              </a:defRPr>
            </a:lvl7pPr>
            <a:lvl8pPr algn="ctr">
              <a:buNone/>
              <a:defRPr sz="1800" b="1">
                <a:solidFill>
                  <a:srgbClr val="18201D"/>
                </a:solidFill>
                <a:latin typeface="Arial"/>
                <a:ea typeface="Arial"/>
                <a:cs typeface="Arial"/>
              </a:defRPr>
            </a:lvl8pPr>
            <a:lvl9pPr algn="ctr">
              <a:buNone/>
              <a:defRPr sz="1800" b="1">
                <a:solidFill>
                  <a:srgbClr val="18201D"/>
                </a:solidFill>
                <a:latin typeface="Arial"/>
                <a:ea typeface="Arial"/>
                <a:cs typeface="Arial"/>
              </a:defRPr>
            </a:lvl9pPr>
          </a:lstStyle>
          <a:p>
            <a:pPr algn="ctr">
              <a:buNone/>
              <a:defRPr sz="1800" b="1">
                <a:solidFill>
                  <a:srgbClr val="18201D"/>
                </a:solidFill>
                <a:latin typeface="Arial"/>
                <a:ea typeface="Arial"/>
                <a:cs typeface="Arial"/>
              </a:defRPr>
            </a:pPr>
            <a:r>
              <a:rPr sz="1800" b="1">
                <a:solidFill>
                  <a:srgbClr val="18201D"/>
                </a:solidFill>
                <a:latin typeface="Outfit"/>
                <a:ea typeface="Arial"/>
                <a:cs typeface="Arial"/>
              </a:rPr>
              <a:t>Eligible</a:t>
            </a:r>
            <a:endParaRPr/>
          </a:p>
          <a:p>
            <a:pPr algn="ctr">
              <a:buNone/>
              <a:defRPr sz="1800" b="1">
                <a:solidFill>
                  <a:srgbClr val="18201D"/>
                </a:solidFill>
                <a:latin typeface="Arial"/>
                <a:ea typeface="Arial"/>
                <a:cs typeface="Arial"/>
              </a:defRPr>
            </a:pPr>
            <a:r>
              <a:rPr sz="1800" b="1">
                <a:solidFill>
                  <a:srgbClr val="18201D"/>
                </a:solidFill>
                <a:latin typeface="Outfit"/>
                <a:ea typeface="Arial"/>
                <a:cs typeface="Arial"/>
              </a:rPr>
              <a:t>investor</a:t>
            </a:r>
            <a:endParaRPr/>
          </a:p>
        </p:txBody>
      </p:sp>
      <p:sp>
        <p:nvSpPr>
          <p:cNvPr id="1491501779" name="access-diagram-line-84"/>
          <p:cNvSpPr>
            <a:spLocks noGrp="1"/>
          </p:cNvSpPr>
          <p:nvPr/>
        </p:nvSpPr>
        <p:spPr bwMode="auto">
          <a:xfrm>
            <a:off x="1981200" y="3162300"/>
            <a:ext cx="0" cy="2695575"/>
          </a:xfrm>
          <a:prstGeom prst="line">
            <a:avLst/>
          </a:prstGeom>
          <a:noFill/>
          <a:ln w="10478">
            <a:solidFill>
              <a:srgbClr val="D7DFDA"/>
            </a:solidFill>
            <a:prstDash val="dash"/>
          </a:ln>
        </p:spPr>
        <p:txBody>
          <a:bodyPr/>
          <a:p/>
        </p:txBody>
      </p:sp>
      <p:sp>
        <p:nvSpPr>
          <p:cNvPr id="1834884674" name="access-participant-head-85"/>
          <p:cNvSpPr>
            <a:spLocks noGrp="1"/>
          </p:cNvSpPr>
          <p:nvPr/>
        </p:nvSpPr>
        <p:spPr bwMode="auto">
          <a:xfrm>
            <a:off x="4629150" y="2133600"/>
            <a:ext cx="190500" cy="190500"/>
          </a:xfrm>
          <a:prstGeom prst="ellipse">
            <a:avLst/>
          </a:prstGeom>
          <a:solidFill>
            <a:srgbClr val="18201D"/>
          </a:solidFill>
          <a:ln w="0">
            <a:solidFill/>
            <a:prstDash val="solid"/>
          </a:ln>
        </p:spPr>
        <p:txBody>
          <a:bodyPr/>
          <a:p/>
        </p:txBody>
      </p:sp>
      <p:sp>
        <p:nvSpPr>
          <p:cNvPr id="901619274" name="access-participant-body-86"/>
          <p:cNvSpPr>
            <a:spLocks noGrp="1"/>
          </p:cNvSpPr>
          <p:nvPr/>
        </p:nvSpPr>
        <p:spPr bwMode="auto">
          <a:xfrm>
            <a:off x="4552950" y="2352675"/>
            <a:ext cx="342900" cy="180975"/>
          </a:xfrm>
          <a:prstGeom prst="roundRect">
            <a:avLst>
              <a:gd name="adj" fmla="val 42105"/>
            </a:avLst>
          </a:prstGeom>
          <a:solidFill>
            <a:srgbClr val="18201D"/>
          </a:solidFill>
          <a:ln w="0">
            <a:solidFill/>
            <a:prstDash val="solid"/>
          </a:ln>
        </p:spPr>
        <p:txBody>
          <a:bodyPr/>
          <a:p/>
        </p:txBody>
      </p:sp>
      <p:sp>
        <p:nvSpPr>
          <p:cNvPr id="1311570380" name="access-revision-text-87"/>
          <p:cNvSpPr>
            <a:spLocks noGrp="1"/>
          </p:cNvSpPr>
          <p:nvPr/>
        </p:nvSpPr>
        <p:spPr bwMode="auto">
          <a:xfrm>
            <a:off x="3524250" y="2590800"/>
            <a:ext cx="2400300" cy="571500"/>
          </a:xfrm>
          <a:prstGeom prst="rect">
            <a:avLst/>
          </a:prstGeom>
          <a:noFill/>
          <a:ln w="0">
            <a:solidFill/>
            <a:prstDash val="solid"/>
          </a:ln>
        </p:spPr>
        <p:txBody>
          <a:bodyPr wrap="square" lIns="0" tIns="0" rIns="0" bIns="0" anchor="t">
            <a:noAutofit/>
          </a:bodyPr>
          <a:lstStyle>
            <a:defPPr algn="ctr">
              <a:defRPr sz="1800" b="1">
                <a:solidFill>
                  <a:srgbClr val="18201D"/>
                </a:solidFill>
                <a:latin typeface="Arial"/>
                <a:ea typeface="Arial"/>
                <a:cs typeface="Arial"/>
              </a:defRPr>
            </a:defPPr>
            <a:lvl1pPr algn="ctr">
              <a:buNone/>
              <a:defRPr sz="1800" b="1">
                <a:solidFill>
                  <a:srgbClr val="18201D"/>
                </a:solidFill>
                <a:latin typeface="Arial"/>
                <a:ea typeface="Arial"/>
                <a:cs typeface="Arial"/>
              </a:defRPr>
            </a:lvl1pPr>
            <a:lvl2pPr algn="ctr">
              <a:buNone/>
              <a:defRPr sz="1800" b="1">
                <a:solidFill>
                  <a:srgbClr val="18201D"/>
                </a:solidFill>
                <a:latin typeface="Arial"/>
                <a:ea typeface="Arial"/>
                <a:cs typeface="Arial"/>
              </a:defRPr>
            </a:lvl2pPr>
            <a:lvl3pPr algn="ctr">
              <a:buNone/>
              <a:defRPr sz="1800" b="1">
                <a:solidFill>
                  <a:srgbClr val="18201D"/>
                </a:solidFill>
                <a:latin typeface="Arial"/>
                <a:ea typeface="Arial"/>
                <a:cs typeface="Arial"/>
              </a:defRPr>
            </a:lvl3pPr>
            <a:lvl4pPr algn="ctr">
              <a:buNone/>
              <a:defRPr sz="1800" b="1">
                <a:solidFill>
                  <a:srgbClr val="18201D"/>
                </a:solidFill>
                <a:latin typeface="Arial"/>
                <a:ea typeface="Arial"/>
                <a:cs typeface="Arial"/>
              </a:defRPr>
            </a:lvl4pPr>
            <a:lvl5pPr algn="ctr">
              <a:buNone/>
              <a:defRPr sz="1800" b="1">
                <a:solidFill>
                  <a:srgbClr val="18201D"/>
                </a:solidFill>
                <a:latin typeface="Arial"/>
                <a:ea typeface="Arial"/>
                <a:cs typeface="Arial"/>
              </a:defRPr>
            </a:lvl5pPr>
            <a:lvl6pPr algn="ctr">
              <a:buNone/>
              <a:defRPr sz="1800" b="1">
                <a:solidFill>
                  <a:srgbClr val="18201D"/>
                </a:solidFill>
                <a:latin typeface="Arial"/>
                <a:ea typeface="Arial"/>
                <a:cs typeface="Arial"/>
              </a:defRPr>
            </a:lvl6pPr>
            <a:lvl7pPr algn="ctr">
              <a:buNone/>
              <a:defRPr sz="1800" b="1">
                <a:solidFill>
                  <a:srgbClr val="18201D"/>
                </a:solidFill>
                <a:latin typeface="Arial"/>
                <a:ea typeface="Arial"/>
                <a:cs typeface="Arial"/>
              </a:defRPr>
            </a:lvl7pPr>
            <a:lvl8pPr algn="ctr">
              <a:buNone/>
              <a:defRPr sz="1800" b="1">
                <a:solidFill>
                  <a:srgbClr val="18201D"/>
                </a:solidFill>
                <a:latin typeface="Arial"/>
                <a:ea typeface="Arial"/>
                <a:cs typeface="Arial"/>
              </a:defRPr>
            </a:lvl8pPr>
            <a:lvl9pPr algn="ctr">
              <a:buNone/>
              <a:defRPr sz="1800" b="1">
                <a:solidFill>
                  <a:srgbClr val="18201D"/>
                </a:solidFill>
                <a:latin typeface="Arial"/>
                <a:ea typeface="Arial"/>
                <a:cs typeface="Arial"/>
              </a:defRPr>
            </a:lvl9pPr>
          </a:lstStyle>
          <a:p>
            <a:pPr algn="ctr">
              <a:buNone/>
              <a:defRPr sz="1800" b="1">
                <a:solidFill>
                  <a:srgbClr val="18201D"/>
                </a:solidFill>
                <a:latin typeface="Arial"/>
                <a:ea typeface="Arial"/>
                <a:cs typeface="Arial"/>
              </a:defRPr>
            </a:pPr>
            <a:r>
              <a:rPr sz="1800" b="1">
                <a:solidFill>
                  <a:srgbClr val="18201D"/>
                </a:solidFill>
                <a:latin typeface="Outfit"/>
                <a:ea typeface="Arial"/>
                <a:cs typeface="Arial"/>
              </a:rPr>
              <a:t>Broker /</a:t>
            </a:r>
            <a:endParaRPr/>
          </a:p>
          <a:p>
            <a:pPr algn="ctr">
              <a:buNone/>
              <a:defRPr sz="1800" b="1">
                <a:solidFill>
                  <a:srgbClr val="18201D"/>
                </a:solidFill>
                <a:latin typeface="Arial"/>
                <a:ea typeface="Arial"/>
                <a:cs typeface="Arial"/>
              </a:defRPr>
            </a:pPr>
            <a:r>
              <a:rPr sz="1800" b="1">
                <a:solidFill>
                  <a:srgbClr val="18201D"/>
                </a:solidFill>
                <a:latin typeface="Outfit"/>
                <a:ea typeface="Arial"/>
                <a:cs typeface="Arial"/>
              </a:rPr>
              <a:t>liquidity partner</a:t>
            </a:r>
            <a:endParaRPr/>
          </a:p>
        </p:txBody>
      </p:sp>
      <p:sp>
        <p:nvSpPr>
          <p:cNvPr id="199872418" name="access-diagram-line-88"/>
          <p:cNvSpPr>
            <a:spLocks noGrp="1"/>
          </p:cNvSpPr>
          <p:nvPr/>
        </p:nvSpPr>
        <p:spPr bwMode="auto">
          <a:xfrm>
            <a:off x="4724399" y="3162300"/>
            <a:ext cx="0" cy="2695575"/>
          </a:xfrm>
          <a:prstGeom prst="line">
            <a:avLst/>
          </a:prstGeom>
          <a:noFill/>
          <a:ln w="10478">
            <a:solidFill>
              <a:srgbClr val="D7DFDA"/>
            </a:solidFill>
            <a:prstDash val="dash"/>
          </a:ln>
        </p:spPr>
        <p:txBody>
          <a:bodyPr/>
          <a:p/>
        </p:txBody>
      </p:sp>
      <p:sp>
        <p:nvSpPr>
          <p:cNvPr id="25527811" name="access-participant-head-89"/>
          <p:cNvSpPr>
            <a:spLocks noGrp="1"/>
          </p:cNvSpPr>
          <p:nvPr/>
        </p:nvSpPr>
        <p:spPr bwMode="auto">
          <a:xfrm>
            <a:off x="7372350" y="2133600"/>
            <a:ext cx="190500" cy="190500"/>
          </a:xfrm>
          <a:prstGeom prst="ellipse">
            <a:avLst/>
          </a:prstGeom>
          <a:solidFill>
            <a:srgbClr val="18201D"/>
          </a:solidFill>
          <a:ln w="0">
            <a:solidFill/>
            <a:prstDash val="solid"/>
          </a:ln>
        </p:spPr>
        <p:txBody>
          <a:bodyPr/>
          <a:p/>
        </p:txBody>
      </p:sp>
      <p:sp>
        <p:nvSpPr>
          <p:cNvPr id="1114753517" name="access-participant-body-90"/>
          <p:cNvSpPr>
            <a:spLocks noGrp="1"/>
          </p:cNvSpPr>
          <p:nvPr/>
        </p:nvSpPr>
        <p:spPr bwMode="auto">
          <a:xfrm>
            <a:off x="7296149" y="2352675"/>
            <a:ext cx="342900" cy="180975"/>
          </a:xfrm>
          <a:prstGeom prst="roundRect">
            <a:avLst>
              <a:gd name="adj" fmla="val 42105"/>
            </a:avLst>
          </a:prstGeom>
          <a:solidFill>
            <a:srgbClr val="18201D"/>
          </a:solidFill>
          <a:ln w="0">
            <a:solidFill/>
            <a:prstDash val="solid"/>
          </a:ln>
        </p:spPr>
        <p:txBody>
          <a:bodyPr/>
          <a:p/>
        </p:txBody>
      </p:sp>
      <p:sp>
        <p:nvSpPr>
          <p:cNvPr id="1548659685" name="access-revision-text-91"/>
          <p:cNvSpPr>
            <a:spLocks noGrp="1"/>
          </p:cNvSpPr>
          <p:nvPr/>
        </p:nvSpPr>
        <p:spPr bwMode="auto">
          <a:xfrm>
            <a:off x="6267450" y="2590800"/>
            <a:ext cx="2400300" cy="571500"/>
          </a:xfrm>
          <a:prstGeom prst="rect">
            <a:avLst/>
          </a:prstGeom>
          <a:noFill/>
          <a:ln w="0">
            <a:solidFill/>
            <a:prstDash val="solid"/>
          </a:ln>
        </p:spPr>
        <p:txBody>
          <a:bodyPr wrap="square" lIns="0" tIns="0" rIns="0" bIns="0" anchor="t">
            <a:noAutofit/>
          </a:bodyPr>
          <a:lstStyle>
            <a:defPPr algn="ctr">
              <a:defRPr sz="1800" b="1">
                <a:solidFill>
                  <a:srgbClr val="18201D"/>
                </a:solidFill>
                <a:latin typeface="Arial"/>
                <a:ea typeface="Arial"/>
                <a:cs typeface="Arial"/>
              </a:defRPr>
            </a:defPPr>
            <a:lvl1pPr algn="ctr">
              <a:buNone/>
              <a:defRPr sz="1800" b="1">
                <a:solidFill>
                  <a:srgbClr val="18201D"/>
                </a:solidFill>
                <a:latin typeface="Arial"/>
                <a:ea typeface="Arial"/>
                <a:cs typeface="Arial"/>
              </a:defRPr>
            </a:lvl1pPr>
            <a:lvl2pPr algn="ctr">
              <a:buNone/>
              <a:defRPr sz="1800" b="1">
                <a:solidFill>
                  <a:srgbClr val="18201D"/>
                </a:solidFill>
                <a:latin typeface="Arial"/>
                <a:ea typeface="Arial"/>
                <a:cs typeface="Arial"/>
              </a:defRPr>
            </a:lvl2pPr>
            <a:lvl3pPr algn="ctr">
              <a:buNone/>
              <a:defRPr sz="1800" b="1">
                <a:solidFill>
                  <a:srgbClr val="18201D"/>
                </a:solidFill>
                <a:latin typeface="Arial"/>
                <a:ea typeface="Arial"/>
                <a:cs typeface="Arial"/>
              </a:defRPr>
            </a:lvl3pPr>
            <a:lvl4pPr algn="ctr">
              <a:buNone/>
              <a:defRPr sz="1800" b="1">
                <a:solidFill>
                  <a:srgbClr val="18201D"/>
                </a:solidFill>
                <a:latin typeface="Arial"/>
                <a:ea typeface="Arial"/>
                <a:cs typeface="Arial"/>
              </a:defRPr>
            </a:lvl4pPr>
            <a:lvl5pPr algn="ctr">
              <a:buNone/>
              <a:defRPr sz="1800" b="1">
                <a:solidFill>
                  <a:srgbClr val="18201D"/>
                </a:solidFill>
                <a:latin typeface="Arial"/>
                <a:ea typeface="Arial"/>
                <a:cs typeface="Arial"/>
              </a:defRPr>
            </a:lvl5pPr>
            <a:lvl6pPr algn="ctr">
              <a:buNone/>
              <a:defRPr sz="1800" b="1">
                <a:solidFill>
                  <a:srgbClr val="18201D"/>
                </a:solidFill>
                <a:latin typeface="Arial"/>
                <a:ea typeface="Arial"/>
                <a:cs typeface="Arial"/>
              </a:defRPr>
            </a:lvl6pPr>
            <a:lvl7pPr algn="ctr">
              <a:buNone/>
              <a:defRPr sz="1800" b="1">
                <a:solidFill>
                  <a:srgbClr val="18201D"/>
                </a:solidFill>
                <a:latin typeface="Arial"/>
                <a:ea typeface="Arial"/>
                <a:cs typeface="Arial"/>
              </a:defRPr>
            </a:lvl7pPr>
            <a:lvl8pPr algn="ctr">
              <a:buNone/>
              <a:defRPr sz="1800" b="1">
                <a:solidFill>
                  <a:srgbClr val="18201D"/>
                </a:solidFill>
                <a:latin typeface="Arial"/>
                <a:ea typeface="Arial"/>
                <a:cs typeface="Arial"/>
              </a:defRPr>
            </a:lvl8pPr>
            <a:lvl9pPr algn="ctr">
              <a:buNone/>
              <a:defRPr sz="1800" b="1">
                <a:solidFill>
                  <a:srgbClr val="18201D"/>
                </a:solidFill>
                <a:latin typeface="Arial"/>
                <a:ea typeface="Arial"/>
                <a:cs typeface="Arial"/>
              </a:defRPr>
            </a:lvl9pPr>
          </a:lstStyle>
          <a:p>
            <a:pPr algn="ctr">
              <a:buNone/>
              <a:defRPr sz="1800" b="1">
                <a:solidFill>
                  <a:srgbClr val="18201D"/>
                </a:solidFill>
                <a:latin typeface="Arial"/>
                <a:ea typeface="Arial"/>
                <a:cs typeface="Arial"/>
              </a:defRPr>
            </a:pPr>
            <a:r>
              <a:rPr sz="1800" b="1">
                <a:solidFill>
                  <a:srgbClr val="18201D"/>
                </a:solidFill>
                <a:latin typeface="Outfit"/>
                <a:ea typeface="Arial"/>
                <a:cs typeface="Arial"/>
              </a:rPr>
              <a:t>Cash / FX</a:t>
            </a:r>
            <a:endParaRPr/>
          </a:p>
          <a:p>
            <a:pPr algn="ctr">
              <a:buNone/>
              <a:defRPr sz="1800" b="1">
                <a:solidFill>
                  <a:srgbClr val="18201D"/>
                </a:solidFill>
                <a:latin typeface="Arial"/>
                <a:ea typeface="Arial"/>
                <a:cs typeface="Arial"/>
              </a:defRPr>
            </a:pPr>
            <a:r>
              <a:rPr sz="1800" b="1">
                <a:solidFill>
                  <a:srgbClr val="18201D"/>
                </a:solidFill>
                <a:latin typeface="Outfit"/>
                <a:ea typeface="Arial"/>
                <a:cs typeface="Arial"/>
              </a:rPr>
              <a:t>operator</a:t>
            </a:r>
            <a:endParaRPr/>
          </a:p>
        </p:txBody>
      </p:sp>
      <p:sp>
        <p:nvSpPr>
          <p:cNvPr id="2035600073" name="access-diagram-line-92"/>
          <p:cNvSpPr>
            <a:spLocks noGrp="1"/>
          </p:cNvSpPr>
          <p:nvPr/>
        </p:nvSpPr>
        <p:spPr bwMode="auto">
          <a:xfrm>
            <a:off x="7467600" y="3162300"/>
            <a:ext cx="0" cy="2695575"/>
          </a:xfrm>
          <a:prstGeom prst="line">
            <a:avLst/>
          </a:prstGeom>
          <a:noFill/>
          <a:ln w="10478">
            <a:solidFill>
              <a:srgbClr val="D7DFDA"/>
            </a:solidFill>
            <a:prstDash val="dash"/>
          </a:ln>
        </p:spPr>
        <p:txBody>
          <a:bodyPr/>
          <a:p/>
        </p:txBody>
      </p:sp>
      <p:sp>
        <p:nvSpPr>
          <p:cNvPr id="753914478" name="access-system-93"/>
          <p:cNvSpPr>
            <a:spLocks noGrp="1"/>
          </p:cNvSpPr>
          <p:nvPr/>
        </p:nvSpPr>
        <p:spPr bwMode="auto">
          <a:xfrm>
            <a:off x="9972675" y="2190750"/>
            <a:ext cx="190500" cy="238125"/>
          </a:xfrm>
          <a:prstGeom prst="rect">
            <a:avLst/>
          </a:prstGeom>
          <a:solidFill>
            <a:srgbClr val="ECFEFF"/>
          </a:solidFill>
          <a:ln w="12383">
            <a:solidFill>
              <a:srgbClr val="0891B2"/>
            </a:solidFill>
            <a:prstDash val="solid"/>
          </a:ln>
        </p:spPr>
        <p:txBody>
          <a:bodyPr/>
          <a:p/>
        </p:txBody>
      </p:sp>
      <p:sp>
        <p:nvSpPr>
          <p:cNvPr id="926683640" name="access-system-94"/>
          <p:cNvSpPr>
            <a:spLocks noGrp="1"/>
          </p:cNvSpPr>
          <p:nvPr/>
        </p:nvSpPr>
        <p:spPr bwMode="auto">
          <a:xfrm>
            <a:off x="10267950" y="2190750"/>
            <a:ext cx="190500" cy="238125"/>
          </a:xfrm>
          <a:prstGeom prst="rect">
            <a:avLst/>
          </a:prstGeom>
          <a:solidFill>
            <a:srgbClr val="ECFEFF"/>
          </a:solidFill>
          <a:ln w="12383">
            <a:solidFill>
              <a:srgbClr val="0891B2"/>
            </a:solidFill>
            <a:prstDash val="solid"/>
          </a:ln>
        </p:spPr>
        <p:txBody>
          <a:bodyPr/>
          <a:p/>
        </p:txBody>
      </p:sp>
      <p:sp>
        <p:nvSpPr>
          <p:cNvPr id="1198591004" name="access-diagram-line-95"/>
          <p:cNvSpPr>
            <a:spLocks noGrp="1"/>
          </p:cNvSpPr>
          <p:nvPr/>
        </p:nvSpPr>
        <p:spPr bwMode="auto">
          <a:xfrm>
            <a:off x="10172700" y="2305050"/>
            <a:ext cx="85725" cy="0"/>
          </a:xfrm>
          <a:prstGeom prst="line">
            <a:avLst/>
          </a:prstGeom>
          <a:noFill/>
          <a:ln w="14288">
            <a:solidFill>
              <a:srgbClr val="0891B2"/>
            </a:solidFill>
            <a:prstDash val="solid"/>
          </a:ln>
        </p:spPr>
        <p:txBody>
          <a:bodyPr/>
          <a:p/>
        </p:txBody>
      </p:sp>
      <p:sp>
        <p:nvSpPr>
          <p:cNvPr id="696075412" name="access-revision-text-96"/>
          <p:cNvSpPr>
            <a:spLocks noGrp="1"/>
          </p:cNvSpPr>
          <p:nvPr/>
        </p:nvSpPr>
        <p:spPr bwMode="auto">
          <a:xfrm>
            <a:off x="9010650" y="2590800"/>
            <a:ext cx="2400300" cy="571500"/>
          </a:xfrm>
          <a:prstGeom prst="rect">
            <a:avLst/>
          </a:prstGeom>
          <a:noFill/>
          <a:ln w="0">
            <a:solidFill/>
            <a:prstDash val="solid"/>
          </a:ln>
        </p:spPr>
        <p:txBody>
          <a:bodyPr wrap="square" lIns="0" tIns="0" rIns="0" bIns="0" anchor="t">
            <a:noAutofit/>
          </a:bodyPr>
          <a:lstStyle>
            <a:defPPr algn="ctr">
              <a:defRPr sz="1800" b="1">
                <a:solidFill>
                  <a:srgbClr val="18201D"/>
                </a:solidFill>
                <a:latin typeface="Arial"/>
                <a:ea typeface="Arial"/>
                <a:cs typeface="Arial"/>
              </a:defRPr>
            </a:defPPr>
            <a:lvl1pPr algn="ctr">
              <a:buNone/>
              <a:defRPr sz="1800" b="1">
                <a:solidFill>
                  <a:srgbClr val="18201D"/>
                </a:solidFill>
                <a:latin typeface="Arial"/>
                <a:ea typeface="Arial"/>
                <a:cs typeface="Arial"/>
              </a:defRPr>
            </a:lvl1pPr>
            <a:lvl2pPr algn="ctr">
              <a:buNone/>
              <a:defRPr sz="1800" b="1">
                <a:solidFill>
                  <a:srgbClr val="18201D"/>
                </a:solidFill>
                <a:latin typeface="Arial"/>
                <a:ea typeface="Arial"/>
                <a:cs typeface="Arial"/>
              </a:defRPr>
            </a:lvl2pPr>
            <a:lvl3pPr algn="ctr">
              <a:buNone/>
              <a:defRPr sz="1800" b="1">
                <a:solidFill>
                  <a:srgbClr val="18201D"/>
                </a:solidFill>
                <a:latin typeface="Arial"/>
                <a:ea typeface="Arial"/>
                <a:cs typeface="Arial"/>
              </a:defRPr>
            </a:lvl3pPr>
            <a:lvl4pPr algn="ctr">
              <a:buNone/>
              <a:defRPr sz="1800" b="1">
                <a:solidFill>
                  <a:srgbClr val="18201D"/>
                </a:solidFill>
                <a:latin typeface="Arial"/>
                <a:ea typeface="Arial"/>
                <a:cs typeface="Arial"/>
              </a:defRPr>
            </a:lvl4pPr>
            <a:lvl5pPr algn="ctr">
              <a:buNone/>
              <a:defRPr sz="1800" b="1">
                <a:solidFill>
                  <a:srgbClr val="18201D"/>
                </a:solidFill>
                <a:latin typeface="Arial"/>
                <a:ea typeface="Arial"/>
                <a:cs typeface="Arial"/>
              </a:defRPr>
            </a:lvl5pPr>
            <a:lvl6pPr algn="ctr">
              <a:buNone/>
              <a:defRPr sz="1800" b="1">
                <a:solidFill>
                  <a:srgbClr val="18201D"/>
                </a:solidFill>
                <a:latin typeface="Arial"/>
                <a:ea typeface="Arial"/>
                <a:cs typeface="Arial"/>
              </a:defRPr>
            </a:lvl6pPr>
            <a:lvl7pPr algn="ctr">
              <a:buNone/>
              <a:defRPr sz="1800" b="1">
                <a:solidFill>
                  <a:srgbClr val="18201D"/>
                </a:solidFill>
                <a:latin typeface="Arial"/>
                <a:ea typeface="Arial"/>
                <a:cs typeface="Arial"/>
              </a:defRPr>
            </a:lvl7pPr>
            <a:lvl8pPr algn="ctr">
              <a:buNone/>
              <a:defRPr sz="1800" b="1">
                <a:solidFill>
                  <a:srgbClr val="18201D"/>
                </a:solidFill>
                <a:latin typeface="Arial"/>
                <a:ea typeface="Arial"/>
                <a:cs typeface="Arial"/>
              </a:defRPr>
            </a:lvl8pPr>
            <a:lvl9pPr algn="ctr">
              <a:buNone/>
              <a:defRPr sz="1800" b="1">
                <a:solidFill>
                  <a:srgbClr val="18201D"/>
                </a:solidFill>
                <a:latin typeface="Arial"/>
                <a:ea typeface="Arial"/>
                <a:cs typeface="Arial"/>
              </a:defRPr>
            </a:lvl9pPr>
          </a:lstStyle>
          <a:p>
            <a:pPr algn="ctr">
              <a:buNone/>
              <a:defRPr sz="1800" b="1">
                <a:solidFill>
                  <a:srgbClr val="18201D"/>
                </a:solidFill>
                <a:latin typeface="Arial"/>
                <a:ea typeface="Arial"/>
                <a:cs typeface="Arial"/>
              </a:defRPr>
            </a:pPr>
            <a:r>
              <a:rPr sz="1800" b="1">
                <a:solidFill>
                  <a:srgbClr val="18201D"/>
                </a:solidFill>
                <a:latin typeface="Outfit"/>
                <a:ea typeface="Arial"/>
                <a:cs typeface="Arial"/>
              </a:rPr>
              <a:t>Receipt</a:t>
            </a:r>
            <a:endParaRPr/>
          </a:p>
          <a:p>
            <a:pPr algn="ctr">
              <a:buNone/>
              <a:defRPr sz="1800" b="1">
                <a:solidFill>
                  <a:srgbClr val="18201D"/>
                </a:solidFill>
                <a:latin typeface="Arial"/>
                <a:ea typeface="Arial"/>
                <a:cs typeface="Arial"/>
              </a:defRPr>
            </a:pPr>
            <a:r>
              <a:rPr sz="1800" b="1">
                <a:solidFill>
                  <a:srgbClr val="18201D"/>
                </a:solidFill>
                <a:latin typeface="Outfit"/>
                <a:ea typeface="Arial"/>
                <a:cs typeface="Arial"/>
              </a:rPr>
              <a:t>register</a:t>
            </a:r>
            <a:endParaRPr/>
          </a:p>
        </p:txBody>
      </p:sp>
      <p:sp>
        <p:nvSpPr>
          <p:cNvPr id="1087022503" name="access-diagram-line-97"/>
          <p:cNvSpPr>
            <a:spLocks noGrp="1"/>
          </p:cNvSpPr>
          <p:nvPr/>
        </p:nvSpPr>
        <p:spPr bwMode="auto">
          <a:xfrm>
            <a:off x="10210800" y="3162300"/>
            <a:ext cx="0" cy="2695575"/>
          </a:xfrm>
          <a:prstGeom prst="line">
            <a:avLst/>
          </a:prstGeom>
          <a:noFill/>
          <a:ln w="10478">
            <a:solidFill>
              <a:srgbClr val="D7DFDA"/>
            </a:solidFill>
            <a:prstDash val="dash"/>
          </a:ln>
        </p:spPr>
        <p:txBody>
          <a:bodyPr/>
          <a:p/>
        </p:txBody>
      </p:sp>
      <p:cxnSp>
        <p:nvCxnSpPr>
          <p:cNvPr id="1881072232" name="access-diagram-line-98"/>
          <p:cNvCxnSpPr/>
          <p:nvPr/>
        </p:nvCxnSpPr>
        <p:spPr bwMode="auto">
          <a:xfrm>
            <a:off x="1981200" y="3362324"/>
            <a:ext cx="2743200" cy="0"/>
          </a:xfrm>
          <a:prstGeom prst="straightConnector1">
            <a:avLst/>
          </a:prstGeom>
          <a:ln w="20955">
            <a:solidFill>
              <a:srgbClr val="7C3AED"/>
            </a:solidFill>
            <a:prstDash val="solid"/>
            <a:tailEnd type="triangle" w="sm" len="sm"/>
          </a:ln>
        </p:spPr>
      </p:cxnSp>
      <p:sp>
        <p:nvSpPr>
          <p:cNvPr id="624599194" name="access-data-object-99"/>
          <p:cNvSpPr>
            <a:spLocks noGrp="1"/>
          </p:cNvSpPr>
          <p:nvPr/>
        </p:nvSpPr>
        <p:spPr bwMode="auto">
          <a:xfrm>
            <a:off x="2057400" y="3181350"/>
            <a:ext cx="2590800" cy="361950"/>
          </a:xfrm>
          <a:prstGeom prst="foldedCorner">
            <a:avLst>
              <a:gd name="adj" fmla="val 16667"/>
            </a:avLst>
          </a:prstGeom>
          <a:solidFill>
            <a:srgbClr val="F5F3FF"/>
          </a:solidFill>
          <a:ln w="10478">
            <a:solidFill>
              <a:srgbClr val="7C3AED"/>
            </a:solidFill>
            <a:prstDash val="solid"/>
          </a:ln>
        </p:spPr>
        <p:txBody>
          <a:bodyPr wrap="none" lIns="85725" tIns="28575" rIns="123825" bIns="28575" anchor="ctr">
            <a:noAutofit/>
          </a:bodyPr>
          <a:lstStyle>
            <a:defPPr algn="ctr">
              <a:defRPr sz="1500">
                <a:solidFill>
                  <a:srgbClr val="18201D"/>
                </a:solidFill>
                <a:latin typeface="Arial"/>
                <a:ea typeface="Arial"/>
                <a:cs typeface="Arial"/>
              </a:defRPr>
            </a:defPPr>
            <a:lvl1pPr algn="ctr">
              <a:buNone/>
              <a:defRPr sz="1500">
                <a:solidFill>
                  <a:srgbClr val="18201D"/>
                </a:solidFill>
                <a:latin typeface="Arial"/>
                <a:ea typeface="Arial"/>
                <a:cs typeface="Arial"/>
              </a:defRPr>
            </a:lvl1pPr>
            <a:lvl2pPr algn="ctr">
              <a:buNone/>
              <a:defRPr sz="1500">
                <a:solidFill>
                  <a:srgbClr val="18201D"/>
                </a:solidFill>
                <a:latin typeface="Arial"/>
                <a:ea typeface="Arial"/>
                <a:cs typeface="Arial"/>
              </a:defRPr>
            </a:lvl2pPr>
            <a:lvl3pPr algn="ctr">
              <a:buNone/>
              <a:defRPr sz="1500">
                <a:solidFill>
                  <a:srgbClr val="18201D"/>
                </a:solidFill>
                <a:latin typeface="Arial"/>
                <a:ea typeface="Arial"/>
                <a:cs typeface="Arial"/>
              </a:defRPr>
            </a:lvl3pPr>
            <a:lvl4pPr algn="ctr">
              <a:buNone/>
              <a:defRPr sz="1500">
                <a:solidFill>
                  <a:srgbClr val="18201D"/>
                </a:solidFill>
                <a:latin typeface="Arial"/>
                <a:ea typeface="Arial"/>
                <a:cs typeface="Arial"/>
              </a:defRPr>
            </a:lvl4pPr>
            <a:lvl5pPr algn="ctr">
              <a:buNone/>
              <a:defRPr sz="1500">
                <a:solidFill>
                  <a:srgbClr val="18201D"/>
                </a:solidFill>
                <a:latin typeface="Arial"/>
                <a:ea typeface="Arial"/>
                <a:cs typeface="Arial"/>
              </a:defRPr>
            </a:lvl5pPr>
            <a:lvl6pPr algn="ctr">
              <a:buNone/>
              <a:defRPr sz="1500">
                <a:solidFill>
                  <a:srgbClr val="18201D"/>
                </a:solidFill>
                <a:latin typeface="Arial"/>
                <a:ea typeface="Arial"/>
                <a:cs typeface="Arial"/>
              </a:defRPr>
            </a:lvl6pPr>
            <a:lvl7pPr algn="ctr">
              <a:buNone/>
              <a:defRPr sz="1500">
                <a:solidFill>
                  <a:srgbClr val="18201D"/>
                </a:solidFill>
                <a:latin typeface="Arial"/>
                <a:ea typeface="Arial"/>
                <a:cs typeface="Arial"/>
              </a:defRPr>
            </a:lvl7pPr>
            <a:lvl8pPr algn="ctr">
              <a:buNone/>
              <a:defRPr sz="1500">
                <a:solidFill>
                  <a:srgbClr val="18201D"/>
                </a:solidFill>
                <a:latin typeface="Arial"/>
                <a:ea typeface="Arial"/>
                <a:cs typeface="Arial"/>
              </a:defRPr>
            </a:lvl8pPr>
            <a:lvl9pPr algn="ctr">
              <a:buNone/>
              <a:defRPr sz="1500">
                <a:solidFill>
                  <a:srgbClr val="18201D"/>
                </a:solidFill>
                <a:latin typeface="Arial"/>
                <a:ea typeface="Arial"/>
                <a:cs typeface="Arial"/>
              </a:defRPr>
            </a:lvl9pPr>
          </a:lstStyle>
          <a:p>
            <a:pPr algn="ctr">
              <a:buNone/>
              <a:defRPr sz="1500">
                <a:solidFill>
                  <a:srgbClr val="18201D"/>
                </a:solidFill>
                <a:latin typeface="Arial"/>
                <a:ea typeface="Arial"/>
                <a:cs typeface="Arial"/>
              </a:defRPr>
            </a:pPr>
            <a:r>
              <a:rPr sz="1500">
                <a:solidFill>
                  <a:srgbClr val="18201D"/>
                </a:solidFill>
                <a:latin typeface="Plus Jakarta Sans"/>
                <a:ea typeface="Arial"/>
                <a:cs typeface="Arial"/>
              </a:rPr>
              <a:t>1. Buy 25 units at US$12</a:t>
            </a:r>
            <a:endParaRPr/>
          </a:p>
        </p:txBody>
      </p:sp>
      <p:cxnSp>
        <p:nvCxnSpPr>
          <p:cNvPr id="943293903" name="access-diagram-line-100"/>
          <p:cNvCxnSpPr/>
          <p:nvPr/>
        </p:nvCxnSpPr>
        <p:spPr bwMode="auto">
          <a:xfrm>
            <a:off x="1981200" y="3886200"/>
            <a:ext cx="5486400" cy="0"/>
          </a:xfrm>
          <a:prstGeom prst="straightConnector1">
            <a:avLst/>
          </a:prstGeom>
          <a:ln w="20955">
            <a:solidFill>
              <a:srgbClr val="059669"/>
            </a:solidFill>
            <a:prstDash val="solid"/>
            <a:tailEnd type="triangle" w="sm" len="sm"/>
          </a:ln>
        </p:spPr>
      </p:cxnSp>
      <p:sp>
        <p:nvSpPr>
          <p:cNvPr id="869226846" name="access-data-object-101"/>
          <p:cNvSpPr>
            <a:spLocks noGrp="1"/>
          </p:cNvSpPr>
          <p:nvPr/>
        </p:nvSpPr>
        <p:spPr bwMode="auto">
          <a:xfrm>
            <a:off x="2876550" y="3705225"/>
            <a:ext cx="3695700" cy="361950"/>
          </a:xfrm>
          <a:prstGeom prst="foldedCorner">
            <a:avLst>
              <a:gd name="adj" fmla="val 16667"/>
            </a:avLst>
          </a:prstGeom>
          <a:solidFill>
            <a:srgbClr val="E6F9F3"/>
          </a:solidFill>
          <a:ln w="10478">
            <a:solidFill>
              <a:srgbClr val="059669"/>
            </a:solidFill>
            <a:prstDash val="solid"/>
          </a:ln>
        </p:spPr>
        <p:txBody>
          <a:bodyPr wrap="none" lIns="85725" tIns="28575" rIns="123825" bIns="28575" anchor="ctr">
            <a:noAutofit/>
          </a:bodyPr>
          <a:lstStyle>
            <a:defPPr algn="ctr">
              <a:defRPr sz="1500">
                <a:solidFill>
                  <a:srgbClr val="18201D"/>
                </a:solidFill>
                <a:latin typeface="Arial"/>
                <a:ea typeface="Arial"/>
                <a:cs typeface="Arial"/>
              </a:defRPr>
            </a:defPPr>
            <a:lvl1pPr algn="ctr">
              <a:buNone/>
              <a:defRPr sz="1500">
                <a:solidFill>
                  <a:srgbClr val="18201D"/>
                </a:solidFill>
                <a:latin typeface="Arial"/>
                <a:ea typeface="Arial"/>
                <a:cs typeface="Arial"/>
              </a:defRPr>
            </a:lvl1pPr>
            <a:lvl2pPr algn="ctr">
              <a:buNone/>
              <a:defRPr sz="1500">
                <a:solidFill>
                  <a:srgbClr val="18201D"/>
                </a:solidFill>
                <a:latin typeface="Arial"/>
                <a:ea typeface="Arial"/>
                <a:cs typeface="Arial"/>
              </a:defRPr>
            </a:lvl2pPr>
            <a:lvl3pPr algn="ctr">
              <a:buNone/>
              <a:defRPr sz="1500">
                <a:solidFill>
                  <a:srgbClr val="18201D"/>
                </a:solidFill>
                <a:latin typeface="Arial"/>
                <a:ea typeface="Arial"/>
                <a:cs typeface="Arial"/>
              </a:defRPr>
            </a:lvl3pPr>
            <a:lvl4pPr algn="ctr">
              <a:buNone/>
              <a:defRPr sz="1500">
                <a:solidFill>
                  <a:srgbClr val="18201D"/>
                </a:solidFill>
                <a:latin typeface="Arial"/>
                <a:ea typeface="Arial"/>
                <a:cs typeface="Arial"/>
              </a:defRPr>
            </a:lvl4pPr>
            <a:lvl5pPr algn="ctr">
              <a:buNone/>
              <a:defRPr sz="1500">
                <a:solidFill>
                  <a:srgbClr val="18201D"/>
                </a:solidFill>
                <a:latin typeface="Arial"/>
                <a:ea typeface="Arial"/>
                <a:cs typeface="Arial"/>
              </a:defRPr>
            </a:lvl5pPr>
            <a:lvl6pPr algn="ctr">
              <a:buNone/>
              <a:defRPr sz="1500">
                <a:solidFill>
                  <a:srgbClr val="18201D"/>
                </a:solidFill>
                <a:latin typeface="Arial"/>
                <a:ea typeface="Arial"/>
                <a:cs typeface="Arial"/>
              </a:defRPr>
            </a:lvl6pPr>
            <a:lvl7pPr algn="ctr">
              <a:buNone/>
              <a:defRPr sz="1500">
                <a:solidFill>
                  <a:srgbClr val="18201D"/>
                </a:solidFill>
                <a:latin typeface="Arial"/>
                <a:ea typeface="Arial"/>
                <a:cs typeface="Arial"/>
              </a:defRPr>
            </a:lvl7pPr>
            <a:lvl8pPr algn="ctr">
              <a:buNone/>
              <a:defRPr sz="1500">
                <a:solidFill>
                  <a:srgbClr val="18201D"/>
                </a:solidFill>
                <a:latin typeface="Arial"/>
                <a:ea typeface="Arial"/>
                <a:cs typeface="Arial"/>
              </a:defRPr>
            </a:lvl8pPr>
            <a:lvl9pPr algn="ctr">
              <a:buNone/>
              <a:defRPr sz="1500">
                <a:solidFill>
                  <a:srgbClr val="18201D"/>
                </a:solidFill>
                <a:latin typeface="Arial"/>
                <a:ea typeface="Arial"/>
                <a:cs typeface="Arial"/>
              </a:defRPr>
            </a:lvl9pPr>
          </a:lstStyle>
          <a:p>
            <a:pPr algn="ctr">
              <a:buNone/>
              <a:defRPr sz="1500">
                <a:solidFill>
                  <a:srgbClr val="18201D"/>
                </a:solidFill>
                <a:latin typeface="Arial"/>
                <a:ea typeface="Arial"/>
                <a:cs typeface="Arial"/>
              </a:defRPr>
            </a:pPr>
            <a:r>
              <a:rPr sz="1500">
                <a:solidFill>
                  <a:srgbClr val="18201D"/>
                </a:solidFill>
                <a:latin typeface="JetBrains Mono"/>
                <a:ea typeface="Arial"/>
                <a:cs typeface="Arial"/>
              </a:rPr>
              <a:t>2. 300 USDC or 2,340 RedCoin</a:t>
            </a:r>
            <a:endParaRPr/>
          </a:p>
        </p:txBody>
      </p:sp>
      <p:cxnSp>
        <p:nvCxnSpPr>
          <p:cNvPr id="1143175508" name="access-diagram-line-102"/>
          <p:cNvCxnSpPr/>
          <p:nvPr/>
        </p:nvCxnSpPr>
        <p:spPr bwMode="auto">
          <a:xfrm>
            <a:off x="4724399" y="4410075"/>
            <a:ext cx="2743200" cy="0"/>
          </a:xfrm>
          <a:prstGeom prst="straightConnector1">
            <a:avLst/>
          </a:prstGeom>
          <a:ln w="20955">
            <a:solidFill>
              <a:srgbClr val="7C3AED"/>
            </a:solidFill>
            <a:prstDash val="solid"/>
            <a:headEnd type="triangle" w="sm" len="sm"/>
          </a:ln>
        </p:spPr>
      </p:cxnSp>
      <p:sp>
        <p:nvSpPr>
          <p:cNvPr id="1452511685" name="access-data-object-103"/>
          <p:cNvSpPr>
            <a:spLocks noGrp="1"/>
          </p:cNvSpPr>
          <p:nvPr/>
        </p:nvSpPr>
        <p:spPr bwMode="auto">
          <a:xfrm>
            <a:off x="4752975" y="4229100"/>
            <a:ext cx="2686050" cy="361950"/>
          </a:xfrm>
          <a:prstGeom prst="foldedCorner">
            <a:avLst>
              <a:gd name="adj" fmla="val 16667"/>
            </a:avLst>
          </a:prstGeom>
          <a:solidFill>
            <a:srgbClr val="F5F3FF"/>
          </a:solidFill>
          <a:ln w="10478">
            <a:solidFill>
              <a:srgbClr val="7C3AED"/>
            </a:solidFill>
            <a:prstDash val="solid"/>
          </a:ln>
        </p:spPr>
        <p:txBody>
          <a:bodyPr wrap="none" lIns="85725" tIns="28575" rIns="123825" bIns="28575" anchor="ctr">
            <a:noAutofit/>
          </a:bodyPr>
          <a:lstStyle>
            <a:defPPr algn="ctr">
              <a:defRPr sz="1500">
                <a:solidFill>
                  <a:srgbClr val="18201D"/>
                </a:solidFill>
                <a:latin typeface="Arial"/>
                <a:ea typeface="Arial"/>
                <a:cs typeface="Arial"/>
              </a:defRPr>
            </a:defPPr>
            <a:lvl1pPr algn="ctr">
              <a:buNone/>
              <a:defRPr sz="1500">
                <a:solidFill>
                  <a:srgbClr val="18201D"/>
                </a:solidFill>
                <a:latin typeface="Arial"/>
                <a:ea typeface="Arial"/>
                <a:cs typeface="Arial"/>
              </a:defRPr>
            </a:lvl1pPr>
            <a:lvl2pPr algn="ctr">
              <a:buNone/>
              <a:defRPr sz="1500">
                <a:solidFill>
                  <a:srgbClr val="18201D"/>
                </a:solidFill>
                <a:latin typeface="Arial"/>
                <a:ea typeface="Arial"/>
                <a:cs typeface="Arial"/>
              </a:defRPr>
            </a:lvl2pPr>
            <a:lvl3pPr algn="ctr">
              <a:buNone/>
              <a:defRPr sz="1500">
                <a:solidFill>
                  <a:srgbClr val="18201D"/>
                </a:solidFill>
                <a:latin typeface="Arial"/>
                <a:ea typeface="Arial"/>
                <a:cs typeface="Arial"/>
              </a:defRPr>
            </a:lvl3pPr>
            <a:lvl4pPr algn="ctr">
              <a:buNone/>
              <a:defRPr sz="1500">
                <a:solidFill>
                  <a:srgbClr val="18201D"/>
                </a:solidFill>
                <a:latin typeface="Arial"/>
                <a:ea typeface="Arial"/>
                <a:cs typeface="Arial"/>
              </a:defRPr>
            </a:lvl4pPr>
            <a:lvl5pPr algn="ctr">
              <a:buNone/>
              <a:defRPr sz="1500">
                <a:solidFill>
                  <a:srgbClr val="18201D"/>
                </a:solidFill>
                <a:latin typeface="Arial"/>
                <a:ea typeface="Arial"/>
                <a:cs typeface="Arial"/>
              </a:defRPr>
            </a:lvl5pPr>
            <a:lvl6pPr algn="ctr">
              <a:buNone/>
              <a:defRPr sz="1500">
                <a:solidFill>
                  <a:srgbClr val="18201D"/>
                </a:solidFill>
                <a:latin typeface="Arial"/>
                <a:ea typeface="Arial"/>
                <a:cs typeface="Arial"/>
              </a:defRPr>
            </a:lvl6pPr>
            <a:lvl7pPr algn="ctr">
              <a:buNone/>
              <a:defRPr sz="1500">
                <a:solidFill>
                  <a:srgbClr val="18201D"/>
                </a:solidFill>
                <a:latin typeface="Arial"/>
                <a:ea typeface="Arial"/>
                <a:cs typeface="Arial"/>
              </a:defRPr>
            </a:lvl7pPr>
            <a:lvl8pPr algn="ctr">
              <a:buNone/>
              <a:defRPr sz="1500">
                <a:solidFill>
                  <a:srgbClr val="18201D"/>
                </a:solidFill>
                <a:latin typeface="Arial"/>
                <a:ea typeface="Arial"/>
                <a:cs typeface="Arial"/>
              </a:defRPr>
            </a:lvl8pPr>
            <a:lvl9pPr algn="ctr">
              <a:buNone/>
              <a:defRPr sz="1500">
                <a:solidFill>
                  <a:srgbClr val="18201D"/>
                </a:solidFill>
                <a:latin typeface="Arial"/>
                <a:ea typeface="Arial"/>
                <a:cs typeface="Arial"/>
              </a:defRPr>
            </a:lvl9pPr>
          </a:lstStyle>
          <a:p>
            <a:pPr algn="ctr">
              <a:buNone/>
              <a:defRPr sz="1500">
                <a:solidFill>
                  <a:srgbClr val="18201D"/>
                </a:solidFill>
                <a:latin typeface="Arial"/>
                <a:ea typeface="Arial"/>
                <a:cs typeface="Arial"/>
              </a:defRPr>
            </a:pPr>
            <a:r>
              <a:rPr sz="1500">
                <a:solidFill>
                  <a:srgbClr val="18201D"/>
                </a:solidFill>
                <a:latin typeface="Plus Jakarta Sans"/>
                <a:ea typeface="Arial"/>
                <a:cs typeface="Arial"/>
              </a:rPr>
              <a:t>3. Final cash + FX evidence</a:t>
            </a:r>
            <a:endParaRPr/>
          </a:p>
        </p:txBody>
      </p:sp>
      <p:cxnSp>
        <p:nvCxnSpPr>
          <p:cNvPr id="877727329" name="access-diagram-line-104"/>
          <p:cNvCxnSpPr/>
          <p:nvPr/>
        </p:nvCxnSpPr>
        <p:spPr bwMode="auto">
          <a:xfrm>
            <a:off x="4724399" y="4933950"/>
            <a:ext cx="5486400" cy="0"/>
          </a:xfrm>
          <a:prstGeom prst="straightConnector1">
            <a:avLst/>
          </a:prstGeom>
          <a:ln w="20955">
            <a:solidFill>
              <a:srgbClr val="0891B2"/>
            </a:solidFill>
            <a:prstDash val="solid"/>
            <a:tailEnd type="triangle" w="sm" len="sm"/>
          </a:ln>
        </p:spPr>
      </p:cxnSp>
      <p:sp>
        <p:nvSpPr>
          <p:cNvPr id="1190960172" name="access-data-object-105"/>
          <p:cNvSpPr>
            <a:spLocks noGrp="1"/>
          </p:cNvSpPr>
          <p:nvPr/>
        </p:nvSpPr>
        <p:spPr bwMode="auto">
          <a:xfrm>
            <a:off x="5895975" y="4752975"/>
            <a:ext cx="3143250" cy="361950"/>
          </a:xfrm>
          <a:prstGeom prst="foldedCorner">
            <a:avLst>
              <a:gd name="adj" fmla="val 16667"/>
            </a:avLst>
          </a:prstGeom>
          <a:solidFill>
            <a:srgbClr val="ECFEFF"/>
          </a:solidFill>
          <a:ln w="10478">
            <a:solidFill>
              <a:srgbClr val="0891B2"/>
            </a:solidFill>
            <a:prstDash val="solid"/>
          </a:ln>
        </p:spPr>
        <p:txBody>
          <a:bodyPr wrap="none" lIns="85725" tIns="28575" rIns="123825" bIns="28575" anchor="ctr">
            <a:noAutofit/>
          </a:bodyPr>
          <a:lstStyle>
            <a:defPPr algn="ctr">
              <a:defRPr sz="1500">
                <a:solidFill>
                  <a:srgbClr val="18201D"/>
                </a:solidFill>
                <a:latin typeface="Arial"/>
                <a:ea typeface="Arial"/>
                <a:cs typeface="Arial"/>
              </a:defRPr>
            </a:defPPr>
            <a:lvl1pPr algn="ctr">
              <a:buNone/>
              <a:defRPr sz="1500">
                <a:solidFill>
                  <a:srgbClr val="18201D"/>
                </a:solidFill>
                <a:latin typeface="Arial"/>
                <a:ea typeface="Arial"/>
                <a:cs typeface="Arial"/>
              </a:defRPr>
            </a:lvl1pPr>
            <a:lvl2pPr algn="ctr">
              <a:buNone/>
              <a:defRPr sz="1500">
                <a:solidFill>
                  <a:srgbClr val="18201D"/>
                </a:solidFill>
                <a:latin typeface="Arial"/>
                <a:ea typeface="Arial"/>
                <a:cs typeface="Arial"/>
              </a:defRPr>
            </a:lvl2pPr>
            <a:lvl3pPr algn="ctr">
              <a:buNone/>
              <a:defRPr sz="1500">
                <a:solidFill>
                  <a:srgbClr val="18201D"/>
                </a:solidFill>
                <a:latin typeface="Arial"/>
                <a:ea typeface="Arial"/>
                <a:cs typeface="Arial"/>
              </a:defRPr>
            </a:lvl3pPr>
            <a:lvl4pPr algn="ctr">
              <a:buNone/>
              <a:defRPr sz="1500">
                <a:solidFill>
                  <a:srgbClr val="18201D"/>
                </a:solidFill>
                <a:latin typeface="Arial"/>
                <a:ea typeface="Arial"/>
                <a:cs typeface="Arial"/>
              </a:defRPr>
            </a:lvl4pPr>
            <a:lvl5pPr algn="ctr">
              <a:buNone/>
              <a:defRPr sz="1500">
                <a:solidFill>
                  <a:srgbClr val="18201D"/>
                </a:solidFill>
                <a:latin typeface="Arial"/>
                <a:ea typeface="Arial"/>
                <a:cs typeface="Arial"/>
              </a:defRPr>
            </a:lvl5pPr>
            <a:lvl6pPr algn="ctr">
              <a:buNone/>
              <a:defRPr sz="1500">
                <a:solidFill>
                  <a:srgbClr val="18201D"/>
                </a:solidFill>
                <a:latin typeface="Arial"/>
                <a:ea typeface="Arial"/>
                <a:cs typeface="Arial"/>
              </a:defRPr>
            </a:lvl6pPr>
            <a:lvl7pPr algn="ctr">
              <a:buNone/>
              <a:defRPr sz="1500">
                <a:solidFill>
                  <a:srgbClr val="18201D"/>
                </a:solidFill>
                <a:latin typeface="Arial"/>
                <a:ea typeface="Arial"/>
                <a:cs typeface="Arial"/>
              </a:defRPr>
            </a:lvl7pPr>
            <a:lvl8pPr algn="ctr">
              <a:buNone/>
              <a:defRPr sz="1500">
                <a:solidFill>
                  <a:srgbClr val="18201D"/>
                </a:solidFill>
                <a:latin typeface="Arial"/>
                <a:ea typeface="Arial"/>
                <a:cs typeface="Arial"/>
              </a:defRPr>
            </a:lvl8pPr>
            <a:lvl9pPr algn="ctr">
              <a:buNone/>
              <a:defRPr sz="1500">
                <a:solidFill>
                  <a:srgbClr val="18201D"/>
                </a:solidFill>
                <a:latin typeface="Arial"/>
                <a:ea typeface="Arial"/>
                <a:cs typeface="Arial"/>
              </a:defRPr>
            </a:lvl9pPr>
          </a:lstStyle>
          <a:p>
            <a:pPr algn="ctr">
              <a:buNone/>
              <a:defRPr sz="1500">
                <a:solidFill>
                  <a:srgbClr val="18201D"/>
                </a:solidFill>
                <a:latin typeface="Arial"/>
                <a:ea typeface="Arial"/>
                <a:cs typeface="Arial"/>
              </a:defRPr>
            </a:pPr>
            <a:r>
              <a:rPr sz="1500">
                <a:solidFill>
                  <a:srgbClr val="18201D"/>
                </a:solidFill>
                <a:latin typeface="Plus Jakarta Sans"/>
                <a:ea typeface="Arial"/>
                <a:cs typeface="Arial"/>
              </a:rPr>
              <a:t>4. Transfer 25 receipt units</a:t>
            </a:r>
            <a:endParaRPr/>
          </a:p>
        </p:txBody>
      </p:sp>
      <p:cxnSp>
        <p:nvCxnSpPr>
          <p:cNvPr id="538713943" name="access-diagram-line-106"/>
          <p:cNvCxnSpPr/>
          <p:nvPr/>
        </p:nvCxnSpPr>
        <p:spPr bwMode="auto">
          <a:xfrm>
            <a:off x="1981200" y="5457825"/>
            <a:ext cx="8229600" cy="0"/>
          </a:xfrm>
          <a:prstGeom prst="straightConnector1">
            <a:avLst/>
          </a:prstGeom>
          <a:ln w="20955">
            <a:solidFill>
              <a:srgbClr val="7C3AED"/>
            </a:solidFill>
            <a:prstDash val="solid"/>
            <a:headEnd type="triangle" w="sm" len="sm"/>
          </a:ln>
        </p:spPr>
      </p:cxnSp>
      <p:sp>
        <p:nvSpPr>
          <p:cNvPr id="1662540303" name="access-data-object-107"/>
          <p:cNvSpPr>
            <a:spLocks noGrp="1"/>
          </p:cNvSpPr>
          <p:nvPr/>
        </p:nvSpPr>
        <p:spPr bwMode="auto">
          <a:xfrm>
            <a:off x="3286125" y="5276850"/>
            <a:ext cx="5619750" cy="361950"/>
          </a:xfrm>
          <a:prstGeom prst="foldedCorner">
            <a:avLst>
              <a:gd name="adj" fmla="val 16667"/>
            </a:avLst>
          </a:prstGeom>
          <a:solidFill>
            <a:srgbClr val="F5F3FF"/>
          </a:solidFill>
          <a:ln w="10478">
            <a:solidFill>
              <a:srgbClr val="7C3AED"/>
            </a:solidFill>
            <a:prstDash val="solid"/>
          </a:ln>
        </p:spPr>
        <p:txBody>
          <a:bodyPr wrap="none" lIns="85725" tIns="28575" rIns="123825" bIns="28575" anchor="ctr">
            <a:noAutofit/>
          </a:bodyPr>
          <a:lstStyle>
            <a:defPPr algn="ctr">
              <a:defRPr sz="1500">
                <a:solidFill>
                  <a:srgbClr val="18201D"/>
                </a:solidFill>
                <a:latin typeface="Arial"/>
                <a:ea typeface="Arial"/>
                <a:cs typeface="Arial"/>
              </a:defRPr>
            </a:defPPr>
            <a:lvl1pPr algn="ctr">
              <a:buNone/>
              <a:defRPr sz="1500">
                <a:solidFill>
                  <a:srgbClr val="18201D"/>
                </a:solidFill>
                <a:latin typeface="Arial"/>
                <a:ea typeface="Arial"/>
                <a:cs typeface="Arial"/>
              </a:defRPr>
            </a:lvl1pPr>
            <a:lvl2pPr algn="ctr">
              <a:buNone/>
              <a:defRPr sz="1500">
                <a:solidFill>
                  <a:srgbClr val="18201D"/>
                </a:solidFill>
                <a:latin typeface="Arial"/>
                <a:ea typeface="Arial"/>
                <a:cs typeface="Arial"/>
              </a:defRPr>
            </a:lvl2pPr>
            <a:lvl3pPr algn="ctr">
              <a:buNone/>
              <a:defRPr sz="1500">
                <a:solidFill>
                  <a:srgbClr val="18201D"/>
                </a:solidFill>
                <a:latin typeface="Arial"/>
                <a:ea typeface="Arial"/>
                <a:cs typeface="Arial"/>
              </a:defRPr>
            </a:lvl3pPr>
            <a:lvl4pPr algn="ctr">
              <a:buNone/>
              <a:defRPr sz="1500">
                <a:solidFill>
                  <a:srgbClr val="18201D"/>
                </a:solidFill>
                <a:latin typeface="Arial"/>
                <a:ea typeface="Arial"/>
                <a:cs typeface="Arial"/>
              </a:defRPr>
            </a:lvl4pPr>
            <a:lvl5pPr algn="ctr">
              <a:buNone/>
              <a:defRPr sz="1500">
                <a:solidFill>
                  <a:srgbClr val="18201D"/>
                </a:solidFill>
                <a:latin typeface="Arial"/>
                <a:ea typeface="Arial"/>
                <a:cs typeface="Arial"/>
              </a:defRPr>
            </a:lvl5pPr>
            <a:lvl6pPr algn="ctr">
              <a:buNone/>
              <a:defRPr sz="1500">
                <a:solidFill>
                  <a:srgbClr val="18201D"/>
                </a:solidFill>
                <a:latin typeface="Arial"/>
                <a:ea typeface="Arial"/>
                <a:cs typeface="Arial"/>
              </a:defRPr>
            </a:lvl6pPr>
            <a:lvl7pPr algn="ctr">
              <a:buNone/>
              <a:defRPr sz="1500">
                <a:solidFill>
                  <a:srgbClr val="18201D"/>
                </a:solidFill>
                <a:latin typeface="Arial"/>
                <a:ea typeface="Arial"/>
                <a:cs typeface="Arial"/>
              </a:defRPr>
            </a:lvl7pPr>
            <a:lvl8pPr algn="ctr">
              <a:buNone/>
              <a:defRPr sz="1500">
                <a:solidFill>
                  <a:srgbClr val="18201D"/>
                </a:solidFill>
                <a:latin typeface="Arial"/>
                <a:ea typeface="Arial"/>
                <a:cs typeface="Arial"/>
              </a:defRPr>
            </a:lvl8pPr>
            <a:lvl9pPr algn="ctr">
              <a:buNone/>
              <a:defRPr sz="1500">
                <a:solidFill>
                  <a:srgbClr val="18201D"/>
                </a:solidFill>
                <a:latin typeface="Arial"/>
                <a:ea typeface="Arial"/>
                <a:cs typeface="Arial"/>
              </a:defRPr>
            </a:lvl9pPr>
          </a:lstStyle>
          <a:p>
            <a:pPr algn="ctr">
              <a:buNone/>
              <a:defRPr sz="1500">
                <a:solidFill>
                  <a:srgbClr val="18201D"/>
                </a:solidFill>
                <a:latin typeface="Arial"/>
                <a:ea typeface="Arial"/>
                <a:cs typeface="Arial"/>
              </a:defRPr>
            </a:pPr>
            <a:r>
              <a:rPr sz="1500">
                <a:solidFill>
                  <a:srgbClr val="18201D"/>
                </a:solidFill>
                <a:latin typeface="Plus Jakarta Sans"/>
                <a:ea typeface="Arial"/>
                <a:cs typeface="Arial"/>
              </a:rPr>
              <a:t>5. Confirm holding: 25 units = 0.25 share interest</a:t>
            </a:r>
            <a:endParaRPr/>
          </a:p>
        </p:txBody>
      </p:sp>
      <p:sp>
        <p:nvSpPr>
          <p:cNvPr id="364343627" name="access-revision-text-108"/>
          <p:cNvSpPr>
            <a:spLocks noGrp="1"/>
          </p:cNvSpPr>
          <p:nvPr/>
        </p:nvSpPr>
        <p:spPr bwMode="auto">
          <a:xfrm>
            <a:off x="609600" y="6076950"/>
            <a:ext cx="10972800" cy="323850"/>
          </a:xfrm>
          <a:prstGeom prst="rect">
            <a:avLst/>
          </a:prstGeom>
          <a:noFill/>
          <a:ln w="0">
            <a:solidFill/>
            <a:prstDash val="solid"/>
          </a:ln>
        </p:spPr>
        <p:txBody>
          <a:bodyPr wrap="square" lIns="0" tIns="0" rIns="0" bIns="0" anchor="t">
            <a:noAutofit/>
          </a:bodyPr>
          <a:lstStyle>
            <a:defPPr algn="l">
              <a:defRPr sz="1450" b="0">
                <a:solidFill>
                  <a:srgbClr val="5D6A67"/>
                </a:solidFill>
                <a:latin typeface="Arial"/>
                <a:ea typeface="Arial"/>
                <a:cs typeface="Arial"/>
              </a:defRPr>
            </a:defPPr>
            <a:lvl1pPr algn="l">
              <a:buNone/>
              <a:defRPr sz="1450" b="0">
                <a:solidFill>
                  <a:srgbClr val="5D6A67"/>
                </a:solidFill>
                <a:latin typeface="Arial"/>
                <a:ea typeface="Arial"/>
                <a:cs typeface="Arial"/>
              </a:defRPr>
            </a:lvl1pPr>
            <a:lvl2pPr algn="l">
              <a:buNone/>
              <a:defRPr sz="1450" b="0">
                <a:solidFill>
                  <a:srgbClr val="5D6A67"/>
                </a:solidFill>
                <a:latin typeface="Arial"/>
                <a:ea typeface="Arial"/>
                <a:cs typeface="Arial"/>
              </a:defRPr>
            </a:lvl2pPr>
            <a:lvl3pPr algn="l">
              <a:buNone/>
              <a:defRPr sz="1450" b="0">
                <a:solidFill>
                  <a:srgbClr val="5D6A67"/>
                </a:solidFill>
                <a:latin typeface="Arial"/>
                <a:ea typeface="Arial"/>
                <a:cs typeface="Arial"/>
              </a:defRPr>
            </a:lvl3pPr>
            <a:lvl4pPr algn="l">
              <a:buNone/>
              <a:defRPr sz="1450" b="0">
                <a:solidFill>
                  <a:srgbClr val="5D6A67"/>
                </a:solidFill>
                <a:latin typeface="Arial"/>
                <a:ea typeface="Arial"/>
                <a:cs typeface="Arial"/>
              </a:defRPr>
            </a:lvl4pPr>
            <a:lvl5pPr algn="l">
              <a:buNone/>
              <a:defRPr sz="1450" b="0">
                <a:solidFill>
                  <a:srgbClr val="5D6A67"/>
                </a:solidFill>
                <a:latin typeface="Arial"/>
                <a:ea typeface="Arial"/>
                <a:cs typeface="Arial"/>
              </a:defRPr>
            </a:lvl5pPr>
            <a:lvl6pPr algn="l">
              <a:buNone/>
              <a:defRPr sz="1450" b="0">
                <a:solidFill>
                  <a:srgbClr val="5D6A67"/>
                </a:solidFill>
                <a:latin typeface="Arial"/>
                <a:ea typeface="Arial"/>
                <a:cs typeface="Arial"/>
              </a:defRPr>
            </a:lvl6pPr>
            <a:lvl7pPr algn="l">
              <a:buNone/>
              <a:defRPr sz="1450" b="0">
                <a:solidFill>
                  <a:srgbClr val="5D6A67"/>
                </a:solidFill>
                <a:latin typeface="Arial"/>
                <a:ea typeface="Arial"/>
                <a:cs typeface="Arial"/>
              </a:defRPr>
            </a:lvl7pPr>
            <a:lvl8pPr algn="l">
              <a:buNone/>
              <a:defRPr sz="1450" b="0">
                <a:solidFill>
                  <a:srgbClr val="5D6A67"/>
                </a:solidFill>
                <a:latin typeface="Arial"/>
                <a:ea typeface="Arial"/>
                <a:cs typeface="Arial"/>
              </a:defRPr>
            </a:lvl8pPr>
            <a:lvl9pPr algn="l">
              <a:buNone/>
              <a:defRPr sz="1450" b="0">
                <a:solidFill>
                  <a:srgbClr val="5D6A67"/>
                </a:solidFill>
                <a:latin typeface="Arial"/>
                <a:ea typeface="Arial"/>
                <a:cs typeface="Arial"/>
              </a:defRPr>
            </a:lvl9pPr>
          </a:lstStyle>
          <a:p>
            <a:pPr algn="l">
              <a:buNone/>
              <a:defRPr sz="1450" b="0">
                <a:solidFill>
                  <a:srgbClr val="5D6A67"/>
                </a:solidFill>
                <a:latin typeface="Arial"/>
                <a:ea typeface="Arial"/>
                <a:cs typeface="Arial"/>
              </a:defRPr>
            </a:pPr>
            <a:r>
              <a:rPr sz="1450" b="0">
                <a:solidFill>
                  <a:srgbClr val="5D6A67"/>
                </a:solidFill>
                <a:latin typeface="Plus Jakarta Sans"/>
                <a:ea typeface="Arial"/>
                <a:cs typeface="Arial"/>
              </a:rPr>
              <a:t>US$300 before fees. Assumes USDC/USD 1, RedCoin/HKD 1 and 7.80 HKD/USD. Rail access remains proposed.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414060743" name="access-revision-text-109"/>
          <p:cNvSpPr>
            <a:spLocks noGrp="1"/>
          </p:cNvSpPr>
          <p:nvPr/>
        </p:nvSpPr>
        <p:spPr bwMode="auto">
          <a:xfrm>
            <a:off x="609600" y="504825"/>
            <a:ext cx="10972800" cy="828675"/>
          </a:xfrm>
          <a:prstGeom prst="rect">
            <a:avLst/>
          </a:prstGeom>
          <a:noFill/>
          <a:ln w="0">
            <a:solidFill/>
            <a:prstDash val="solid"/>
          </a:ln>
        </p:spPr>
        <p:txBody>
          <a:bodyPr wrap="square" lIns="0" tIns="0" rIns="0" bIns="0" anchor="t">
            <a:noAutofit/>
          </a:bodyPr>
          <a:lstStyle>
            <a:defPPr algn="l">
              <a:defRPr sz="3300" b="1">
                <a:solidFill>
                  <a:srgbClr val="18201D"/>
                </a:solidFill>
                <a:latin typeface="Arial"/>
                <a:ea typeface="Arial"/>
                <a:cs typeface="Arial"/>
              </a:defRPr>
            </a:defPPr>
            <a:lvl1pPr algn="l">
              <a:buNone/>
              <a:defRPr sz="3300" b="1">
                <a:solidFill>
                  <a:srgbClr val="18201D"/>
                </a:solidFill>
                <a:latin typeface="Arial"/>
                <a:ea typeface="Arial"/>
                <a:cs typeface="Arial"/>
              </a:defRPr>
            </a:lvl1pPr>
            <a:lvl2pPr algn="l">
              <a:buNone/>
              <a:defRPr sz="3300" b="1">
                <a:solidFill>
                  <a:srgbClr val="18201D"/>
                </a:solidFill>
                <a:latin typeface="Arial"/>
                <a:ea typeface="Arial"/>
                <a:cs typeface="Arial"/>
              </a:defRPr>
            </a:lvl2pPr>
            <a:lvl3pPr algn="l">
              <a:buNone/>
              <a:defRPr sz="3300" b="1">
                <a:solidFill>
                  <a:srgbClr val="18201D"/>
                </a:solidFill>
                <a:latin typeface="Arial"/>
                <a:ea typeface="Arial"/>
                <a:cs typeface="Arial"/>
              </a:defRPr>
            </a:lvl3pPr>
            <a:lvl4pPr algn="l">
              <a:buNone/>
              <a:defRPr sz="3300" b="1">
                <a:solidFill>
                  <a:srgbClr val="18201D"/>
                </a:solidFill>
                <a:latin typeface="Arial"/>
                <a:ea typeface="Arial"/>
                <a:cs typeface="Arial"/>
              </a:defRPr>
            </a:lvl4pPr>
            <a:lvl5pPr algn="l">
              <a:buNone/>
              <a:defRPr sz="3300" b="1">
                <a:solidFill>
                  <a:srgbClr val="18201D"/>
                </a:solidFill>
                <a:latin typeface="Arial"/>
                <a:ea typeface="Arial"/>
                <a:cs typeface="Arial"/>
              </a:defRPr>
            </a:lvl5pPr>
            <a:lvl6pPr algn="l">
              <a:buNone/>
              <a:defRPr sz="3300" b="1">
                <a:solidFill>
                  <a:srgbClr val="18201D"/>
                </a:solidFill>
                <a:latin typeface="Arial"/>
                <a:ea typeface="Arial"/>
                <a:cs typeface="Arial"/>
              </a:defRPr>
            </a:lvl6pPr>
            <a:lvl7pPr algn="l">
              <a:buNone/>
              <a:defRPr sz="3300" b="1">
                <a:solidFill>
                  <a:srgbClr val="18201D"/>
                </a:solidFill>
                <a:latin typeface="Arial"/>
                <a:ea typeface="Arial"/>
                <a:cs typeface="Arial"/>
              </a:defRPr>
            </a:lvl7pPr>
            <a:lvl8pPr algn="l">
              <a:buNone/>
              <a:defRPr sz="3300" b="1">
                <a:solidFill>
                  <a:srgbClr val="18201D"/>
                </a:solidFill>
                <a:latin typeface="Arial"/>
                <a:ea typeface="Arial"/>
                <a:cs typeface="Arial"/>
              </a:defRPr>
            </a:lvl8pPr>
            <a:lvl9pPr algn="l">
              <a:buNone/>
              <a:defRPr sz="3300" b="1">
                <a:solidFill>
                  <a:srgbClr val="18201D"/>
                </a:solidFill>
                <a:latin typeface="Arial"/>
                <a:ea typeface="Arial"/>
                <a:cs typeface="Arial"/>
              </a:defRPr>
            </a:lvl9pPr>
          </a:lstStyle>
          <a:p>
            <a:pPr algn="l">
              <a:buNone/>
              <a:defRPr sz="3300" b="1">
                <a:solidFill>
                  <a:srgbClr val="18201D"/>
                </a:solidFill>
                <a:latin typeface="Arial"/>
                <a:ea typeface="Arial"/>
                <a:cs typeface="Arial"/>
              </a:defRPr>
            </a:pPr>
            <a:r>
              <a:rPr sz="3300" b="1">
                <a:solidFill>
                  <a:srgbClr val="18201D"/>
                </a:solidFill>
                <a:latin typeface="Outfit"/>
                <a:ea typeface="Arial"/>
                <a:cs typeface="Arial"/>
              </a:rPr>
              <a:t>4. The holding value rises in this example</a:t>
            </a:r>
            <a:endParaRPr/>
          </a:p>
        </p:txBody>
      </p:sp>
      <p:sp>
        <p:nvSpPr>
          <p:cNvPr id="1625612341" name="access-revision-text-110"/>
          <p:cNvSpPr>
            <a:spLocks noGrp="1"/>
          </p:cNvSpPr>
          <p:nvPr/>
        </p:nvSpPr>
        <p:spPr bwMode="auto">
          <a:xfrm>
            <a:off x="609600" y="1409700"/>
            <a:ext cx="10972800" cy="609600"/>
          </a:xfrm>
          <a:prstGeom prst="rect">
            <a:avLst/>
          </a:prstGeom>
          <a:noFill/>
          <a:ln w="0">
            <a:solidFill/>
            <a:prstDash val="solid"/>
          </a:ln>
        </p:spPr>
        <p:txBody>
          <a:bodyPr wrap="square" lIns="0" tIns="0" rIns="0" bIns="0" anchor="t">
            <a:noAutofit/>
          </a:bodyPr>
          <a:lstStyle>
            <a:defPPr algn="l">
              <a:defRPr sz="1900" b="0">
                <a:solidFill>
                  <a:srgbClr val="5D6A67"/>
                </a:solidFill>
                <a:latin typeface="Arial"/>
                <a:ea typeface="Arial"/>
                <a:cs typeface="Arial"/>
              </a:defRPr>
            </a:defPPr>
            <a:lvl1pPr algn="l">
              <a:buNone/>
              <a:defRPr sz="1900" b="0">
                <a:solidFill>
                  <a:srgbClr val="5D6A67"/>
                </a:solidFill>
                <a:latin typeface="Arial"/>
                <a:ea typeface="Arial"/>
                <a:cs typeface="Arial"/>
              </a:defRPr>
            </a:lvl1pPr>
            <a:lvl2pPr algn="l">
              <a:buNone/>
              <a:defRPr sz="1900" b="0">
                <a:solidFill>
                  <a:srgbClr val="5D6A67"/>
                </a:solidFill>
                <a:latin typeface="Arial"/>
                <a:ea typeface="Arial"/>
                <a:cs typeface="Arial"/>
              </a:defRPr>
            </a:lvl2pPr>
            <a:lvl3pPr algn="l">
              <a:buNone/>
              <a:defRPr sz="1900" b="0">
                <a:solidFill>
                  <a:srgbClr val="5D6A67"/>
                </a:solidFill>
                <a:latin typeface="Arial"/>
                <a:ea typeface="Arial"/>
                <a:cs typeface="Arial"/>
              </a:defRPr>
            </a:lvl3pPr>
            <a:lvl4pPr algn="l">
              <a:buNone/>
              <a:defRPr sz="1900" b="0">
                <a:solidFill>
                  <a:srgbClr val="5D6A67"/>
                </a:solidFill>
                <a:latin typeface="Arial"/>
                <a:ea typeface="Arial"/>
                <a:cs typeface="Arial"/>
              </a:defRPr>
            </a:lvl4pPr>
            <a:lvl5pPr algn="l">
              <a:buNone/>
              <a:defRPr sz="1900" b="0">
                <a:solidFill>
                  <a:srgbClr val="5D6A67"/>
                </a:solidFill>
                <a:latin typeface="Arial"/>
                <a:ea typeface="Arial"/>
                <a:cs typeface="Arial"/>
              </a:defRPr>
            </a:lvl5pPr>
            <a:lvl6pPr algn="l">
              <a:buNone/>
              <a:defRPr sz="1900" b="0">
                <a:solidFill>
                  <a:srgbClr val="5D6A67"/>
                </a:solidFill>
                <a:latin typeface="Arial"/>
                <a:ea typeface="Arial"/>
                <a:cs typeface="Arial"/>
              </a:defRPr>
            </a:lvl6pPr>
            <a:lvl7pPr algn="l">
              <a:buNone/>
              <a:defRPr sz="1900" b="0">
                <a:solidFill>
                  <a:srgbClr val="5D6A67"/>
                </a:solidFill>
                <a:latin typeface="Arial"/>
                <a:ea typeface="Arial"/>
                <a:cs typeface="Arial"/>
              </a:defRPr>
            </a:lvl7pPr>
            <a:lvl8pPr algn="l">
              <a:buNone/>
              <a:defRPr sz="1900" b="0">
                <a:solidFill>
                  <a:srgbClr val="5D6A67"/>
                </a:solidFill>
                <a:latin typeface="Arial"/>
                <a:ea typeface="Arial"/>
                <a:cs typeface="Arial"/>
              </a:defRPr>
            </a:lvl8pPr>
            <a:lvl9pPr algn="l">
              <a:buNone/>
              <a:defRPr sz="1900" b="0">
                <a:solidFill>
                  <a:srgbClr val="5D6A67"/>
                </a:solidFill>
                <a:latin typeface="Arial"/>
                <a:ea typeface="Arial"/>
                <a:cs typeface="Arial"/>
              </a:defRPr>
            </a:lvl9pPr>
          </a:lstStyle>
          <a:p>
            <a:pPr algn="l">
              <a:buNone/>
              <a:defRPr sz="1900" b="0">
                <a:solidFill>
                  <a:srgbClr val="5D6A67"/>
                </a:solidFill>
                <a:latin typeface="Arial"/>
                <a:ea typeface="Arial"/>
                <a:cs typeface="Arial"/>
              </a:defRPr>
            </a:pPr>
            <a:r>
              <a:rPr sz="1900" b="0">
                <a:solidFill>
                  <a:srgbClr val="5D6A67"/>
                </a:solidFill>
                <a:latin typeface="Plus Jakarta Sans"/>
                <a:ea typeface="Arial"/>
                <a:cs typeface="Arial"/>
              </a:rPr>
              <a:t>Hypothetical positive scenario. Share price increases 10%, while 25 receipt units remain unchanged.</a:t>
            </a:r>
            <a:endParaRPr/>
          </a:p>
        </p:txBody>
      </p:sp>
      <p:sp>
        <p:nvSpPr>
          <p:cNvPr id="558149896" name="access-revision-text-111"/>
          <p:cNvSpPr>
            <a:spLocks noGrp="1"/>
          </p:cNvSpPr>
          <p:nvPr/>
        </p:nvSpPr>
        <p:spPr bwMode="auto">
          <a:xfrm>
            <a:off x="609600" y="6438899"/>
            <a:ext cx="3619500" cy="238125"/>
          </a:xfrm>
          <a:prstGeom prst="rect">
            <a:avLst/>
          </a:prstGeom>
          <a:noFill/>
          <a:ln w="0">
            <a:solidFill/>
            <a:prstDash val="solid"/>
          </a:ln>
        </p:spPr>
        <p:txBody>
          <a:bodyPr wrap="square" lIns="0" tIns="0" rIns="0" bIns="0" anchor="t">
            <a:noAutofit/>
          </a:bodyPr>
          <a:lstStyle>
            <a:defPPr algn="l">
              <a:defRPr sz="1200" b="1">
                <a:solidFill>
                  <a:srgbClr val="0DBE85"/>
                </a:solidFill>
                <a:latin typeface="Arial"/>
                <a:ea typeface="Arial"/>
                <a:cs typeface="Arial"/>
              </a:defRPr>
            </a:defPPr>
            <a:lvl1pPr algn="l">
              <a:buNone/>
              <a:defRPr sz="1200" b="1">
                <a:solidFill>
                  <a:srgbClr val="0DBE85"/>
                </a:solidFill>
                <a:latin typeface="Arial"/>
                <a:ea typeface="Arial"/>
                <a:cs typeface="Arial"/>
              </a:defRPr>
            </a:lvl1pPr>
            <a:lvl2pPr algn="l">
              <a:buNone/>
              <a:defRPr sz="1200" b="1">
                <a:solidFill>
                  <a:srgbClr val="0DBE85"/>
                </a:solidFill>
                <a:latin typeface="Arial"/>
                <a:ea typeface="Arial"/>
                <a:cs typeface="Arial"/>
              </a:defRPr>
            </a:lvl2pPr>
            <a:lvl3pPr algn="l">
              <a:buNone/>
              <a:defRPr sz="1200" b="1">
                <a:solidFill>
                  <a:srgbClr val="0DBE85"/>
                </a:solidFill>
                <a:latin typeface="Arial"/>
                <a:ea typeface="Arial"/>
                <a:cs typeface="Arial"/>
              </a:defRPr>
            </a:lvl3pPr>
            <a:lvl4pPr algn="l">
              <a:buNone/>
              <a:defRPr sz="1200" b="1">
                <a:solidFill>
                  <a:srgbClr val="0DBE85"/>
                </a:solidFill>
                <a:latin typeface="Arial"/>
                <a:ea typeface="Arial"/>
                <a:cs typeface="Arial"/>
              </a:defRPr>
            </a:lvl4pPr>
            <a:lvl5pPr algn="l">
              <a:buNone/>
              <a:defRPr sz="1200" b="1">
                <a:solidFill>
                  <a:srgbClr val="0DBE85"/>
                </a:solidFill>
                <a:latin typeface="Arial"/>
                <a:ea typeface="Arial"/>
                <a:cs typeface="Arial"/>
              </a:defRPr>
            </a:lvl5pPr>
            <a:lvl6pPr algn="l">
              <a:buNone/>
              <a:defRPr sz="1200" b="1">
                <a:solidFill>
                  <a:srgbClr val="0DBE85"/>
                </a:solidFill>
                <a:latin typeface="Arial"/>
                <a:ea typeface="Arial"/>
                <a:cs typeface="Arial"/>
              </a:defRPr>
            </a:lvl6pPr>
            <a:lvl7pPr algn="l">
              <a:buNone/>
              <a:defRPr sz="1200" b="1">
                <a:solidFill>
                  <a:srgbClr val="0DBE85"/>
                </a:solidFill>
                <a:latin typeface="Arial"/>
                <a:ea typeface="Arial"/>
                <a:cs typeface="Arial"/>
              </a:defRPr>
            </a:lvl7pPr>
            <a:lvl8pPr algn="l">
              <a:buNone/>
              <a:defRPr sz="1200" b="1">
                <a:solidFill>
                  <a:srgbClr val="0DBE85"/>
                </a:solidFill>
                <a:latin typeface="Arial"/>
                <a:ea typeface="Arial"/>
                <a:cs typeface="Arial"/>
              </a:defRPr>
            </a:lvl8pPr>
            <a:lvl9pPr algn="l">
              <a:buNone/>
              <a:defRPr sz="1200" b="1">
                <a:solidFill>
                  <a:srgbClr val="0DBE85"/>
                </a:solidFill>
                <a:latin typeface="Arial"/>
                <a:ea typeface="Arial"/>
                <a:cs typeface="Arial"/>
              </a:defRPr>
            </a:lvl9pPr>
          </a:lstStyle>
          <a:p>
            <a:pPr algn="l">
              <a:buNone/>
              <a:defRPr sz="1200" b="1">
                <a:solidFill>
                  <a:srgbClr val="0DBE85"/>
                </a:solidFill>
                <a:latin typeface="Arial"/>
                <a:ea typeface="Arial"/>
                <a:cs typeface="Arial"/>
              </a:defRPr>
            </a:pPr>
            <a:r>
              <a:rPr sz="1200" b="1">
                <a:solidFill>
                  <a:srgbClr val="0AA372"/>
                </a:solidFill>
                <a:latin typeface="JetBrains Mono"/>
                <a:ea typeface="Arial"/>
                <a:cs typeface="Arial"/>
              </a:rPr>
              <a:t>D-SHARE / PRIME</a:t>
            </a:r>
            <a:endParaRPr/>
          </a:p>
        </p:txBody>
      </p:sp>
      <p:sp>
        <p:nvSpPr>
          <p:cNvPr id="500057099" name="access-revision-text-112"/>
          <p:cNvSpPr>
            <a:spLocks noGrp="1"/>
          </p:cNvSpPr>
          <p:nvPr/>
        </p:nvSpPr>
        <p:spPr bwMode="auto">
          <a:xfrm>
            <a:off x="11020424" y="6438899"/>
            <a:ext cx="561975" cy="238125"/>
          </a:xfrm>
          <a:prstGeom prst="rect">
            <a:avLst/>
          </a:prstGeom>
          <a:noFill/>
          <a:ln w="0">
            <a:solidFill/>
            <a:prstDash val="solid"/>
          </a:ln>
        </p:spPr>
        <p:txBody>
          <a:bodyPr wrap="square" lIns="0" tIns="0" rIns="0" bIns="0" anchor="t">
            <a:noAutofit/>
          </a:bodyPr>
          <a:lstStyle>
            <a:defPPr algn="r">
              <a:defRPr sz="1200" b="0">
                <a:solidFill>
                  <a:srgbClr val="5D6A67"/>
                </a:solidFill>
                <a:latin typeface="Arial"/>
                <a:ea typeface="Arial"/>
                <a:cs typeface="Arial"/>
              </a:defRPr>
            </a:defPPr>
            <a:lvl1pPr algn="r">
              <a:buNone/>
              <a:defRPr sz="1200" b="0">
                <a:solidFill>
                  <a:srgbClr val="5D6A67"/>
                </a:solidFill>
                <a:latin typeface="Arial"/>
                <a:ea typeface="Arial"/>
                <a:cs typeface="Arial"/>
              </a:defRPr>
            </a:lvl1pPr>
            <a:lvl2pPr algn="r">
              <a:buNone/>
              <a:defRPr sz="1200" b="0">
                <a:solidFill>
                  <a:srgbClr val="5D6A67"/>
                </a:solidFill>
                <a:latin typeface="Arial"/>
                <a:ea typeface="Arial"/>
                <a:cs typeface="Arial"/>
              </a:defRPr>
            </a:lvl2pPr>
            <a:lvl3pPr algn="r">
              <a:buNone/>
              <a:defRPr sz="1200" b="0">
                <a:solidFill>
                  <a:srgbClr val="5D6A67"/>
                </a:solidFill>
                <a:latin typeface="Arial"/>
                <a:ea typeface="Arial"/>
                <a:cs typeface="Arial"/>
              </a:defRPr>
            </a:lvl3pPr>
            <a:lvl4pPr algn="r">
              <a:buNone/>
              <a:defRPr sz="1200" b="0">
                <a:solidFill>
                  <a:srgbClr val="5D6A67"/>
                </a:solidFill>
                <a:latin typeface="Arial"/>
                <a:ea typeface="Arial"/>
                <a:cs typeface="Arial"/>
              </a:defRPr>
            </a:lvl4pPr>
            <a:lvl5pPr algn="r">
              <a:buNone/>
              <a:defRPr sz="1200" b="0">
                <a:solidFill>
                  <a:srgbClr val="5D6A67"/>
                </a:solidFill>
                <a:latin typeface="Arial"/>
                <a:ea typeface="Arial"/>
                <a:cs typeface="Arial"/>
              </a:defRPr>
            </a:lvl5pPr>
            <a:lvl6pPr algn="r">
              <a:buNone/>
              <a:defRPr sz="1200" b="0">
                <a:solidFill>
                  <a:srgbClr val="5D6A67"/>
                </a:solidFill>
                <a:latin typeface="Arial"/>
                <a:ea typeface="Arial"/>
                <a:cs typeface="Arial"/>
              </a:defRPr>
            </a:lvl6pPr>
            <a:lvl7pPr algn="r">
              <a:buNone/>
              <a:defRPr sz="1200" b="0">
                <a:solidFill>
                  <a:srgbClr val="5D6A67"/>
                </a:solidFill>
                <a:latin typeface="Arial"/>
                <a:ea typeface="Arial"/>
                <a:cs typeface="Arial"/>
              </a:defRPr>
            </a:lvl7pPr>
            <a:lvl8pPr algn="r">
              <a:buNone/>
              <a:defRPr sz="1200" b="0">
                <a:solidFill>
                  <a:srgbClr val="5D6A67"/>
                </a:solidFill>
                <a:latin typeface="Arial"/>
                <a:ea typeface="Arial"/>
                <a:cs typeface="Arial"/>
              </a:defRPr>
            </a:lvl8pPr>
            <a:lvl9pPr algn="r">
              <a:buNone/>
              <a:defRPr sz="1200" b="0">
                <a:solidFill>
                  <a:srgbClr val="5D6A67"/>
                </a:solidFill>
                <a:latin typeface="Arial"/>
                <a:ea typeface="Arial"/>
                <a:cs typeface="Arial"/>
              </a:defRPr>
            </a:lvl9pPr>
          </a:lstStyle>
          <a:p>
            <a:pPr algn="r">
              <a:buNone/>
              <a:defRPr sz="1200" b="0">
                <a:solidFill>
                  <a:srgbClr val="5D6A67"/>
                </a:solidFill>
                <a:latin typeface="Arial"/>
                <a:ea typeface="Arial"/>
                <a:cs typeface="Arial"/>
              </a:defRPr>
            </a:pPr>
            <a:r>
              <a:rPr sz="1200" b="0">
                <a:solidFill>
                  <a:srgbClr val="5D6A67"/>
                </a:solidFill>
                <a:latin typeface="JetBrains Mono"/>
                <a:ea typeface="Arial"/>
                <a:cs typeface="Arial"/>
              </a:rPr>
              <a:t>08</a:t>
            </a:r>
            <a:endParaRPr/>
          </a:p>
        </p:txBody>
      </p:sp>
      <p:sp>
        <p:nvSpPr>
          <p:cNvPr id="1606446697" name="access-revision-text-113"/>
          <p:cNvSpPr>
            <a:spLocks noGrp="1"/>
          </p:cNvSpPr>
          <p:nvPr/>
        </p:nvSpPr>
        <p:spPr bwMode="auto">
          <a:xfrm>
            <a:off x="6496050" y="2200275"/>
            <a:ext cx="5086350" cy="409575"/>
          </a:xfrm>
          <a:prstGeom prst="rect">
            <a:avLst/>
          </a:prstGeom>
          <a:noFill/>
          <a:ln w="0">
            <a:solidFill/>
            <a:prstDash val="solid"/>
          </a:ln>
        </p:spPr>
        <p:txBody>
          <a:bodyPr wrap="square" lIns="0" tIns="0" rIns="0" bIns="0" anchor="t">
            <a:noAutofit/>
          </a:bodyPr>
          <a:lstStyle>
            <a:defPPr algn="l">
              <a:defRPr sz="2100" b="1">
                <a:solidFill>
                  <a:srgbClr val="0DBE85"/>
                </a:solidFill>
                <a:latin typeface="Arial"/>
                <a:ea typeface="Arial"/>
                <a:cs typeface="Arial"/>
              </a:defRPr>
            </a:defPPr>
            <a:lvl1pPr algn="l">
              <a:buNone/>
              <a:defRPr sz="2100" b="1">
                <a:solidFill>
                  <a:srgbClr val="0DBE85"/>
                </a:solidFill>
                <a:latin typeface="Arial"/>
                <a:ea typeface="Arial"/>
                <a:cs typeface="Arial"/>
              </a:defRPr>
            </a:lvl1pPr>
            <a:lvl2pPr algn="l">
              <a:buNone/>
              <a:defRPr sz="2100" b="1">
                <a:solidFill>
                  <a:srgbClr val="0DBE85"/>
                </a:solidFill>
                <a:latin typeface="Arial"/>
                <a:ea typeface="Arial"/>
                <a:cs typeface="Arial"/>
              </a:defRPr>
            </a:lvl2pPr>
            <a:lvl3pPr algn="l">
              <a:buNone/>
              <a:defRPr sz="2100" b="1">
                <a:solidFill>
                  <a:srgbClr val="0DBE85"/>
                </a:solidFill>
                <a:latin typeface="Arial"/>
                <a:ea typeface="Arial"/>
                <a:cs typeface="Arial"/>
              </a:defRPr>
            </a:lvl3pPr>
            <a:lvl4pPr algn="l">
              <a:buNone/>
              <a:defRPr sz="2100" b="1">
                <a:solidFill>
                  <a:srgbClr val="0DBE85"/>
                </a:solidFill>
                <a:latin typeface="Arial"/>
                <a:ea typeface="Arial"/>
                <a:cs typeface="Arial"/>
              </a:defRPr>
            </a:lvl4pPr>
            <a:lvl5pPr algn="l">
              <a:buNone/>
              <a:defRPr sz="2100" b="1">
                <a:solidFill>
                  <a:srgbClr val="0DBE85"/>
                </a:solidFill>
                <a:latin typeface="Arial"/>
                <a:ea typeface="Arial"/>
                <a:cs typeface="Arial"/>
              </a:defRPr>
            </a:lvl5pPr>
            <a:lvl6pPr algn="l">
              <a:buNone/>
              <a:defRPr sz="2100" b="1">
                <a:solidFill>
                  <a:srgbClr val="0DBE85"/>
                </a:solidFill>
                <a:latin typeface="Arial"/>
                <a:ea typeface="Arial"/>
                <a:cs typeface="Arial"/>
              </a:defRPr>
            </a:lvl6pPr>
            <a:lvl7pPr algn="l">
              <a:buNone/>
              <a:defRPr sz="2100" b="1">
                <a:solidFill>
                  <a:srgbClr val="0DBE85"/>
                </a:solidFill>
                <a:latin typeface="Arial"/>
                <a:ea typeface="Arial"/>
                <a:cs typeface="Arial"/>
              </a:defRPr>
            </a:lvl7pPr>
            <a:lvl8pPr algn="l">
              <a:buNone/>
              <a:defRPr sz="2100" b="1">
                <a:solidFill>
                  <a:srgbClr val="0DBE85"/>
                </a:solidFill>
                <a:latin typeface="Arial"/>
                <a:ea typeface="Arial"/>
                <a:cs typeface="Arial"/>
              </a:defRPr>
            </a:lvl8pPr>
            <a:lvl9pPr algn="l">
              <a:buNone/>
              <a:defRPr sz="2100" b="1">
                <a:solidFill>
                  <a:srgbClr val="0DBE85"/>
                </a:solidFill>
                <a:latin typeface="Arial"/>
                <a:ea typeface="Arial"/>
                <a:cs typeface="Arial"/>
              </a:defRPr>
            </a:lvl9pPr>
          </a:lstStyle>
          <a:p>
            <a:pPr algn="l">
              <a:buNone/>
              <a:defRPr sz="2100" b="1">
                <a:solidFill>
                  <a:srgbClr val="0DBE85"/>
                </a:solidFill>
                <a:latin typeface="Arial"/>
                <a:ea typeface="Arial"/>
                <a:cs typeface="Arial"/>
              </a:defRPr>
            </a:pPr>
            <a:r>
              <a:rPr sz="2100" b="1">
                <a:solidFill>
                  <a:srgbClr val="0DBE85"/>
                </a:solidFill>
                <a:latin typeface="Outfit"/>
                <a:ea typeface="Arial"/>
                <a:cs typeface="Arial"/>
              </a:rPr>
              <a:t>US$1,200 to US$1,320 per share</a:t>
            </a:r>
            <a:endParaRPr/>
          </a:p>
        </p:txBody>
      </p:sp>
      <p:sp>
        <p:nvSpPr>
          <p:cNvPr id="2044787556" name="access-revision-text-114"/>
          <p:cNvSpPr>
            <a:spLocks noGrp="1"/>
          </p:cNvSpPr>
          <p:nvPr/>
        </p:nvSpPr>
        <p:spPr bwMode="auto">
          <a:xfrm>
            <a:off x="6496050" y="2762250"/>
            <a:ext cx="5086350" cy="400050"/>
          </a:xfrm>
          <a:prstGeom prst="rect">
            <a:avLst/>
          </a:prstGeom>
          <a:noFill/>
          <a:ln w="0">
            <a:solidFill/>
            <a:prstDash val="solid"/>
          </a:ln>
        </p:spPr>
        <p:txBody>
          <a:bodyPr wrap="square" lIns="0" tIns="0" rIns="0" bIns="0" anchor="t">
            <a:noAutofit/>
          </a:bodyPr>
          <a:lstStyle>
            <a:defPPr algn="l">
              <a:defRPr sz="2100" b="1">
                <a:solidFill>
                  <a:srgbClr val="18201D"/>
                </a:solidFill>
                <a:latin typeface="Arial"/>
                <a:ea typeface="Arial"/>
                <a:cs typeface="Arial"/>
              </a:defRPr>
            </a:defPPr>
            <a:lvl1pPr algn="l">
              <a:buNone/>
              <a:defRPr sz="2100" b="1">
                <a:solidFill>
                  <a:srgbClr val="18201D"/>
                </a:solidFill>
                <a:latin typeface="Arial"/>
                <a:ea typeface="Arial"/>
                <a:cs typeface="Arial"/>
              </a:defRPr>
            </a:lvl1pPr>
            <a:lvl2pPr algn="l">
              <a:buNone/>
              <a:defRPr sz="2100" b="1">
                <a:solidFill>
                  <a:srgbClr val="18201D"/>
                </a:solidFill>
                <a:latin typeface="Arial"/>
                <a:ea typeface="Arial"/>
                <a:cs typeface="Arial"/>
              </a:defRPr>
            </a:lvl2pPr>
            <a:lvl3pPr algn="l">
              <a:buNone/>
              <a:defRPr sz="2100" b="1">
                <a:solidFill>
                  <a:srgbClr val="18201D"/>
                </a:solidFill>
                <a:latin typeface="Arial"/>
                <a:ea typeface="Arial"/>
                <a:cs typeface="Arial"/>
              </a:defRPr>
            </a:lvl3pPr>
            <a:lvl4pPr algn="l">
              <a:buNone/>
              <a:defRPr sz="2100" b="1">
                <a:solidFill>
                  <a:srgbClr val="18201D"/>
                </a:solidFill>
                <a:latin typeface="Arial"/>
                <a:ea typeface="Arial"/>
                <a:cs typeface="Arial"/>
              </a:defRPr>
            </a:lvl4pPr>
            <a:lvl5pPr algn="l">
              <a:buNone/>
              <a:defRPr sz="2100" b="1">
                <a:solidFill>
                  <a:srgbClr val="18201D"/>
                </a:solidFill>
                <a:latin typeface="Arial"/>
                <a:ea typeface="Arial"/>
                <a:cs typeface="Arial"/>
              </a:defRPr>
            </a:lvl5pPr>
            <a:lvl6pPr algn="l">
              <a:buNone/>
              <a:defRPr sz="2100" b="1">
                <a:solidFill>
                  <a:srgbClr val="18201D"/>
                </a:solidFill>
                <a:latin typeface="Arial"/>
                <a:ea typeface="Arial"/>
                <a:cs typeface="Arial"/>
              </a:defRPr>
            </a:lvl6pPr>
            <a:lvl7pPr algn="l">
              <a:buNone/>
              <a:defRPr sz="2100" b="1">
                <a:solidFill>
                  <a:srgbClr val="18201D"/>
                </a:solidFill>
                <a:latin typeface="Arial"/>
                <a:ea typeface="Arial"/>
                <a:cs typeface="Arial"/>
              </a:defRPr>
            </a:lvl7pPr>
            <a:lvl8pPr algn="l">
              <a:buNone/>
              <a:defRPr sz="2100" b="1">
                <a:solidFill>
                  <a:srgbClr val="18201D"/>
                </a:solidFill>
                <a:latin typeface="Arial"/>
                <a:ea typeface="Arial"/>
                <a:cs typeface="Arial"/>
              </a:defRPr>
            </a:lvl8pPr>
            <a:lvl9pPr algn="l">
              <a:buNone/>
              <a:defRPr sz="2100" b="1">
                <a:solidFill>
                  <a:srgbClr val="18201D"/>
                </a:solidFill>
                <a:latin typeface="Arial"/>
                <a:ea typeface="Arial"/>
                <a:cs typeface="Arial"/>
              </a:defRPr>
            </a:lvl9pPr>
          </a:lstStyle>
          <a:p>
            <a:pPr algn="l">
              <a:buNone/>
              <a:defRPr sz="2100" b="1">
                <a:solidFill>
                  <a:srgbClr val="18201D"/>
                </a:solidFill>
                <a:latin typeface="Arial"/>
                <a:ea typeface="Arial"/>
                <a:cs typeface="Arial"/>
              </a:defRPr>
            </a:pPr>
            <a:r>
              <a:rPr sz="2100" b="1">
                <a:solidFill>
                  <a:srgbClr val="18201D"/>
                </a:solidFill>
                <a:latin typeface="Outfit"/>
                <a:ea typeface="Arial"/>
                <a:cs typeface="Arial"/>
              </a:rPr>
              <a:t>25 × 0.01 × US$1,320 = US$330</a:t>
            </a:r>
            <a:endParaRPr/>
          </a:p>
        </p:txBody>
      </p:sp>
      <p:sp>
        <p:nvSpPr>
          <p:cNvPr id="1068429529" name="access-revision-text-115"/>
          <p:cNvSpPr>
            <a:spLocks noGrp="1"/>
          </p:cNvSpPr>
          <p:nvPr/>
        </p:nvSpPr>
        <p:spPr bwMode="auto">
          <a:xfrm>
            <a:off x="6496050" y="3295650"/>
            <a:ext cx="5086350" cy="400050"/>
          </a:xfrm>
          <a:prstGeom prst="rect">
            <a:avLst/>
          </a:prstGeom>
          <a:noFill/>
          <a:ln w="0">
            <a:solidFill/>
            <a:prstDash val="solid"/>
          </a:ln>
        </p:spPr>
        <p:txBody>
          <a:bodyPr wrap="square" lIns="0" tIns="0" rIns="0" bIns="0" anchor="t">
            <a:noAutofit/>
          </a:bodyPr>
          <a:lstStyle>
            <a:defPPr algn="l">
              <a:defRPr sz="2100" b="1">
                <a:solidFill>
                  <a:srgbClr val="0DBE85"/>
                </a:solidFill>
                <a:latin typeface="Arial"/>
                <a:ea typeface="Arial"/>
                <a:cs typeface="Arial"/>
              </a:defRPr>
            </a:defPPr>
            <a:lvl1pPr algn="l">
              <a:buNone/>
              <a:defRPr sz="2100" b="1">
                <a:solidFill>
                  <a:srgbClr val="0DBE85"/>
                </a:solidFill>
                <a:latin typeface="Arial"/>
                <a:ea typeface="Arial"/>
                <a:cs typeface="Arial"/>
              </a:defRPr>
            </a:lvl1pPr>
            <a:lvl2pPr algn="l">
              <a:buNone/>
              <a:defRPr sz="2100" b="1">
                <a:solidFill>
                  <a:srgbClr val="0DBE85"/>
                </a:solidFill>
                <a:latin typeface="Arial"/>
                <a:ea typeface="Arial"/>
                <a:cs typeface="Arial"/>
              </a:defRPr>
            </a:lvl2pPr>
            <a:lvl3pPr algn="l">
              <a:buNone/>
              <a:defRPr sz="2100" b="1">
                <a:solidFill>
                  <a:srgbClr val="0DBE85"/>
                </a:solidFill>
                <a:latin typeface="Arial"/>
                <a:ea typeface="Arial"/>
                <a:cs typeface="Arial"/>
              </a:defRPr>
            </a:lvl3pPr>
            <a:lvl4pPr algn="l">
              <a:buNone/>
              <a:defRPr sz="2100" b="1">
                <a:solidFill>
                  <a:srgbClr val="0DBE85"/>
                </a:solidFill>
                <a:latin typeface="Arial"/>
                <a:ea typeface="Arial"/>
                <a:cs typeface="Arial"/>
              </a:defRPr>
            </a:lvl4pPr>
            <a:lvl5pPr algn="l">
              <a:buNone/>
              <a:defRPr sz="2100" b="1">
                <a:solidFill>
                  <a:srgbClr val="0DBE85"/>
                </a:solidFill>
                <a:latin typeface="Arial"/>
                <a:ea typeface="Arial"/>
                <a:cs typeface="Arial"/>
              </a:defRPr>
            </a:lvl5pPr>
            <a:lvl6pPr algn="l">
              <a:buNone/>
              <a:defRPr sz="2100" b="1">
                <a:solidFill>
                  <a:srgbClr val="0DBE85"/>
                </a:solidFill>
                <a:latin typeface="Arial"/>
                <a:ea typeface="Arial"/>
                <a:cs typeface="Arial"/>
              </a:defRPr>
            </a:lvl6pPr>
            <a:lvl7pPr algn="l">
              <a:buNone/>
              <a:defRPr sz="2100" b="1">
                <a:solidFill>
                  <a:srgbClr val="0DBE85"/>
                </a:solidFill>
                <a:latin typeface="Arial"/>
                <a:ea typeface="Arial"/>
                <a:cs typeface="Arial"/>
              </a:defRPr>
            </a:lvl7pPr>
            <a:lvl8pPr algn="l">
              <a:buNone/>
              <a:defRPr sz="2100" b="1">
                <a:solidFill>
                  <a:srgbClr val="0DBE85"/>
                </a:solidFill>
                <a:latin typeface="Arial"/>
                <a:ea typeface="Arial"/>
                <a:cs typeface="Arial"/>
              </a:defRPr>
            </a:lvl8pPr>
            <a:lvl9pPr algn="l">
              <a:buNone/>
              <a:defRPr sz="2100" b="1">
                <a:solidFill>
                  <a:srgbClr val="0DBE85"/>
                </a:solidFill>
                <a:latin typeface="Arial"/>
                <a:ea typeface="Arial"/>
                <a:cs typeface="Arial"/>
              </a:defRPr>
            </a:lvl9pPr>
          </a:lstStyle>
          <a:p>
            <a:pPr algn="l">
              <a:buNone/>
              <a:defRPr sz="2100" b="1">
                <a:solidFill>
                  <a:srgbClr val="0DBE85"/>
                </a:solidFill>
                <a:latin typeface="Arial"/>
                <a:ea typeface="Arial"/>
                <a:cs typeface="Arial"/>
              </a:defRPr>
            </a:pPr>
            <a:r>
              <a:rPr sz="2100" b="1">
                <a:solidFill>
                  <a:srgbClr val="0DBE85"/>
                </a:solidFill>
                <a:latin typeface="Outfit"/>
                <a:ea typeface="Arial"/>
                <a:cs typeface="Arial"/>
              </a:rPr>
              <a:t>US$30 unrealized gain (+10%)</a:t>
            </a:r>
            <a:endParaRPr/>
          </a:p>
        </p:txBody>
      </p:sp>
      <p:graphicFrame>
        <p:nvGraphicFramePr>
          <p:cNvPr id="983306981" name=""/>
          <p:cNvGraphicFramePr>
            <a:graphicFrameLocks xmlns:a="http://schemas.openxmlformats.org/drawingml/2006/main"/>
          </p:cNvGraphicFramePr>
          <p:nvPr/>
        </p:nvGraphicFramePr>
        <p:xfrm rot="0">
          <a:off x="6496050" y="3952875"/>
          <a:ext cx="5086350" cy="1600200"/>
        </p:xfrm>
        <a:graphic>
          <a:graphicData uri="http://schemas.openxmlformats.org/drawingml/2006/table">
            <a:tbl>
              <a:tblPr firstRow="1" firstCol="0" lastRow="0" lastCol="0" bandRow="0" bandCol="0"/>
              <a:tblGrid>
                <a:gridCol w="3267075"/>
                <a:gridCol w="1819275"/>
              </a:tblGrid>
              <a:tr h="400050">
                <a:tc>
                  <a:txBody>
                    <a:bodyPr/>
                    <a:p>
                      <a:pPr>
                        <a:defRPr/>
                      </a:pPr>
                      <a:r>
                        <a:rPr sz="1500" b="1">
                          <a:solidFill>
                            <a:srgbClr val="FFFFFF"/>
                          </a:solidFill>
                          <a:latin typeface="Outfit"/>
                          <a:ea typeface="Arial"/>
                          <a:cs typeface="Arial"/>
                        </a:rPr>
                        <a:t>HKD reporting illustration</a:t>
                      </a:r>
                      <a:endParaRPr/>
                    </a:p>
                  </a:txBody>
                  <a:tcPr marL="91440" marR="91440" marT="45720" marB="45720" anchor="ctr">
                    <a:lnL w="9525" algn="ctr">
                      <a:solidFill>
                        <a:srgbClr val="0DBE85"/>
                      </a:solidFill>
                    </a:lnL>
                    <a:lnR w="9525" algn="ctr">
                      <a:solidFill>
                        <a:srgbClr val="0DBE85"/>
                      </a:solidFill>
                    </a:lnR>
                    <a:lnT w="9525" algn="ctr">
                      <a:solidFill>
                        <a:srgbClr val="0DBE85"/>
                      </a:solidFill>
                    </a:lnT>
                    <a:lnB w="9525" algn="ctr">
                      <a:solidFill>
                        <a:srgbClr val="0DBE85"/>
                      </a:solidFill>
                    </a:lnB>
                    <a:solidFill>
                      <a:srgbClr val="0AA372"/>
                    </a:solidFill>
                  </a:tcPr>
                </a:tc>
                <a:tc>
                  <a:txBody>
                    <a:bodyPr/>
                    <a:p>
                      <a:pPr>
                        <a:defRPr/>
                      </a:pPr>
                      <a:r>
                        <a:rPr sz="1500" b="1">
                          <a:solidFill>
                            <a:srgbClr val="FFFFFF"/>
                          </a:solidFill>
                          <a:latin typeface="Outfit"/>
                          <a:ea typeface="Arial"/>
                          <a:cs typeface="Arial"/>
                        </a:rPr>
                        <a:t>Value</a:t>
                      </a:r>
                      <a:endParaRPr/>
                    </a:p>
                  </a:txBody>
                  <a:tcPr marL="91440" marR="91440" marT="45720" marB="45720" anchor="ctr">
                    <a:lnR w="9525" algn="ctr">
                      <a:solidFill>
                        <a:srgbClr val="0DBE85"/>
                      </a:solidFill>
                    </a:lnR>
                    <a:lnT w="9525" algn="ctr">
                      <a:solidFill>
                        <a:srgbClr val="0DBE85"/>
                      </a:solidFill>
                    </a:lnT>
                    <a:lnB w="9525" algn="ctr">
                      <a:solidFill>
                        <a:srgbClr val="0DBE85"/>
                      </a:solidFill>
                    </a:lnB>
                    <a:solidFill>
                      <a:srgbClr val="0AA372"/>
                    </a:solidFill>
                    <a:lnL w="12000">
                      <a:solidFill>
                        <a:srgbClr val="0DBE85"/>
                      </a:solidFill>
                      <a:prstDash val="solid"/>
                    </a:lnL>
                  </a:tcPr>
                </a:tc>
              </a:tr>
              <a:tr h="400050">
                <a:tc>
                  <a:txBody>
                    <a:bodyPr/>
                    <a:p>
                      <a:pPr>
                        <a:defRPr/>
                      </a:pPr>
                      <a:r>
                        <a:rPr sz="1600" b="0">
                          <a:solidFill>
                            <a:srgbClr val="18201D"/>
                          </a:solidFill>
                          <a:latin typeface="Plus Jakarta Sans"/>
                          <a:ea typeface="Arial"/>
                          <a:cs typeface="Arial"/>
                        </a:rPr>
                        <a:t>Initial at 7.80 HKD/USD</a:t>
                      </a:r>
                      <a:endParaRPr/>
                    </a:p>
                  </a:txBody>
                  <a:tcPr marL="91440" marR="91440" marT="45720" marB="45720" anchor="ctr">
                    <a:lnL w="9525" algn="ctr">
                      <a:solidFill>
                        <a:srgbClr val="D7DFDA"/>
                      </a:solidFill>
                    </a:lnL>
                    <a:lnR w="9525" algn="ctr">
                      <a:solidFill>
                        <a:srgbClr val="D7DFDA"/>
                      </a:solidFill>
                    </a:lnR>
                    <a:lnB w="9525" algn="ctr">
                      <a:solidFill>
                        <a:srgbClr val="D7DFDA"/>
                      </a:solidFill>
                    </a:lnB>
                    <a:solidFill>
                      <a:srgbClr val="F9FAFB"/>
                    </a:solidFill>
                    <a:lnT w="9525">
                      <a:solidFill>
                        <a:srgbClr val="D7DFDA"/>
                      </a:solidFill>
                      <a:prstDash val="solid"/>
                    </a:lnT>
                  </a:tcPr>
                </a:tc>
                <a:tc>
                  <a:txBody>
                    <a:bodyPr/>
                    <a:p>
                      <a:pPr>
                        <a:defRPr/>
                      </a:pPr>
                      <a:r>
                        <a:rPr sz="1600" b="0">
                          <a:solidFill>
                            <a:srgbClr val="18201D"/>
                          </a:solidFill>
                          <a:latin typeface="Plus Jakarta Sans"/>
                          <a:ea typeface="Arial"/>
                          <a:cs typeface="Arial"/>
                        </a:rPr>
                        <a:t>2,340.00</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r>
              <a:tr h="400050">
                <a:tc>
                  <a:txBody>
                    <a:bodyPr/>
                    <a:p>
                      <a:pPr>
                        <a:defRPr/>
                      </a:pPr>
                      <a:r>
                        <a:rPr sz="1600" b="0">
                          <a:solidFill>
                            <a:srgbClr val="18201D"/>
                          </a:solidFill>
                          <a:latin typeface="Plus Jakarta Sans"/>
                          <a:ea typeface="Arial"/>
                          <a:cs typeface="Arial"/>
                        </a:rPr>
                        <a:t>Later at 7.82 HKD/USD</a:t>
                      </a:r>
                      <a:endParaRPr/>
                    </a:p>
                  </a:txBody>
                  <a:tcPr marL="91440" marR="91440" marT="45720" marB="45720" anchor="ctr">
                    <a:lnL w="9525" algn="ctr">
                      <a:solidFill>
                        <a:srgbClr val="D7DFDA"/>
                      </a:solidFill>
                    </a:lnL>
                    <a:lnR w="9525" algn="ctr">
                      <a:solidFill>
                        <a:srgbClr val="D7DFDA"/>
                      </a:solidFill>
                    </a:lnR>
                    <a:lnB w="9525" algn="ctr">
                      <a:solidFill>
                        <a:srgbClr val="D7DFDA"/>
                      </a:solidFill>
                    </a:lnB>
                    <a:solidFill>
                      <a:srgbClr val="FFFFFF"/>
                    </a:solidFill>
                    <a:lnT w="9525">
                      <a:solidFill>
                        <a:srgbClr val="D7DFDA"/>
                      </a:solidFill>
                      <a:prstDash val="solid"/>
                    </a:lnT>
                  </a:tcPr>
                </a:tc>
                <a:tc>
                  <a:txBody>
                    <a:bodyPr/>
                    <a:p>
                      <a:pPr>
                        <a:defRPr/>
                      </a:pPr>
                      <a:r>
                        <a:rPr sz="1600" b="0">
                          <a:solidFill>
                            <a:srgbClr val="18201D"/>
                          </a:solidFill>
                          <a:latin typeface="Plus Jakarta Sans"/>
                          <a:ea typeface="Arial"/>
                          <a:cs typeface="Arial"/>
                        </a:rPr>
                        <a:t>2,580.60</a:t>
                      </a:r>
                      <a:endParaRPr/>
                    </a:p>
                  </a:txBody>
                  <a:tcPr marL="91440" marR="91440" marT="45720" marB="45720" anchor="ctr">
                    <a:lnR w="9525" algn="ctr">
                      <a:solidFill>
                        <a:srgbClr val="D7DFDA"/>
                      </a:solidFill>
                    </a:lnR>
                    <a:lnB w="9525" algn="ctr">
                      <a:solidFill>
                        <a:srgbClr val="D7DFDA"/>
                      </a:solidFill>
                    </a:lnB>
                    <a:solidFill>
                      <a:srgbClr val="FFFFFF"/>
                    </a:solidFill>
                    <a:lnL w="9525">
                      <a:solidFill>
                        <a:srgbClr val="D7DFDA"/>
                      </a:solidFill>
                      <a:prstDash val="solid"/>
                    </a:lnL>
                    <a:lnT w="9525">
                      <a:solidFill>
                        <a:srgbClr val="D7DFDA"/>
                      </a:solidFill>
                      <a:prstDash val="solid"/>
                    </a:lnT>
                  </a:tcPr>
                </a:tc>
              </a:tr>
              <a:tr h="400050">
                <a:tc>
                  <a:txBody>
                    <a:bodyPr/>
                    <a:p>
                      <a:pPr>
                        <a:defRPr/>
                      </a:pPr>
                      <a:r>
                        <a:rPr sz="1600" b="0">
                          <a:solidFill>
                            <a:srgbClr val="18201D"/>
                          </a:solidFill>
                          <a:latin typeface="Plus Jakarta Sans"/>
                          <a:ea typeface="Arial"/>
                          <a:cs typeface="Arial"/>
                        </a:rPr>
                        <a:t>Change in HKD value</a:t>
                      </a:r>
                      <a:endParaRPr/>
                    </a:p>
                  </a:txBody>
                  <a:tcPr marL="91440" marR="91440" marT="45720" marB="45720" anchor="ctr">
                    <a:lnL w="9525" algn="ctr">
                      <a:solidFill>
                        <a:srgbClr val="D7DFDA"/>
                      </a:solidFill>
                    </a:lnL>
                    <a:lnR w="9525" algn="ctr">
                      <a:solidFill>
                        <a:srgbClr val="D7DFDA"/>
                      </a:solidFill>
                    </a:lnR>
                    <a:lnB w="9525" algn="ctr">
                      <a:solidFill>
                        <a:srgbClr val="D7DFDA"/>
                      </a:solidFill>
                    </a:lnB>
                    <a:solidFill>
                      <a:srgbClr val="F9FAFB"/>
                    </a:solidFill>
                    <a:lnT w="9525">
                      <a:solidFill>
                        <a:srgbClr val="D7DFDA"/>
                      </a:solidFill>
                      <a:prstDash val="solid"/>
                    </a:lnT>
                  </a:tcPr>
                </a:tc>
                <a:tc>
                  <a:txBody>
                    <a:bodyPr/>
                    <a:p>
                      <a:pPr>
                        <a:defRPr/>
                      </a:pPr>
                      <a:r>
                        <a:rPr sz="1600" b="1">
                          <a:solidFill>
                            <a:srgbClr val="0AA372"/>
                          </a:solidFill>
                          <a:latin typeface="Outfit"/>
                          <a:ea typeface="Arial"/>
                          <a:cs typeface="Arial"/>
                        </a:rPr>
                        <a:t>+10.28%</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r>
            </a:tbl>
          </a:graphicData>
        </a:graphic>
      </p:graphicFrame>
      <p:sp>
        <p:nvSpPr>
          <p:cNvPr id="530976151" name="access-revision-text-116"/>
          <p:cNvSpPr>
            <a:spLocks noGrp="1"/>
          </p:cNvSpPr>
          <p:nvPr/>
        </p:nvSpPr>
        <p:spPr bwMode="auto">
          <a:xfrm>
            <a:off x="6496050" y="5695950"/>
            <a:ext cx="5086350" cy="304800"/>
          </a:xfrm>
          <a:prstGeom prst="rect">
            <a:avLst/>
          </a:prstGeom>
          <a:noFill/>
          <a:ln w="0">
            <a:solidFill/>
            <a:prstDash val="solid"/>
          </a:ln>
        </p:spPr>
        <p:txBody>
          <a:bodyPr wrap="square" lIns="0" tIns="0" rIns="0" bIns="0" anchor="t">
            <a:noAutofit/>
          </a:bodyPr>
          <a:lstStyle>
            <a:defPPr algn="l">
              <a:defRPr sz="1600" b="0">
                <a:solidFill>
                  <a:srgbClr val="5D6A67"/>
                </a:solidFill>
                <a:latin typeface="Arial"/>
                <a:ea typeface="Arial"/>
                <a:cs typeface="Arial"/>
              </a:defRPr>
            </a:defPPr>
            <a:lvl1pPr algn="l">
              <a:buNone/>
              <a:defRPr sz="1600" b="0">
                <a:solidFill>
                  <a:srgbClr val="5D6A67"/>
                </a:solidFill>
                <a:latin typeface="Arial"/>
                <a:ea typeface="Arial"/>
                <a:cs typeface="Arial"/>
              </a:defRPr>
            </a:lvl1pPr>
            <a:lvl2pPr algn="l">
              <a:buNone/>
              <a:defRPr sz="1600" b="0">
                <a:solidFill>
                  <a:srgbClr val="5D6A67"/>
                </a:solidFill>
                <a:latin typeface="Arial"/>
                <a:ea typeface="Arial"/>
                <a:cs typeface="Arial"/>
              </a:defRPr>
            </a:lvl2pPr>
            <a:lvl3pPr algn="l">
              <a:buNone/>
              <a:defRPr sz="1600" b="0">
                <a:solidFill>
                  <a:srgbClr val="5D6A67"/>
                </a:solidFill>
                <a:latin typeface="Arial"/>
                <a:ea typeface="Arial"/>
                <a:cs typeface="Arial"/>
              </a:defRPr>
            </a:lvl3pPr>
            <a:lvl4pPr algn="l">
              <a:buNone/>
              <a:defRPr sz="1600" b="0">
                <a:solidFill>
                  <a:srgbClr val="5D6A67"/>
                </a:solidFill>
                <a:latin typeface="Arial"/>
                <a:ea typeface="Arial"/>
                <a:cs typeface="Arial"/>
              </a:defRPr>
            </a:lvl4pPr>
            <a:lvl5pPr algn="l">
              <a:buNone/>
              <a:defRPr sz="1600" b="0">
                <a:solidFill>
                  <a:srgbClr val="5D6A67"/>
                </a:solidFill>
                <a:latin typeface="Arial"/>
                <a:ea typeface="Arial"/>
                <a:cs typeface="Arial"/>
              </a:defRPr>
            </a:lvl5pPr>
            <a:lvl6pPr algn="l">
              <a:buNone/>
              <a:defRPr sz="1600" b="0">
                <a:solidFill>
                  <a:srgbClr val="5D6A67"/>
                </a:solidFill>
                <a:latin typeface="Arial"/>
                <a:ea typeface="Arial"/>
                <a:cs typeface="Arial"/>
              </a:defRPr>
            </a:lvl6pPr>
            <a:lvl7pPr algn="l">
              <a:buNone/>
              <a:defRPr sz="1600" b="0">
                <a:solidFill>
                  <a:srgbClr val="5D6A67"/>
                </a:solidFill>
                <a:latin typeface="Arial"/>
                <a:ea typeface="Arial"/>
                <a:cs typeface="Arial"/>
              </a:defRPr>
            </a:lvl7pPr>
            <a:lvl8pPr algn="l">
              <a:buNone/>
              <a:defRPr sz="1600" b="0">
                <a:solidFill>
                  <a:srgbClr val="5D6A67"/>
                </a:solidFill>
                <a:latin typeface="Arial"/>
                <a:ea typeface="Arial"/>
                <a:cs typeface="Arial"/>
              </a:defRPr>
            </a:lvl8pPr>
            <a:lvl9pPr algn="l">
              <a:buNone/>
              <a:defRPr sz="1600" b="0">
                <a:solidFill>
                  <a:srgbClr val="5D6A67"/>
                </a:solidFill>
                <a:latin typeface="Arial"/>
                <a:ea typeface="Arial"/>
                <a:cs typeface="Arial"/>
              </a:defRPr>
            </a:lvl9pPr>
          </a:lstStyle>
          <a:p>
            <a:pPr algn="l">
              <a:buNone/>
              <a:defRPr sz="1600" b="0">
                <a:solidFill>
                  <a:srgbClr val="5D6A67"/>
                </a:solidFill>
                <a:latin typeface="Arial"/>
                <a:ea typeface="Arial"/>
                <a:cs typeface="Arial"/>
              </a:defRPr>
            </a:pPr>
            <a:r>
              <a:rPr sz="1600" b="0">
                <a:solidFill>
                  <a:srgbClr val="5D6A67"/>
                </a:solidFill>
                <a:latin typeface="Plus Jakarta Sans"/>
                <a:ea typeface="Arial"/>
                <a:cs typeface="Arial"/>
              </a:rPr>
              <a:t>FX adds HK$6.60 versus an unchanged 7.80 rate.</a:t>
            </a:r>
            <a:endParaRPr/>
          </a:p>
        </p:txBody>
      </p:sp>
      <p:sp>
        <p:nvSpPr>
          <p:cNvPr id="471576892" name="access-revision-text-117"/>
          <p:cNvSpPr>
            <a:spLocks noGrp="1"/>
          </p:cNvSpPr>
          <p:nvPr/>
        </p:nvSpPr>
        <p:spPr bwMode="auto">
          <a:xfrm>
            <a:off x="609600" y="6076950"/>
            <a:ext cx="10972800" cy="323850"/>
          </a:xfrm>
          <a:prstGeom prst="rect">
            <a:avLst/>
          </a:prstGeom>
          <a:noFill/>
          <a:ln w="0">
            <a:solidFill/>
            <a:prstDash val="solid"/>
          </a:ln>
        </p:spPr>
        <p:txBody>
          <a:bodyPr wrap="square" lIns="0" tIns="0" rIns="0" bIns="0" anchor="t">
            <a:noAutofit/>
          </a:bodyPr>
          <a:lstStyle>
            <a:defPPr algn="l">
              <a:defRPr sz="1500" b="0">
                <a:solidFill>
                  <a:srgbClr val="5D6A67"/>
                </a:solidFill>
                <a:latin typeface="Arial"/>
                <a:ea typeface="Arial"/>
                <a:cs typeface="Arial"/>
              </a:defRPr>
            </a:defPPr>
            <a:lvl1pPr algn="l">
              <a:buNone/>
              <a:defRPr sz="1500" b="0">
                <a:solidFill>
                  <a:srgbClr val="5D6A67"/>
                </a:solidFill>
                <a:latin typeface="Arial"/>
                <a:ea typeface="Arial"/>
                <a:cs typeface="Arial"/>
              </a:defRPr>
            </a:lvl1pPr>
            <a:lvl2pPr algn="l">
              <a:buNone/>
              <a:defRPr sz="1500" b="0">
                <a:solidFill>
                  <a:srgbClr val="5D6A67"/>
                </a:solidFill>
                <a:latin typeface="Arial"/>
                <a:ea typeface="Arial"/>
                <a:cs typeface="Arial"/>
              </a:defRPr>
            </a:lvl2pPr>
            <a:lvl3pPr algn="l">
              <a:buNone/>
              <a:defRPr sz="1500" b="0">
                <a:solidFill>
                  <a:srgbClr val="5D6A67"/>
                </a:solidFill>
                <a:latin typeface="Arial"/>
                <a:ea typeface="Arial"/>
                <a:cs typeface="Arial"/>
              </a:defRPr>
            </a:lvl3pPr>
            <a:lvl4pPr algn="l">
              <a:buNone/>
              <a:defRPr sz="1500" b="0">
                <a:solidFill>
                  <a:srgbClr val="5D6A67"/>
                </a:solidFill>
                <a:latin typeface="Arial"/>
                <a:ea typeface="Arial"/>
                <a:cs typeface="Arial"/>
              </a:defRPr>
            </a:lvl4pPr>
            <a:lvl5pPr algn="l">
              <a:buNone/>
              <a:defRPr sz="1500" b="0">
                <a:solidFill>
                  <a:srgbClr val="5D6A67"/>
                </a:solidFill>
                <a:latin typeface="Arial"/>
                <a:ea typeface="Arial"/>
                <a:cs typeface="Arial"/>
              </a:defRPr>
            </a:lvl5pPr>
            <a:lvl6pPr algn="l">
              <a:buNone/>
              <a:defRPr sz="1500" b="0">
                <a:solidFill>
                  <a:srgbClr val="5D6A67"/>
                </a:solidFill>
                <a:latin typeface="Arial"/>
                <a:ea typeface="Arial"/>
                <a:cs typeface="Arial"/>
              </a:defRPr>
            </a:lvl6pPr>
            <a:lvl7pPr algn="l">
              <a:buNone/>
              <a:defRPr sz="1500" b="0">
                <a:solidFill>
                  <a:srgbClr val="5D6A67"/>
                </a:solidFill>
                <a:latin typeface="Arial"/>
                <a:ea typeface="Arial"/>
                <a:cs typeface="Arial"/>
              </a:defRPr>
            </a:lvl7pPr>
            <a:lvl8pPr algn="l">
              <a:buNone/>
              <a:defRPr sz="1500" b="0">
                <a:solidFill>
                  <a:srgbClr val="5D6A67"/>
                </a:solidFill>
                <a:latin typeface="Arial"/>
                <a:ea typeface="Arial"/>
                <a:cs typeface="Arial"/>
              </a:defRPr>
            </a:lvl8pPr>
            <a:lvl9pPr algn="l">
              <a:buNone/>
              <a:defRPr sz="1500" b="0">
                <a:solidFill>
                  <a:srgbClr val="5D6A67"/>
                </a:solidFill>
                <a:latin typeface="Arial"/>
                <a:ea typeface="Arial"/>
                <a:cs typeface="Arial"/>
              </a:defRPr>
            </a:lvl9pPr>
          </a:lstStyle>
          <a:p>
            <a:pPr algn="l">
              <a:buNone/>
              <a:defRPr sz="1500" b="0">
                <a:solidFill>
                  <a:srgbClr val="5D6A67"/>
                </a:solidFill>
                <a:latin typeface="Arial"/>
                <a:ea typeface="Arial"/>
                <a:cs typeface="Arial"/>
              </a:defRPr>
            </a:pPr>
            <a:r>
              <a:rPr sz="1500" b="0">
                <a:solidFill>
                  <a:srgbClr val="5D6A67"/>
                </a:solidFill>
                <a:latin typeface="Plus Jakarta Sans"/>
                <a:ea typeface="Arial"/>
                <a:cs typeface="Arial"/>
              </a:rPr>
              <a:t>Before fees and tax. A sale realizes cash proceeds. Equity and FX changes can also reduce value.</a:t>
            </a:r>
            <a:endParaRPr/>
          </a:p>
        </p:txBody>
      </p:sp>
      <p:graphicFrame>
        <p:nvGraphicFramePr>
          <p:cNvPr id="1932995487" name="Chart"/>
          <p:cNvGraphicFramePr>
            <a:graphicFrameLocks xmlns:a="http://schemas.openxmlformats.org/drawingml/2006/main"/>
          </p:cNvGraphicFramePr>
          <p:nvPr/>
        </p:nvGraphicFramePr>
        <p:xfrm rot="0">
          <a:off x="609600" y="2209800"/>
          <a:ext cx="5429250" cy="371475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412892420" name="dlt-text-1"/>
          <p:cNvSpPr>
            <a:spLocks noGrp="1"/>
          </p:cNvSpPr>
          <p:nvPr/>
        </p:nvSpPr>
        <p:spPr bwMode="auto">
          <a:xfrm>
            <a:off x="609600" y="504825"/>
            <a:ext cx="10972800" cy="828675"/>
          </a:xfrm>
          <a:prstGeom prst="rect">
            <a:avLst/>
          </a:prstGeom>
          <a:noFill/>
          <a:ln w="0">
            <a:solidFill/>
            <a:prstDash val="solid"/>
          </a:ln>
        </p:spPr>
        <p:txBody>
          <a:bodyPr wrap="square" lIns="0" tIns="0" rIns="0" bIns="0" anchor="t">
            <a:noAutofit/>
          </a:bodyPr>
          <a:lstStyle>
            <a:defPPr algn="l">
              <a:defRPr sz="3300" b="1">
                <a:solidFill>
                  <a:srgbClr val="18201D"/>
                </a:solidFill>
                <a:latin typeface="Arial"/>
                <a:ea typeface="Arial"/>
                <a:cs typeface="Arial"/>
              </a:defRPr>
            </a:defPPr>
            <a:lvl1pPr algn="l">
              <a:buNone/>
              <a:defRPr sz="3300" b="1">
                <a:solidFill>
                  <a:srgbClr val="18201D"/>
                </a:solidFill>
                <a:latin typeface="Arial"/>
                <a:ea typeface="Arial"/>
                <a:cs typeface="Arial"/>
              </a:defRPr>
            </a:lvl1pPr>
            <a:lvl2pPr algn="l">
              <a:buNone/>
              <a:defRPr sz="3300" b="1">
                <a:solidFill>
                  <a:srgbClr val="18201D"/>
                </a:solidFill>
                <a:latin typeface="Arial"/>
                <a:ea typeface="Arial"/>
                <a:cs typeface="Arial"/>
              </a:defRPr>
            </a:lvl2pPr>
            <a:lvl3pPr algn="l">
              <a:buNone/>
              <a:defRPr sz="3300" b="1">
                <a:solidFill>
                  <a:srgbClr val="18201D"/>
                </a:solidFill>
                <a:latin typeface="Arial"/>
                <a:ea typeface="Arial"/>
                <a:cs typeface="Arial"/>
              </a:defRPr>
            </a:lvl3pPr>
            <a:lvl4pPr algn="l">
              <a:buNone/>
              <a:defRPr sz="3300" b="1">
                <a:solidFill>
                  <a:srgbClr val="18201D"/>
                </a:solidFill>
                <a:latin typeface="Arial"/>
                <a:ea typeface="Arial"/>
                <a:cs typeface="Arial"/>
              </a:defRPr>
            </a:lvl4pPr>
            <a:lvl5pPr algn="l">
              <a:buNone/>
              <a:defRPr sz="3300" b="1">
                <a:solidFill>
                  <a:srgbClr val="18201D"/>
                </a:solidFill>
                <a:latin typeface="Arial"/>
                <a:ea typeface="Arial"/>
                <a:cs typeface="Arial"/>
              </a:defRPr>
            </a:lvl5pPr>
            <a:lvl6pPr algn="l">
              <a:buNone/>
              <a:defRPr sz="3300" b="1">
                <a:solidFill>
                  <a:srgbClr val="18201D"/>
                </a:solidFill>
                <a:latin typeface="Arial"/>
                <a:ea typeface="Arial"/>
                <a:cs typeface="Arial"/>
              </a:defRPr>
            </a:lvl6pPr>
            <a:lvl7pPr algn="l">
              <a:buNone/>
              <a:defRPr sz="3300" b="1">
                <a:solidFill>
                  <a:srgbClr val="18201D"/>
                </a:solidFill>
                <a:latin typeface="Arial"/>
                <a:ea typeface="Arial"/>
                <a:cs typeface="Arial"/>
              </a:defRPr>
            </a:lvl7pPr>
            <a:lvl8pPr algn="l">
              <a:buNone/>
              <a:defRPr sz="3300" b="1">
                <a:solidFill>
                  <a:srgbClr val="18201D"/>
                </a:solidFill>
                <a:latin typeface="Arial"/>
                <a:ea typeface="Arial"/>
                <a:cs typeface="Arial"/>
              </a:defRPr>
            </a:lvl8pPr>
            <a:lvl9pPr algn="l">
              <a:buNone/>
              <a:defRPr sz="3300" b="1">
                <a:solidFill>
                  <a:srgbClr val="18201D"/>
                </a:solidFill>
                <a:latin typeface="Arial"/>
                <a:ea typeface="Arial"/>
                <a:cs typeface="Arial"/>
              </a:defRPr>
            </a:lvl9pPr>
          </a:lstStyle>
          <a:p>
            <a:pPr algn="l">
              <a:buNone/>
              <a:defRPr sz="3300" b="1">
                <a:solidFill>
                  <a:srgbClr val="18201D"/>
                </a:solidFill>
                <a:latin typeface="Arial"/>
                <a:ea typeface="Arial"/>
                <a:cs typeface="Arial"/>
              </a:defRPr>
            </a:pPr>
            <a:r>
              <a:rPr sz="3300" b="1">
                <a:solidFill>
                  <a:srgbClr val="18201D"/>
                </a:solidFill>
                <a:latin typeface="Outfit"/>
                <a:ea typeface="Arial"/>
                <a:cs typeface="Arial"/>
              </a:rPr>
              <a:t>DLT architecture for the receipt lifecycle</a:t>
            </a:r>
            <a:endParaRPr/>
          </a:p>
        </p:txBody>
      </p:sp>
      <p:sp>
        <p:nvSpPr>
          <p:cNvPr id="845310781" name="dlt-text-2"/>
          <p:cNvSpPr>
            <a:spLocks noGrp="1"/>
          </p:cNvSpPr>
          <p:nvPr/>
        </p:nvSpPr>
        <p:spPr bwMode="auto">
          <a:xfrm>
            <a:off x="609600" y="1409700"/>
            <a:ext cx="10972800" cy="685800"/>
          </a:xfrm>
          <a:prstGeom prst="rect">
            <a:avLst/>
          </a:prstGeom>
          <a:noFill/>
          <a:ln w="0">
            <a:solidFill/>
            <a:prstDash val="solid"/>
          </a:ln>
        </p:spPr>
        <p:txBody>
          <a:bodyPr wrap="square" lIns="0" tIns="0" rIns="0" bIns="0" anchor="t">
            <a:noAutofit/>
          </a:bodyPr>
          <a:lstStyle>
            <a:defPPr algn="l">
              <a:defRPr sz="1900" b="0">
                <a:solidFill>
                  <a:srgbClr val="5D6A67"/>
                </a:solidFill>
                <a:latin typeface="Arial"/>
                <a:ea typeface="Arial"/>
                <a:cs typeface="Arial"/>
              </a:defRPr>
            </a:defPPr>
            <a:lvl1pPr algn="l">
              <a:buNone/>
              <a:defRPr sz="1900" b="0">
                <a:solidFill>
                  <a:srgbClr val="5D6A67"/>
                </a:solidFill>
                <a:latin typeface="Arial"/>
                <a:ea typeface="Arial"/>
                <a:cs typeface="Arial"/>
              </a:defRPr>
            </a:lvl1pPr>
            <a:lvl2pPr algn="l">
              <a:buNone/>
              <a:defRPr sz="1900" b="0">
                <a:solidFill>
                  <a:srgbClr val="5D6A67"/>
                </a:solidFill>
                <a:latin typeface="Arial"/>
                <a:ea typeface="Arial"/>
                <a:cs typeface="Arial"/>
              </a:defRPr>
            </a:lvl2pPr>
            <a:lvl3pPr algn="l">
              <a:buNone/>
              <a:defRPr sz="1900" b="0">
                <a:solidFill>
                  <a:srgbClr val="5D6A67"/>
                </a:solidFill>
                <a:latin typeface="Arial"/>
                <a:ea typeface="Arial"/>
                <a:cs typeface="Arial"/>
              </a:defRPr>
            </a:lvl3pPr>
            <a:lvl4pPr algn="l">
              <a:buNone/>
              <a:defRPr sz="1900" b="0">
                <a:solidFill>
                  <a:srgbClr val="5D6A67"/>
                </a:solidFill>
                <a:latin typeface="Arial"/>
                <a:ea typeface="Arial"/>
                <a:cs typeface="Arial"/>
              </a:defRPr>
            </a:lvl4pPr>
            <a:lvl5pPr algn="l">
              <a:buNone/>
              <a:defRPr sz="1900" b="0">
                <a:solidFill>
                  <a:srgbClr val="5D6A67"/>
                </a:solidFill>
                <a:latin typeface="Arial"/>
                <a:ea typeface="Arial"/>
                <a:cs typeface="Arial"/>
              </a:defRPr>
            </a:lvl5pPr>
            <a:lvl6pPr algn="l">
              <a:buNone/>
              <a:defRPr sz="1900" b="0">
                <a:solidFill>
                  <a:srgbClr val="5D6A67"/>
                </a:solidFill>
                <a:latin typeface="Arial"/>
                <a:ea typeface="Arial"/>
                <a:cs typeface="Arial"/>
              </a:defRPr>
            </a:lvl6pPr>
            <a:lvl7pPr algn="l">
              <a:buNone/>
              <a:defRPr sz="1900" b="0">
                <a:solidFill>
                  <a:srgbClr val="5D6A67"/>
                </a:solidFill>
                <a:latin typeface="Arial"/>
                <a:ea typeface="Arial"/>
                <a:cs typeface="Arial"/>
              </a:defRPr>
            </a:lvl7pPr>
            <a:lvl8pPr algn="l">
              <a:buNone/>
              <a:defRPr sz="1900" b="0">
                <a:solidFill>
                  <a:srgbClr val="5D6A67"/>
                </a:solidFill>
                <a:latin typeface="Arial"/>
                <a:ea typeface="Arial"/>
                <a:cs typeface="Arial"/>
              </a:defRPr>
            </a:lvl8pPr>
            <a:lvl9pPr algn="l">
              <a:buNone/>
              <a:defRPr sz="1900" b="0">
                <a:solidFill>
                  <a:srgbClr val="5D6A67"/>
                </a:solidFill>
                <a:latin typeface="Arial"/>
                <a:ea typeface="Arial"/>
                <a:cs typeface="Arial"/>
              </a:defRPr>
            </a:lvl9pPr>
          </a:lstStyle>
          <a:p>
            <a:pPr algn="l">
              <a:buNone/>
              <a:defRPr sz="1900" b="0">
                <a:solidFill>
                  <a:srgbClr val="5D6A67"/>
                </a:solidFill>
                <a:latin typeface="Arial"/>
                <a:ea typeface="Arial"/>
                <a:cs typeface="Arial"/>
              </a:defRPr>
            </a:pPr>
            <a:r>
              <a:rPr sz="1900" b="0">
                <a:solidFill>
                  <a:srgbClr val="5D6A67"/>
                </a:solidFill>
                <a:latin typeface="Plus Jakarta Sans"/>
                <a:ea typeface="Arial"/>
                <a:cs typeface="Arial"/>
              </a:rPr>
              <a:t>USDC and RedCoin adapters are proposed. Register rights and rail access remain launch gates.</a:t>
            </a:r>
            <a:endParaRPr/>
          </a:p>
        </p:txBody>
      </p:sp>
      <p:sp>
        <p:nvSpPr>
          <p:cNvPr id="625886096" name="dlt-text-3"/>
          <p:cNvSpPr>
            <a:spLocks noGrp="1"/>
          </p:cNvSpPr>
          <p:nvPr/>
        </p:nvSpPr>
        <p:spPr bwMode="auto">
          <a:xfrm>
            <a:off x="609600" y="6438899"/>
            <a:ext cx="2857500" cy="238125"/>
          </a:xfrm>
          <a:prstGeom prst="rect">
            <a:avLst/>
          </a:prstGeom>
          <a:noFill/>
          <a:ln w="0">
            <a:solidFill/>
            <a:prstDash val="solid"/>
          </a:ln>
        </p:spPr>
        <p:txBody>
          <a:bodyPr wrap="square" lIns="0" tIns="0" rIns="0" bIns="0" anchor="t">
            <a:noAutofit/>
          </a:bodyPr>
          <a:lstStyle>
            <a:defPPr algn="l">
              <a:defRPr sz="1200" b="1">
                <a:solidFill>
                  <a:srgbClr val="0DBE85"/>
                </a:solidFill>
                <a:latin typeface="Arial"/>
                <a:ea typeface="Arial"/>
                <a:cs typeface="Arial"/>
              </a:defRPr>
            </a:defPPr>
            <a:lvl1pPr algn="l">
              <a:buNone/>
              <a:defRPr sz="1200" b="1">
                <a:solidFill>
                  <a:srgbClr val="0DBE85"/>
                </a:solidFill>
                <a:latin typeface="Arial"/>
                <a:ea typeface="Arial"/>
                <a:cs typeface="Arial"/>
              </a:defRPr>
            </a:lvl1pPr>
            <a:lvl2pPr algn="l">
              <a:buNone/>
              <a:defRPr sz="1200" b="1">
                <a:solidFill>
                  <a:srgbClr val="0DBE85"/>
                </a:solidFill>
                <a:latin typeface="Arial"/>
                <a:ea typeface="Arial"/>
                <a:cs typeface="Arial"/>
              </a:defRPr>
            </a:lvl2pPr>
            <a:lvl3pPr algn="l">
              <a:buNone/>
              <a:defRPr sz="1200" b="1">
                <a:solidFill>
                  <a:srgbClr val="0DBE85"/>
                </a:solidFill>
                <a:latin typeface="Arial"/>
                <a:ea typeface="Arial"/>
                <a:cs typeface="Arial"/>
              </a:defRPr>
            </a:lvl3pPr>
            <a:lvl4pPr algn="l">
              <a:buNone/>
              <a:defRPr sz="1200" b="1">
                <a:solidFill>
                  <a:srgbClr val="0DBE85"/>
                </a:solidFill>
                <a:latin typeface="Arial"/>
                <a:ea typeface="Arial"/>
                <a:cs typeface="Arial"/>
              </a:defRPr>
            </a:lvl4pPr>
            <a:lvl5pPr algn="l">
              <a:buNone/>
              <a:defRPr sz="1200" b="1">
                <a:solidFill>
                  <a:srgbClr val="0DBE85"/>
                </a:solidFill>
                <a:latin typeface="Arial"/>
                <a:ea typeface="Arial"/>
                <a:cs typeface="Arial"/>
              </a:defRPr>
            </a:lvl5pPr>
            <a:lvl6pPr algn="l">
              <a:buNone/>
              <a:defRPr sz="1200" b="1">
                <a:solidFill>
                  <a:srgbClr val="0DBE85"/>
                </a:solidFill>
                <a:latin typeface="Arial"/>
                <a:ea typeface="Arial"/>
                <a:cs typeface="Arial"/>
              </a:defRPr>
            </a:lvl6pPr>
            <a:lvl7pPr algn="l">
              <a:buNone/>
              <a:defRPr sz="1200" b="1">
                <a:solidFill>
                  <a:srgbClr val="0DBE85"/>
                </a:solidFill>
                <a:latin typeface="Arial"/>
                <a:ea typeface="Arial"/>
                <a:cs typeface="Arial"/>
              </a:defRPr>
            </a:lvl7pPr>
            <a:lvl8pPr algn="l">
              <a:buNone/>
              <a:defRPr sz="1200" b="1">
                <a:solidFill>
                  <a:srgbClr val="0DBE85"/>
                </a:solidFill>
                <a:latin typeface="Arial"/>
                <a:ea typeface="Arial"/>
                <a:cs typeface="Arial"/>
              </a:defRPr>
            </a:lvl8pPr>
            <a:lvl9pPr algn="l">
              <a:buNone/>
              <a:defRPr sz="1200" b="1">
                <a:solidFill>
                  <a:srgbClr val="0DBE85"/>
                </a:solidFill>
                <a:latin typeface="Arial"/>
                <a:ea typeface="Arial"/>
                <a:cs typeface="Arial"/>
              </a:defRPr>
            </a:lvl9pPr>
          </a:lstStyle>
          <a:p>
            <a:pPr algn="l">
              <a:buNone/>
              <a:defRPr sz="1200" b="1">
                <a:solidFill>
                  <a:srgbClr val="0DBE85"/>
                </a:solidFill>
                <a:latin typeface="Arial"/>
                <a:ea typeface="Arial"/>
                <a:cs typeface="Arial"/>
              </a:defRPr>
            </a:pPr>
            <a:r>
              <a:rPr sz="1200" b="1">
                <a:solidFill>
                  <a:srgbClr val="0AA372"/>
                </a:solidFill>
                <a:latin typeface="JetBrains Mono"/>
                <a:ea typeface="Arial"/>
                <a:cs typeface="Arial"/>
              </a:rPr>
              <a:t>D-SHARE / PRIME</a:t>
            </a:r>
            <a:endParaRPr/>
          </a:p>
        </p:txBody>
      </p:sp>
      <p:sp>
        <p:nvSpPr>
          <p:cNvPr id="2011097568" name="dlt-text-4"/>
          <p:cNvSpPr>
            <a:spLocks noGrp="1"/>
          </p:cNvSpPr>
          <p:nvPr/>
        </p:nvSpPr>
        <p:spPr bwMode="auto">
          <a:xfrm>
            <a:off x="11020424" y="6438899"/>
            <a:ext cx="561975" cy="238125"/>
          </a:xfrm>
          <a:prstGeom prst="rect">
            <a:avLst/>
          </a:prstGeom>
          <a:noFill/>
          <a:ln w="0">
            <a:solidFill/>
            <a:prstDash val="solid"/>
          </a:ln>
        </p:spPr>
        <p:txBody>
          <a:bodyPr wrap="square" lIns="0" tIns="0" rIns="0" bIns="0" anchor="t">
            <a:noAutofit/>
          </a:bodyPr>
          <a:lstStyle>
            <a:defPPr algn="r">
              <a:defRPr sz="1200" b="0">
                <a:solidFill>
                  <a:srgbClr val="5D6A67"/>
                </a:solidFill>
                <a:latin typeface="Arial"/>
                <a:ea typeface="Arial"/>
                <a:cs typeface="Arial"/>
              </a:defRPr>
            </a:defPPr>
            <a:lvl1pPr algn="r">
              <a:buNone/>
              <a:defRPr sz="1200" b="0">
                <a:solidFill>
                  <a:srgbClr val="5D6A67"/>
                </a:solidFill>
                <a:latin typeface="Arial"/>
                <a:ea typeface="Arial"/>
                <a:cs typeface="Arial"/>
              </a:defRPr>
            </a:lvl1pPr>
            <a:lvl2pPr algn="r">
              <a:buNone/>
              <a:defRPr sz="1200" b="0">
                <a:solidFill>
                  <a:srgbClr val="5D6A67"/>
                </a:solidFill>
                <a:latin typeface="Arial"/>
                <a:ea typeface="Arial"/>
                <a:cs typeface="Arial"/>
              </a:defRPr>
            </a:lvl2pPr>
            <a:lvl3pPr algn="r">
              <a:buNone/>
              <a:defRPr sz="1200" b="0">
                <a:solidFill>
                  <a:srgbClr val="5D6A67"/>
                </a:solidFill>
                <a:latin typeface="Arial"/>
                <a:ea typeface="Arial"/>
                <a:cs typeface="Arial"/>
              </a:defRPr>
            </a:lvl3pPr>
            <a:lvl4pPr algn="r">
              <a:buNone/>
              <a:defRPr sz="1200" b="0">
                <a:solidFill>
                  <a:srgbClr val="5D6A67"/>
                </a:solidFill>
                <a:latin typeface="Arial"/>
                <a:ea typeface="Arial"/>
                <a:cs typeface="Arial"/>
              </a:defRPr>
            </a:lvl4pPr>
            <a:lvl5pPr algn="r">
              <a:buNone/>
              <a:defRPr sz="1200" b="0">
                <a:solidFill>
                  <a:srgbClr val="5D6A67"/>
                </a:solidFill>
                <a:latin typeface="Arial"/>
                <a:ea typeface="Arial"/>
                <a:cs typeface="Arial"/>
              </a:defRPr>
            </a:lvl5pPr>
            <a:lvl6pPr algn="r">
              <a:buNone/>
              <a:defRPr sz="1200" b="0">
                <a:solidFill>
                  <a:srgbClr val="5D6A67"/>
                </a:solidFill>
                <a:latin typeface="Arial"/>
                <a:ea typeface="Arial"/>
                <a:cs typeface="Arial"/>
              </a:defRPr>
            </a:lvl6pPr>
            <a:lvl7pPr algn="r">
              <a:buNone/>
              <a:defRPr sz="1200" b="0">
                <a:solidFill>
                  <a:srgbClr val="5D6A67"/>
                </a:solidFill>
                <a:latin typeface="Arial"/>
                <a:ea typeface="Arial"/>
                <a:cs typeface="Arial"/>
              </a:defRPr>
            </a:lvl7pPr>
            <a:lvl8pPr algn="r">
              <a:buNone/>
              <a:defRPr sz="1200" b="0">
                <a:solidFill>
                  <a:srgbClr val="5D6A67"/>
                </a:solidFill>
                <a:latin typeface="Arial"/>
                <a:ea typeface="Arial"/>
                <a:cs typeface="Arial"/>
              </a:defRPr>
            </a:lvl8pPr>
            <a:lvl9pPr algn="r">
              <a:buNone/>
              <a:defRPr sz="1200" b="0">
                <a:solidFill>
                  <a:srgbClr val="5D6A67"/>
                </a:solidFill>
                <a:latin typeface="Arial"/>
                <a:ea typeface="Arial"/>
                <a:cs typeface="Arial"/>
              </a:defRPr>
            </a:lvl9pPr>
          </a:lstStyle>
          <a:p>
            <a:pPr algn="r">
              <a:buNone/>
              <a:defRPr sz="1200" b="0">
                <a:solidFill>
                  <a:srgbClr val="5D6A67"/>
                </a:solidFill>
                <a:latin typeface="Arial"/>
                <a:ea typeface="Arial"/>
                <a:cs typeface="Arial"/>
              </a:defRPr>
            </a:pPr>
            <a:r>
              <a:rPr sz="1200" b="0">
                <a:solidFill>
                  <a:srgbClr val="5D6A67"/>
                </a:solidFill>
                <a:latin typeface="JetBrains Mono"/>
                <a:ea typeface="Arial"/>
                <a:cs typeface="Arial"/>
              </a:rPr>
              <a:t>09</a:t>
            </a:r>
            <a:endParaRPr/>
          </a:p>
        </p:txBody>
      </p:sp>
      <p:sp>
        <p:nvSpPr>
          <p:cNvPr id="1760017521" name="participant-head-5"/>
          <p:cNvSpPr>
            <a:spLocks noGrp="1"/>
          </p:cNvSpPr>
          <p:nvPr/>
        </p:nvSpPr>
        <p:spPr bwMode="auto">
          <a:xfrm>
            <a:off x="1885950" y="2143125"/>
            <a:ext cx="190500" cy="190500"/>
          </a:xfrm>
          <a:prstGeom prst="ellipse">
            <a:avLst/>
          </a:prstGeom>
          <a:solidFill>
            <a:srgbClr val="18201D"/>
          </a:solidFill>
          <a:ln w="0">
            <a:solidFill/>
            <a:prstDash val="solid"/>
          </a:ln>
        </p:spPr>
        <p:txBody>
          <a:bodyPr/>
          <a:p/>
        </p:txBody>
      </p:sp>
      <p:sp>
        <p:nvSpPr>
          <p:cNvPr id="807106279" name="participant-body-6"/>
          <p:cNvSpPr>
            <a:spLocks noGrp="1"/>
          </p:cNvSpPr>
          <p:nvPr/>
        </p:nvSpPr>
        <p:spPr bwMode="auto">
          <a:xfrm>
            <a:off x="1809750" y="2362199"/>
            <a:ext cx="342900" cy="180975"/>
          </a:xfrm>
          <a:prstGeom prst="roundRect">
            <a:avLst>
              <a:gd name="adj" fmla="val 42105"/>
            </a:avLst>
          </a:prstGeom>
          <a:solidFill>
            <a:srgbClr val="18201D"/>
          </a:solidFill>
          <a:ln w="0">
            <a:solidFill/>
            <a:prstDash val="solid"/>
          </a:ln>
        </p:spPr>
        <p:txBody>
          <a:bodyPr/>
          <a:p/>
        </p:txBody>
      </p:sp>
      <p:sp>
        <p:nvSpPr>
          <p:cNvPr id="1421571967" name="dlt-text-7"/>
          <p:cNvSpPr>
            <a:spLocks noGrp="1"/>
          </p:cNvSpPr>
          <p:nvPr/>
        </p:nvSpPr>
        <p:spPr bwMode="auto">
          <a:xfrm>
            <a:off x="781050" y="2600325"/>
            <a:ext cx="2400300" cy="571500"/>
          </a:xfrm>
          <a:prstGeom prst="rect">
            <a:avLst/>
          </a:prstGeom>
          <a:noFill/>
          <a:ln w="0">
            <a:solidFill/>
            <a:prstDash val="solid"/>
          </a:ln>
        </p:spPr>
        <p:txBody>
          <a:bodyPr wrap="square" lIns="0" tIns="0" rIns="0" bIns="0" anchor="t">
            <a:noAutofit/>
          </a:bodyPr>
          <a:lstStyle>
            <a:defPPr algn="ctr">
              <a:defRPr sz="1800" b="1">
                <a:solidFill>
                  <a:srgbClr val="18201D"/>
                </a:solidFill>
                <a:latin typeface="Arial"/>
                <a:ea typeface="Arial"/>
                <a:cs typeface="Arial"/>
              </a:defRPr>
            </a:defPPr>
            <a:lvl1pPr algn="ctr">
              <a:buNone/>
              <a:defRPr sz="1800" b="1">
                <a:solidFill>
                  <a:srgbClr val="18201D"/>
                </a:solidFill>
                <a:latin typeface="Arial"/>
                <a:ea typeface="Arial"/>
                <a:cs typeface="Arial"/>
              </a:defRPr>
            </a:lvl1pPr>
            <a:lvl2pPr algn="ctr">
              <a:buNone/>
              <a:defRPr sz="1800" b="1">
                <a:solidFill>
                  <a:srgbClr val="18201D"/>
                </a:solidFill>
                <a:latin typeface="Arial"/>
                <a:ea typeface="Arial"/>
                <a:cs typeface="Arial"/>
              </a:defRPr>
            </a:lvl2pPr>
            <a:lvl3pPr algn="ctr">
              <a:buNone/>
              <a:defRPr sz="1800" b="1">
                <a:solidFill>
                  <a:srgbClr val="18201D"/>
                </a:solidFill>
                <a:latin typeface="Arial"/>
                <a:ea typeface="Arial"/>
                <a:cs typeface="Arial"/>
              </a:defRPr>
            </a:lvl3pPr>
            <a:lvl4pPr algn="ctr">
              <a:buNone/>
              <a:defRPr sz="1800" b="1">
                <a:solidFill>
                  <a:srgbClr val="18201D"/>
                </a:solidFill>
                <a:latin typeface="Arial"/>
                <a:ea typeface="Arial"/>
                <a:cs typeface="Arial"/>
              </a:defRPr>
            </a:lvl4pPr>
            <a:lvl5pPr algn="ctr">
              <a:buNone/>
              <a:defRPr sz="1800" b="1">
                <a:solidFill>
                  <a:srgbClr val="18201D"/>
                </a:solidFill>
                <a:latin typeface="Arial"/>
                <a:ea typeface="Arial"/>
                <a:cs typeface="Arial"/>
              </a:defRPr>
            </a:lvl5pPr>
            <a:lvl6pPr algn="ctr">
              <a:buNone/>
              <a:defRPr sz="1800" b="1">
                <a:solidFill>
                  <a:srgbClr val="18201D"/>
                </a:solidFill>
                <a:latin typeface="Arial"/>
                <a:ea typeface="Arial"/>
                <a:cs typeface="Arial"/>
              </a:defRPr>
            </a:lvl6pPr>
            <a:lvl7pPr algn="ctr">
              <a:buNone/>
              <a:defRPr sz="1800" b="1">
                <a:solidFill>
                  <a:srgbClr val="18201D"/>
                </a:solidFill>
                <a:latin typeface="Arial"/>
                <a:ea typeface="Arial"/>
                <a:cs typeface="Arial"/>
              </a:defRPr>
            </a:lvl7pPr>
            <a:lvl8pPr algn="ctr">
              <a:buNone/>
              <a:defRPr sz="1800" b="1">
                <a:solidFill>
                  <a:srgbClr val="18201D"/>
                </a:solidFill>
                <a:latin typeface="Arial"/>
                <a:ea typeface="Arial"/>
                <a:cs typeface="Arial"/>
              </a:defRPr>
            </a:lvl8pPr>
            <a:lvl9pPr algn="ctr">
              <a:buNone/>
              <a:defRPr sz="1800" b="1">
                <a:solidFill>
                  <a:srgbClr val="18201D"/>
                </a:solidFill>
                <a:latin typeface="Arial"/>
                <a:ea typeface="Arial"/>
                <a:cs typeface="Arial"/>
              </a:defRPr>
            </a:lvl9pPr>
          </a:lstStyle>
          <a:p>
            <a:pPr algn="ctr">
              <a:buNone/>
              <a:defRPr sz="1800" b="1">
                <a:solidFill>
                  <a:srgbClr val="18201D"/>
                </a:solidFill>
                <a:latin typeface="Arial"/>
                <a:ea typeface="Arial"/>
                <a:cs typeface="Arial"/>
              </a:defRPr>
            </a:pPr>
            <a:r>
              <a:rPr sz="1800" b="1">
                <a:solidFill>
                  <a:srgbClr val="18201D"/>
                </a:solidFill>
                <a:latin typeface="Outfit"/>
                <a:ea typeface="Arial"/>
                <a:cs typeface="Arial"/>
              </a:rPr>
              <a:t>Investors /</a:t>
            </a:r>
            <a:endParaRPr/>
          </a:p>
          <a:p>
            <a:pPr algn="ctr">
              <a:buNone/>
              <a:defRPr sz="1800" b="1">
                <a:solidFill>
                  <a:srgbClr val="18201D"/>
                </a:solidFill>
                <a:latin typeface="Arial"/>
                <a:ea typeface="Arial"/>
                <a:cs typeface="Arial"/>
              </a:defRPr>
            </a:pPr>
            <a:r>
              <a:rPr sz="1800" b="1">
                <a:solidFill>
                  <a:srgbClr val="18201D"/>
                </a:solidFill>
                <a:latin typeface="Outfit"/>
                <a:ea typeface="Arial"/>
                <a:cs typeface="Arial"/>
              </a:rPr>
              <a:t>brokers</a:t>
            </a:r>
            <a:endParaRPr/>
          </a:p>
        </p:txBody>
      </p:sp>
      <p:cxnSp>
        <p:nvCxnSpPr>
          <p:cNvPr id="866100607" name="diagram-line-8"/>
          <p:cNvCxnSpPr/>
          <p:nvPr/>
        </p:nvCxnSpPr>
        <p:spPr bwMode="auto">
          <a:xfrm>
            <a:off x="1981200" y="3190875"/>
            <a:ext cx="0" cy="457200"/>
          </a:xfrm>
          <a:prstGeom prst="straightConnector1">
            <a:avLst/>
          </a:prstGeom>
          <a:ln w="19050">
            <a:solidFill>
              <a:srgbClr val="7C3AED"/>
            </a:solidFill>
            <a:prstDash val="solid"/>
            <a:tailEnd type="triangle" w="sm" len="sm"/>
          </a:ln>
        </p:spPr>
      </p:cxnSp>
      <p:sp>
        <p:nvSpPr>
          <p:cNvPr id="426536264" name="participant-head-9"/>
          <p:cNvSpPr>
            <a:spLocks noGrp="1"/>
          </p:cNvSpPr>
          <p:nvPr/>
        </p:nvSpPr>
        <p:spPr bwMode="auto">
          <a:xfrm>
            <a:off x="4629150" y="2143125"/>
            <a:ext cx="190500" cy="190500"/>
          </a:xfrm>
          <a:prstGeom prst="ellipse">
            <a:avLst/>
          </a:prstGeom>
          <a:solidFill>
            <a:srgbClr val="18201D"/>
          </a:solidFill>
          <a:ln w="0">
            <a:solidFill/>
            <a:prstDash val="solid"/>
          </a:ln>
        </p:spPr>
        <p:txBody>
          <a:bodyPr/>
          <a:p/>
        </p:txBody>
      </p:sp>
      <p:sp>
        <p:nvSpPr>
          <p:cNvPr id="1282557725" name="participant-body-10"/>
          <p:cNvSpPr>
            <a:spLocks noGrp="1"/>
          </p:cNvSpPr>
          <p:nvPr/>
        </p:nvSpPr>
        <p:spPr bwMode="auto">
          <a:xfrm>
            <a:off x="4552950" y="2362199"/>
            <a:ext cx="342900" cy="180975"/>
          </a:xfrm>
          <a:prstGeom prst="roundRect">
            <a:avLst>
              <a:gd name="adj" fmla="val 42105"/>
            </a:avLst>
          </a:prstGeom>
          <a:solidFill>
            <a:srgbClr val="18201D"/>
          </a:solidFill>
          <a:ln w="0">
            <a:solidFill/>
            <a:prstDash val="solid"/>
          </a:ln>
        </p:spPr>
        <p:txBody>
          <a:bodyPr/>
          <a:p/>
        </p:txBody>
      </p:sp>
      <p:sp>
        <p:nvSpPr>
          <p:cNvPr id="11667503" name="dlt-text-11"/>
          <p:cNvSpPr>
            <a:spLocks noGrp="1"/>
          </p:cNvSpPr>
          <p:nvPr/>
        </p:nvSpPr>
        <p:spPr bwMode="auto">
          <a:xfrm>
            <a:off x="3524250" y="2600325"/>
            <a:ext cx="2400300" cy="571500"/>
          </a:xfrm>
          <a:prstGeom prst="rect">
            <a:avLst/>
          </a:prstGeom>
          <a:noFill/>
          <a:ln w="0">
            <a:solidFill/>
            <a:prstDash val="solid"/>
          </a:ln>
        </p:spPr>
        <p:txBody>
          <a:bodyPr wrap="square" lIns="0" tIns="0" rIns="0" bIns="0" anchor="t">
            <a:noAutofit/>
          </a:bodyPr>
          <a:lstStyle>
            <a:defPPr algn="ctr">
              <a:defRPr sz="1800" b="1">
                <a:solidFill>
                  <a:srgbClr val="18201D"/>
                </a:solidFill>
                <a:latin typeface="Arial"/>
                <a:ea typeface="Arial"/>
                <a:cs typeface="Arial"/>
              </a:defRPr>
            </a:defPPr>
            <a:lvl1pPr algn="ctr">
              <a:buNone/>
              <a:defRPr sz="1800" b="1">
                <a:solidFill>
                  <a:srgbClr val="18201D"/>
                </a:solidFill>
                <a:latin typeface="Arial"/>
                <a:ea typeface="Arial"/>
                <a:cs typeface="Arial"/>
              </a:defRPr>
            </a:lvl1pPr>
            <a:lvl2pPr algn="ctr">
              <a:buNone/>
              <a:defRPr sz="1800" b="1">
                <a:solidFill>
                  <a:srgbClr val="18201D"/>
                </a:solidFill>
                <a:latin typeface="Arial"/>
                <a:ea typeface="Arial"/>
                <a:cs typeface="Arial"/>
              </a:defRPr>
            </a:lvl2pPr>
            <a:lvl3pPr algn="ctr">
              <a:buNone/>
              <a:defRPr sz="1800" b="1">
                <a:solidFill>
                  <a:srgbClr val="18201D"/>
                </a:solidFill>
                <a:latin typeface="Arial"/>
                <a:ea typeface="Arial"/>
                <a:cs typeface="Arial"/>
              </a:defRPr>
            </a:lvl3pPr>
            <a:lvl4pPr algn="ctr">
              <a:buNone/>
              <a:defRPr sz="1800" b="1">
                <a:solidFill>
                  <a:srgbClr val="18201D"/>
                </a:solidFill>
                <a:latin typeface="Arial"/>
                <a:ea typeface="Arial"/>
                <a:cs typeface="Arial"/>
              </a:defRPr>
            </a:lvl4pPr>
            <a:lvl5pPr algn="ctr">
              <a:buNone/>
              <a:defRPr sz="1800" b="1">
                <a:solidFill>
                  <a:srgbClr val="18201D"/>
                </a:solidFill>
                <a:latin typeface="Arial"/>
                <a:ea typeface="Arial"/>
                <a:cs typeface="Arial"/>
              </a:defRPr>
            </a:lvl5pPr>
            <a:lvl6pPr algn="ctr">
              <a:buNone/>
              <a:defRPr sz="1800" b="1">
                <a:solidFill>
                  <a:srgbClr val="18201D"/>
                </a:solidFill>
                <a:latin typeface="Arial"/>
                <a:ea typeface="Arial"/>
                <a:cs typeface="Arial"/>
              </a:defRPr>
            </a:lvl6pPr>
            <a:lvl7pPr algn="ctr">
              <a:buNone/>
              <a:defRPr sz="1800" b="1">
                <a:solidFill>
                  <a:srgbClr val="18201D"/>
                </a:solidFill>
                <a:latin typeface="Arial"/>
                <a:ea typeface="Arial"/>
                <a:cs typeface="Arial"/>
              </a:defRPr>
            </a:lvl7pPr>
            <a:lvl8pPr algn="ctr">
              <a:buNone/>
              <a:defRPr sz="1800" b="1">
                <a:solidFill>
                  <a:srgbClr val="18201D"/>
                </a:solidFill>
                <a:latin typeface="Arial"/>
                <a:ea typeface="Arial"/>
                <a:cs typeface="Arial"/>
              </a:defRPr>
            </a:lvl8pPr>
            <a:lvl9pPr algn="ctr">
              <a:buNone/>
              <a:defRPr sz="1800" b="1">
                <a:solidFill>
                  <a:srgbClr val="18201D"/>
                </a:solidFill>
                <a:latin typeface="Arial"/>
                <a:ea typeface="Arial"/>
                <a:cs typeface="Arial"/>
              </a:defRPr>
            </a:lvl9pPr>
          </a:lstStyle>
          <a:p>
            <a:pPr algn="ctr">
              <a:buNone/>
              <a:defRPr sz="1800" b="1">
                <a:solidFill>
                  <a:srgbClr val="18201D"/>
                </a:solidFill>
                <a:latin typeface="Arial"/>
                <a:ea typeface="Arial"/>
                <a:cs typeface="Arial"/>
              </a:defRPr>
            </a:pPr>
            <a:r>
              <a:rPr sz="1800" b="1">
                <a:solidFill>
                  <a:srgbClr val="18201D"/>
                </a:solidFill>
                <a:latin typeface="Outfit"/>
                <a:ea typeface="Arial"/>
                <a:cs typeface="Arial"/>
              </a:rPr>
              <a:t>APs / liquidity</a:t>
            </a:r>
            <a:endParaRPr/>
          </a:p>
          <a:p>
            <a:pPr algn="ctr">
              <a:buNone/>
              <a:defRPr sz="1800" b="1">
                <a:solidFill>
                  <a:srgbClr val="18201D"/>
                </a:solidFill>
                <a:latin typeface="Arial"/>
                <a:ea typeface="Arial"/>
                <a:cs typeface="Arial"/>
              </a:defRPr>
            </a:pPr>
            <a:r>
              <a:rPr sz="1800" b="1">
                <a:solidFill>
                  <a:srgbClr val="18201D"/>
                </a:solidFill>
                <a:latin typeface="Outfit"/>
                <a:ea typeface="Arial"/>
                <a:cs typeface="Arial"/>
              </a:rPr>
              <a:t>providers</a:t>
            </a:r>
            <a:endParaRPr/>
          </a:p>
        </p:txBody>
      </p:sp>
      <p:cxnSp>
        <p:nvCxnSpPr>
          <p:cNvPr id="1812410683" name="diagram-line-12"/>
          <p:cNvCxnSpPr/>
          <p:nvPr/>
        </p:nvCxnSpPr>
        <p:spPr bwMode="auto">
          <a:xfrm>
            <a:off x="4724399" y="3190875"/>
            <a:ext cx="0" cy="457200"/>
          </a:xfrm>
          <a:prstGeom prst="straightConnector1">
            <a:avLst/>
          </a:prstGeom>
          <a:ln w="19050">
            <a:solidFill>
              <a:srgbClr val="7C3AED"/>
            </a:solidFill>
            <a:prstDash val="solid"/>
            <a:tailEnd type="triangle" w="sm" len="sm"/>
          </a:ln>
        </p:spPr>
      </p:cxnSp>
      <p:sp>
        <p:nvSpPr>
          <p:cNvPr id="2026072877" name="participant-head-13"/>
          <p:cNvSpPr>
            <a:spLocks noGrp="1"/>
          </p:cNvSpPr>
          <p:nvPr/>
        </p:nvSpPr>
        <p:spPr bwMode="auto">
          <a:xfrm>
            <a:off x="7372350" y="2143125"/>
            <a:ext cx="190500" cy="190500"/>
          </a:xfrm>
          <a:prstGeom prst="ellipse">
            <a:avLst/>
          </a:prstGeom>
          <a:solidFill>
            <a:srgbClr val="18201D"/>
          </a:solidFill>
          <a:ln w="0">
            <a:solidFill/>
            <a:prstDash val="solid"/>
          </a:ln>
        </p:spPr>
        <p:txBody>
          <a:bodyPr/>
          <a:p/>
        </p:txBody>
      </p:sp>
      <p:sp>
        <p:nvSpPr>
          <p:cNvPr id="1979999488" name="participant-body-14"/>
          <p:cNvSpPr>
            <a:spLocks noGrp="1"/>
          </p:cNvSpPr>
          <p:nvPr/>
        </p:nvSpPr>
        <p:spPr bwMode="auto">
          <a:xfrm>
            <a:off x="7296149" y="2362199"/>
            <a:ext cx="342900" cy="180975"/>
          </a:xfrm>
          <a:prstGeom prst="roundRect">
            <a:avLst>
              <a:gd name="adj" fmla="val 42105"/>
            </a:avLst>
          </a:prstGeom>
          <a:solidFill>
            <a:srgbClr val="18201D"/>
          </a:solidFill>
          <a:ln w="0">
            <a:solidFill/>
            <a:prstDash val="solid"/>
          </a:ln>
        </p:spPr>
        <p:txBody>
          <a:bodyPr/>
          <a:p/>
        </p:txBody>
      </p:sp>
      <p:sp>
        <p:nvSpPr>
          <p:cNvPr id="1126240862" name="dlt-text-15"/>
          <p:cNvSpPr>
            <a:spLocks noGrp="1"/>
          </p:cNvSpPr>
          <p:nvPr/>
        </p:nvSpPr>
        <p:spPr bwMode="auto">
          <a:xfrm>
            <a:off x="6267450" y="2600325"/>
            <a:ext cx="2400300" cy="571500"/>
          </a:xfrm>
          <a:prstGeom prst="rect">
            <a:avLst/>
          </a:prstGeom>
          <a:noFill/>
          <a:ln w="0">
            <a:solidFill/>
            <a:prstDash val="solid"/>
          </a:ln>
        </p:spPr>
        <p:txBody>
          <a:bodyPr wrap="square" lIns="0" tIns="0" rIns="0" bIns="0" anchor="t">
            <a:noAutofit/>
          </a:bodyPr>
          <a:lstStyle>
            <a:defPPr algn="ctr">
              <a:defRPr sz="1800" b="1">
                <a:solidFill>
                  <a:srgbClr val="18201D"/>
                </a:solidFill>
                <a:latin typeface="Arial"/>
                <a:ea typeface="Arial"/>
                <a:cs typeface="Arial"/>
              </a:defRPr>
            </a:defPPr>
            <a:lvl1pPr algn="ctr">
              <a:buNone/>
              <a:defRPr sz="1800" b="1">
                <a:solidFill>
                  <a:srgbClr val="18201D"/>
                </a:solidFill>
                <a:latin typeface="Arial"/>
                <a:ea typeface="Arial"/>
                <a:cs typeface="Arial"/>
              </a:defRPr>
            </a:lvl1pPr>
            <a:lvl2pPr algn="ctr">
              <a:buNone/>
              <a:defRPr sz="1800" b="1">
                <a:solidFill>
                  <a:srgbClr val="18201D"/>
                </a:solidFill>
                <a:latin typeface="Arial"/>
                <a:ea typeface="Arial"/>
                <a:cs typeface="Arial"/>
              </a:defRPr>
            </a:lvl2pPr>
            <a:lvl3pPr algn="ctr">
              <a:buNone/>
              <a:defRPr sz="1800" b="1">
                <a:solidFill>
                  <a:srgbClr val="18201D"/>
                </a:solidFill>
                <a:latin typeface="Arial"/>
                <a:ea typeface="Arial"/>
                <a:cs typeface="Arial"/>
              </a:defRPr>
            </a:lvl3pPr>
            <a:lvl4pPr algn="ctr">
              <a:buNone/>
              <a:defRPr sz="1800" b="1">
                <a:solidFill>
                  <a:srgbClr val="18201D"/>
                </a:solidFill>
                <a:latin typeface="Arial"/>
                <a:ea typeface="Arial"/>
                <a:cs typeface="Arial"/>
              </a:defRPr>
            </a:lvl4pPr>
            <a:lvl5pPr algn="ctr">
              <a:buNone/>
              <a:defRPr sz="1800" b="1">
                <a:solidFill>
                  <a:srgbClr val="18201D"/>
                </a:solidFill>
                <a:latin typeface="Arial"/>
                <a:ea typeface="Arial"/>
                <a:cs typeface="Arial"/>
              </a:defRPr>
            </a:lvl5pPr>
            <a:lvl6pPr algn="ctr">
              <a:buNone/>
              <a:defRPr sz="1800" b="1">
                <a:solidFill>
                  <a:srgbClr val="18201D"/>
                </a:solidFill>
                <a:latin typeface="Arial"/>
                <a:ea typeface="Arial"/>
                <a:cs typeface="Arial"/>
              </a:defRPr>
            </a:lvl6pPr>
            <a:lvl7pPr algn="ctr">
              <a:buNone/>
              <a:defRPr sz="1800" b="1">
                <a:solidFill>
                  <a:srgbClr val="18201D"/>
                </a:solidFill>
                <a:latin typeface="Arial"/>
                <a:ea typeface="Arial"/>
                <a:cs typeface="Arial"/>
              </a:defRPr>
            </a:lvl7pPr>
            <a:lvl8pPr algn="ctr">
              <a:buNone/>
              <a:defRPr sz="1800" b="1">
                <a:solidFill>
                  <a:srgbClr val="18201D"/>
                </a:solidFill>
                <a:latin typeface="Arial"/>
                <a:ea typeface="Arial"/>
                <a:cs typeface="Arial"/>
              </a:defRPr>
            </a:lvl8pPr>
            <a:lvl9pPr algn="ctr">
              <a:buNone/>
              <a:defRPr sz="1800" b="1">
                <a:solidFill>
                  <a:srgbClr val="18201D"/>
                </a:solidFill>
                <a:latin typeface="Arial"/>
                <a:ea typeface="Arial"/>
                <a:cs typeface="Arial"/>
              </a:defRPr>
            </a:lvl9pPr>
          </a:lstStyle>
          <a:p>
            <a:pPr algn="ctr">
              <a:buNone/>
              <a:defRPr sz="1800" b="1">
                <a:solidFill>
                  <a:srgbClr val="18201D"/>
                </a:solidFill>
                <a:latin typeface="Arial"/>
                <a:ea typeface="Arial"/>
                <a:cs typeface="Arial"/>
              </a:defRPr>
            </a:pPr>
            <a:r>
              <a:rPr sz="1800" b="1">
                <a:solidFill>
                  <a:srgbClr val="18201D"/>
                </a:solidFill>
                <a:latin typeface="Outfit"/>
                <a:ea typeface="Arial"/>
                <a:cs typeface="Arial"/>
              </a:rPr>
              <a:t>Issuer /</a:t>
            </a:r>
            <a:endParaRPr/>
          </a:p>
          <a:p>
            <a:pPr algn="ctr">
              <a:buNone/>
              <a:defRPr sz="1800" b="1">
                <a:solidFill>
                  <a:srgbClr val="18201D"/>
                </a:solidFill>
                <a:latin typeface="Arial"/>
                <a:ea typeface="Arial"/>
                <a:cs typeface="Arial"/>
              </a:defRPr>
            </a:pPr>
            <a:r>
              <a:rPr sz="1800" b="1">
                <a:solidFill>
                  <a:srgbClr val="18201D"/>
                </a:solidFill>
                <a:latin typeface="Outfit"/>
                <a:ea typeface="Arial"/>
                <a:cs typeface="Arial"/>
              </a:rPr>
              <a:t>registrar</a:t>
            </a:r>
            <a:endParaRPr/>
          </a:p>
        </p:txBody>
      </p:sp>
      <p:cxnSp>
        <p:nvCxnSpPr>
          <p:cNvPr id="733785684" name="diagram-line-16"/>
          <p:cNvCxnSpPr/>
          <p:nvPr/>
        </p:nvCxnSpPr>
        <p:spPr bwMode="auto">
          <a:xfrm>
            <a:off x="7467600" y="3190875"/>
            <a:ext cx="0" cy="457200"/>
          </a:xfrm>
          <a:prstGeom prst="straightConnector1">
            <a:avLst/>
          </a:prstGeom>
          <a:ln w="19050">
            <a:solidFill>
              <a:srgbClr val="7C3AED"/>
            </a:solidFill>
            <a:prstDash val="solid"/>
            <a:tailEnd type="triangle" w="sm" len="sm"/>
          </a:ln>
        </p:spPr>
      </p:cxnSp>
      <p:sp>
        <p:nvSpPr>
          <p:cNvPr id="1423124036" name="participant-head-17"/>
          <p:cNvSpPr>
            <a:spLocks noGrp="1"/>
          </p:cNvSpPr>
          <p:nvPr/>
        </p:nvSpPr>
        <p:spPr bwMode="auto">
          <a:xfrm>
            <a:off x="10115550" y="2143125"/>
            <a:ext cx="190500" cy="190500"/>
          </a:xfrm>
          <a:prstGeom prst="ellipse">
            <a:avLst/>
          </a:prstGeom>
          <a:solidFill>
            <a:srgbClr val="18201D"/>
          </a:solidFill>
          <a:ln w="0">
            <a:solidFill/>
            <a:prstDash val="solid"/>
          </a:ln>
        </p:spPr>
        <p:txBody>
          <a:bodyPr/>
          <a:p/>
        </p:txBody>
      </p:sp>
      <p:sp>
        <p:nvSpPr>
          <p:cNvPr id="1599867845" name="participant-body-18"/>
          <p:cNvSpPr>
            <a:spLocks noGrp="1"/>
          </p:cNvSpPr>
          <p:nvPr/>
        </p:nvSpPr>
        <p:spPr bwMode="auto">
          <a:xfrm>
            <a:off x="10039350" y="2362199"/>
            <a:ext cx="342900" cy="180975"/>
          </a:xfrm>
          <a:prstGeom prst="roundRect">
            <a:avLst>
              <a:gd name="adj" fmla="val 42105"/>
            </a:avLst>
          </a:prstGeom>
          <a:solidFill>
            <a:srgbClr val="18201D"/>
          </a:solidFill>
          <a:ln w="0">
            <a:solidFill/>
            <a:prstDash val="solid"/>
          </a:ln>
        </p:spPr>
        <p:txBody>
          <a:bodyPr/>
          <a:p/>
        </p:txBody>
      </p:sp>
      <p:sp>
        <p:nvSpPr>
          <p:cNvPr id="1672667370" name="dlt-text-19"/>
          <p:cNvSpPr>
            <a:spLocks noGrp="1"/>
          </p:cNvSpPr>
          <p:nvPr/>
        </p:nvSpPr>
        <p:spPr bwMode="auto">
          <a:xfrm>
            <a:off x="9010650" y="2600325"/>
            <a:ext cx="2400300" cy="571500"/>
          </a:xfrm>
          <a:prstGeom prst="rect">
            <a:avLst/>
          </a:prstGeom>
          <a:noFill/>
          <a:ln w="0">
            <a:solidFill/>
            <a:prstDash val="solid"/>
          </a:ln>
        </p:spPr>
        <p:txBody>
          <a:bodyPr wrap="square" lIns="0" tIns="0" rIns="0" bIns="0" anchor="t">
            <a:noAutofit/>
          </a:bodyPr>
          <a:lstStyle>
            <a:defPPr algn="ctr">
              <a:defRPr sz="1800" b="1">
                <a:solidFill>
                  <a:srgbClr val="18201D"/>
                </a:solidFill>
                <a:latin typeface="Arial"/>
                <a:ea typeface="Arial"/>
                <a:cs typeface="Arial"/>
              </a:defRPr>
            </a:defPPr>
            <a:lvl1pPr algn="ctr">
              <a:buNone/>
              <a:defRPr sz="1800" b="1">
                <a:solidFill>
                  <a:srgbClr val="18201D"/>
                </a:solidFill>
                <a:latin typeface="Arial"/>
                <a:ea typeface="Arial"/>
                <a:cs typeface="Arial"/>
              </a:defRPr>
            </a:lvl1pPr>
            <a:lvl2pPr algn="ctr">
              <a:buNone/>
              <a:defRPr sz="1800" b="1">
                <a:solidFill>
                  <a:srgbClr val="18201D"/>
                </a:solidFill>
                <a:latin typeface="Arial"/>
                <a:ea typeface="Arial"/>
                <a:cs typeface="Arial"/>
              </a:defRPr>
            </a:lvl2pPr>
            <a:lvl3pPr algn="ctr">
              <a:buNone/>
              <a:defRPr sz="1800" b="1">
                <a:solidFill>
                  <a:srgbClr val="18201D"/>
                </a:solidFill>
                <a:latin typeface="Arial"/>
                <a:ea typeface="Arial"/>
                <a:cs typeface="Arial"/>
              </a:defRPr>
            </a:lvl3pPr>
            <a:lvl4pPr algn="ctr">
              <a:buNone/>
              <a:defRPr sz="1800" b="1">
                <a:solidFill>
                  <a:srgbClr val="18201D"/>
                </a:solidFill>
                <a:latin typeface="Arial"/>
                <a:ea typeface="Arial"/>
                <a:cs typeface="Arial"/>
              </a:defRPr>
            </a:lvl4pPr>
            <a:lvl5pPr algn="ctr">
              <a:buNone/>
              <a:defRPr sz="1800" b="1">
                <a:solidFill>
                  <a:srgbClr val="18201D"/>
                </a:solidFill>
                <a:latin typeface="Arial"/>
                <a:ea typeface="Arial"/>
                <a:cs typeface="Arial"/>
              </a:defRPr>
            </a:lvl5pPr>
            <a:lvl6pPr algn="ctr">
              <a:buNone/>
              <a:defRPr sz="1800" b="1">
                <a:solidFill>
                  <a:srgbClr val="18201D"/>
                </a:solidFill>
                <a:latin typeface="Arial"/>
                <a:ea typeface="Arial"/>
                <a:cs typeface="Arial"/>
              </a:defRPr>
            </a:lvl6pPr>
            <a:lvl7pPr algn="ctr">
              <a:buNone/>
              <a:defRPr sz="1800" b="1">
                <a:solidFill>
                  <a:srgbClr val="18201D"/>
                </a:solidFill>
                <a:latin typeface="Arial"/>
                <a:ea typeface="Arial"/>
                <a:cs typeface="Arial"/>
              </a:defRPr>
            </a:lvl7pPr>
            <a:lvl8pPr algn="ctr">
              <a:buNone/>
              <a:defRPr sz="1800" b="1">
                <a:solidFill>
                  <a:srgbClr val="18201D"/>
                </a:solidFill>
                <a:latin typeface="Arial"/>
                <a:ea typeface="Arial"/>
                <a:cs typeface="Arial"/>
              </a:defRPr>
            </a:lvl8pPr>
            <a:lvl9pPr algn="ctr">
              <a:buNone/>
              <a:defRPr sz="1800" b="1">
                <a:solidFill>
                  <a:srgbClr val="18201D"/>
                </a:solidFill>
                <a:latin typeface="Arial"/>
                <a:ea typeface="Arial"/>
                <a:cs typeface="Arial"/>
              </a:defRPr>
            </a:lvl9pPr>
          </a:lstStyle>
          <a:p>
            <a:pPr algn="ctr">
              <a:buNone/>
              <a:defRPr sz="1800" b="1">
                <a:solidFill>
                  <a:srgbClr val="18201D"/>
                </a:solidFill>
                <a:latin typeface="Arial"/>
                <a:ea typeface="Arial"/>
                <a:cs typeface="Arial"/>
              </a:defRPr>
            </a:pPr>
            <a:r>
              <a:rPr sz="1800" b="1">
                <a:solidFill>
                  <a:srgbClr val="18201D"/>
                </a:solidFill>
                <a:latin typeface="Outfit"/>
                <a:ea typeface="Arial"/>
                <a:cs typeface="Arial"/>
              </a:rPr>
              <a:t>Custody, cash</a:t>
            </a:r>
            <a:endParaRPr/>
          </a:p>
          <a:p>
            <a:pPr algn="ctr">
              <a:buNone/>
              <a:defRPr sz="1800" b="1">
                <a:solidFill>
                  <a:srgbClr val="18201D"/>
                </a:solidFill>
                <a:latin typeface="Arial"/>
                <a:ea typeface="Arial"/>
                <a:cs typeface="Arial"/>
              </a:defRPr>
            </a:pPr>
            <a:r>
              <a:rPr sz="1800" b="1">
                <a:solidFill>
                  <a:srgbClr val="18201D"/>
                </a:solidFill>
                <a:latin typeface="Outfit"/>
                <a:ea typeface="Arial"/>
                <a:cs typeface="Arial"/>
              </a:rPr>
              <a:t>and FX partners</a:t>
            </a:r>
            <a:endParaRPr/>
          </a:p>
        </p:txBody>
      </p:sp>
      <p:cxnSp>
        <p:nvCxnSpPr>
          <p:cNvPr id="716316829" name="diagram-line-20"/>
          <p:cNvCxnSpPr/>
          <p:nvPr/>
        </p:nvCxnSpPr>
        <p:spPr bwMode="auto">
          <a:xfrm>
            <a:off x="10210800" y="3190875"/>
            <a:ext cx="0" cy="457200"/>
          </a:xfrm>
          <a:prstGeom prst="straightConnector1">
            <a:avLst/>
          </a:prstGeom>
          <a:ln w="19050">
            <a:solidFill>
              <a:srgbClr val="7C3AED"/>
            </a:solidFill>
            <a:prstDash val="solid"/>
            <a:tailEnd type="triangle" w="sm" len="sm"/>
          </a:ln>
        </p:spPr>
      </p:cxnSp>
      <p:sp>
        <p:nvSpPr>
          <p:cNvPr id="1665212864" name="orchestration-21"/>
          <p:cNvSpPr>
            <a:spLocks noGrp="1"/>
          </p:cNvSpPr>
          <p:nvPr/>
        </p:nvSpPr>
        <p:spPr bwMode="auto">
          <a:xfrm>
            <a:off x="609600" y="3695700"/>
            <a:ext cx="10972800" cy="971550"/>
          </a:xfrm>
          <a:prstGeom prst="rect">
            <a:avLst/>
          </a:prstGeom>
          <a:solidFill>
            <a:srgbClr val="FFFFFF"/>
          </a:solidFill>
          <a:ln w="13335">
            <a:solidFill>
              <a:srgbClr val="D7DFDA"/>
            </a:solidFill>
            <a:prstDash val="solid"/>
          </a:ln>
        </p:spPr>
        <p:txBody>
          <a:bodyPr/>
          <a:p/>
        </p:txBody>
      </p:sp>
      <p:sp>
        <p:nvSpPr>
          <p:cNvPr id="1053987450" name="dlt-text-22"/>
          <p:cNvSpPr>
            <a:spLocks noGrp="1"/>
          </p:cNvSpPr>
          <p:nvPr/>
        </p:nvSpPr>
        <p:spPr bwMode="auto">
          <a:xfrm>
            <a:off x="800100" y="3810000"/>
            <a:ext cx="10382250" cy="381000"/>
          </a:xfrm>
          <a:prstGeom prst="rect">
            <a:avLst/>
          </a:prstGeom>
          <a:noFill/>
          <a:ln w="0">
            <a:solidFill/>
            <a:prstDash val="solid"/>
          </a:ln>
        </p:spPr>
        <p:txBody>
          <a:bodyPr wrap="square" lIns="0" tIns="0" rIns="0" bIns="0" anchor="t">
            <a:noAutofit/>
          </a:bodyPr>
          <a:lstStyle>
            <a:defPPr algn="l">
              <a:defRPr sz="2100" b="1">
                <a:solidFill>
                  <a:srgbClr val="0DBE85"/>
                </a:solidFill>
                <a:latin typeface="Arial"/>
                <a:ea typeface="Arial"/>
                <a:cs typeface="Arial"/>
              </a:defRPr>
            </a:defPPr>
            <a:lvl1pPr algn="l">
              <a:buNone/>
              <a:defRPr sz="2100" b="1">
                <a:solidFill>
                  <a:srgbClr val="0DBE85"/>
                </a:solidFill>
                <a:latin typeface="Arial"/>
                <a:ea typeface="Arial"/>
                <a:cs typeface="Arial"/>
              </a:defRPr>
            </a:lvl1pPr>
            <a:lvl2pPr algn="l">
              <a:buNone/>
              <a:defRPr sz="2100" b="1">
                <a:solidFill>
                  <a:srgbClr val="0DBE85"/>
                </a:solidFill>
                <a:latin typeface="Arial"/>
                <a:ea typeface="Arial"/>
                <a:cs typeface="Arial"/>
              </a:defRPr>
            </a:lvl2pPr>
            <a:lvl3pPr algn="l">
              <a:buNone/>
              <a:defRPr sz="2100" b="1">
                <a:solidFill>
                  <a:srgbClr val="0DBE85"/>
                </a:solidFill>
                <a:latin typeface="Arial"/>
                <a:ea typeface="Arial"/>
                <a:cs typeface="Arial"/>
              </a:defRPr>
            </a:lvl3pPr>
            <a:lvl4pPr algn="l">
              <a:buNone/>
              <a:defRPr sz="2100" b="1">
                <a:solidFill>
                  <a:srgbClr val="0DBE85"/>
                </a:solidFill>
                <a:latin typeface="Arial"/>
                <a:ea typeface="Arial"/>
                <a:cs typeface="Arial"/>
              </a:defRPr>
            </a:lvl4pPr>
            <a:lvl5pPr algn="l">
              <a:buNone/>
              <a:defRPr sz="2100" b="1">
                <a:solidFill>
                  <a:srgbClr val="0DBE85"/>
                </a:solidFill>
                <a:latin typeface="Arial"/>
                <a:ea typeface="Arial"/>
                <a:cs typeface="Arial"/>
              </a:defRPr>
            </a:lvl5pPr>
            <a:lvl6pPr algn="l">
              <a:buNone/>
              <a:defRPr sz="2100" b="1">
                <a:solidFill>
                  <a:srgbClr val="0DBE85"/>
                </a:solidFill>
                <a:latin typeface="Arial"/>
                <a:ea typeface="Arial"/>
                <a:cs typeface="Arial"/>
              </a:defRPr>
            </a:lvl6pPr>
            <a:lvl7pPr algn="l">
              <a:buNone/>
              <a:defRPr sz="2100" b="1">
                <a:solidFill>
                  <a:srgbClr val="0DBE85"/>
                </a:solidFill>
                <a:latin typeface="Arial"/>
                <a:ea typeface="Arial"/>
                <a:cs typeface="Arial"/>
              </a:defRPr>
            </a:lvl7pPr>
            <a:lvl8pPr algn="l">
              <a:buNone/>
              <a:defRPr sz="2100" b="1">
                <a:solidFill>
                  <a:srgbClr val="0DBE85"/>
                </a:solidFill>
                <a:latin typeface="Arial"/>
                <a:ea typeface="Arial"/>
                <a:cs typeface="Arial"/>
              </a:defRPr>
            </a:lvl8pPr>
            <a:lvl9pPr algn="l">
              <a:buNone/>
              <a:defRPr sz="2100" b="1">
                <a:solidFill>
                  <a:srgbClr val="0DBE85"/>
                </a:solidFill>
                <a:latin typeface="Arial"/>
                <a:ea typeface="Arial"/>
                <a:cs typeface="Arial"/>
              </a:defRPr>
            </a:lvl9pPr>
          </a:lstStyle>
          <a:p>
            <a:pPr algn="l">
              <a:buNone/>
              <a:defRPr sz="2100" b="1">
                <a:solidFill>
                  <a:srgbClr val="0DBE85"/>
                </a:solidFill>
                <a:latin typeface="Arial"/>
                <a:ea typeface="Arial"/>
                <a:cs typeface="Arial"/>
              </a:defRPr>
            </a:pPr>
            <a:r>
              <a:rPr sz="2100" b="1">
                <a:solidFill>
                  <a:srgbClr val="0DBE85"/>
                </a:solidFill>
                <a:latin typeface="Outfit"/>
                <a:ea typeface="Arial"/>
                <a:cs typeface="Arial"/>
              </a:rPr>
              <a:t>D-SHARE receipt and cash orchestration</a:t>
            </a:r>
            <a:endParaRPr/>
          </a:p>
        </p:txBody>
      </p:sp>
      <p:sp>
        <p:nvSpPr>
          <p:cNvPr id="1392636659" name="dlt-text-23"/>
          <p:cNvSpPr>
            <a:spLocks noGrp="1"/>
          </p:cNvSpPr>
          <p:nvPr/>
        </p:nvSpPr>
        <p:spPr bwMode="auto">
          <a:xfrm>
            <a:off x="800100" y="4229100"/>
            <a:ext cx="10382250" cy="333375"/>
          </a:xfrm>
          <a:prstGeom prst="rect">
            <a:avLst/>
          </a:prstGeom>
          <a:noFill/>
          <a:ln w="0">
            <a:solidFill/>
            <a:prstDash val="solid"/>
          </a:ln>
        </p:spPr>
        <p:txBody>
          <a:bodyPr wrap="square" lIns="0" tIns="0" rIns="0" bIns="0" anchor="t">
            <a:noAutofit/>
          </a:bodyPr>
          <a:lstStyle>
            <a:defPPr algn="l">
              <a:defRPr sz="1800" b="0">
                <a:solidFill>
                  <a:srgbClr val="18201D"/>
                </a:solidFill>
                <a:latin typeface="Arial"/>
                <a:ea typeface="Arial"/>
                <a:cs typeface="Arial"/>
              </a:defRPr>
            </a:defPPr>
            <a:lvl1pPr algn="l">
              <a:buNone/>
              <a:defRPr sz="1800" b="0">
                <a:solidFill>
                  <a:srgbClr val="18201D"/>
                </a:solidFill>
                <a:latin typeface="Arial"/>
                <a:ea typeface="Arial"/>
                <a:cs typeface="Arial"/>
              </a:defRPr>
            </a:lvl1pPr>
            <a:lvl2pPr algn="l">
              <a:buNone/>
              <a:defRPr sz="1800" b="0">
                <a:solidFill>
                  <a:srgbClr val="18201D"/>
                </a:solidFill>
                <a:latin typeface="Arial"/>
                <a:ea typeface="Arial"/>
                <a:cs typeface="Arial"/>
              </a:defRPr>
            </a:lvl2pPr>
            <a:lvl3pPr algn="l">
              <a:buNone/>
              <a:defRPr sz="1800" b="0">
                <a:solidFill>
                  <a:srgbClr val="18201D"/>
                </a:solidFill>
                <a:latin typeface="Arial"/>
                <a:ea typeface="Arial"/>
                <a:cs typeface="Arial"/>
              </a:defRPr>
            </a:lvl3pPr>
            <a:lvl4pPr algn="l">
              <a:buNone/>
              <a:defRPr sz="1800" b="0">
                <a:solidFill>
                  <a:srgbClr val="18201D"/>
                </a:solidFill>
                <a:latin typeface="Arial"/>
                <a:ea typeface="Arial"/>
                <a:cs typeface="Arial"/>
              </a:defRPr>
            </a:lvl4pPr>
            <a:lvl5pPr algn="l">
              <a:buNone/>
              <a:defRPr sz="1800" b="0">
                <a:solidFill>
                  <a:srgbClr val="18201D"/>
                </a:solidFill>
                <a:latin typeface="Arial"/>
                <a:ea typeface="Arial"/>
                <a:cs typeface="Arial"/>
              </a:defRPr>
            </a:lvl5pPr>
            <a:lvl6pPr algn="l">
              <a:buNone/>
              <a:defRPr sz="1800" b="0">
                <a:solidFill>
                  <a:srgbClr val="18201D"/>
                </a:solidFill>
                <a:latin typeface="Arial"/>
                <a:ea typeface="Arial"/>
                <a:cs typeface="Arial"/>
              </a:defRPr>
            </a:lvl6pPr>
            <a:lvl7pPr algn="l">
              <a:buNone/>
              <a:defRPr sz="1800" b="0">
                <a:solidFill>
                  <a:srgbClr val="18201D"/>
                </a:solidFill>
                <a:latin typeface="Arial"/>
                <a:ea typeface="Arial"/>
                <a:cs typeface="Arial"/>
              </a:defRPr>
            </a:lvl7pPr>
            <a:lvl8pPr algn="l">
              <a:buNone/>
              <a:defRPr sz="1800" b="0">
                <a:solidFill>
                  <a:srgbClr val="18201D"/>
                </a:solidFill>
                <a:latin typeface="Arial"/>
                <a:ea typeface="Arial"/>
                <a:cs typeface="Arial"/>
              </a:defRPr>
            </a:lvl8pPr>
            <a:lvl9pPr algn="l">
              <a:buNone/>
              <a:defRPr sz="1800" b="0">
                <a:solidFill>
                  <a:srgbClr val="18201D"/>
                </a:solidFill>
                <a:latin typeface="Arial"/>
                <a:ea typeface="Arial"/>
                <a:cs typeface="Arial"/>
              </a:defRPr>
            </a:lvl9pPr>
          </a:lstStyle>
          <a:p>
            <a:pPr algn="l">
              <a:buNone/>
              <a:defRPr sz="1800" b="0">
                <a:solidFill>
                  <a:srgbClr val="18201D"/>
                </a:solidFill>
                <a:latin typeface="Arial"/>
                <a:ea typeface="Arial"/>
                <a:cs typeface="Arial"/>
              </a:defRPr>
            </a:pPr>
            <a:r>
              <a:rPr sz="1800" b="0">
                <a:solidFill>
                  <a:srgbClr val="18201D"/>
                </a:solidFill>
                <a:latin typeface="Plus Jakarta Sans"/>
                <a:ea typeface="Arial"/>
                <a:cs typeface="Arial"/>
              </a:rPr>
              <a:t>Eligibility and rights     Receipt approvals     Cash-asset / FX controls</a:t>
            </a:r>
            <a:endParaRPr/>
          </a:p>
        </p:txBody>
      </p:sp>
      <p:cxnSp>
        <p:nvCxnSpPr>
          <p:cNvPr id="914908055" name="diagram-line-24"/>
          <p:cNvCxnSpPr/>
          <p:nvPr/>
        </p:nvCxnSpPr>
        <p:spPr bwMode="auto">
          <a:xfrm>
            <a:off x="4181475" y="4667250"/>
            <a:ext cx="0" cy="581025"/>
          </a:xfrm>
          <a:prstGeom prst="straightConnector1">
            <a:avLst/>
          </a:prstGeom>
          <a:ln w="19050">
            <a:solidFill>
              <a:srgbClr val="7C3AED"/>
            </a:solidFill>
            <a:prstDash val="solid"/>
            <a:tailEnd type="triangle" w="sm" len="sm"/>
          </a:ln>
        </p:spPr>
      </p:cxnSp>
      <p:cxnSp>
        <p:nvCxnSpPr>
          <p:cNvPr id="1227112894" name="diagram-line-25"/>
          <p:cNvCxnSpPr/>
          <p:nvPr/>
        </p:nvCxnSpPr>
        <p:spPr bwMode="auto">
          <a:xfrm>
            <a:off x="9896475" y="4667250"/>
            <a:ext cx="0" cy="581025"/>
          </a:xfrm>
          <a:prstGeom prst="straightConnector1">
            <a:avLst/>
          </a:prstGeom>
          <a:ln w="19050">
            <a:solidFill>
              <a:srgbClr val="7C3AED"/>
            </a:solidFill>
            <a:prstDash val="solid"/>
            <a:tailEnd type="triangle" w="sm" len="sm"/>
          </a:ln>
        </p:spPr>
      </p:cxnSp>
      <p:sp>
        <p:nvSpPr>
          <p:cNvPr id="880906419" name="permissioned-ledger-26"/>
          <p:cNvSpPr>
            <a:spLocks noGrp="1"/>
          </p:cNvSpPr>
          <p:nvPr/>
        </p:nvSpPr>
        <p:spPr bwMode="auto">
          <a:xfrm>
            <a:off x="609600" y="5238750"/>
            <a:ext cx="7143750" cy="819150"/>
          </a:xfrm>
          <a:prstGeom prst="rect">
            <a:avLst/>
          </a:prstGeom>
          <a:solidFill>
            <a:srgbClr val="ECFEFF"/>
          </a:solidFill>
          <a:ln w="13335">
            <a:solidFill>
              <a:srgbClr val="0891B2"/>
            </a:solidFill>
            <a:prstDash val="solid"/>
          </a:ln>
        </p:spPr>
        <p:txBody>
          <a:bodyPr/>
          <a:p/>
        </p:txBody>
      </p:sp>
      <p:sp>
        <p:nvSpPr>
          <p:cNvPr id="896849717" name="dlt-text-27"/>
          <p:cNvSpPr>
            <a:spLocks noGrp="1"/>
          </p:cNvSpPr>
          <p:nvPr/>
        </p:nvSpPr>
        <p:spPr bwMode="auto">
          <a:xfrm>
            <a:off x="800100" y="5353050"/>
            <a:ext cx="6762750" cy="333375"/>
          </a:xfrm>
          <a:prstGeom prst="rect">
            <a:avLst/>
          </a:prstGeom>
          <a:noFill/>
          <a:ln w="0">
            <a:solidFill/>
            <a:prstDash val="solid"/>
          </a:ln>
        </p:spPr>
        <p:txBody>
          <a:bodyPr wrap="square" lIns="0" tIns="0" rIns="0" bIns="0" anchor="t">
            <a:noAutofit/>
          </a:bodyPr>
          <a:lstStyle>
            <a:defPPr algn="l">
              <a:defRPr sz="2050" b="1">
                <a:solidFill>
                  <a:srgbClr val="18201D"/>
                </a:solidFill>
                <a:latin typeface="Arial"/>
                <a:ea typeface="Arial"/>
                <a:cs typeface="Arial"/>
              </a:defRPr>
            </a:defPPr>
            <a:lvl1pPr algn="l">
              <a:buNone/>
              <a:defRPr sz="2050" b="1">
                <a:solidFill>
                  <a:srgbClr val="18201D"/>
                </a:solidFill>
                <a:latin typeface="Arial"/>
                <a:ea typeface="Arial"/>
                <a:cs typeface="Arial"/>
              </a:defRPr>
            </a:lvl1pPr>
            <a:lvl2pPr algn="l">
              <a:buNone/>
              <a:defRPr sz="2050" b="1">
                <a:solidFill>
                  <a:srgbClr val="18201D"/>
                </a:solidFill>
                <a:latin typeface="Arial"/>
                <a:ea typeface="Arial"/>
                <a:cs typeface="Arial"/>
              </a:defRPr>
            </a:lvl2pPr>
            <a:lvl3pPr algn="l">
              <a:buNone/>
              <a:defRPr sz="2050" b="1">
                <a:solidFill>
                  <a:srgbClr val="18201D"/>
                </a:solidFill>
                <a:latin typeface="Arial"/>
                <a:ea typeface="Arial"/>
                <a:cs typeface="Arial"/>
              </a:defRPr>
            </a:lvl3pPr>
            <a:lvl4pPr algn="l">
              <a:buNone/>
              <a:defRPr sz="2050" b="1">
                <a:solidFill>
                  <a:srgbClr val="18201D"/>
                </a:solidFill>
                <a:latin typeface="Arial"/>
                <a:ea typeface="Arial"/>
                <a:cs typeface="Arial"/>
              </a:defRPr>
            </a:lvl4pPr>
            <a:lvl5pPr algn="l">
              <a:buNone/>
              <a:defRPr sz="2050" b="1">
                <a:solidFill>
                  <a:srgbClr val="18201D"/>
                </a:solidFill>
                <a:latin typeface="Arial"/>
                <a:ea typeface="Arial"/>
                <a:cs typeface="Arial"/>
              </a:defRPr>
            </a:lvl5pPr>
            <a:lvl6pPr algn="l">
              <a:buNone/>
              <a:defRPr sz="2050" b="1">
                <a:solidFill>
                  <a:srgbClr val="18201D"/>
                </a:solidFill>
                <a:latin typeface="Arial"/>
                <a:ea typeface="Arial"/>
                <a:cs typeface="Arial"/>
              </a:defRPr>
            </a:lvl6pPr>
            <a:lvl7pPr algn="l">
              <a:buNone/>
              <a:defRPr sz="2050" b="1">
                <a:solidFill>
                  <a:srgbClr val="18201D"/>
                </a:solidFill>
                <a:latin typeface="Arial"/>
                <a:ea typeface="Arial"/>
                <a:cs typeface="Arial"/>
              </a:defRPr>
            </a:lvl7pPr>
            <a:lvl8pPr algn="l">
              <a:buNone/>
              <a:defRPr sz="2050" b="1">
                <a:solidFill>
                  <a:srgbClr val="18201D"/>
                </a:solidFill>
                <a:latin typeface="Arial"/>
                <a:ea typeface="Arial"/>
                <a:cs typeface="Arial"/>
              </a:defRPr>
            </a:lvl8pPr>
            <a:lvl9pPr algn="l">
              <a:buNone/>
              <a:defRPr sz="2050" b="1">
                <a:solidFill>
                  <a:srgbClr val="18201D"/>
                </a:solidFill>
                <a:latin typeface="Arial"/>
                <a:ea typeface="Arial"/>
                <a:cs typeface="Arial"/>
              </a:defRPr>
            </a:lvl9pPr>
          </a:lstStyle>
          <a:p>
            <a:pPr algn="l">
              <a:buNone/>
              <a:defRPr sz="2050" b="1">
                <a:solidFill>
                  <a:srgbClr val="18201D"/>
                </a:solidFill>
                <a:latin typeface="Arial"/>
                <a:ea typeface="Arial"/>
                <a:cs typeface="Arial"/>
              </a:defRPr>
            </a:pPr>
            <a:r>
              <a:rPr sz="2050" b="1">
                <a:solidFill>
                  <a:srgbClr val="18201D"/>
                </a:solidFill>
                <a:latin typeface="Outfit"/>
                <a:ea typeface="Arial"/>
                <a:cs typeface="Arial"/>
              </a:rPr>
              <a:t>Permissioned receipt register</a:t>
            </a:r>
            <a:endParaRPr/>
          </a:p>
        </p:txBody>
      </p:sp>
      <p:sp>
        <p:nvSpPr>
          <p:cNvPr id="2088801631" name="dlt-text-28"/>
          <p:cNvSpPr>
            <a:spLocks noGrp="1"/>
          </p:cNvSpPr>
          <p:nvPr/>
        </p:nvSpPr>
        <p:spPr bwMode="auto">
          <a:xfrm>
            <a:off x="800100" y="5715000"/>
            <a:ext cx="6762750" cy="285750"/>
          </a:xfrm>
          <a:prstGeom prst="rect">
            <a:avLst/>
          </a:prstGeom>
          <a:noFill/>
          <a:ln w="0">
            <a:solidFill/>
            <a:prstDash val="solid"/>
          </a:ln>
        </p:spPr>
        <p:txBody>
          <a:bodyPr wrap="square" lIns="0" tIns="0" rIns="0" bIns="0" anchor="t">
            <a:noAutofit/>
          </a:bodyPr>
          <a:lstStyle>
            <a:defPPr algn="l">
              <a:defRPr sz="1750" b="0">
                <a:solidFill>
                  <a:srgbClr val="5D6A67"/>
                </a:solidFill>
                <a:latin typeface="Arial"/>
                <a:ea typeface="Arial"/>
                <a:cs typeface="Arial"/>
              </a:defRPr>
            </a:defPPr>
            <a:lvl1pPr algn="l">
              <a:buNone/>
              <a:defRPr sz="1750" b="0">
                <a:solidFill>
                  <a:srgbClr val="5D6A67"/>
                </a:solidFill>
                <a:latin typeface="Arial"/>
                <a:ea typeface="Arial"/>
                <a:cs typeface="Arial"/>
              </a:defRPr>
            </a:lvl1pPr>
            <a:lvl2pPr algn="l">
              <a:buNone/>
              <a:defRPr sz="1750" b="0">
                <a:solidFill>
                  <a:srgbClr val="5D6A67"/>
                </a:solidFill>
                <a:latin typeface="Arial"/>
                <a:ea typeface="Arial"/>
                <a:cs typeface="Arial"/>
              </a:defRPr>
            </a:lvl2pPr>
            <a:lvl3pPr algn="l">
              <a:buNone/>
              <a:defRPr sz="1750" b="0">
                <a:solidFill>
                  <a:srgbClr val="5D6A67"/>
                </a:solidFill>
                <a:latin typeface="Arial"/>
                <a:ea typeface="Arial"/>
                <a:cs typeface="Arial"/>
              </a:defRPr>
            </a:lvl3pPr>
            <a:lvl4pPr algn="l">
              <a:buNone/>
              <a:defRPr sz="1750" b="0">
                <a:solidFill>
                  <a:srgbClr val="5D6A67"/>
                </a:solidFill>
                <a:latin typeface="Arial"/>
                <a:ea typeface="Arial"/>
                <a:cs typeface="Arial"/>
              </a:defRPr>
            </a:lvl4pPr>
            <a:lvl5pPr algn="l">
              <a:buNone/>
              <a:defRPr sz="1750" b="0">
                <a:solidFill>
                  <a:srgbClr val="5D6A67"/>
                </a:solidFill>
                <a:latin typeface="Arial"/>
                <a:ea typeface="Arial"/>
                <a:cs typeface="Arial"/>
              </a:defRPr>
            </a:lvl5pPr>
            <a:lvl6pPr algn="l">
              <a:buNone/>
              <a:defRPr sz="1750" b="0">
                <a:solidFill>
                  <a:srgbClr val="5D6A67"/>
                </a:solidFill>
                <a:latin typeface="Arial"/>
                <a:ea typeface="Arial"/>
                <a:cs typeface="Arial"/>
              </a:defRPr>
            </a:lvl6pPr>
            <a:lvl7pPr algn="l">
              <a:buNone/>
              <a:defRPr sz="1750" b="0">
                <a:solidFill>
                  <a:srgbClr val="5D6A67"/>
                </a:solidFill>
                <a:latin typeface="Arial"/>
                <a:ea typeface="Arial"/>
                <a:cs typeface="Arial"/>
              </a:defRPr>
            </a:lvl7pPr>
            <a:lvl8pPr algn="l">
              <a:buNone/>
              <a:defRPr sz="1750" b="0">
                <a:solidFill>
                  <a:srgbClr val="5D6A67"/>
                </a:solidFill>
                <a:latin typeface="Arial"/>
                <a:ea typeface="Arial"/>
                <a:cs typeface="Arial"/>
              </a:defRPr>
            </a:lvl8pPr>
            <a:lvl9pPr algn="l">
              <a:buNone/>
              <a:defRPr sz="1750" b="0">
                <a:solidFill>
                  <a:srgbClr val="5D6A67"/>
                </a:solidFill>
                <a:latin typeface="Arial"/>
                <a:ea typeface="Arial"/>
                <a:cs typeface="Arial"/>
              </a:defRPr>
            </a:lvl9pPr>
          </a:lstStyle>
          <a:p>
            <a:pPr algn="l">
              <a:buNone/>
              <a:defRPr sz="1750" b="0">
                <a:solidFill>
                  <a:srgbClr val="5D6A67"/>
                </a:solidFill>
                <a:latin typeface="Arial"/>
                <a:ea typeface="Arial"/>
                <a:cs typeface="Arial"/>
              </a:defRPr>
            </a:pPr>
            <a:r>
              <a:rPr sz="1750" b="0">
                <a:solidFill>
                  <a:srgbClr val="5D6A67"/>
                </a:solidFill>
                <a:latin typeface="Plus Jakarta Sans"/>
                <a:ea typeface="Arial"/>
                <a:cs typeface="Arial"/>
              </a:rPr>
              <a:t>Receipt units, transfer locks and validated events</a:t>
            </a:r>
            <a:endParaRPr/>
          </a:p>
        </p:txBody>
      </p:sp>
      <p:sp>
        <p:nvSpPr>
          <p:cNvPr id="517196378" name="private-data-29"/>
          <p:cNvSpPr>
            <a:spLocks noGrp="1"/>
          </p:cNvSpPr>
          <p:nvPr/>
        </p:nvSpPr>
        <p:spPr bwMode="auto">
          <a:xfrm>
            <a:off x="8229600" y="5238750"/>
            <a:ext cx="3352800" cy="819150"/>
          </a:xfrm>
          <a:prstGeom prst="rect">
            <a:avLst/>
          </a:prstGeom>
          <a:solidFill>
            <a:srgbClr val="FFFFFF"/>
          </a:solidFill>
          <a:ln w="13335">
            <a:solidFill>
              <a:srgbClr val="D7DFDA"/>
            </a:solidFill>
            <a:prstDash val="solid"/>
          </a:ln>
        </p:spPr>
        <p:txBody>
          <a:bodyPr/>
          <a:p/>
        </p:txBody>
      </p:sp>
      <p:sp>
        <p:nvSpPr>
          <p:cNvPr id="1548778054" name="dlt-text-30"/>
          <p:cNvSpPr>
            <a:spLocks noGrp="1"/>
          </p:cNvSpPr>
          <p:nvPr/>
        </p:nvSpPr>
        <p:spPr bwMode="auto">
          <a:xfrm>
            <a:off x="8420100" y="5353050"/>
            <a:ext cx="2971800" cy="333375"/>
          </a:xfrm>
          <a:prstGeom prst="rect">
            <a:avLst/>
          </a:prstGeom>
          <a:noFill/>
          <a:ln w="0">
            <a:solidFill/>
            <a:prstDash val="solid"/>
          </a:ln>
        </p:spPr>
        <p:txBody>
          <a:bodyPr wrap="square" lIns="0" tIns="0" rIns="0" bIns="0" anchor="t">
            <a:noAutofit/>
          </a:bodyPr>
          <a:lstStyle>
            <a:defPPr algn="l">
              <a:defRPr sz="2050" b="1">
                <a:solidFill>
                  <a:srgbClr val="18201D"/>
                </a:solidFill>
                <a:latin typeface="Arial"/>
                <a:ea typeface="Arial"/>
                <a:cs typeface="Arial"/>
              </a:defRPr>
            </a:defPPr>
            <a:lvl1pPr algn="l">
              <a:buNone/>
              <a:defRPr sz="2050" b="1">
                <a:solidFill>
                  <a:srgbClr val="18201D"/>
                </a:solidFill>
                <a:latin typeface="Arial"/>
                <a:ea typeface="Arial"/>
                <a:cs typeface="Arial"/>
              </a:defRPr>
            </a:lvl1pPr>
            <a:lvl2pPr algn="l">
              <a:buNone/>
              <a:defRPr sz="2050" b="1">
                <a:solidFill>
                  <a:srgbClr val="18201D"/>
                </a:solidFill>
                <a:latin typeface="Arial"/>
                <a:ea typeface="Arial"/>
                <a:cs typeface="Arial"/>
              </a:defRPr>
            </a:lvl2pPr>
            <a:lvl3pPr algn="l">
              <a:buNone/>
              <a:defRPr sz="2050" b="1">
                <a:solidFill>
                  <a:srgbClr val="18201D"/>
                </a:solidFill>
                <a:latin typeface="Arial"/>
                <a:ea typeface="Arial"/>
                <a:cs typeface="Arial"/>
              </a:defRPr>
            </a:lvl3pPr>
            <a:lvl4pPr algn="l">
              <a:buNone/>
              <a:defRPr sz="2050" b="1">
                <a:solidFill>
                  <a:srgbClr val="18201D"/>
                </a:solidFill>
                <a:latin typeface="Arial"/>
                <a:ea typeface="Arial"/>
                <a:cs typeface="Arial"/>
              </a:defRPr>
            </a:lvl4pPr>
            <a:lvl5pPr algn="l">
              <a:buNone/>
              <a:defRPr sz="2050" b="1">
                <a:solidFill>
                  <a:srgbClr val="18201D"/>
                </a:solidFill>
                <a:latin typeface="Arial"/>
                <a:ea typeface="Arial"/>
                <a:cs typeface="Arial"/>
              </a:defRPr>
            </a:lvl5pPr>
            <a:lvl6pPr algn="l">
              <a:buNone/>
              <a:defRPr sz="2050" b="1">
                <a:solidFill>
                  <a:srgbClr val="18201D"/>
                </a:solidFill>
                <a:latin typeface="Arial"/>
                <a:ea typeface="Arial"/>
                <a:cs typeface="Arial"/>
              </a:defRPr>
            </a:lvl6pPr>
            <a:lvl7pPr algn="l">
              <a:buNone/>
              <a:defRPr sz="2050" b="1">
                <a:solidFill>
                  <a:srgbClr val="18201D"/>
                </a:solidFill>
                <a:latin typeface="Arial"/>
                <a:ea typeface="Arial"/>
                <a:cs typeface="Arial"/>
              </a:defRPr>
            </a:lvl7pPr>
            <a:lvl8pPr algn="l">
              <a:buNone/>
              <a:defRPr sz="2050" b="1">
                <a:solidFill>
                  <a:srgbClr val="18201D"/>
                </a:solidFill>
                <a:latin typeface="Arial"/>
                <a:ea typeface="Arial"/>
                <a:cs typeface="Arial"/>
              </a:defRPr>
            </a:lvl8pPr>
            <a:lvl9pPr algn="l">
              <a:buNone/>
              <a:defRPr sz="2050" b="1">
                <a:solidFill>
                  <a:srgbClr val="18201D"/>
                </a:solidFill>
                <a:latin typeface="Arial"/>
                <a:ea typeface="Arial"/>
                <a:cs typeface="Arial"/>
              </a:defRPr>
            </a:lvl9pPr>
          </a:lstStyle>
          <a:p>
            <a:pPr algn="l">
              <a:buNone/>
              <a:defRPr sz="2050" b="1">
                <a:solidFill>
                  <a:srgbClr val="18201D"/>
                </a:solidFill>
                <a:latin typeface="Arial"/>
                <a:ea typeface="Arial"/>
                <a:cs typeface="Arial"/>
              </a:defRPr>
            </a:pPr>
            <a:r>
              <a:rPr sz="2050" b="1">
                <a:solidFill>
                  <a:srgbClr val="18201D"/>
                </a:solidFill>
                <a:latin typeface="Outfit"/>
                <a:ea typeface="Arial"/>
                <a:cs typeface="Arial"/>
              </a:rPr>
              <a:t>Private records</a:t>
            </a:r>
            <a:endParaRPr/>
          </a:p>
        </p:txBody>
      </p:sp>
      <p:sp>
        <p:nvSpPr>
          <p:cNvPr id="2121352132" name="dlt-text-31"/>
          <p:cNvSpPr>
            <a:spLocks noGrp="1"/>
          </p:cNvSpPr>
          <p:nvPr/>
        </p:nvSpPr>
        <p:spPr bwMode="auto">
          <a:xfrm>
            <a:off x="8420100" y="5715000"/>
            <a:ext cx="2971800" cy="285750"/>
          </a:xfrm>
          <a:prstGeom prst="rect">
            <a:avLst/>
          </a:prstGeom>
          <a:noFill/>
          <a:ln w="0">
            <a:solidFill/>
            <a:prstDash val="solid"/>
          </a:ln>
        </p:spPr>
        <p:txBody>
          <a:bodyPr wrap="square" lIns="0" tIns="0" rIns="0" bIns="0" anchor="t">
            <a:noAutofit/>
          </a:bodyPr>
          <a:lstStyle>
            <a:defPPr algn="l">
              <a:defRPr sz="1650" b="0">
                <a:solidFill>
                  <a:srgbClr val="5D6A67"/>
                </a:solidFill>
                <a:latin typeface="Arial"/>
                <a:ea typeface="Arial"/>
                <a:cs typeface="Arial"/>
              </a:defRPr>
            </a:defPPr>
            <a:lvl1pPr algn="l">
              <a:buNone/>
              <a:defRPr sz="1650" b="0">
                <a:solidFill>
                  <a:srgbClr val="5D6A67"/>
                </a:solidFill>
                <a:latin typeface="Arial"/>
                <a:ea typeface="Arial"/>
                <a:cs typeface="Arial"/>
              </a:defRPr>
            </a:lvl1pPr>
            <a:lvl2pPr algn="l">
              <a:buNone/>
              <a:defRPr sz="1650" b="0">
                <a:solidFill>
                  <a:srgbClr val="5D6A67"/>
                </a:solidFill>
                <a:latin typeface="Arial"/>
                <a:ea typeface="Arial"/>
                <a:cs typeface="Arial"/>
              </a:defRPr>
            </a:lvl2pPr>
            <a:lvl3pPr algn="l">
              <a:buNone/>
              <a:defRPr sz="1650" b="0">
                <a:solidFill>
                  <a:srgbClr val="5D6A67"/>
                </a:solidFill>
                <a:latin typeface="Arial"/>
                <a:ea typeface="Arial"/>
                <a:cs typeface="Arial"/>
              </a:defRPr>
            </a:lvl3pPr>
            <a:lvl4pPr algn="l">
              <a:buNone/>
              <a:defRPr sz="1650" b="0">
                <a:solidFill>
                  <a:srgbClr val="5D6A67"/>
                </a:solidFill>
                <a:latin typeface="Arial"/>
                <a:ea typeface="Arial"/>
                <a:cs typeface="Arial"/>
              </a:defRPr>
            </a:lvl4pPr>
            <a:lvl5pPr algn="l">
              <a:buNone/>
              <a:defRPr sz="1650" b="0">
                <a:solidFill>
                  <a:srgbClr val="5D6A67"/>
                </a:solidFill>
                <a:latin typeface="Arial"/>
                <a:ea typeface="Arial"/>
                <a:cs typeface="Arial"/>
              </a:defRPr>
            </a:lvl5pPr>
            <a:lvl6pPr algn="l">
              <a:buNone/>
              <a:defRPr sz="1650" b="0">
                <a:solidFill>
                  <a:srgbClr val="5D6A67"/>
                </a:solidFill>
                <a:latin typeface="Arial"/>
                <a:ea typeface="Arial"/>
                <a:cs typeface="Arial"/>
              </a:defRPr>
            </a:lvl6pPr>
            <a:lvl7pPr algn="l">
              <a:buNone/>
              <a:defRPr sz="1650" b="0">
                <a:solidFill>
                  <a:srgbClr val="5D6A67"/>
                </a:solidFill>
                <a:latin typeface="Arial"/>
                <a:ea typeface="Arial"/>
                <a:cs typeface="Arial"/>
              </a:defRPr>
            </a:lvl7pPr>
            <a:lvl8pPr algn="l">
              <a:buNone/>
              <a:defRPr sz="1650" b="0">
                <a:solidFill>
                  <a:srgbClr val="5D6A67"/>
                </a:solidFill>
                <a:latin typeface="Arial"/>
                <a:ea typeface="Arial"/>
                <a:cs typeface="Arial"/>
              </a:defRPr>
            </a:lvl8pPr>
            <a:lvl9pPr algn="l">
              <a:buNone/>
              <a:defRPr sz="1650" b="0">
                <a:solidFill>
                  <a:srgbClr val="5D6A67"/>
                </a:solidFill>
                <a:latin typeface="Arial"/>
                <a:ea typeface="Arial"/>
                <a:cs typeface="Arial"/>
              </a:defRPr>
            </a:lvl9pPr>
          </a:lstStyle>
          <a:p>
            <a:pPr algn="l">
              <a:buNone/>
              <a:defRPr sz="1650" b="0">
                <a:solidFill>
                  <a:srgbClr val="5D6A67"/>
                </a:solidFill>
                <a:latin typeface="Arial"/>
                <a:ea typeface="Arial"/>
                <a:cs typeface="Arial"/>
              </a:defRPr>
            </a:pPr>
            <a:r>
              <a:rPr sz="1650" b="0">
                <a:solidFill>
                  <a:srgbClr val="5D6A67"/>
                </a:solidFill>
                <a:latin typeface="Plus Jakarta Sans"/>
                <a:ea typeface="Arial"/>
                <a:cs typeface="Arial"/>
              </a:rPr>
              <a:t>Identity, quotes, accounting</a:t>
            </a:r>
            <a:endParaRPr/>
          </a:p>
        </p:txBody>
      </p:sp>
      <p:sp>
        <p:nvSpPr>
          <p:cNvPr id="1590961128" name="dlt-text-32"/>
          <p:cNvSpPr>
            <a:spLocks noGrp="1"/>
          </p:cNvSpPr>
          <p:nvPr/>
        </p:nvSpPr>
        <p:spPr bwMode="auto">
          <a:xfrm>
            <a:off x="609600" y="6181725"/>
            <a:ext cx="10972800" cy="238125"/>
          </a:xfrm>
          <a:prstGeom prst="rect">
            <a:avLst/>
          </a:prstGeom>
          <a:noFill/>
          <a:ln w="0">
            <a:solidFill/>
            <a:prstDash val="solid"/>
          </a:ln>
        </p:spPr>
        <p:txBody>
          <a:bodyPr wrap="square" lIns="0" tIns="0" rIns="0" bIns="0" anchor="t">
            <a:noAutofit/>
          </a:bodyPr>
          <a:lstStyle>
            <a:defPPr algn="l">
              <a:defRPr sz="1600" b="0">
                <a:solidFill>
                  <a:srgbClr val="5D6A67"/>
                </a:solidFill>
                <a:latin typeface="Arial"/>
                <a:ea typeface="Arial"/>
                <a:cs typeface="Arial"/>
              </a:defRPr>
            </a:defPPr>
            <a:lvl1pPr algn="l">
              <a:buNone/>
              <a:defRPr sz="1600" b="0">
                <a:solidFill>
                  <a:srgbClr val="5D6A67"/>
                </a:solidFill>
                <a:latin typeface="Arial"/>
                <a:ea typeface="Arial"/>
                <a:cs typeface="Arial"/>
              </a:defRPr>
            </a:lvl1pPr>
            <a:lvl2pPr algn="l">
              <a:buNone/>
              <a:defRPr sz="1600" b="0">
                <a:solidFill>
                  <a:srgbClr val="5D6A67"/>
                </a:solidFill>
                <a:latin typeface="Arial"/>
                <a:ea typeface="Arial"/>
                <a:cs typeface="Arial"/>
              </a:defRPr>
            </a:lvl2pPr>
            <a:lvl3pPr algn="l">
              <a:buNone/>
              <a:defRPr sz="1600" b="0">
                <a:solidFill>
                  <a:srgbClr val="5D6A67"/>
                </a:solidFill>
                <a:latin typeface="Arial"/>
                <a:ea typeface="Arial"/>
                <a:cs typeface="Arial"/>
              </a:defRPr>
            </a:lvl3pPr>
            <a:lvl4pPr algn="l">
              <a:buNone/>
              <a:defRPr sz="1600" b="0">
                <a:solidFill>
                  <a:srgbClr val="5D6A67"/>
                </a:solidFill>
                <a:latin typeface="Arial"/>
                <a:ea typeface="Arial"/>
                <a:cs typeface="Arial"/>
              </a:defRPr>
            </a:lvl4pPr>
            <a:lvl5pPr algn="l">
              <a:buNone/>
              <a:defRPr sz="1600" b="0">
                <a:solidFill>
                  <a:srgbClr val="5D6A67"/>
                </a:solidFill>
                <a:latin typeface="Arial"/>
                <a:ea typeface="Arial"/>
                <a:cs typeface="Arial"/>
              </a:defRPr>
            </a:lvl5pPr>
            <a:lvl6pPr algn="l">
              <a:buNone/>
              <a:defRPr sz="1600" b="0">
                <a:solidFill>
                  <a:srgbClr val="5D6A67"/>
                </a:solidFill>
                <a:latin typeface="Arial"/>
                <a:ea typeface="Arial"/>
                <a:cs typeface="Arial"/>
              </a:defRPr>
            </a:lvl6pPr>
            <a:lvl7pPr algn="l">
              <a:buNone/>
              <a:defRPr sz="1600" b="0">
                <a:solidFill>
                  <a:srgbClr val="5D6A67"/>
                </a:solidFill>
                <a:latin typeface="Arial"/>
                <a:ea typeface="Arial"/>
                <a:cs typeface="Arial"/>
              </a:defRPr>
            </a:lvl7pPr>
            <a:lvl8pPr algn="l">
              <a:buNone/>
              <a:defRPr sz="1600" b="0">
                <a:solidFill>
                  <a:srgbClr val="5D6A67"/>
                </a:solidFill>
                <a:latin typeface="Arial"/>
                <a:ea typeface="Arial"/>
                <a:cs typeface="Arial"/>
              </a:defRPr>
            </a:lvl8pPr>
            <a:lvl9pPr algn="l">
              <a:buNone/>
              <a:defRPr sz="1600" b="0">
                <a:solidFill>
                  <a:srgbClr val="5D6A67"/>
                </a:solidFill>
                <a:latin typeface="Arial"/>
                <a:ea typeface="Arial"/>
                <a:cs typeface="Arial"/>
              </a:defRPr>
            </a:lvl9pPr>
          </a:lstStyle>
          <a:p>
            <a:pPr algn="l">
              <a:buNone/>
              <a:defRPr sz="1600" b="0">
                <a:solidFill>
                  <a:srgbClr val="5D6A67"/>
                </a:solidFill>
                <a:latin typeface="Arial"/>
                <a:ea typeface="Arial"/>
                <a:cs typeface="Arial"/>
              </a:defRPr>
            </a:pPr>
            <a:r>
              <a:rPr sz="1600" b="0">
                <a:solidFill>
                  <a:srgbClr val="5D6A67"/>
                </a:solidFill>
                <a:latin typeface="Plus Jakarta Sans"/>
                <a:ea typeface="Arial"/>
                <a:cs typeface="Arial"/>
              </a:rPr>
              <a:t>Custodians hold shares. Cash partners transfer funds. Verified finality gates receipt release.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922595623" name="prime-text-21"/>
          <p:cNvSpPr>
            <a:spLocks noGrp="1"/>
          </p:cNvSpPr>
          <p:nvPr/>
        </p:nvSpPr>
        <p:spPr bwMode="auto">
          <a:xfrm>
            <a:off x="609600" y="504825"/>
            <a:ext cx="10972800" cy="828675"/>
          </a:xfrm>
          <a:prstGeom prst="rect">
            <a:avLst/>
          </a:prstGeom>
          <a:noFill/>
          <a:ln w="0">
            <a:solidFill/>
            <a:prstDash val="solid"/>
          </a:ln>
        </p:spPr>
        <p:txBody>
          <a:bodyPr wrap="square" lIns="0" tIns="0" rIns="0" bIns="0" anchor="t">
            <a:noAutofit/>
          </a:bodyPr>
          <a:lstStyle>
            <a:defPPr algn="l">
              <a:defRPr sz="3300" b="1">
                <a:solidFill>
                  <a:srgbClr val="18201D"/>
                </a:solidFill>
                <a:latin typeface="Arial"/>
                <a:ea typeface="Arial"/>
                <a:cs typeface="Arial"/>
              </a:defRPr>
            </a:defPPr>
            <a:lvl1pPr algn="l">
              <a:defRPr sz="3300" b="1">
                <a:solidFill>
                  <a:srgbClr val="18201D"/>
                </a:solidFill>
                <a:latin typeface="Arial"/>
                <a:ea typeface="Arial"/>
                <a:cs typeface="Arial"/>
              </a:defRPr>
            </a:lvl1pPr>
            <a:lvl2pPr algn="l">
              <a:defRPr sz="3300" b="1">
                <a:solidFill>
                  <a:srgbClr val="18201D"/>
                </a:solidFill>
                <a:latin typeface="Arial"/>
                <a:ea typeface="Arial"/>
                <a:cs typeface="Arial"/>
              </a:defRPr>
            </a:lvl2pPr>
            <a:lvl3pPr algn="l">
              <a:defRPr sz="3300" b="1">
                <a:solidFill>
                  <a:srgbClr val="18201D"/>
                </a:solidFill>
                <a:latin typeface="Arial"/>
                <a:ea typeface="Arial"/>
                <a:cs typeface="Arial"/>
              </a:defRPr>
            </a:lvl3pPr>
            <a:lvl4pPr algn="l">
              <a:defRPr sz="3300" b="1">
                <a:solidFill>
                  <a:srgbClr val="18201D"/>
                </a:solidFill>
                <a:latin typeface="Arial"/>
                <a:ea typeface="Arial"/>
                <a:cs typeface="Arial"/>
              </a:defRPr>
            </a:lvl4pPr>
            <a:lvl5pPr algn="l">
              <a:defRPr sz="3300" b="1">
                <a:solidFill>
                  <a:srgbClr val="18201D"/>
                </a:solidFill>
                <a:latin typeface="Arial"/>
                <a:ea typeface="Arial"/>
                <a:cs typeface="Arial"/>
              </a:defRPr>
            </a:lvl5pPr>
            <a:lvl6pPr algn="l">
              <a:defRPr sz="3300" b="1">
                <a:solidFill>
                  <a:srgbClr val="18201D"/>
                </a:solidFill>
                <a:latin typeface="Arial"/>
                <a:ea typeface="Arial"/>
                <a:cs typeface="Arial"/>
              </a:defRPr>
            </a:lvl6pPr>
            <a:lvl7pPr algn="l">
              <a:defRPr sz="3300" b="1">
                <a:solidFill>
                  <a:srgbClr val="18201D"/>
                </a:solidFill>
                <a:latin typeface="Arial"/>
                <a:ea typeface="Arial"/>
                <a:cs typeface="Arial"/>
              </a:defRPr>
            </a:lvl7pPr>
            <a:lvl8pPr algn="l">
              <a:defRPr sz="3300" b="1">
                <a:solidFill>
                  <a:srgbClr val="18201D"/>
                </a:solidFill>
                <a:latin typeface="Arial"/>
                <a:ea typeface="Arial"/>
                <a:cs typeface="Arial"/>
              </a:defRPr>
            </a:lvl8pPr>
            <a:lvl9pPr algn="l">
              <a:defRPr sz="3300" b="1">
                <a:solidFill>
                  <a:srgbClr val="18201D"/>
                </a:solidFill>
                <a:latin typeface="Arial"/>
                <a:ea typeface="Arial"/>
                <a:cs typeface="Arial"/>
              </a:defRPr>
            </a:lvl9pPr>
          </a:lstStyle>
          <a:p>
            <a:pPr algn="l">
              <a:defRPr sz="3300" b="1">
                <a:solidFill>
                  <a:srgbClr val="18201D"/>
                </a:solidFill>
                <a:latin typeface="Arial"/>
                <a:ea typeface="Arial"/>
                <a:cs typeface="Arial"/>
              </a:defRPr>
            </a:pPr>
            <a:r>
              <a:rPr sz="3300" b="1">
                <a:solidFill>
                  <a:srgbClr val="18201D"/>
                </a:solidFill>
                <a:latin typeface="Outfit"/>
                <a:ea typeface="Arial"/>
                <a:cs typeface="Arial"/>
              </a:rPr>
              <a:t>A sponsor-led revenue model</a:t>
            </a:r>
            <a:endParaRPr/>
          </a:p>
        </p:txBody>
      </p:sp>
      <p:sp>
        <p:nvSpPr>
          <p:cNvPr id="1707024779" name="prime-text-22"/>
          <p:cNvSpPr>
            <a:spLocks noGrp="1"/>
          </p:cNvSpPr>
          <p:nvPr/>
        </p:nvSpPr>
        <p:spPr bwMode="auto">
          <a:xfrm>
            <a:off x="609600" y="1409700"/>
            <a:ext cx="10972800" cy="609600"/>
          </a:xfrm>
          <a:prstGeom prst="rect">
            <a:avLst/>
          </a:prstGeom>
          <a:noFill/>
          <a:ln w="0">
            <a:solidFill/>
            <a:prstDash val="solid"/>
          </a:ln>
        </p:spPr>
        <p:txBody>
          <a:bodyPr wrap="square" lIns="0" tIns="0" rIns="0" bIns="0" anchor="t">
            <a:noAutofit/>
          </a:bodyPr>
          <a:lstStyle>
            <a:defPPr algn="l">
              <a:defRPr sz="1900" b="0">
                <a:solidFill>
                  <a:srgbClr val="5D6A67"/>
                </a:solidFill>
                <a:latin typeface="Arial"/>
                <a:ea typeface="Arial"/>
                <a:cs typeface="Arial"/>
              </a:defRPr>
            </a:defPPr>
            <a:lvl1pPr algn="l">
              <a:defRPr sz="1900" b="0">
                <a:solidFill>
                  <a:srgbClr val="5D6A67"/>
                </a:solidFill>
                <a:latin typeface="Arial"/>
                <a:ea typeface="Arial"/>
                <a:cs typeface="Arial"/>
              </a:defRPr>
            </a:lvl1pPr>
            <a:lvl2pPr algn="l">
              <a:defRPr sz="1900" b="0">
                <a:solidFill>
                  <a:srgbClr val="5D6A67"/>
                </a:solidFill>
                <a:latin typeface="Arial"/>
                <a:ea typeface="Arial"/>
                <a:cs typeface="Arial"/>
              </a:defRPr>
            </a:lvl2pPr>
            <a:lvl3pPr algn="l">
              <a:defRPr sz="1900" b="0">
                <a:solidFill>
                  <a:srgbClr val="5D6A67"/>
                </a:solidFill>
                <a:latin typeface="Arial"/>
                <a:ea typeface="Arial"/>
                <a:cs typeface="Arial"/>
              </a:defRPr>
            </a:lvl3pPr>
            <a:lvl4pPr algn="l">
              <a:defRPr sz="1900" b="0">
                <a:solidFill>
                  <a:srgbClr val="5D6A67"/>
                </a:solidFill>
                <a:latin typeface="Arial"/>
                <a:ea typeface="Arial"/>
                <a:cs typeface="Arial"/>
              </a:defRPr>
            </a:lvl4pPr>
            <a:lvl5pPr algn="l">
              <a:defRPr sz="1900" b="0">
                <a:solidFill>
                  <a:srgbClr val="5D6A67"/>
                </a:solidFill>
                <a:latin typeface="Arial"/>
                <a:ea typeface="Arial"/>
                <a:cs typeface="Arial"/>
              </a:defRPr>
            </a:lvl5pPr>
            <a:lvl6pPr algn="l">
              <a:defRPr sz="1900" b="0">
                <a:solidFill>
                  <a:srgbClr val="5D6A67"/>
                </a:solidFill>
                <a:latin typeface="Arial"/>
                <a:ea typeface="Arial"/>
                <a:cs typeface="Arial"/>
              </a:defRPr>
            </a:lvl6pPr>
            <a:lvl7pPr algn="l">
              <a:defRPr sz="1900" b="0">
                <a:solidFill>
                  <a:srgbClr val="5D6A67"/>
                </a:solidFill>
                <a:latin typeface="Arial"/>
                <a:ea typeface="Arial"/>
                <a:cs typeface="Arial"/>
              </a:defRPr>
            </a:lvl7pPr>
            <a:lvl8pPr algn="l">
              <a:defRPr sz="1900" b="0">
                <a:solidFill>
                  <a:srgbClr val="5D6A67"/>
                </a:solidFill>
                <a:latin typeface="Arial"/>
                <a:ea typeface="Arial"/>
                <a:cs typeface="Arial"/>
              </a:defRPr>
            </a:lvl8pPr>
            <a:lvl9pPr algn="l">
              <a:defRPr sz="1900" b="0">
                <a:solidFill>
                  <a:srgbClr val="5D6A67"/>
                </a:solidFill>
                <a:latin typeface="Arial"/>
                <a:ea typeface="Arial"/>
                <a:cs typeface="Arial"/>
              </a:defRPr>
            </a:lvl9pPr>
          </a:lstStyle>
          <a:p>
            <a:pPr algn="l">
              <a:defRPr sz="1900" b="0">
                <a:solidFill>
                  <a:srgbClr val="5D6A67"/>
                </a:solidFill>
                <a:latin typeface="Arial"/>
                <a:ea typeface="Arial"/>
                <a:cs typeface="Arial"/>
              </a:defRPr>
            </a:pPr>
            <a:r>
              <a:rPr sz="1900" b="0">
                <a:solidFill>
                  <a:srgbClr val="5D6A67"/>
                </a:solidFill>
                <a:latin typeface="Plus Jakarta Sans"/>
                <a:ea typeface="Arial"/>
                <a:cs typeface="Arial"/>
              </a:rPr>
              <a:t>Proposed recurring servicing fees, plus a setup fee for each new sponsor.</a:t>
            </a:r>
            <a:endParaRPr/>
          </a:p>
        </p:txBody>
      </p:sp>
      <p:sp>
        <p:nvSpPr>
          <p:cNvPr id="1175419181" name="prime-text-23"/>
          <p:cNvSpPr>
            <a:spLocks noGrp="1"/>
          </p:cNvSpPr>
          <p:nvPr/>
        </p:nvSpPr>
        <p:spPr bwMode="auto">
          <a:xfrm>
            <a:off x="609600" y="6438899"/>
            <a:ext cx="3619500" cy="238125"/>
          </a:xfrm>
          <a:prstGeom prst="rect">
            <a:avLst/>
          </a:prstGeom>
          <a:noFill/>
          <a:ln w="0">
            <a:solidFill/>
            <a:prstDash val="solid"/>
          </a:ln>
        </p:spPr>
        <p:txBody>
          <a:bodyPr wrap="square" lIns="0" tIns="0" rIns="0" bIns="0" anchor="t">
            <a:noAutofit/>
          </a:bodyPr>
          <a:lstStyle>
            <a:defPPr algn="l">
              <a:defRPr sz="1200" b="1">
                <a:solidFill>
                  <a:srgbClr val="0DBE85"/>
                </a:solidFill>
                <a:latin typeface="Arial"/>
                <a:ea typeface="Arial"/>
                <a:cs typeface="Arial"/>
              </a:defRPr>
            </a:defPPr>
            <a:lvl1pPr algn="l">
              <a:defRPr sz="1200" b="1">
                <a:solidFill>
                  <a:srgbClr val="0DBE85"/>
                </a:solidFill>
                <a:latin typeface="Arial"/>
                <a:ea typeface="Arial"/>
                <a:cs typeface="Arial"/>
              </a:defRPr>
            </a:lvl1pPr>
            <a:lvl2pPr algn="l">
              <a:defRPr sz="1200" b="1">
                <a:solidFill>
                  <a:srgbClr val="0DBE85"/>
                </a:solidFill>
                <a:latin typeface="Arial"/>
                <a:ea typeface="Arial"/>
                <a:cs typeface="Arial"/>
              </a:defRPr>
            </a:lvl2pPr>
            <a:lvl3pPr algn="l">
              <a:defRPr sz="1200" b="1">
                <a:solidFill>
                  <a:srgbClr val="0DBE85"/>
                </a:solidFill>
                <a:latin typeface="Arial"/>
                <a:ea typeface="Arial"/>
                <a:cs typeface="Arial"/>
              </a:defRPr>
            </a:lvl3pPr>
            <a:lvl4pPr algn="l">
              <a:defRPr sz="1200" b="1">
                <a:solidFill>
                  <a:srgbClr val="0DBE85"/>
                </a:solidFill>
                <a:latin typeface="Arial"/>
                <a:ea typeface="Arial"/>
                <a:cs typeface="Arial"/>
              </a:defRPr>
            </a:lvl4pPr>
            <a:lvl5pPr algn="l">
              <a:defRPr sz="1200" b="1">
                <a:solidFill>
                  <a:srgbClr val="0DBE85"/>
                </a:solidFill>
                <a:latin typeface="Arial"/>
                <a:ea typeface="Arial"/>
                <a:cs typeface="Arial"/>
              </a:defRPr>
            </a:lvl5pPr>
            <a:lvl6pPr algn="l">
              <a:defRPr sz="1200" b="1">
                <a:solidFill>
                  <a:srgbClr val="0DBE85"/>
                </a:solidFill>
                <a:latin typeface="Arial"/>
                <a:ea typeface="Arial"/>
                <a:cs typeface="Arial"/>
              </a:defRPr>
            </a:lvl6pPr>
            <a:lvl7pPr algn="l">
              <a:defRPr sz="1200" b="1">
                <a:solidFill>
                  <a:srgbClr val="0DBE85"/>
                </a:solidFill>
                <a:latin typeface="Arial"/>
                <a:ea typeface="Arial"/>
                <a:cs typeface="Arial"/>
              </a:defRPr>
            </a:lvl7pPr>
            <a:lvl8pPr algn="l">
              <a:defRPr sz="1200" b="1">
                <a:solidFill>
                  <a:srgbClr val="0DBE85"/>
                </a:solidFill>
                <a:latin typeface="Arial"/>
                <a:ea typeface="Arial"/>
                <a:cs typeface="Arial"/>
              </a:defRPr>
            </a:lvl8pPr>
            <a:lvl9pPr algn="l">
              <a:defRPr sz="1200" b="1">
                <a:solidFill>
                  <a:srgbClr val="0DBE85"/>
                </a:solidFill>
                <a:latin typeface="Arial"/>
                <a:ea typeface="Arial"/>
                <a:cs typeface="Arial"/>
              </a:defRPr>
            </a:lvl9pPr>
          </a:lstStyle>
          <a:p>
            <a:pPr algn="l">
              <a:defRPr sz="1200" b="1">
                <a:solidFill>
                  <a:srgbClr val="0DBE85"/>
                </a:solidFill>
                <a:latin typeface="Arial"/>
                <a:ea typeface="Arial"/>
                <a:cs typeface="Arial"/>
              </a:defRPr>
            </a:pPr>
            <a:r>
              <a:rPr sz="1200" b="1">
                <a:solidFill>
                  <a:srgbClr val="0AA372"/>
                </a:solidFill>
                <a:latin typeface="JetBrains Mono"/>
                <a:ea typeface="Arial"/>
                <a:cs typeface="Arial"/>
              </a:rPr>
              <a:t>D-SHARE / PRIME</a:t>
            </a:r>
            <a:endParaRPr/>
          </a:p>
        </p:txBody>
      </p:sp>
      <p:sp>
        <p:nvSpPr>
          <p:cNvPr id="140613261" name="prime-text-24"/>
          <p:cNvSpPr>
            <a:spLocks noGrp="1"/>
          </p:cNvSpPr>
          <p:nvPr/>
        </p:nvSpPr>
        <p:spPr bwMode="auto">
          <a:xfrm>
            <a:off x="11020424" y="6438899"/>
            <a:ext cx="561975" cy="238125"/>
          </a:xfrm>
          <a:prstGeom prst="rect">
            <a:avLst/>
          </a:prstGeom>
          <a:noFill/>
          <a:ln w="0">
            <a:solidFill/>
            <a:prstDash val="solid"/>
          </a:ln>
        </p:spPr>
        <p:txBody>
          <a:bodyPr wrap="square" lIns="0" tIns="0" rIns="0" bIns="0" anchor="t">
            <a:noAutofit/>
          </a:bodyPr>
          <a:lstStyle>
            <a:defPPr algn="r">
              <a:defRPr sz="1200" b="0">
                <a:solidFill>
                  <a:srgbClr val="5D6A67"/>
                </a:solidFill>
                <a:latin typeface="Arial"/>
                <a:ea typeface="Arial"/>
                <a:cs typeface="Arial"/>
              </a:defRPr>
            </a:defPPr>
            <a:lvl1pPr algn="r">
              <a:defRPr sz="1200" b="0">
                <a:solidFill>
                  <a:srgbClr val="5D6A67"/>
                </a:solidFill>
                <a:latin typeface="Arial"/>
                <a:ea typeface="Arial"/>
                <a:cs typeface="Arial"/>
              </a:defRPr>
            </a:lvl1pPr>
            <a:lvl2pPr algn="r">
              <a:defRPr sz="1200" b="0">
                <a:solidFill>
                  <a:srgbClr val="5D6A67"/>
                </a:solidFill>
                <a:latin typeface="Arial"/>
                <a:ea typeface="Arial"/>
                <a:cs typeface="Arial"/>
              </a:defRPr>
            </a:lvl2pPr>
            <a:lvl3pPr algn="r">
              <a:defRPr sz="1200" b="0">
                <a:solidFill>
                  <a:srgbClr val="5D6A67"/>
                </a:solidFill>
                <a:latin typeface="Arial"/>
                <a:ea typeface="Arial"/>
                <a:cs typeface="Arial"/>
              </a:defRPr>
            </a:lvl3pPr>
            <a:lvl4pPr algn="r">
              <a:defRPr sz="1200" b="0">
                <a:solidFill>
                  <a:srgbClr val="5D6A67"/>
                </a:solidFill>
                <a:latin typeface="Arial"/>
                <a:ea typeface="Arial"/>
                <a:cs typeface="Arial"/>
              </a:defRPr>
            </a:lvl4pPr>
            <a:lvl5pPr algn="r">
              <a:defRPr sz="1200" b="0">
                <a:solidFill>
                  <a:srgbClr val="5D6A67"/>
                </a:solidFill>
                <a:latin typeface="Arial"/>
                <a:ea typeface="Arial"/>
                <a:cs typeface="Arial"/>
              </a:defRPr>
            </a:lvl5pPr>
            <a:lvl6pPr algn="r">
              <a:defRPr sz="1200" b="0">
                <a:solidFill>
                  <a:srgbClr val="5D6A67"/>
                </a:solidFill>
                <a:latin typeface="Arial"/>
                <a:ea typeface="Arial"/>
                <a:cs typeface="Arial"/>
              </a:defRPr>
            </a:lvl6pPr>
            <a:lvl7pPr algn="r">
              <a:defRPr sz="1200" b="0">
                <a:solidFill>
                  <a:srgbClr val="5D6A67"/>
                </a:solidFill>
                <a:latin typeface="Arial"/>
                <a:ea typeface="Arial"/>
                <a:cs typeface="Arial"/>
              </a:defRPr>
            </a:lvl7pPr>
            <a:lvl8pPr algn="r">
              <a:defRPr sz="1200" b="0">
                <a:solidFill>
                  <a:srgbClr val="5D6A67"/>
                </a:solidFill>
                <a:latin typeface="Arial"/>
                <a:ea typeface="Arial"/>
                <a:cs typeface="Arial"/>
              </a:defRPr>
            </a:lvl8pPr>
            <a:lvl9pPr algn="r">
              <a:defRPr sz="1200" b="0">
                <a:solidFill>
                  <a:srgbClr val="5D6A67"/>
                </a:solidFill>
                <a:latin typeface="Arial"/>
                <a:ea typeface="Arial"/>
                <a:cs typeface="Arial"/>
              </a:defRPr>
            </a:lvl9pPr>
          </a:lstStyle>
          <a:p>
            <a:pPr algn="r">
              <a:defRPr sz="1200" b="0">
                <a:solidFill>
                  <a:srgbClr val="5D6A67"/>
                </a:solidFill>
                <a:latin typeface="Arial"/>
                <a:ea typeface="Arial"/>
                <a:cs typeface="Arial"/>
              </a:defRPr>
            </a:pPr>
            <a:r>
              <a:rPr sz="1200" b="0">
                <a:solidFill>
                  <a:srgbClr val="5D6A67"/>
                </a:solidFill>
                <a:latin typeface="JetBrains Mono"/>
                <a:ea typeface="Arial"/>
                <a:cs typeface="Arial"/>
              </a:rPr>
              <a:t>10</a:t>
            </a:r>
            <a:endParaRPr/>
          </a:p>
        </p:txBody>
      </p:sp>
      <p:sp>
        <p:nvSpPr>
          <p:cNvPr id="1676934044" name="prime-text-25"/>
          <p:cNvSpPr>
            <a:spLocks noGrp="1"/>
          </p:cNvSpPr>
          <p:nvPr/>
        </p:nvSpPr>
        <p:spPr bwMode="auto">
          <a:xfrm>
            <a:off x="609600" y="2257425"/>
            <a:ext cx="3429000" cy="447675"/>
          </a:xfrm>
          <a:prstGeom prst="rect">
            <a:avLst/>
          </a:prstGeom>
          <a:noFill/>
          <a:ln w="0">
            <a:solidFill/>
            <a:prstDash val="solid"/>
          </a:ln>
        </p:spPr>
        <p:txBody>
          <a:bodyPr wrap="square" lIns="0" tIns="0" rIns="0" bIns="0" anchor="t">
            <a:noAutofit/>
          </a:bodyPr>
          <a:lstStyle>
            <a:defPPr algn="l">
              <a:defRPr sz="2200" b="1">
                <a:solidFill>
                  <a:srgbClr val="0DBE85"/>
                </a:solidFill>
                <a:latin typeface="Arial"/>
                <a:ea typeface="Arial"/>
                <a:cs typeface="Arial"/>
              </a:defRPr>
            </a:defPPr>
            <a:lvl1pPr algn="l">
              <a:defRPr sz="2200" b="1">
                <a:solidFill>
                  <a:srgbClr val="0DBE85"/>
                </a:solidFill>
                <a:latin typeface="Arial"/>
                <a:ea typeface="Arial"/>
                <a:cs typeface="Arial"/>
              </a:defRPr>
            </a:lvl1pPr>
            <a:lvl2pPr algn="l">
              <a:defRPr sz="2200" b="1">
                <a:solidFill>
                  <a:srgbClr val="0DBE85"/>
                </a:solidFill>
                <a:latin typeface="Arial"/>
                <a:ea typeface="Arial"/>
                <a:cs typeface="Arial"/>
              </a:defRPr>
            </a:lvl2pPr>
            <a:lvl3pPr algn="l">
              <a:defRPr sz="2200" b="1">
                <a:solidFill>
                  <a:srgbClr val="0DBE85"/>
                </a:solidFill>
                <a:latin typeface="Arial"/>
                <a:ea typeface="Arial"/>
                <a:cs typeface="Arial"/>
              </a:defRPr>
            </a:lvl3pPr>
            <a:lvl4pPr algn="l">
              <a:defRPr sz="2200" b="1">
                <a:solidFill>
                  <a:srgbClr val="0DBE85"/>
                </a:solidFill>
                <a:latin typeface="Arial"/>
                <a:ea typeface="Arial"/>
                <a:cs typeface="Arial"/>
              </a:defRPr>
            </a:lvl4pPr>
            <a:lvl5pPr algn="l">
              <a:defRPr sz="2200" b="1">
                <a:solidFill>
                  <a:srgbClr val="0DBE85"/>
                </a:solidFill>
                <a:latin typeface="Arial"/>
                <a:ea typeface="Arial"/>
                <a:cs typeface="Arial"/>
              </a:defRPr>
            </a:lvl5pPr>
            <a:lvl6pPr algn="l">
              <a:defRPr sz="2200" b="1">
                <a:solidFill>
                  <a:srgbClr val="0DBE85"/>
                </a:solidFill>
                <a:latin typeface="Arial"/>
                <a:ea typeface="Arial"/>
                <a:cs typeface="Arial"/>
              </a:defRPr>
            </a:lvl6pPr>
            <a:lvl7pPr algn="l">
              <a:defRPr sz="2200" b="1">
                <a:solidFill>
                  <a:srgbClr val="0DBE85"/>
                </a:solidFill>
                <a:latin typeface="Arial"/>
                <a:ea typeface="Arial"/>
                <a:cs typeface="Arial"/>
              </a:defRPr>
            </a:lvl7pPr>
            <a:lvl8pPr algn="l">
              <a:defRPr sz="2200" b="1">
                <a:solidFill>
                  <a:srgbClr val="0DBE85"/>
                </a:solidFill>
                <a:latin typeface="Arial"/>
                <a:ea typeface="Arial"/>
                <a:cs typeface="Arial"/>
              </a:defRPr>
            </a:lvl8pPr>
            <a:lvl9pPr algn="l">
              <a:defRPr sz="2200" b="1">
                <a:solidFill>
                  <a:srgbClr val="0DBE85"/>
                </a:solidFill>
                <a:latin typeface="Arial"/>
                <a:ea typeface="Arial"/>
                <a:cs typeface="Arial"/>
              </a:defRPr>
            </a:lvl9pPr>
          </a:lstStyle>
          <a:p>
            <a:pPr algn="l">
              <a:defRPr sz="2200" b="1">
                <a:solidFill>
                  <a:srgbClr val="0DBE85"/>
                </a:solidFill>
                <a:latin typeface="Arial"/>
                <a:ea typeface="Arial"/>
                <a:cs typeface="Arial"/>
              </a:defRPr>
            </a:pPr>
            <a:r>
              <a:rPr sz="2200" b="1">
                <a:solidFill>
                  <a:srgbClr val="0DBE85"/>
                </a:solidFill>
                <a:latin typeface="Outfit"/>
                <a:ea typeface="Arial"/>
                <a:cs typeface="Arial"/>
              </a:rPr>
              <a:t>Sponsor customer</a:t>
            </a:r>
            <a:endParaRPr/>
          </a:p>
        </p:txBody>
      </p:sp>
      <p:sp>
        <p:nvSpPr>
          <p:cNvPr id="106172445" name="prime-text-26"/>
          <p:cNvSpPr>
            <a:spLocks noGrp="1"/>
          </p:cNvSpPr>
          <p:nvPr/>
        </p:nvSpPr>
        <p:spPr bwMode="auto">
          <a:xfrm>
            <a:off x="609600" y="2924175"/>
            <a:ext cx="3429000" cy="752475"/>
          </a:xfrm>
          <a:prstGeom prst="rect">
            <a:avLst/>
          </a:prstGeom>
          <a:noFill/>
          <a:ln w="0">
            <a:solidFill/>
            <a:prstDash val="solid"/>
          </a:ln>
        </p:spPr>
        <p:txBody>
          <a:bodyPr wrap="square" lIns="0" tIns="0" rIns="0" bIns="0" anchor="t">
            <a:noAutofit/>
          </a:bodyPr>
          <a:lstStyle>
            <a:defPPr algn="l">
              <a:defRPr sz="2200" b="1">
                <a:solidFill>
                  <a:srgbClr val="18201D"/>
                </a:solidFill>
                <a:latin typeface="Arial"/>
                <a:ea typeface="Arial"/>
                <a:cs typeface="Arial"/>
              </a:defRPr>
            </a:defPPr>
            <a:lvl1pPr algn="l">
              <a:defRPr sz="2200" b="1">
                <a:solidFill>
                  <a:srgbClr val="18201D"/>
                </a:solidFill>
                <a:latin typeface="Arial"/>
                <a:ea typeface="Arial"/>
                <a:cs typeface="Arial"/>
              </a:defRPr>
            </a:lvl1pPr>
            <a:lvl2pPr algn="l">
              <a:defRPr sz="2200" b="1">
                <a:solidFill>
                  <a:srgbClr val="18201D"/>
                </a:solidFill>
                <a:latin typeface="Arial"/>
                <a:ea typeface="Arial"/>
                <a:cs typeface="Arial"/>
              </a:defRPr>
            </a:lvl2pPr>
            <a:lvl3pPr algn="l">
              <a:defRPr sz="2200" b="1">
                <a:solidFill>
                  <a:srgbClr val="18201D"/>
                </a:solidFill>
                <a:latin typeface="Arial"/>
                <a:ea typeface="Arial"/>
                <a:cs typeface="Arial"/>
              </a:defRPr>
            </a:lvl3pPr>
            <a:lvl4pPr algn="l">
              <a:defRPr sz="2200" b="1">
                <a:solidFill>
                  <a:srgbClr val="18201D"/>
                </a:solidFill>
                <a:latin typeface="Arial"/>
                <a:ea typeface="Arial"/>
                <a:cs typeface="Arial"/>
              </a:defRPr>
            </a:lvl4pPr>
            <a:lvl5pPr algn="l">
              <a:defRPr sz="2200" b="1">
                <a:solidFill>
                  <a:srgbClr val="18201D"/>
                </a:solidFill>
                <a:latin typeface="Arial"/>
                <a:ea typeface="Arial"/>
                <a:cs typeface="Arial"/>
              </a:defRPr>
            </a:lvl5pPr>
            <a:lvl6pPr algn="l">
              <a:defRPr sz="2200" b="1">
                <a:solidFill>
                  <a:srgbClr val="18201D"/>
                </a:solidFill>
                <a:latin typeface="Arial"/>
                <a:ea typeface="Arial"/>
                <a:cs typeface="Arial"/>
              </a:defRPr>
            </a:lvl6pPr>
            <a:lvl7pPr algn="l">
              <a:defRPr sz="2200" b="1">
                <a:solidFill>
                  <a:srgbClr val="18201D"/>
                </a:solidFill>
                <a:latin typeface="Arial"/>
                <a:ea typeface="Arial"/>
                <a:cs typeface="Arial"/>
              </a:defRPr>
            </a:lvl7pPr>
            <a:lvl8pPr algn="l">
              <a:defRPr sz="2200" b="1">
                <a:solidFill>
                  <a:srgbClr val="18201D"/>
                </a:solidFill>
                <a:latin typeface="Arial"/>
                <a:ea typeface="Arial"/>
                <a:cs typeface="Arial"/>
              </a:defRPr>
            </a:lvl8pPr>
            <a:lvl9pPr algn="l">
              <a:defRPr sz="2200" b="1">
                <a:solidFill>
                  <a:srgbClr val="18201D"/>
                </a:solidFill>
                <a:latin typeface="Arial"/>
                <a:ea typeface="Arial"/>
                <a:cs typeface="Arial"/>
              </a:defRPr>
            </a:lvl9pPr>
          </a:lstStyle>
          <a:p>
            <a:pPr algn="l">
              <a:defRPr sz="2200" b="1">
                <a:solidFill>
                  <a:srgbClr val="18201D"/>
                </a:solidFill>
                <a:latin typeface="Arial"/>
                <a:ea typeface="Arial"/>
                <a:cs typeface="Arial"/>
              </a:defRPr>
            </a:pPr>
            <a:r>
              <a:rPr sz="2200" b="1">
                <a:solidFill>
                  <a:srgbClr val="18201D"/>
                </a:solidFill>
                <a:latin typeface="Outfit"/>
                <a:ea typeface="Arial"/>
                <a:cs typeface="Arial"/>
              </a:rPr>
              <a:t>US$150,000 setup</a:t>
            </a:r>
            <a:endParaRPr/>
          </a:p>
          <a:p>
            <a:pPr algn="l">
              <a:defRPr sz="2200" b="1">
                <a:solidFill>
                  <a:srgbClr val="18201D"/>
                </a:solidFill>
                <a:latin typeface="Arial"/>
                <a:ea typeface="Arial"/>
                <a:cs typeface="Arial"/>
              </a:defRPr>
            </a:pPr>
            <a:r>
              <a:rPr sz="2200" b="1">
                <a:solidFill>
                  <a:srgbClr val="18201D"/>
                </a:solidFill>
                <a:latin typeface="Outfit"/>
                <a:ea typeface="Arial"/>
                <a:cs typeface="Arial"/>
              </a:rPr>
              <a:t>per new sponsor</a:t>
            </a:r>
            <a:endParaRPr/>
          </a:p>
        </p:txBody>
      </p:sp>
      <p:sp>
        <p:nvSpPr>
          <p:cNvPr id="1435769105" name="prime-text-27"/>
          <p:cNvSpPr>
            <a:spLocks noGrp="1"/>
          </p:cNvSpPr>
          <p:nvPr/>
        </p:nvSpPr>
        <p:spPr bwMode="auto">
          <a:xfrm>
            <a:off x="609600" y="3962400"/>
            <a:ext cx="3429000" cy="838200"/>
          </a:xfrm>
          <a:prstGeom prst="rect">
            <a:avLst/>
          </a:prstGeom>
          <a:noFill/>
          <a:ln w="0">
            <a:solidFill/>
            <a:prstDash val="solid"/>
          </a:ln>
        </p:spPr>
        <p:txBody>
          <a:bodyPr wrap="square" lIns="0" tIns="0" rIns="0" bIns="0" anchor="t">
            <a:noAutofit/>
          </a:bodyPr>
          <a:lstStyle>
            <a:defPPr algn="l">
              <a:defRPr sz="1900" b="0">
                <a:solidFill>
                  <a:srgbClr val="18201D"/>
                </a:solidFill>
                <a:latin typeface="Arial"/>
                <a:ea typeface="Arial"/>
                <a:cs typeface="Arial"/>
              </a:defRPr>
            </a:defPPr>
            <a:lvl1pPr algn="l">
              <a:defRPr sz="1900" b="0">
                <a:solidFill>
                  <a:srgbClr val="18201D"/>
                </a:solidFill>
                <a:latin typeface="Arial"/>
                <a:ea typeface="Arial"/>
                <a:cs typeface="Arial"/>
              </a:defRPr>
            </a:lvl1pPr>
            <a:lvl2pPr algn="l">
              <a:defRPr sz="1900" b="0">
                <a:solidFill>
                  <a:srgbClr val="18201D"/>
                </a:solidFill>
                <a:latin typeface="Arial"/>
                <a:ea typeface="Arial"/>
                <a:cs typeface="Arial"/>
              </a:defRPr>
            </a:lvl2pPr>
            <a:lvl3pPr algn="l">
              <a:defRPr sz="1900" b="0">
                <a:solidFill>
                  <a:srgbClr val="18201D"/>
                </a:solidFill>
                <a:latin typeface="Arial"/>
                <a:ea typeface="Arial"/>
                <a:cs typeface="Arial"/>
              </a:defRPr>
            </a:lvl3pPr>
            <a:lvl4pPr algn="l">
              <a:defRPr sz="1900" b="0">
                <a:solidFill>
                  <a:srgbClr val="18201D"/>
                </a:solidFill>
                <a:latin typeface="Arial"/>
                <a:ea typeface="Arial"/>
                <a:cs typeface="Arial"/>
              </a:defRPr>
            </a:lvl4pPr>
            <a:lvl5pPr algn="l">
              <a:defRPr sz="1900" b="0">
                <a:solidFill>
                  <a:srgbClr val="18201D"/>
                </a:solidFill>
                <a:latin typeface="Arial"/>
                <a:ea typeface="Arial"/>
                <a:cs typeface="Arial"/>
              </a:defRPr>
            </a:lvl5pPr>
            <a:lvl6pPr algn="l">
              <a:defRPr sz="1900" b="0">
                <a:solidFill>
                  <a:srgbClr val="18201D"/>
                </a:solidFill>
                <a:latin typeface="Arial"/>
                <a:ea typeface="Arial"/>
                <a:cs typeface="Arial"/>
              </a:defRPr>
            </a:lvl6pPr>
            <a:lvl7pPr algn="l">
              <a:defRPr sz="1900" b="0">
                <a:solidFill>
                  <a:srgbClr val="18201D"/>
                </a:solidFill>
                <a:latin typeface="Arial"/>
                <a:ea typeface="Arial"/>
                <a:cs typeface="Arial"/>
              </a:defRPr>
            </a:lvl7pPr>
            <a:lvl8pPr algn="l">
              <a:defRPr sz="1900" b="0">
                <a:solidFill>
                  <a:srgbClr val="18201D"/>
                </a:solidFill>
                <a:latin typeface="Arial"/>
                <a:ea typeface="Arial"/>
                <a:cs typeface="Arial"/>
              </a:defRPr>
            </a:lvl8pPr>
            <a:lvl9pPr algn="l">
              <a:defRPr sz="1900" b="0">
                <a:solidFill>
                  <a:srgbClr val="18201D"/>
                </a:solidFill>
                <a:latin typeface="Arial"/>
                <a:ea typeface="Arial"/>
                <a:cs typeface="Arial"/>
              </a:defRPr>
            </a:lvl9pPr>
          </a:lstStyle>
          <a:p>
            <a:pPr algn="l">
              <a:defRPr sz="1900" b="0">
                <a:solidFill>
                  <a:srgbClr val="18201D"/>
                </a:solidFill>
                <a:latin typeface="Arial"/>
                <a:ea typeface="Arial"/>
                <a:cs typeface="Arial"/>
              </a:defRPr>
            </a:pPr>
            <a:r>
              <a:rPr sz="1900" b="0">
                <a:solidFill>
                  <a:srgbClr val="18201D"/>
                </a:solidFill>
                <a:latin typeface="Plus Jakarta Sans"/>
                <a:ea typeface="Arial"/>
                <a:cs typeface="Arial"/>
              </a:rPr>
              <a:t>0.30% annual servicing fee</a:t>
            </a:r>
            <a:endParaRPr/>
          </a:p>
          <a:p>
            <a:pPr algn="l">
              <a:defRPr sz="1900" b="0">
                <a:solidFill>
                  <a:srgbClr val="18201D"/>
                </a:solidFill>
                <a:latin typeface="Arial"/>
                <a:ea typeface="Arial"/>
                <a:cs typeface="Arial"/>
              </a:defRPr>
            </a:pPr>
            <a:r>
              <a:rPr sz="1900" b="0">
                <a:solidFill>
                  <a:srgbClr val="18201D"/>
                </a:solidFill>
                <a:latin typeface="Plus Jakarta Sans"/>
                <a:ea typeface="Arial"/>
                <a:cs typeface="Arial"/>
              </a:rPr>
              <a:t>0.15% variable service costs</a:t>
            </a:r>
            <a:endParaRPr/>
          </a:p>
        </p:txBody>
      </p:sp>
      <p:sp>
        <p:nvSpPr>
          <p:cNvPr id="334155185" name="prime-text-28"/>
          <p:cNvSpPr>
            <a:spLocks noGrp="1"/>
          </p:cNvSpPr>
          <p:nvPr/>
        </p:nvSpPr>
        <p:spPr bwMode="auto">
          <a:xfrm>
            <a:off x="609600" y="5133975"/>
            <a:ext cx="3429000" cy="895350"/>
          </a:xfrm>
          <a:prstGeom prst="rect">
            <a:avLst/>
          </a:prstGeom>
          <a:noFill/>
          <a:ln w="0">
            <a:solidFill/>
            <a:prstDash val="solid"/>
          </a:ln>
        </p:spPr>
        <p:txBody>
          <a:bodyPr wrap="square" lIns="0" tIns="0" rIns="0" bIns="0" anchor="t">
            <a:noAutofit/>
          </a:bodyPr>
          <a:lstStyle>
            <a:defPPr algn="l">
              <a:defRPr sz="1800" b="0">
                <a:solidFill>
                  <a:srgbClr val="5D6A67"/>
                </a:solidFill>
                <a:latin typeface="Arial"/>
                <a:ea typeface="Arial"/>
                <a:cs typeface="Arial"/>
              </a:defRPr>
            </a:defPPr>
            <a:lvl1pPr algn="l">
              <a:defRPr sz="1800" b="0">
                <a:solidFill>
                  <a:srgbClr val="5D6A67"/>
                </a:solidFill>
                <a:latin typeface="Arial"/>
                <a:ea typeface="Arial"/>
                <a:cs typeface="Arial"/>
              </a:defRPr>
            </a:lvl1pPr>
            <a:lvl2pPr algn="l">
              <a:defRPr sz="1800" b="0">
                <a:solidFill>
                  <a:srgbClr val="5D6A67"/>
                </a:solidFill>
                <a:latin typeface="Arial"/>
                <a:ea typeface="Arial"/>
                <a:cs typeface="Arial"/>
              </a:defRPr>
            </a:lvl2pPr>
            <a:lvl3pPr algn="l">
              <a:defRPr sz="1800" b="0">
                <a:solidFill>
                  <a:srgbClr val="5D6A67"/>
                </a:solidFill>
                <a:latin typeface="Arial"/>
                <a:ea typeface="Arial"/>
                <a:cs typeface="Arial"/>
              </a:defRPr>
            </a:lvl3pPr>
            <a:lvl4pPr algn="l">
              <a:defRPr sz="1800" b="0">
                <a:solidFill>
                  <a:srgbClr val="5D6A67"/>
                </a:solidFill>
                <a:latin typeface="Arial"/>
                <a:ea typeface="Arial"/>
                <a:cs typeface="Arial"/>
              </a:defRPr>
            </a:lvl4pPr>
            <a:lvl5pPr algn="l">
              <a:defRPr sz="1800" b="0">
                <a:solidFill>
                  <a:srgbClr val="5D6A67"/>
                </a:solidFill>
                <a:latin typeface="Arial"/>
                <a:ea typeface="Arial"/>
                <a:cs typeface="Arial"/>
              </a:defRPr>
            </a:lvl5pPr>
            <a:lvl6pPr algn="l">
              <a:defRPr sz="1800" b="0">
                <a:solidFill>
                  <a:srgbClr val="5D6A67"/>
                </a:solidFill>
                <a:latin typeface="Arial"/>
                <a:ea typeface="Arial"/>
                <a:cs typeface="Arial"/>
              </a:defRPr>
            </a:lvl6pPr>
            <a:lvl7pPr algn="l">
              <a:defRPr sz="1800" b="0">
                <a:solidFill>
                  <a:srgbClr val="5D6A67"/>
                </a:solidFill>
                <a:latin typeface="Arial"/>
                <a:ea typeface="Arial"/>
                <a:cs typeface="Arial"/>
              </a:defRPr>
            </a:lvl7pPr>
            <a:lvl8pPr algn="l">
              <a:defRPr sz="1800" b="0">
                <a:solidFill>
                  <a:srgbClr val="5D6A67"/>
                </a:solidFill>
                <a:latin typeface="Arial"/>
                <a:ea typeface="Arial"/>
                <a:cs typeface="Arial"/>
              </a:defRPr>
            </a:lvl8pPr>
            <a:lvl9pPr algn="l">
              <a:defRPr sz="1800" b="0">
                <a:solidFill>
                  <a:srgbClr val="5D6A67"/>
                </a:solidFill>
                <a:latin typeface="Arial"/>
                <a:ea typeface="Arial"/>
                <a:cs typeface="Arial"/>
              </a:defRPr>
            </a:lvl9pPr>
          </a:lstStyle>
          <a:p>
            <a:pPr algn="l">
              <a:defRPr sz="1800" b="0">
                <a:solidFill>
                  <a:srgbClr val="5D6A67"/>
                </a:solidFill>
                <a:latin typeface="Arial"/>
                <a:ea typeface="Arial"/>
                <a:cs typeface="Arial"/>
              </a:defRPr>
            </a:pPr>
            <a:r>
              <a:rPr sz="1800" b="0">
                <a:solidFill>
                  <a:srgbClr val="5D6A67"/>
                </a:solidFill>
                <a:latin typeface="Plus Jakarta Sans"/>
                <a:ea typeface="Arial"/>
                <a:cs typeface="Arial"/>
              </a:rPr>
              <a:t>Competitive focus</a:t>
            </a:r>
            <a:endParaRPr/>
          </a:p>
          <a:p>
            <a:pPr algn="l">
              <a:defRPr sz="1800" b="0">
                <a:solidFill>
                  <a:srgbClr val="5D6A67"/>
                </a:solidFill>
                <a:latin typeface="Arial"/>
                <a:ea typeface="Arial"/>
                <a:cs typeface="Arial"/>
              </a:defRPr>
            </a:pPr>
            <a:r>
              <a:rPr sz="1800" b="0">
                <a:solidFill>
                  <a:srgbClr val="5D6A67"/>
                </a:solidFill>
                <a:latin typeface="Plus Jakarta Sans"/>
                <a:ea typeface="Arial"/>
                <a:cs typeface="Arial"/>
              </a:rPr>
              <a:t>Receipt operations with</a:t>
            </a:r>
            <a:endParaRPr/>
          </a:p>
          <a:p>
            <a:pPr algn="l">
              <a:defRPr sz="1800" b="0">
                <a:solidFill>
                  <a:srgbClr val="5D6A67"/>
                </a:solidFill>
                <a:latin typeface="Arial"/>
                <a:ea typeface="Arial"/>
                <a:cs typeface="Arial"/>
              </a:defRPr>
            </a:pPr>
            <a:r>
              <a:rPr sz="1800" b="0">
                <a:solidFill>
                  <a:srgbClr val="5D6A67"/>
                </a:solidFill>
                <a:latin typeface="Plus Jakarta Sans"/>
                <a:ea typeface="Arial"/>
                <a:cs typeface="Arial"/>
              </a:rPr>
              <a:t>approved cash adapters</a:t>
            </a:r>
            <a:endParaRPr/>
          </a:p>
        </p:txBody>
      </p:sp>
      <p:graphicFrame>
        <p:nvGraphicFramePr>
          <p:cNvPr id="636121182" name="Chart"/>
          <p:cNvGraphicFramePr>
            <a:graphicFrameLocks xmlns:a="http://schemas.openxmlformats.org/drawingml/2006/main"/>
          </p:cNvGraphicFramePr>
          <p:nvPr/>
        </p:nvGraphicFramePr>
        <p:xfrm rot="0">
          <a:off x="4267200" y="2209800"/>
          <a:ext cx="7315200" cy="3762375"/>
        </p:xfrm>
        <a:graphic>
          <a:graphicData uri="http://schemas.openxmlformats.org/drawingml/2006/chart">
            <c:chart xmlns:c="http://schemas.openxmlformats.org/drawingml/2006/chart" xmlns:r="http://schemas.openxmlformats.org/officeDocument/2006/relationships" r:id="rId3"/>
          </a:graphicData>
        </a:graphic>
      </p:graphicFrame>
      <p:sp>
        <p:nvSpPr>
          <p:cNvPr id="1325001932" name="prime-text-29"/>
          <p:cNvSpPr>
            <a:spLocks noGrp="1"/>
          </p:cNvSpPr>
          <p:nvPr/>
        </p:nvSpPr>
        <p:spPr bwMode="auto">
          <a:xfrm>
            <a:off x="609600" y="6076950"/>
            <a:ext cx="10972800" cy="323850"/>
          </a:xfrm>
          <a:prstGeom prst="rect">
            <a:avLst/>
          </a:prstGeom>
          <a:noFill/>
          <a:ln w="0">
            <a:solidFill/>
            <a:prstDash val="solid"/>
          </a:ln>
        </p:spPr>
        <p:txBody>
          <a:bodyPr wrap="square" lIns="0" tIns="0" rIns="0" bIns="0" anchor="t">
            <a:noAutofit/>
          </a:bodyPr>
          <a:lstStyle>
            <a:defPPr algn="l">
              <a:defRPr sz="1450" b="0">
                <a:solidFill>
                  <a:srgbClr val="5D6A67"/>
                </a:solidFill>
                <a:latin typeface="Arial"/>
                <a:ea typeface="Arial"/>
                <a:cs typeface="Arial"/>
              </a:defRPr>
            </a:defPPr>
            <a:lvl1pPr algn="l">
              <a:defRPr sz="1450" b="0">
                <a:solidFill>
                  <a:srgbClr val="5D6A67"/>
                </a:solidFill>
                <a:latin typeface="Arial"/>
                <a:ea typeface="Arial"/>
                <a:cs typeface="Arial"/>
              </a:defRPr>
            </a:lvl1pPr>
            <a:lvl2pPr algn="l">
              <a:defRPr sz="1450" b="0">
                <a:solidFill>
                  <a:srgbClr val="5D6A67"/>
                </a:solidFill>
                <a:latin typeface="Arial"/>
                <a:ea typeface="Arial"/>
                <a:cs typeface="Arial"/>
              </a:defRPr>
            </a:lvl2pPr>
            <a:lvl3pPr algn="l">
              <a:defRPr sz="1450" b="0">
                <a:solidFill>
                  <a:srgbClr val="5D6A67"/>
                </a:solidFill>
                <a:latin typeface="Arial"/>
                <a:ea typeface="Arial"/>
                <a:cs typeface="Arial"/>
              </a:defRPr>
            </a:lvl3pPr>
            <a:lvl4pPr algn="l">
              <a:defRPr sz="1450" b="0">
                <a:solidFill>
                  <a:srgbClr val="5D6A67"/>
                </a:solidFill>
                <a:latin typeface="Arial"/>
                <a:ea typeface="Arial"/>
                <a:cs typeface="Arial"/>
              </a:defRPr>
            </a:lvl4pPr>
            <a:lvl5pPr algn="l">
              <a:defRPr sz="1450" b="0">
                <a:solidFill>
                  <a:srgbClr val="5D6A67"/>
                </a:solidFill>
                <a:latin typeface="Arial"/>
                <a:ea typeface="Arial"/>
                <a:cs typeface="Arial"/>
              </a:defRPr>
            </a:lvl5pPr>
            <a:lvl6pPr algn="l">
              <a:defRPr sz="1450" b="0">
                <a:solidFill>
                  <a:srgbClr val="5D6A67"/>
                </a:solidFill>
                <a:latin typeface="Arial"/>
                <a:ea typeface="Arial"/>
                <a:cs typeface="Arial"/>
              </a:defRPr>
            </a:lvl6pPr>
            <a:lvl7pPr algn="l">
              <a:defRPr sz="1450" b="0">
                <a:solidFill>
                  <a:srgbClr val="5D6A67"/>
                </a:solidFill>
                <a:latin typeface="Arial"/>
                <a:ea typeface="Arial"/>
                <a:cs typeface="Arial"/>
              </a:defRPr>
            </a:lvl7pPr>
            <a:lvl8pPr algn="l">
              <a:defRPr sz="1450" b="0">
                <a:solidFill>
                  <a:srgbClr val="5D6A67"/>
                </a:solidFill>
                <a:latin typeface="Arial"/>
                <a:ea typeface="Arial"/>
                <a:cs typeface="Arial"/>
              </a:defRPr>
            </a:lvl8pPr>
            <a:lvl9pPr algn="l">
              <a:defRPr sz="1450" b="0">
                <a:solidFill>
                  <a:srgbClr val="5D6A67"/>
                </a:solidFill>
                <a:latin typeface="Arial"/>
                <a:ea typeface="Arial"/>
                <a:cs typeface="Arial"/>
              </a:defRPr>
            </a:lvl9pPr>
          </a:lstStyle>
          <a:p>
            <a:pPr algn="l">
              <a:defRPr sz="1450" b="0">
                <a:solidFill>
                  <a:srgbClr val="5D6A67"/>
                </a:solidFill>
                <a:latin typeface="Arial"/>
                <a:ea typeface="Arial"/>
                <a:cs typeface="Arial"/>
              </a:defRPr>
            </a:pPr>
            <a:r>
              <a:rPr sz="1450" b="0">
                <a:solidFill>
                  <a:srgbClr val="5D6A67"/>
                </a:solidFill>
                <a:latin typeface="Plus Jakarta Sans"/>
                <a:ea typeface="Arial"/>
                <a:cs typeface="Arial"/>
              </a:rPr>
              <a:t>Contribution is before fixed costs and excludes setup fees. Pricing and partner terms require commercial validation.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990467181" name="prime-text-30"/>
          <p:cNvSpPr>
            <a:spLocks noGrp="1"/>
          </p:cNvSpPr>
          <p:nvPr/>
        </p:nvSpPr>
        <p:spPr bwMode="auto">
          <a:xfrm>
            <a:off x="609600" y="504825"/>
            <a:ext cx="10972800" cy="828675"/>
          </a:xfrm>
          <a:prstGeom prst="rect">
            <a:avLst/>
          </a:prstGeom>
          <a:noFill/>
          <a:ln w="0">
            <a:solidFill/>
            <a:prstDash val="solid"/>
          </a:ln>
        </p:spPr>
        <p:txBody>
          <a:bodyPr wrap="square" lIns="0" tIns="0" rIns="0" bIns="0" anchor="t">
            <a:noAutofit/>
          </a:bodyPr>
          <a:lstStyle>
            <a:defPPr algn="l">
              <a:defRPr sz="3300" b="1">
                <a:solidFill>
                  <a:srgbClr val="18201D"/>
                </a:solidFill>
                <a:latin typeface="Arial"/>
                <a:ea typeface="Arial"/>
                <a:cs typeface="Arial"/>
              </a:defRPr>
            </a:defPPr>
            <a:lvl1pPr algn="l">
              <a:defRPr sz="3300" b="1">
                <a:solidFill>
                  <a:srgbClr val="18201D"/>
                </a:solidFill>
                <a:latin typeface="Arial"/>
                <a:ea typeface="Arial"/>
                <a:cs typeface="Arial"/>
              </a:defRPr>
            </a:lvl1pPr>
            <a:lvl2pPr algn="l">
              <a:defRPr sz="3300" b="1">
                <a:solidFill>
                  <a:srgbClr val="18201D"/>
                </a:solidFill>
                <a:latin typeface="Arial"/>
                <a:ea typeface="Arial"/>
                <a:cs typeface="Arial"/>
              </a:defRPr>
            </a:lvl2pPr>
            <a:lvl3pPr algn="l">
              <a:defRPr sz="3300" b="1">
                <a:solidFill>
                  <a:srgbClr val="18201D"/>
                </a:solidFill>
                <a:latin typeface="Arial"/>
                <a:ea typeface="Arial"/>
                <a:cs typeface="Arial"/>
              </a:defRPr>
            </a:lvl3pPr>
            <a:lvl4pPr algn="l">
              <a:defRPr sz="3300" b="1">
                <a:solidFill>
                  <a:srgbClr val="18201D"/>
                </a:solidFill>
                <a:latin typeface="Arial"/>
                <a:ea typeface="Arial"/>
                <a:cs typeface="Arial"/>
              </a:defRPr>
            </a:lvl4pPr>
            <a:lvl5pPr algn="l">
              <a:defRPr sz="3300" b="1">
                <a:solidFill>
                  <a:srgbClr val="18201D"/>
                </a:solidFill>
                <a:latin typeface="Arial"/>
                <a:ea typeface="Arial"/>
                <a:cs typeface="Arial"/>
              </a:defRPr>
            </a:lvl5pPr>
            <a:lvl6pPr algn="l">
              <a:defRPr sz="3300" b="1">
                <a:solidFill>
                  <a:srgbClr val="18201D"/>
                </a:solidFill>
                <a:latin typeface="Arial"/>
                <a:ea typeface="Arial"/>
                <a:cs typeface="Arial"/>
              </a:defRPr>
            </a:lvl6pPr>
            <a:lvl7pPr algn="l">
              <a:defRPr sz="3300" b="1">
                <a:solidFill>
                  <a:srgbClr val="18201D"/>
                </a:solidFill>
                <a:latin typeface="Arial"/>
                <a:ea typeface="Arial"/>
                <a:cs typeface="Arial"/>
              </a:defRPr>
            </a:lvl7pPr>
            <a:lvl8pPr algn="l">
              <a:defRPr sz="3300" b="1">
                <a:solidFill>
                  <a:srgbClr val="18201D"/>
                </a:solidFill>
                <a:latin typeface="Arial"/>
                <a:ea typeface="Arial"/>
                <a:cs typeface="Arial"/>
              </a:defRPr>
            </a:lvl8pPr>
            <a:lvl9pPr algn="l">
              <a:defRPr sz="3300" b="1">
                <a:solidFill>
                  <a:srgbClr val="18201D"/>
                </a:solidFill>
                <a:latin typeface="Arial"/>
                <a:ea typeface="Arial"/>
                <a:cs typeface="Arial"/>
              </a:defRPr>
            </a:lvl9pPr>
          </a:lstStyle>
          <a:p>
            <a:pPr algn="l">
              <a:defRPr sz="3300" b="1">
                <a:solidFill>
                  <a:srgbClr val="18201D"/>
                </a:solidFill>
                <a:latin typeface="Arial"/>
                <a:ea typeface="Arial"/>
                <a:cs typeface="Arial"/>
              </a:defRPr>
            </a:pPr>
            <a:r>
              <a:rPr sz="3300" b="1">
                <a:solidFill>
                  <a:srgbClr val="18201D"/>
                </a:solidFill>
                <a:latin typeface="Outfit"/>
                <a:ea typeface="Arial"/>
                <a:cs typeface="Arial"/>
              </a:rPr>
              <a:t>Distribution through accountable partners</a:t>
            </a:r>
            <a:endParaRPr/>
          </a:p>
        </p:txBody>
      </p:sp>
      <p:sp>
        <p:nvSpPr>
          <p:cNvPr id="2000661722" name="prime-text-31"/>
          <p:cNvSpPr>
            <a:spLocks noGrp="1"/>
          </p:cNvSpPr>
          <p:nvPr/>
        </p:nvSpPr>
        <p:spPr bwMode="auto">
          <a:xfrm>
            <a:off x="609600" y="1409700"/>
            <a:ext cx="10972800" cy="609600"/>
          </a:xfrm>
          <a:prstGeom prst="rect">
            <a:avLst/>
          </a:prstGeom>
          <a:noFill/>
          <a:ln w="0">
            <a:solidFill/>
            <a:prstDash val="solid"/>
          </a:ln>
        </p:spPr>
        <p:txBody>
          <a:bodyPr wrap="square" lIns="0" tIns="0" rIns="0" bIns="0" anchor="t">
            <a:noAutofit/>
          </a:bodyPr>
          <a:lstStyle>
            <a:defPPr algn="l">
              <a:defRPr sz="1900" b="0">
                <a:solidFill>
                  <a:srgbClr val="5D6A67"/>
                </a:solidFill>
                <a:latin typeface="Arial"/>
                <a:ea typeface="Arial"/>
                <a:cs typeface="Arial"/>
              </a:defRPr>
            </a:defPPr>
            <a:lvl1pPr algn="l">
              <a:defRPr sz="1900" b="0">
                <a:solidFill>
                  <a:srgbClr val="5D6A67"/>
                </a:solidFill>
                <a:latin typeface="Arial"/>
                <a:ea typeface="Arial"/>
                <a:cs typeface="Arial"/>
              </a:defRPr>
            </a:lvl1pPr>
            <a:lvl2pPr algn="l">
              <a:defRPr sz="1900" b="0">
                <a:solidFill>
                  <a:srgbClr val="5D6A67"/>
                </a:solidFill>
                <a:latin typeface="Arial"/>
                <a:ea typeface="Arial"/>
                <a:cs typeface="Arial"/>
              </a:defRPr>
            </a:lvl2pPr>
            <a:lvl3pPr algn="l">
              <a:defRPr sz="1900" b="0">
                <a:solidFill>
                  <a:srgbClr val="5D6A67"/>
                </a:solidFill>
                <a:latin typeface="Arial"/>
                <a:ea typeface="Arial"/>
                <a:cs typeface="Arial"/>
              </a:defRPr>
            </a:lvl3pPr>
            <a:lvl4pPr algn="l">
              <a:defRPr sz="1900" b="0">
                <a:solidFill>
                  <a:srgbClr val="5D6A67"/>
                </a:solidFill>
                <a:latin typeface="Arial"/>
                <a:ea typeface="Arial"/>
                <a:cs typeface="Arial"/>
              </a:defRPr>
            </a:lvl4pPr>
            <a:lvl5pPr algn="l">
              <a:defRPr sz="1900" b="0">
                <a:solidFill>
                  <a:srgbClr val="5D6A67"/>
                </a:solidFill>
                <a:latin typeface="Arial"/>
                <a:ea typeface="Arial"/>
                <a:cs typeface="Arial"/>
              </a:defRPr>
            </a:lvl5pPr>
            <a:lvl6pPr algn="l">
              <a:defRPr sz="1900" b="0">
                <a:solidFill>
                  <a:srgbClr val="5D6A67"/>
                </a:solidFill>
                <a:latin typeface="Arial"/>
                <a:ea typeface="Arial"/>
                <a:cs typeface="Arial"/>
              </a:defRPr>
            </a:lvl6pPr>
            <a:lvl7pPr algn="l">
              <a:defRPr sz="1900" b="0">
                <a:solidFill>
                  <a:srgbClr val="5D6A67"/>
                </a:solidFill>
                <a:latin typeface="Arial"/>
                <a:ea typeface="Arial"/>
                <a:cs typeface="Arial"/>
              </a:defRPr>
            </a:lvl7pPr>
            <a:lvl8pPr algn="l">
              <a:defRPr sz="1900" b="0">
                <a:solidFill>
                  <a:srgbClr val="5D6A67"/>
                </a:solidFill>
                <a:latin typeface="Arial"/>
                <a:ea typeface="Arial"/>
                <a:cs typeface="Arial"/>
              </a:defRPr>
            </a:lvl8pPr>
            <a:lvl9pPr algn="l">
              <a:defRPr sz="1900" b="0">
                <a:solidFill>
                  <a:srgbClr val="5D6A67"/>
                </a:solidFill>
                <a:latin typeface="Arial"/>
                <a:ea typeface="Arial"/>
                <a:cs typeface="Arial"/>
              </a:defRPr>
            </a:lvl9pPr>
          </a:lstStyle>
          <a:p>
            <a:pPr algn="l">
              <a:defRPr sz="1900" b="0">
                <a:solidFill>
                  <a:srgbClr val="5D6A67"/>
                </a:solidFill>
                <a:latin typeface="Arial"/>
                <a:ea typeface="Arial"/>
                <a:cs typeface="Arial"/>
              </a:defRPr>
            </a:pPr>
            <a:r>
              <a:rPr sz="1900" b="0">
                <a:solidFill>
                  <a:srgbClr val="5D6A67"/>
                </a:solidFill>
                <a:latin typeface="Plus Jakarta Sans"/>
                <a:ea typeface="Arial"/>
                <a:cs typeface="Arial"/>
              </a:rPr>
              <a:t>Planning sensitivity. Each series averages US$20M of serviced assets over a full measurement period.</a:t>
            </a:r>
            <a:endParaRPr/>
          </a:p>
        </p:txBody>
      </p:sp>
      <p:sp>
        <p:nvSpPr>
          <p:cNvPr id="238876328" name="prime-text-32"/>
          <p:cNvSpPr>
            <a:spLocks noGrp="1"/>
          </p:cNvSpPr>
          <p:nvPr/>
        </p:nvSpPr>
        <p:spPr bwMode="auto">
          <a:xfrm>
            <a:off x="609600" y="6438899"/>
            <a:ext cx="3619500" cy="238125"/>
          </a:xfrm>
          <a:prstGeom prst="rect">
            <a:avLst/>
          </a:prstGeom>
          <a:noFill/>
          <a:ln w="0">
            <a:solidFill/>
            <a:prstDash val="solid"/>
          </a:ln>
        </p:spPr>
        <p:txBody>
          <a:bodyPr wrap="square" lIns="0" tIns="0" rIns="0" bIns="0" anchor="t">
            <a:noAutofit/>
          </a:bodyPr>
          <a:lstStyle>
            <a:defPPr algn="l">
              <a:defRPr sz="1200" b="1">
                <a:solidFill>
                  <a:srgbClr val="0DBE85"/>
                </a:solidFill>
                <a:latin typeface="Arial"/>
                <a:ea typeface="Arial"/>
                <a:cs typeface="Arial"/>
              </a:defRPr>
            </a:defPPr>
            <a:lvl1pPr algn="l">
              <a:defRPr sz="1200" b="1">
                <a:solidFill>
                  <a:srgbClr val="0DBE85"/>
                </a:solidFill>
                <a:latin typeface="Arial"/>
                <a:ea typeface="Arial"/>
                <a:cs typeface="Arial"/>
              </a:defRPr>
            </a:lvl1pPr>
            <a:lvl2pPr algn="l">
              <a:defRPr sz="1200" b="1">
                <a:solidFill>
                  <a:srgbClr val="0DBE85"/>
                </a:solidFill>
                <a:latin typeface="Arial"/>
                <a:ea typeface="Arial"/>
                <a:cs typeface="Arial"/>
              </a:defRPr>
            </a:lvl2pPr>
            <a:lvl3pPr algn="l">
              <a:defRPr sz="1200" b="1">
                <a:solidFill>
                  <a:srgbClr val="0DBE85"/>
                </a:solidFill>
                <a:latin typeface="Arial"/>
                <a:ea typeface="Arial"/>
                <a:cs typeface="Arial"/>
              </a:defRPr>
            </a:lvl3pPr>
            <a:lvl4pPr algn="l">
              <a:defRPr sz="1200" b="1">
                <a:solidFill>
                  <a:srgbClr val="0DBE85"/>
                </a:solidFill>
                <a:latin typeface="Arial"/>
                <a:ea typeface="Arial"/>
                <a:cs typeface="Arial"/>
              </a:defRPr>
            </a:lvl4pPr>
            <a:lvl5pPr algn="l">
              <a:defRPr sz="1200" b="1">
                <a:solidFill>
                  <a:srgbClr val="0DBE85"/>
                </a:solidFill>
                <a:latin typeface="Arial"/>
                <a:ea typeface="Arial"/>
                <a:cs typeface="Arial"/>
              </a:defRPr>
            </a:lvl5pPr>
            <a:lvl6pPr algn="l">
              <a:defRPr sz="1200" b="1">
                <a:solidFill>
                  <a:srgbClr val="0DBE85"/>
                </a:solidFill>
                <a:latin typeface="Arial"/>
                <a:ea typeface="Arial"/>
                <a:cs typeface="Arial"/>
              </a:defRPr>
            </a:lvl6pPr>
            <a:lvl7pPr algn="l">
              <a:defRPr sz="1200" b="1">
                <a:solidFill>
                  <a:srgbClr val="0DBE85"/>
                </a:solidFill>
                <a:latin typeface="Arial"/>
                <a:ea typeface="Arial"/>
                <a:cs typeface="Arial"/>
              </a:defRPr>
            </a:lvl7pPr>
            <a:lvl8pPr algn="l">
              <a:defRPr sz="1200" b="1">
                <a:solidFill>
                  <a:srgbClr val="0DBE85"/>
                </a:solidFill>
                <a:latin typeface="Arial"/>
                <a:ea typeface="Arial"/>
                <a:cs typeface="Arial"/>
              </a:defRPr>
            </a:lvl8pPr>
            <a:lvl9pPr algn="l">
              <a:defRPr sz="1200" b="1">
                <a:solidFill>
                  <a:srgbClr val="0DBE85"/>
                </a:solidFill>
                <a:latin typeface="Arial"/>
                <a:ea typeface="Arial"/>
                <a:cs typeface="Arial"/>
              </a:defRPr>
            </a:lvl9pPr>
          </a:lstStyle>
          <a:p>
            <a:pPr algn="l">
              <a:defRPr sz="1200" b="1">
                <a:solidFill>
                  <a:srgbClr val="0DBE85"/>
                </a:solidFill>
                <a:latin typeface="Arial"/>
                <a:ea typeface="Arial"/>
                <a:cs typeface="Arial"/>
              </a:defRPr>
            </a:pPr>
            <a:r>
              <a:rPr sz="1200" b="1">
                <a:solidFill>
                  <a:srgbClr val="0AA372"/>
                </a:solidFill>
                <a:latin typeface="JetBrains Mono"/>
                <a:ea typeface="Arial"/>
                <a:cs typeface="Arial"/>
              </a:rPr>
              <a:t>D-SHARE / PRIME</a:t>
            </a:r>
            <a:endParaRPr/>
          </a:p>
        </p:txBody>
      </p:sp>
      <p:sp>
        <p:nvSpPr>
          <p:cNvPr id="805901540" name="prime-text-33"/>
          <p:cNvSpPr>
            <a:spLocks noGrp="1"/>
          </p:cNvSpPr>
          <p:nvPr/>
        </p:nvSpPr>
        <p:spPr bwMode="auto">
          <a:xfrm>
            <a:off x="11020424" y="6438899"/>
            <a:ext cx="561975" cy="238125"/>
          </a:xfrm>
          <a:prstGeom prst="rect">
            <a:avLst/>
          </a:prstGeom>
          <a:noFill/>
          <a:ln w="0">
            <a:solidFill/>
            <a:prstDash val="solid"/>
          </a:ln>
        </p:spPr>
        <p:txBody>
          <a:bodyPr wrap="square" lIns="0" tIns="0" rIns="0" bIns="0" anchor="t">
            <a:noAutofit/>
          </a:bodyPr>
          <a:lstStyle>
            <a:defPPr algn="r">
              <a:defRPr sz="1200" b="0">
                <a:solidFill>
                  <a:srgbClr val="5D6A67"/>
                </a:solidFill>
                <a:latin typeface="Arial"/>
                <a:ea typeface="Arial"/>
                <a:cs typeface="Arial"/>
              </a:defRPr>
            </a:defPPr>
            <a:lvl1pPr algn="r">
              <a:defRPr sz="1200" b="0">
                <a:solidFill>
                  <a:srgbClr val="5D6A67"/>
                </a:solidFill>
                <a:latin typeface="Arial"/>
                <a:ea typeface="Arial"/>
                <a:cs typeface="Arial"/>
              </a:defRPr>
            </a:lvl1pPr>
            <a:lvl2pPr algn="r">
              <a:defRPr sz="1200" b="0">
                <a:solidFill>
                  <a:srgbClr val="5D6A67"/>
                </a:solidFill>
                <a:latin typeface="Arial"/>
                <a:ea typeface="Arial"/>
                <a:cs typeface="Arial"/>
              </a:defRPr>
            </a:lvl2pPr>
            <a:lvl3pPr algn="r">
              <a:defRPr sz="1200" b="0">
                <a:solidFill>
                  <a:srgbClr val="5D6A67"/>
                </a:solidFill>
                <a:latin typeface="Arial"/>
                <a:ea typeface="Arial"/>
                <a:cs typeface="Arial"/>
              </a:defRPr>
            </a:lvl3pPr>
            <a:lvl4pPr algn="r">
              <a:defRPr sz="1200" b="0">
                <a:solidFill>
                  <a:srgbClr val="5D6A67"/>
                </a:solidFill>
                <a:latin typeface="Arial"/>
                <a:ea typeface="Arial"/>
                <a:cs typeface="Arial"/>
              </a:defRPr>
            </a:lvl4pPr>
            <a:lvl5pPr algn="r">
              <a:defRPr sz="1200" b="0">
                <a:solidFill>
                  <a:srgbClr val="5D6A67"/>
                </a:solidFill>
                <a:latin typeface="Arial"/>
                <a:ea typeface="Arial"/>
                <a:cs typeface="Arial"/>
              </a:defRPr>
            </a:lvl5pPr>
            <a:lvl6pPr algn="r">
              <a:defRPr sz="1200" b="0">
                <a:solidFill>
                  <a:srgbClr val="5D6A67"/>
                </a:solidFill>
                <a:latin typeface="Arial"/>
                <a:ea typeface="Arial"/>
                <a:cs typeface="Arial"/>
              </a:defRPr>
            </a:lvl6pPr>
            <a:lvl7pPr algn="r">
              <a:defRPr sz="1200" b="0">
                <a:solidFill>
                  <a:srgbClr val="5D6A67"/>
                </a:solidFill>
                <a:latin typeface="Arial"/>
                <a:ea typeface="Arial"/>
                <a:cs typeface="Arial"/>
              </a:defRPr>
            </a:lvl7pPr>
            <a:lvl8pPr algn="r">
              <a:defRPr sz="1200" b="0">
                <a:solidFill>
                  <a:srgbClr val="5D6A67"/>
                </a:solidFill>
                <a:latin typeface="Arial"/>
                <a:ea typeface="Arial"/>
                <a:cs typeface="Arial"/>
              </a:defRPr>
            </a:lvl8pPr>
            <a:lvl9pPr algn="r">
              <a:defRPr sz="1200" b="0">
                <a:solidFill>
                  <a:srgbClr val="5D6A67"/>
                </a:solidFill>
                <a:latin typeface="Arial"/>
                <a:ea typeface="Arial"/>
                <a:cs typeface="Arial"/>
              </a:defRPr>
            </a:lvl9pPr>
          </a:lstStyle>
          <a:p>
            <a:pPr algn="r">
              <a:defRPr sz="1200" b="0">
                <a:solidFill>
                  <a:srgbClr val="5D6A67"/>
                </a:solidFill>
                <a:latin typeface="Arial"/>
                <a:ea typeface="Arial"/>
                <a:cs typeface="Arial"/>
              </a:defRPr>
            </a:pPr>
            <a:r>
              <a:rPr sz="1200" b="0">
                <a:solidFill>
                  <a:srgbClr val="5D6A67"/>
                </a:solidFill>
                <a:latin typeface="JetBrains Mono"/>
                <a:ea typeface="Arial"/>
                <a:cs typeface="Arial"/>
              </a:rPr>
              <a:t>11</a:t>
            </a:r>
            <a:endParaRPr/>
          </a:p>
        </p:txBody>
      </p:sp>
      <p:sp>
        <p:nvSpPr>
          <p:cNvPr id="31904538" name="prime-text-34"/>
          <p:cNvSpPr>
            <a:spLocks noGrp="1"/>
          </p:cNvSpPr>
          <p:nvPr/>
        </p:nvSpPr>
        <p:spPr bwMode="auto">
          <a:xfrm>
            <a:off x="609600" y="2266950"/>
            <a:ext cx="3333750" cy="438149"/>
          </a:xfrm>
          <a:prstGeom prst="rect">
            <a:avLst/>
          </a:prstGeom>
          <a:noFill/>
          <a:ln w="0">
            <a:solidFill/>
            <a:prstDash val="solid"/>
          </a:ln>
        </p:spPr>
        <p:txBody>
          <a:bodyPr wrap="square" lIns="0" tIns="0" rIns="0" bIns="0" anchor="t">
            <a:noAutofit/>
          </a:bodyPr>
          <a:lstStyle>
            <a:defPPr algn="l">
              <a:defRPr sz="2350" b="1">
                <a:solidFill>
                  <a:srgbClr val="0DBE85"/>
                </a:solidFill>
                <a:latin typeface="Arial"/>
                <a:ea typeface="Arial"/>
                <a:cs typeface="Arial"/>
              </a:defRPr>
            </a:defPPr>
            <a:lvl1pPr algn="l">
              <a:defRPr sz="2350" b="1">
                <a:solidFill>
                  <a:srgbClr val="0DBE85"/>
                </a:solidFill>
                <a:latin typeface="Arial"/>
                <a:ea typeface="Arial"/>
                <a:cs typeface="Arial"/>
              </a:defRPr>
            </a:lvl1pPr>
            <a:lvl2pPr algn="l">
              <a:defRPr sz="2350" b="1">
                <a:solidFill>
                  <a:srgbClr val="0DBE85"/>
                </a:solidFill>
                <a:latin typeface="Arial"/>
                <a:ea typeface="Arial"/>
                <a:cs typeface="Arial"/>
              </a:defRPr>
            </a:lvl2pPr>
            <a:lvl3pPr algn="l">
              <a:defRPr sz="2350" b="1">
                <a:solidFill>
                  <a:srgbClr val="0DBE85"/>
                </a:solidFill>
                <a:latin typeface="Arial"/>
                <a:ea typeface="Arial"/>
                <a:cs typeface="Arial"/>
              </a:defRPr>
            </a:lvl3pPr>
            <a:lvl4pPr algn="l">
              <a:defRPr sz="2350" b="1">
                <a:solidFill>
                  <a:srgbClr val="0DBE85"/>
                </a:solidFill>
                <a:latin typeface="Arial"/>
                <a:ea typeface="Arial"/>
                <a:cs typeface="Arial"/>
              </a:defRPr>
            </a:lvl4pPr>
            <a:lvl5pPr algn="l">
              <a:defRPr sz="2350" b="1">
                <a:solidFill>
                  <a:srgbClr val="0DBE85"/>
                </a:solidFill>
                <a:latin typeface="Arial"/>
                <a:ea typeface="Arial"/>
                <a:cs typeface="Arial"/>
              </a:defRPr>
            </a:lvl5pPr>
            <a:lvl6pPr algn="l">
              <a:defRPr sz="2350" b="1">
                <a:solidFill>
                  <a:srgbClr val="0DBE85"/>
                </a:solidFill>
                <a:latin typeface="Arial"/>
                <a:ea typeface="Arial"/>
                <a:cs typeface="Arial"/>
              </a:defRPr>
            </a:lvl6pPr>
            <a:lvl7pPr algn="l">
              <a:defRPr sz="2350" b="1">
                <a:solidFill>
                  <a:srgbClr val="0DBE85"/>
                </a:solidFill>
                <a:latin typeface="Arial"/>
                <a:ea typeface="Arial"/>
                <a:cs typeface="Arial"/>
              </a:defRPr>
            </a:lvl7pPr>
            <a:lvl8pPr algn="l">
              <a:defRPr sz="2350" b="1">
                <a:solidFill>
                  <a:srgbClr val="0DBE85"/>
                </a:solidFill>
                <a:latin typeface="Arial"/>
                <a:ea typeface="Arial"/>
                <a:cs typeface="Arial"/>
              </a:defRPr>
            </a:lvl8pPr>
            <a:lvl9pPr algn="l">
              <a:defRPr sz="2350" b="1">
                <a:solidFill>
                  <a:srgbClr val="0DBE85"/>
                </a:solidFill>
                <a:latin typeface="Arial"/>
                <a:ea typeface="Arial"/>
                <a:cs typeface="Arial"/>
              </a:defRPr>
            </a:lvl9pPr>
          </a:lstStyle>
          <a:p>
            <a:pPr algn="l">
              <a:defRPr sz="2350" b="1">
                <a:solidFill>
                  <a:srgbClr val="0DBE85"/>
                </a:solidFill>
                <a:latin typeface="Arial"/>
                <a:ea typeface="Arial"/>
                <a:cs typeface="Arial"/>
              </a:defRPr>
            </a:pPr>
            <a:r>
              <a:rPr sz="2350" b="1">
                <a:solidFill>
                  <a:srgbClr val="0DBE85"/>
                </a:solidFill>
                <a:latin typeface="Outfit"/>
                <a:ea typeface="Arial"/>
                <a:cs typeface="Arial"/>
              </a:rPr>
              <a:t>USDC first</a:t>
            </a:r>
            <a:endParaRPr/>
          </a:p>
        </p:txBody>
      </p:sp>
      <p:sp>
        <p:nvSpPr>
          <p:cNvPr id="882009998" name="prime-text-35"/>
          <p:cNvSpPr>
            <a:spLocks noGrp="1"/>
          </p:cNvSpPr>
          <p:nvPr/>
        </p:nvSpPr>
        <p:spPr bwMode="auto">
          <a:xfrm>
            <a:off x="609600" y="2819400"/>
            <a:ext cx="3333750" cy="800100"/>
          </a:xfrm>
          <a:prstGeom prst="rect">
            <a:avLst/>
          </a:prstGeom>
          <a:noFill/>
          <a:ln w="0">
            <a:solidFill/>
            <a:prstDash val="solid"/>
          </a:ln>
        </p:spPr>
        <p:txBody>
          <a:bodyPr wrap="square" lIns="0" tIns="0" rIns="0" bIns="0" anchor="t">
            <a:noAutofit/>
          </a:bodyPr>
          <a:lstStyle>
            <a:defPPr algn="l">
              <a:defRPr sz="1950" b="0">
                <a:solidFill>
                  <a:srgbClr val="18201D"/>
                </a:solidFill>
                <a:latin typeface="Arial"/>
                <a:ea typeface="Arial"/>
                <a:cs typeface="Arial"/>
              </a:defRPr>
            </a:defPPr>
            <a:lvl1pPr algn="l">
              <a:defRPr sz="1950" b="0">
                <a:solidFill>
                  <a:srgbClr val="18201D"/>
                </a:solidFill>
                <a:latin typeface="Arial"/>
                <a:ea typeface="Arial"/>
                <a:cs typeface="Arial"/>
              </a:defRPr>
            </a:lvl1pPr>
            <a:lvl2pPr algn="l">
              <a:defRPr sz="1950" b="0">
                <a:solidFill>
                  <a:srgbClr val="18201D"/>
                </a:solidFill>
                <a:latin typeface="Arial"/>
                <a:ea typeface="Arial"/>
                <a:cs typeface="Arial"/>
              </a:defRPr>
            </a:lvl2pPr>
            <a:lvl3pPr algn="l">
              <a:defRPr sz="1950" b="0">
                <a:solidFill>
                  <a:srgbClr val="18201D"/>
                </a:solidFill>
                <a:latin typeface="Arial"/>
                <a:ea typeface="Arial"/>
                <a:cs typeface="Arial"/>
              </a:defRPr>
            </a:lvl3pPr>
            <a:lvl4pPr algn="l">
              <a:defRPr sz="1950" b="0">
                <a:solidFill>
                  <a:srgbClr val="18201D"/>
                </a:solidFill>
                <a:latin typeface="Arial"/>
                <a:ea typeface="Arial"/>
                <a:cs typeface="Arial"/>
              </a:defRPr>
            </a:lvl4pPr>
            <a:lvl5pPr algn="l">
              <a:defRPr sz="1950" b="0">
                <a:solidFill>
                  <a:srgbClr val="18201D"/>
                </a:solidFill>
                <a:latin typeface="Arial"/>
                <a:ea typeface="Arial"/>
                <a:cs typeface="Arial"/>
              </a:defRPr>
            </a:lvl5pPr>
            <a:lvl6pPr algn="l">
              <a:defRPr sz="1950" b="0">
                <a:solidFill>
                  <a:srgbClr val="18201D"/>
                </a:solidFill>
                <a:latin typeface="Arial"/>
                <a:ea typeface="Arial"/>
                <a:cs typeface="Arial"/>
              </a:defRPr>
            </a:lvl6pPr>
            <a:lvl7pPr algn="l">
              <a:defRPr sz="1950" b="0">
                <a:solidFill>
                  <a:srgbClr val="18201D"/>
                </a:solidFill>
                <a:latin typeface="Arial"/>
                <a:ea typeface="Arial"/>
                <a:cs typeface="Arial"/>
              </a:defRPr>
            </a:lvl7pPr>
            <a:lvl8pPr algn="l">
              <a:defRPr sz="1950" b="0">
                <a:solidFill>
                  <a:srgbClr val="18201D"/>
                </a:solidFill>
                <a:latin typeface="Arial"/>
                <a:ea typeface="Arial"/>
                <a:cs typeface="Arial"/>
              </a:defRPr>
            </a:lvl8pPr>
            <a:lvl9pPr algn="l">
              <a:defRPr sz="1950" b="0">
                <a:solidFill>
                  <a:srgbClr val="18201D"/>
                </a:solidFill>
                <a:latin typeface="Arial"/>
                <a:ea typeface="Arial"/>
                <a:cs typeface="Arial"/>
              </a:defRPr>
            </a:lvl9pPr>
          </a:lstStyle>
          <a:p>
            <a:pPr algn="l">
              <a:defRPr sz="1950" b="0">
                <a:solidFill>
                  <a:srgbClr val="18201D"/>
                </a:solidFill>
                <a:latin typeface="Arial"/>
                <a:ea typeface="Arial"/>
                <a:cs typeface="Arial"/>
              </a:defRPr>
            </a:pPr>
            <a:r>
              <a:rPr sz="1950" b="0">
                <a:solidFill>
                  <a:srgbClr val="18201D"/>
                </a:solidFill>
                <a:latin typeface="Plus Jakarta Sans"/>
                <a:ea typeface="Arial"/>
                <a:cs typeface="Arial"/>
              </a:rPr>
              <a:t>One approved native network</a:t>
            </a:r>
            <a:endParaRPr/>
          </a:p>
          <a:p>
            <a:pPr algn="l">
              <a:defRPr sz="1950" b="0">
                <a:solidFill>
                  <a:srgbClr val="18201D"/>
                </a:solidFill>
                <a:latin typeface="Arial"/>
                <a:ea typeface="Arial"/>
                <a:cs typeface="Arial"/>
              </a:defRPr>
            </a:pPr>
            <a:r>
              <a:rPr sz="1950" b="0">
                <a:solidFill>
                  <a:srgbClr val="18201D"/>
                </a:solidFill>
                <a:latin typeface="Plus Jakarta Sans"/>
                <a:ea typeface="Arial"/>
                <a:cs typeface="Arial"/>
              </a:rPr>
              <a:t>and eligible broker accounts</a:t>
            </a:r>
            <a:endParaRPr/>
          </a:p>
        </p:txBody>
      </p:sp>
      <p:sp>
        <p:nvSpPr>
          <p:cNvPr id="1664438646" name="prime-text-36"/>
          <p:cNvSpPr>
            <a:spLocks noGrp="1"/>
          </p:cNvSpPr>
          <p:nvPr/>
        </p:nvSpPr>
        <p:spPr bwMode="auto">
          <a:xfrm>
            <a:off x="609600" y="3800475"/>
            <a:ext cx="3333750" cy="438149"/>
          </a:xfrm>
          <a:prstGeom prst="rect">
            <a:avLst/>
          </a:prstGeom>
          <a:noFill/>
          <a:ln w="0">
            <a:solidFill/>
            <a:prstDash val="solid"/>
          </a:ln>
        </p:spPr>
        <p:txBody>
          <a:bodyPr wrap="square" lIns="0" tIns="0" rIns="0" bIns="0" anchor="t">
            <a:noAutofit/>
          </a:bodyPr>
          <a:lstStyle>
            <a:defPPr algn="l">
              <a:defRPr sz="2250" b="1">
                <a:solidFill>
                  <a:srgbClr val="0DBE85"/>
                </a:solidFill>
                <a:latin typeface="Arial"/>
                <a:ea typeface="Arial"/>
                <a:cs typeface="Arial"/>
              </a:defRPr>
            </a:defPPr>
            <a:lvl1pPr algn="l">
              <a:defRPr sz="2250" b="1">
                <a:solidFill>
                  <a:srgbClr val="0DBE85"/>
                </a:solidFill>
                <a:latin typeface="Arial"/>
                <a:ea typeface="Arial"/>
                <a:cs typeface="Arial"/>
              </a:defRPr>
            </a:lvl1pPr>
            <a:lvl2pPr algn="l">
              <a:defRPr sz="2250" b="1">
                <a:solidFill>
                  <a:srgbClr val="0DBE85"/>
                </a:solidFill>
                <a:latin typeface="Arial"/>
                <a:ea typeface="Arial"/>
                <a:cs typeface="Arial"/>
              </a:defRPr>
            </a:lvl2pPr>
            <a:lvl3pPr algn="l">
              <a:defRPr sz="2250" b="1">
                <a:solidFill>
                  <a:srgbClr val="0DBE85"/>
                </a:solidFill>
                <a:latin typeface="Arial"/>
                <a:ea typeface="Arial"/>
                <a:cs typeface="Arial"/>
              </a:defRPr>
            </a:lvl3pPr>
            <a:lvl4pPr algn="l">
              <a:defRPr sz="2250" b="1">
                <a:solidFill>
                  <a:srgbClr val="0DBE85"/>
                </a:solidFill>
                <a:latin typeface="Arial"/>
                <a:ea typeface="Arial"/>
                <a:cs typeface="Arial"/>
              </a:defRPr>
            </a:lvl4pPr>
            <a:lvl5pPr algn="l">
              <a:defRPr sz="2250" b="1">
                <a:solidFill>
                  <a:srgbClr val="0DBE85"/>
                </a:solidFill>
                <a:latin typeface="Arial"/>
                <a:ea typeface="Arial"/>
                <a:cs typeface="Arial"/>
              </a:defRPr>
            </a:lvl5pPr>
            <a:lvl6pPr algn="l">
              <a:defRPr sz="2250" b="1">
                <a:solidFill>
                  <a:srgbClr val="0DBE85"/>
                </a:solidFill>
                <a:latin typeface="Arial"/>
                <a:ea typeface="Arial"/>
                <a:cs typeface="Arial"/>
              </a:defRPr>
            </a:lvl6pPr>
            <a:lvl7pPr algn="l">
              <a:defRPr sz="2250" b="1">
                <a:solidFill>
                  <a:srgbClr val="0DBE85"/>
                </a:solidFill>
                <a:latin typeface="Arial"/>
                <a:ea typeface="Arial"/>
                <a:cs typeface="Arial"/>
              </a:defRPr>
            </a:lvl7pPr>
            <a:lvl8pPr algn="l">
              <a:defRPr sz="2250" b="1">
                <a:solidFill>
                  <a:srgbClr val="0DBE85"/>
                </a:solidFill>
                <a:latin typeface="Arial"/>
                <a:ea typeface="Arial"/>
                <a:cs typeface="Arial"/>
              </a:defRPr>
            </a:lvl8pPr>
            <a:lvl9pPr algn="l">
              <a:defRPr sz="2250" b="1">
                <a:solidFill>
                  <a:srgbClr val="0DBE85"/>
                </a:solidFill>
                <a:latin typeface="Arial"/>
                <a:ea typeface="Arial"/>
                <a:cs typeface="Arial"/>
              </a:defRPr>
            </a:lvl9pPr>
          </a:lstStyle>
          <a:p>
            <a:pPr algn="l">
              <a:defRPr sz="2250" b="1">
                <a:solidFill>
                  <a:srgbClr val="0DBE85"/>
                </a:solidFill>
                <a:latin typeface="Arial"/>
                <a:ea typeface="Arial"/>
                <a:cs typeface="Arial"/>
              </a:defRPr>
            </a:pPr>
            <a:r>
              <a:rPr sz="2250" b="1">
                <a:solidFill>
                  <a:srgbClr val="0DBE85"/>
                </a:solidFill>
                <a:latin typeface="JetBrains Mono"/>
                <a:ea typeface="Arial"/>
                <a:cs typeface="Arial"/>
              </a:rPr>
              <a:t>RedCoin access gated</a:t>
            </a:r>
            <a:endParaRPr/>
          </a:p>
        </p:txBody>
      </p:sp>
      <p:sp>
        <p:nvSpPr>
          <p:cNvPr id="1201527918" name="prime-text-37"/>
          <p:cNvSpPr>
            <a:spLocks noGrp="1"/>
          </p:cNvSpPr>
          <p:nvPr/>
        </p:nvSpPr>
        <p:spPr bwMode="auto">
          <a:xfrm>
            <a:off x="609600" y="4352925"/>
            <a:ext cx="3333750" cy="800100"/>
          </a:xfrm>
          <a:prstGeom prst="rect">
            <a:avLst/>
          </a:prstGeom>
          <a:noFill/>
          <a:ln w="0">
            <a:solidFill/>
            <a:prstDash val="solid"/>
          </a:ln>
        </p:spPr>
        <p:txBody>
          <a:bodyPr wrap="square" lIns="0" tIns="0" rIns="0" bIns="0" anchor="t">
            <a:noAutofit/>
          </a:bodyPr>
          <a:lstStyle>
            <a:defPPr algn="l">
              <a:defRPr sz="1950" b="0">
                <a:solidFill>
                  <a:srgbClr val="18201D"/>
                </a:solidFill>
                <a:latin typeface="Arial"/>
                <a:ea typeface="Arial"/>
                <a:cs typeface="Arial"/>
              </a:defRPr>
            </a:defPPr>
            <a:lvl1pPr algn="l">
              <a:defRPr sz="1950" b="0">
                <a:solidFill>
                  <a:srgbClr val="18201D"/>
                </a:solidFill>
                <a:latin typeface="Arial"/>
                <a:ea typeface="Arial"/>
                <a:cs typeface="Arial"/>
              </a:defRPr>
            </a:lvl1pPr>
            <a:lvl2pPr algn="l">
              <a:defRPr sz="1950" b="0">
                <a:solidFill>
                  <a:srgbClr val="18201D"/>
                </a:solidFill>
                <a:latin typeface="Arial"/>
                <a:ea typeface="Arial"/>
                <a:cs typeface="Arial"/>
              </a:defRPr>
            </a:lvl2pPr>
            <a:lvl3pPr algn="l">
              <a:defRPr sz="1950" b="0">
                <a:solidFill>
                  <a:srgbClr val="18201D"/>
                </a:solidFill>
                <a:latin typeface="Arial"/>
                <a:ea typeface="Arial"/>
                <a:cs typeface="Arial"/>
              </a:defRPr>
            </a:lvl3pPr>
            <a:lvl4pPr algn="l">
              <a:defRPr sz="1950" b="0">
                <a:solidFill>
                  <a:srgbClr val="18201D"/>
                </a:solidFill>
                <a:latin typeface="Arial"/>
                <a:ea typeface="Arial"/>
                <a:cs typeface="Arial"/>
              </a:defRPr>
            </a:lvl4pPr>
            <a:lvl5pPr algn="l">
              <a:defRPr sz="1950" b="0">
                <a:solidFill>
                  <a:srgbClr val="18201D"/>
                </a:solidFill>
                <a:latin typeface="Arial"/>
                <a:ea typeface="Arial"/>
                <a:cs typeface="Arial"/>
              </a:defRPr>
            </a:lvl5pPr>
            <a:lvl6pPr algn="l">
              <a:defRPr sz="1950" b="0">
                <a:solidFill>
                  <a:srgbClr val="18201D"/>
                </a:solidFill>
                <a:latin typeface="Arial"/>
                <a:ea typeface="Arial"/>
                <a:cs typeface="Arial"/>
              </a:defRPr>
            </a:lvl6pPr>
            <a:lvl7pPr algn="l">
              <a:defRPr sz="1950" b="0">
                <a:solidFill>
                  <a:srgbClr val="18201D"/>
                </a:solidFill>
                <a:latin typeface="Arial"/>
                <a:ea typeface="Arial"/>
                <a:cs typeface="Arial"/>
              </a:defRPr>
            </a:lvl7pPr>
            <a:lvl8pPr algn="l">
              <a:defRPr sz="1950" b="0">
                <a:solidFill>
                  <a:srgbClr val="18201D"/>
                </a:solidFill>
                <a:latin typeface="Arial"/>
                <a:ea typeface="Arial"/>
                <a:cs typeface="Arial"/>
              </a:defRPr>
            </a:lvl8pPr>
            <a:lvl9pPr algn="l">
              <a:defRPr sz="1950" b="0">
                <a:solidFill>
                  <a:srgbClr val="18201D"/>
                </a:solidFill>
                <a:latin typeface="Arial"/>
                <a:ea typeface="Arial"/>
                <a:cs typeface="Arial"/>
              </a:defRPr>
            </a:lvl9pPr>
          </a:lstStyle>
          <a:p>
            <a:pPr algn="l">
              <a:defRPr sz="1950" b="0">
                <a:solidFill>
                  <a:srgbClr val="18201D"/>
                </a:solidFill>
                <a:latin typeface="Arial"/>
                <a:ea typeface="Arial"/>
                <a:cs typeface="Arial"/>
              </a:defRPr>
            </a:pPr>
            <a:r>
              <a:rPr sz="1950" b="0">
                <a:solidFill>
                  <a:srgbClr val="18201D"/>
                </a:solidFill>
                <a:latin typeface="Plus Jakarta Sans"/>
                <a:ea typeface="Arial"/>
                <a:cs typeface="Arial"/>
              </a:rPr>
              <a:t>Seek HSBC access</a:t>
            </a:r>
            <a:endParaRPr/>
          </a:p>
          <a:p>
            <a:pPr algn="l">
              <a:defRPr sz="1950" b="0">
                <a:solidFill>
                  <a:srgbClr val="18201D"/>
                </a:solidFill>
                <a:latin typeface="Arial"/>
                <a:ea typeface="Arial"/>
                <a:cs typeface="Arial"/>
              </a:defRPr>
            </a:pPr>
            <a:r>
              <a:rPr sz="1950" b="0">
                <a:solidFill>
                  <a:srgbClr val="18201D"/>
                </a:solidFill>
                <a:latin typeface="Plus Jakarta Sans"/>
                <a:ea typeface="Arial"/>
                <a:cs typeface="Arial"/>
              </a:rPr>
              <a:t>with agreed FX terms</a:t>
            </a:r>
            <a:endParaRPr/>
          </a:p>
        </p:txBody>
      </p:sp>
      <p:sp>
        <p:nvSpPr>
          <p:cNvPr id="1100956981" name="prime-text-38"/>
          <p:cNvSpPr>
            <a:spLocks noGrp="1"/>
          </p:cNvSpPr>
          <p:nvPr/>
        </p:nvSpPr>
        <p:spPr bwMode="auto">
          <a:xfrm>
            <a:off x="609600" y="5343525"/>
            <a:ext cx="3333750" cy="333375"/>
          </a:xfrm>
          <a:prstGeom prst="rect">
            <a:avLst/>
          </a:prstGeom>
          <a:noFill/>
          <a:ln w="0">
            <a:solidFill/>
            <a:prstDash val="solid"/>
          </a:ln>
        </p:spPr>
        <p:txBody>
          <a:bodyPr wrap="square" lIns="0" tIns="0" rIns="0" bIns="0" anchor="t">
            <a:noAutofit/>
          </a:bodyPr>
          <a:lstStyle>
            <a:defPPr algn="l">
              <a:defRPr sz="1900" b="1">
                <a:solidFill>
                  <a:srgbClr val="D97706"/>
                </a:solidFill>
                <a:latin typeface="Arial"/>
                <a:ea typeface="Arial"/>
                <a:cs typeface="Arial"/>
              </a:defRPr>
            </a:defPPr>
            <a:lvl1pPr algn="l">
              <a:defRPr sz="1900" b="1">
                <a:solidFill>
                  <a:srgbClr val="D97706"/>
                </a:solidFill>
                <a:latin typeface="Arial"/>
                <a:ea typeface="Arial"/>
                <a:cs typeface="Arial"/>
              </a:defRPr>
            </a:lvl1pPr>
            <a:lvl2pPr algn="l">
              <a:defRPr sz="1900" b="1">
                <a:solidFill>
                  <a:srgbClr val="D97706"/>
                </a:solidFill>
                <a:latin typeface="Arial"/>
                <a:ea typeface="Arial"/>
                <a:cs typeface="Arial"/>
              </a:defRPr>
            </a:lvl2pPr>
            <a:lvl3pPr algn="l">
              <a:defRPr sz="1900" b="1">
                <a:solidFill>
                  <a:srgbClr val="D97706"/>
                </a:solidFill>
                <a:latin typeface="Arial"/>
                <a:ea typeface="Arial"/>
                <a:cs typeface="Arial"/>
              </a:defRPr>
            </a:lvl3pPr>
            <a:lvl4pPr algn="l">
              <a:defRPr sz="1900" b="1">
                <a:solidFill>
                  <a:srgbClr val="D97706"/>
                </a:solidFill>
                <a:latin typeface="Arial"/>
                <a:ea typeface="Arial"/>
                <a:cs typeface="Arial"/>
              </a:defRPr>
            </a:lvl4pPr>
            <a:lvl5pPr algn="l">
              <a:defRPr sz="1900" b="1">
                <a:solidFill>
                  <a:srgbClr val="D97706"/>
                </a:solidFill>
                <a:latin typeface="Arial"/>
                <a:ea typeface="Arial"/>
                <a:cs typeface="Arial"/>
              </a:defRPr>
            </a:lvl5pPr>
            <a:lvl6pPr algn="l">
              <a:defRPr sz="1900" b="1">
                <a:solidFill>
                  <a:srgbClr val="D97706"/>
                </a:solidFill>
                <a:latin typeface="Arial"/>
                <a:ea typeface="Arial"/>
                <a:cs typeface="Arial"/>
              </a:defRPr>
            </a:lvl6pPr>
            <a:lvl7pPr algn="l">
              <a:defRPr sz="1900" b="1">
                <a:solidFill>
                  <a:srgbClr val="D97706"/>
                </a:solidFill>
                <a:latin typeface="Arial"/>
                <a:ea typeface="Arial"/>
                <a:cs typeface="Arial"/>
              </a:defRPr>
            </a:lvl7pPr>
            <a:lvl8pPr algn="l">
              <a:defRPr sz="1900" b="1">
                <a:solidFill>
                  <a:srgbClr val="D97706"/>
                </a:solidFill>
                <a:latin typeface="Arial"/>
                <a:ea typeface="Arial"/>
                <a:cs typeface="Arial"/>
              </a:defRPr>
            </a:lvl8pPr>
            <a:lvl9pPr algn="l">
              <a:defRPr sz="1900" b="1">
                <a:solidFill>
                  <a:srgbClr val="D97706"/>
                </a:solidFill>
                <a:latin typeface="Arial"/>
                <a:ea typeface="Arial"/>
                <a:cs typeface="Arial"/>
              </a:defRPr>
            </a:lvl9pPr>
          </a:lstStyle>
          <a:p>
            <a:pPr algn="l">
              <a:defRPr sz="1900" b="1">
                <a:solidFill>
                  <a:srgbClr val="D97706"/>
                </a:solidFill>
                <a:latin typeface="Arial"/>
                <a:ea typeface="Arial"/>
                <a:cs typeface="Arial"/>
              </a:defRPr>
            </a:pPr>
            <a:r>
              <a:rPr sz="1900" b="1">
                <a:solidFill>
                  <a:srgbClr val="D97706"/>
                </a:solidFill>
                <a:latin typeface="Outfit"/>
                <a:ea typeface="Arial"/>
                <a:cs typeface="Arial"/>
              </a:rPr>
              <a:t>Target partner group</a:t>
            </a:r>
            <a:endParaRPr/>
          </a:p>
        </p:txBody>
      </p:sp>
      <p:sp>
        <p:nvSpPr>
          <p:cNvPr id="374098756" name="prime-text-39"/>
          <p:cNvSpPr>
            <a:spLocks noGrp="1"/>
          </p:cNvSpPr>
          <p:nvPr/>
        </p:nvSpPr>
        <p:spPr bwMode="auto">
          <a:xfrm>
            <a:off x="609600" y="5743575"/>
            <a:ext cx="3333750" cy="323850"/>
          </a:xfrm>
          <a:prstGeom prst="rect">
            <a:avLst/>
          </a:prstGeom>
          <a:noFill/>
          <a:ln w="0">
            <a:solidFill/>
            <a:prstDash val="solid"/>
          </a:ln>
        </p:spPr>
        <p:txBody>
          <a:bodyPr wrap="square" lIns="0" tIns="0" rIns="0" bIns="0" anchor="t">
            <a:noAutofit/>
          </a:bodyPr>
          <a:lstStyle>
            <a:defPPr algn="l">
              <a:defRPr sz="1750" b="1">
                <a:solidFill>
                  <a:srgbClr val="18201D"/>
                </a:solidFill>
                <a:latin typeface="Arial"/>
                <a:ea typeface="Arial"/>
                <a:cs typeface="Arial"/>
              </a:defRPr>
            </a:defPPr>
            <a:lvl1pPr algn="l">
              <a:defRPr sz="1750" b="1">
                <a:solidFill>
                  <a:srgbClr val="18201D"/>
                </a:solidFill>
                <a:latin typeface="Arial"/>
                <a:ea typeface="Arial"/>
                <a:cs typeface="Arial"/>
              </a:defRPr>
            </a:lvl1pPr>
            <a:lvl2pPr algn="l">
              <a:defRPr sz="1750" b="1">
                <a:solidFill>
                  <a:srgbClr val="18201D"/>
                </a:solidFill>
                <a:latin typeface="Arial"/>
                <a:ea typeface="Arial"/>
                <a:cs typeface="Arial"/>
              </a:defRPr>
            </a:lvl2pPr>
            <a:lvl3pPr algn="l">
              <a:defRPr sz="1750" b="1">
                <a:solidFill>
                  <a:srgbClr val="18201D"/>
                </a:solidFill>
                <a:latin typeface="Arial"/>
                <a:ea typeface="Arial"/>
                <a:cs typeface="Arial"/>
              </a:defRPr>
            </a:lvl3pPr>
            <a:lvl4pPr algn="l">
              <a:defRPr sz="1750" b="1">
                <a:solidFill>
                  <a:srgbClr val="18201D"/>
                </a:solidFill>
                <a:latin typeface="Arial"/>
                <a:ea typeface="Arial"/>
                <a:cs typeface="Arial"/>
              </a:defRPr>
            </a:lvl4pPr>
            <a:lvl5pPr algn="l">
              <a:defRPr sz="1750" b="1">
                <a:solidFill>
                  <a:srgbClr val="18201D"/>
                </a:solidFill>
                <a:latin typeface="Arial"/>
                <a:ea typeface="Arial"/>
                <a:cs typeface="Arial"/>
              </a:defRPr>
            </a:lvl5pPr>
            <a:lvl6pPr algn="l">
              <a:defRPr sz="1750" b="1">
                <a:solidFill>
                  <a:srgbClr val="18201D"/>
                </a:solidFill>
                <a:latin typeface="Arial"/>
                <a:ea typeface="Arial"/>
                <a:cs typeface="Arial"/>
              </a:defRPr>
            </a:lvl6pPr>
            <a:lvl7pPr algn="l">
              <a:defRPr sz="1750" b="1">
                <a:solidFill>
                  <a:srgbClr val="18201D"/>
                </a:solidFill>
                <a:latin typeface="Arial"/>
                <a:ea typeface="Arial"/>
                <a:cs typeface="Arial"/>
              </a:defRPr>
            </a:lvl7pPr>
            <a:lvl8pPr algn="l">
              <a:defRPr sz="1750" b="1">
                <a:solidFill>
                  <a:srgbClr val="18201D"/>
                </a:solidFill>
                <a:latin typeface="Arial"/>
                <a:ea typeface="Arial"/>
                <a:cs typeface="Arial"/>
              </a:defRPr>
            </a:lvl8pPr>
            <a:lvl9pPr algn="l">
              <a:defRPr sz="1750" b="1">
                <a:solidFill>
                  <a:srgbClr val="18201D"/>
                </a:solidFill>
                <a:latin typeface="Arial"/>
                <a:ea typeface="Arial"/>
                <a:cs typeface="Arial"/>
              </a:defRPr>
            </a:lvl9pPr>
          </a:lstStyle>
          <a:p>
            <a:pPr algn="l">
              <a:defRPr sz="1750" b="1">
                <a:solidFill>
                  <a:srgbClr val="18201D"/>
                </a:solidFill>
                <a:latin typeface="Arial"/>
                <a:ea typeface="Arial"/>
                <a:cs typeface="Arial"/>
              </a:defRPr>
            </a:pPr>
            <a:r>
              <a:rPr sz="1750" b="1">
                <a:solidFill>
                  <a:srgbClr val="18201D"/>
                </a:solidFill>
                <a:latin typeface="Outfit"/>
                <a:ea typeface="Arial"/>
                <a:cs typeface="Arial"/>
              </a:rPr>
              <a:t>1 sponsor, 2 brokers, 2 LPs</a:t>
            </a:r>
            <a:endParaRPr/>
          </a:p>
        </p:txBody>
      </p:sp>
      <p:graphicFrame>
        <p:nvGraphicFramePr>
          <p:cNvPr id="2059693067" name="Chart"/>
          <p:cNvGraphicFramePr>
            <a:graphicFrameLocks xmlns:a="http://schemas.openxmlformats.org/drawingml/2006/main"/>
          </p:cNvGraphicFramePr>
          <p:nvPr/>
        </p:nvGraphicFramePr>
        <p:xfrm rot="0">
          <a:off x="4267200" y="2209800"/>
          <a:ext cx="7315200" cy="3762375"/>
        </p:xfrm>
        <a:graphic>
          <a:graphicData uri="http://schemas.openxmlformats.org/drawingml/2006/chart">
            <c:chart xmlns:c="http://schemas.openxmlformats.org/drawingml/2006/chart" xmlns:r="http://schemas.openxmlformats.org/officeDocument/2006/relationships" r:id="rId3"/>
          </a:graphicData>
        </a:graphic>
      </p:graphicFrame>
      <p:sp>
        <p:nvSpPr>
          <p:cNvPr id="1915320747" name="prime-text-40"/>
          <p:cNvSpPr>
            <a:spLocks noGrp="1"/>
          </p:cNvSpPr>
          <p:nvPr/>
        </p:nvSpPr>
        <p:spPr bwMode="auto">
          <a:xfrm>
            <a:off x="609600" y="6076950"/>
            <a:ext cx="10972800" cy="323850"/>
          </a:xfrm>
          <a:prstGeom prst="rect">
            <a:avLst/>
          </a:prstGeom>
          <a:noFill/>
          <a:ln w="0">
            <a:solidFill/>
            <a:prstDash val="solid"/>
          </a:ln>
        </p:spPr>
        <p:txBody>
          <a:bodyPr wrap="square" lIns="0" tIns="0" rIns="0" bIns="0" anchor="t">
            <a:noAutofit/>
          </a:bodyPr>
          <a:lstStyle>
            <a:defPPr algn="l">
              <a:defRPr sz="1450" b="0">
                <a:solidFill>
                  <a:srgbClr val="5D6A67"/>
                </a:solidFill>
                <a:latin typeface="Arial"/>
                <a:ea typeface="Arial"/>
                <a:cs typeface="Arial"/>
              </a:defRPr>
            </a:defPPr>
            <a:lvl1pPr algn="l">
              <a:defRPr sz="1450" b="0">
                <a:solidFill>
                  <a:srgbClr val="5D6A67"/>
                </a:solidFill>
                <a:latin typeface="Arial"/>
                <a:ea typeface="Arial"/>
                <a:cs typeface="Arial"/>
              </a:defRPr>
            </a:lvl1pPr>
            <a:lvl2pPr algn="l">
              <a:defRPr sz="1450" b="0">
                <a:solidFill>
                  <a:srgbClr val="5D6A67"/>
                </a:solidFill>
                <a:latin typeface="Arial"/>
                <a:ea typeface="Arial"/>
                <a:cs typeface="Arial"/>
              </a:defRPr>
            </a:lvl2pPr>
            <a:lvl3pPr algn="l">
              <a:defRPr sz="1450" b="0">
                <a:solidFill>
                  <a:srgbClr val="5D6A67"/>
                </a:solidFill>
                <a:latin typeface="Arial"/>
                <a:ea typeface="Arial"/>
                <a:cs typeface="Arial"/>
              </a:defRPr>
            </a:lvl3pPr>
            <a:lvl4pPr algn="l">
              <a:defRPr sz="1450" b="0">
                <a:solidFill>
                  <a:srgbClr val="5D6A67"/>
                </a:solidFill>
                <a:latin typeface="Arial"/>
                <a:ea typeface="Arial"/>
                <a:cs typeface="Arial"/>
              </a:defRPr>
            </a:lvl4pPr>
            <a:lvl5pPr algn="l">
              <a:defRPr sz="1450" b="0">
                <a:solidFill>
                  <a:srgbClr val="5D6A67"/>
                </a:solidFill>
                <a:latin typeface="Arial"/>
                <a:ea typeface="Arial"/>
                <a:cs typeface="Arial"/>
              </a:defRPr>
            </a:lvl5pPr>
            <a:lvl6pPr algn="l">
              <a:defRPr sz="1450" b="0">
                <a:solidFill>
                  <a:srgbClr val="5D6A67"/>
                </a:solidFill>
                <a:latin typeface="Arial"/>
                <a:ea typeface="Arial"/>
                <a:cs typeface="Arial"/>
              </a:defRPr>
            </a:lvl6pPr>
            <a:lvl7pPr algn="l">
              <a:defRPr sz="1450" b="0">
                <a:solidFill>
                  <a:srgbClr val="5D6A67"/>
                </a:solidFill>
                <a:latin typeface="Arial"/>
                <a:ea typeface="Arial"/>
                <a:cs typeface="Arial"/>
              </a:defRPr>
            </a:lvl7pPr>
            <a:lvl8pPr algn="l">
              <a:defRPr sz="1450" b="0">
                <a:solidFill>
                  <a:srgbClr val="5D6A67"/>
                </a:solidFill>
                <a:latin typeface="Arial"/>
                <a:ea typeface="Arial"/>
                <a:cs typeface="Arial"/>
              </a:defRPr>
            </a:lvl8pPr>
            <a:lvl9pPr algn="l">
              <a:defRPr sz="1450" b="0">
                <a:solidFill>
                  <a:srgbClr val="5D6A67"/>
                </a:solidFill>
                <a:latin typeface="Arial"/>
                <a:ea typeface="Arial"/>
                <a:cs typeface="Arial"/>
              </a:defRPr>
            </a:lvl9pPr>
          </a:lstStyle>
          <a:p>
            <a:pPr algn="l">
              <a:defRPr sz="1450" b="0">
                <a:solidFill>
                  <a:srgbClr val="5D6A67"/>
                </a:solidFill>
                <a:latin typeface="Arial"/>
                <a:ea typeface="Arial"/>
                <a:cs typeface="Arial"/>
              </a:defRPr>
            </a:pPr>
            <a:r>
              <a:rPr sz="1450" b="0">
                <a:solidFill>
                  <a:srgbClr val="5D6A67"/>
                </a:solidFill>
                <a:latin typeface="Plus Jakarta Sans"/>
                <a:ea typeface="Arial"/>
                <a:cs typeface="Arial"/>
              </a:rPr>
              <a:t>Targets are uncontracted. A launch-year ramp can produce lower average assets than its ending balance.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862346727" name="prime-text-41"/>
          <p:cNvSpPr>
            <a:spLocks noGrp="1"/>
          </p:cNvSpPr>
          <p:nvPr/>
        </p:nvSpPr>
        <p:spPr bwMode="auto">
          <a:xfrm>
            <a:off x="609600" y="504825"/>
            <a:ext cx="10972800" cy="828675"/>
          </a:xfrm>
          <a:prstGeom prst="rect">
            <a:avLst/>
          </a:prstGeom>
          <a:noFill/>
          <a:ln w="0">
            <a:solidFill/>
            <a:prstDash val="solid"/>
          </a:ln>
        </p:spPr>
        <p:txBody>
          <a:bodyPr wrap="square" lIns="0" tIns="0" rIns="0" bIns="0" anchor="t">
            <a:noAutofit/>
          </a:bodyPr>
          <a:lstStyle>
            <a:defPPr algn="l">
              <a:defRPr sz="3300" b="1">
                <a:solidFill>
                  <a:srgbClr val="18201D"/>
                </a:solidFill>
                <a:latin typeface="Arial"/>
                <a:ea typeface="Arial"/>
                <a:cs typeface="Arial"/>
              </a:defRPr>
            </a:defPPr>
            <a:lvl1pPr algn="l">
              <a:defRPr sz="3300" b="1">
                <a:solidFill>
                  <a:srgbClr val="18201D"/>
                </a:solidFill>
                <a:latin typeface="Arial"/>
                <a:ea typeface="Arial"/>
                <a:cs typeface="Arial"/>
              </a:defRPr>
            </a:lvl1pPr>
            <a:lvl2pPr algn="l">
              <a:defRPr sz="3300" b="1">
                <a:solidFill>
                  <a:srgbClr val="18201D"/>
                </a:solidFill>
                <a:latin typeface="Arial"/>
                <a:ea typeface="Arial"/>
                <a:cs typeface="Arial"/>
              </a:defRPr>
            </a:lvl2pPr>
            <a:lvl3pPr algn="l">
              <a:defRPr sz="3300" b="1">
                <a:solidFill>
                  <a:srgbClr val="18201D"/>
                </a:solidFill>
                <a:latin typeface="Arial"/>
                <a:ea typeface="Arial"/>
                <a:cs typeface="Arial"/>
              </a:defRPr>
            </a:lvl3pPr>
            <a:lvl4pPr algn="l">
              <a:defRPr sz="3300" b="1">
                <a:solidFill>
                  <a:srgbClr val="18201D"/>
                </a:solidFill>
                <a:latin typeface="Arial"/>
                <a:ea typeface="Arial"/>
                <a:cs typeface="Arial"/>
              </a:defRPr>
            </a:lvl4pPr>
            <a:lvl5pPr algn="l">
              <a:defRPr sz="3300" b="1">
                <a:solidFill>
                  <a:srgbClr val="18201D"/>
                </a:solidFill>
                <a:latin typeface="Arial"/>
                <a:ea typeface="Arial"/>
                <a:cs typeface="Arial"/>
              </a:defRPr>
            </a:lvl5pPr>
            <a:lvl6pPr algn="l">
              <a:defRPr sz="3300" b="1">
                <a:solidFill>
                  <a:srgbClr val="18201D"/>
                </a:solidFill>
                <a:latin typeface="Arial"/>
                <a:ea typeface="Arial"/>
                <a:cs typeface="Arial"/>
              </a:defRPr>
            </a:lvl6pPr>
            <a:lvl7pPr algn="l">
              <a:defRPr sz="3300" b="1">
                <a:solidFill>
                  <a:srgbClr val="18201D"/>
                </a:solidFill>
                <a:latin typeface="Arial"/>
                <a:ea typeface="Arial"/>
                <a:cs typeface="Arial"/>
              </a:defRPr>
            </a:lvl7pPr>
            <a:lvl8pPr algn="l">
              <a:defRPr sz="3300" b="1">
                <a:solidFill>
                  <a:srgbClr val="18201D"/>
                </a:solidFill>
                <a:latin typeface="Arial"/>
                <a:ea typeface="Arial"/>
                <a:cs typeface="Arial"/>
              </a:defRPr>
            </a:lvl8pPr>
            <a:lvl9pPr algn="l">
              <a:defRPr sz="3300" b="1">
                <a:solidFill>
                  <a:srgbClr val="18201D"/>
                </a:solidFill>
                <a:latin typeface="Arial"/>
                <a:ea typeface="Arial"/>
                <a:cs typeface="Arial"/>
              </a:defRPr>
            </a:lvl9pPr>
          </a:lstStyle>
          <a:p>
            <a:pPr algn="l">
              <a:defRPr sz="3300" b="1">
                <a:solidFill>
                  <a:srgbClr val="18201D"/>
                </a:solidFill>
                <a:latin typeface="Arial"/>
                <a:ea typeface="Arial"/>
                <a:cs typeface="Arial"/>
              </a:defRPr>
            </a:pPr>
            <a:r>
              <a:rPr sz="3300" b="1">
                <a:solidFill>
                  <a:srgbClr val="18201D"/>
                </a:solidFill>
                <a:latin typeface="Outfit"/>
                <a:ea typeface="Arial"/>
                <a:cs typeface="Arial"/>
              </a:rPr>
              <a:t>A launch plan with measurable gates</a:t>
            </a:r>
            <a:endParaRPr/>
          </a:p>
        </p:txBody>
      </p:sp>
      <p:sp>
        <p:nvSpPr>
          <p:cNvPr id="832137815" name="prime-text-42"/>
          <p:cNvSpPr>
            <a:spLocks noGrp="1"/>
          </p:cNvSpPr>
          <p:nvPr/>
        </p:nvSpPr>
        <p:spPr bwMode="auto">
          <a:xfrm>
            <a:off x="609600" y="1409700"/>
            <a:ext cx="10972800" cy="609600"/>
          </a:xfrm>
          <a:prstGeom prst="rect">
            <a:avLst/>
          </a:prstGeom>
          <a:noFill/>
          <a:ln w="0">
            <a:solidFill/>
            <a:prstDash val="solid"/>
          </a:ln>
        </p:spPr>
        <p:txBody>
          <a:bodyPr wrap="square" lIns="0" tIns="0" rIns="0" bIns="0" anchor="t">
            <a:noAutofit/>
          </a:bodyPr>
          <a:lstStyle>
            <a:defPPr algn="l">
              <a:defRPr sz="1900" b="0">
                <a:solidFill>
                  <a:srgbClr val="5D6A67"/>
                </a:solidFill>
                <a:latin typeface="Arial"/>
                <a:ea typeface="Arial"/>
                <a:cs typeface="Arial"/>
              </a:defRPr>
            </a:defPPr>
            <a:lvl1pPr algn="l">
              <a:defRPr sz="1900" b="0">
                <a:solidFill>
                  <a:srgbClr val="5D6A67"/>
                </a:solidFill>
                <a:latin typeface="Arial"/>
                <a:ea typeface="Arial"/>
                <a:cs typeface="Arial"/>
              </a:defRPr>
            </a:lvl1pPr>
            <a:lvl2pPr algn="l">
              <a:defRPr sz="1900" b="0">
                <a:solidFill>
                  <a:srgbClr val="5D6A67"/>
                </a:solidFill>
                <a:latin typeface="Arial"/>
                <a:ea typeface="Arial"/>
                <a:cs typeface="Arial"/>
              </a:defRPr>
            </a:lvl2pPr>
            <a:lvl3pPr algn="l">
              <a:defRPr sz="1900" b="0">
                <a:solidFill>
                  <a:srgbClr val="5D6A67"/>
                </a:solidFill>
                <a:latin typeface="Arial"/>
                <a:ea typeface="Arial"/>
                <a:cs typeface="Arial"/>
              </a:defRPr>
            </a:lvl3pPr>
            <a:lvl4pPr algn="l">
              <a:defRPr sz="1900" b="0">
                <a:solidFill>
                  <a:srgbClr val="5D6A67"/>
                </a:solidFill>
                <a:latin typeface="Arial"/>
                <a:ea typeface="Arial"/>
                <a:cs typeface="Arial"/>
              </a:defRPr>
            </a:lvl4pPr>
            <a:lvl5pPr algn="l">
              <a:defRPr sz="1900" b="0">
                <a:solidFill>
                  <a:srgbClr val="5D6A67"/>
                </a:solidFill>
                <a:latin typeface="Arial"/>
                <a:ea typeface="Arial"/>
                <a:cs typeface="Arial"/>
              </a:defRPr>
            </a:lvl5pPr>
            <a:lvl6pPr algn="l">
              <a:defRPr sz="1900" b="0">
                <a:solidFill>
                  <a:srgbClr val="5D6A67"/>
                </a:solidFill>
                <a:latin typeface="Arial"/>
                <a:ea typeface="Arial"/>
                <a:cs typeface="Arial"/>
              </a:defRPr>
            </a:lvl6pPr>
            <a:lvl7pPr algn="l">
              <a:defRPr sz="1900" b="0">
                <a:solidFill>
                  <a:srgbClr val="5D6A67"/>
                </a:solidFill>
                <a:latin typeface="Arial"/>
                <a:ea typeface="Arial"/>
                <a:cs typeface="Arial"/>
              </a:defRPr>
            </a:lvl7pPr>
            <a:lvl8pPr algn="l">
              <a:defRPr sz="1900" b="0">
                <a:solidFill>
                  <a:srgbClr val="5D6A67"/>
                </a:solidFill>
                <a:latin typeface="Arial"/>
                <a:ea typeface="Arial"/>
                <a:cs typeface="Arial"/>
              </a:defRPr>
            </a:lvl8pPr>
            <a:lvl9pPr algn="l">
              <a:defRPr sz="1900" b="0">
                <a:solidFill>
                  <a:srgbClr val="5D6A67"/>
                </a:solidFill>
                <a:latin typeface="Arial"/>
                <a:ea typeface="Arial"/>
                <a:cs typeface="Arial"/>
              </a:defRPr>
            </a:lvl9pPr>
          </a:lstStyle>
          <a:p>
            <a:pPr algn="l">
              <a:defRPr sz="1900" b="0">
                <a:solidFill>
                  <a:srgbClr val="5D6A67"/>
                </a:solidFill>
                <a:latin typeface="Arial"/>
                <a:ea typeface="Arial"/>
                <a:cs typeface="Arial"/>
              </a:defRPr>
            </a:pPr>
            <a:r>
              <a:rPr sz="1900" b="0">
                <a:solidFill>
                  <a:srgbClr val="5D6A67"/>
                </a:solidFill>
                <a:latin typeface="Plus Jakarta Sans"/>
                <a:ea typeface="Arial"/>
                <a:cs typeface="Arial"/>
              </a:rPr>
              <a:t>Pre-launch product development. Milestones begin at funding close.</a:t>
            </a:r>
            <a:endParaRPr/>
          </a:p>
        </p:txBody>
      </p:sp>
      <p:sp>
        <p:nvSpPr>
          <p:cNvPr id="712774014" name="prime-text-43"/>
          <p:cNvSpPr>
            <a:spLocks noGrp="1"/>
          </p:cNvSpPr>
          <p:nvPr/>
        </p:nvSpPr>
        <p:spPr bwMode="auto">
          <a:xfrm>
            <a:off x="609600" y="6438899"/>
            <a:ext cx="3619500" cy="238125"/>
          </a:xfrm>
          <a:prstGeom prst="rect">
            <a:avLst/>
          </a:prstGeom>
          <a:noFill/>
          <a:ln w="0">
            <a:solidFill/>
            <a:prstDash val="solid"/>
          </a:ln>
        </p:spPr>
        <p:txBody>
          <a:bodyPr wrap="square" lIns="0" tIns="0" rIns="0" bIns="0" anchor="t">
            <a:noAutofit/>
          </a:bodyPr>
          <a:lstStyle>
            <a:defPPr algn="l">
              <a:defRPr sz="1200" b="1">
                <a:solidFill>
                  <a:srgbClr val="0DBE85"/>
                </a:solidFill>
                <a:latin typeface="Arial"/>
                <a:ea typeface="Arial"/>
                <a:cs typeface="Arial"/>
              </a:defRPr>
            </a:defPPr>
            <a:lvl1pPr algn="l">
              <a:defRPr sz="1200" b="1">
                <a:solidFill>
                  <a:srgbClr val="0DBE85"/>
                </a:solidFill>
                <a:latin typeface="Arial"/>
                <a:ea typeface="Arial"/>
                <a:cs typeface="Arial"/>
              </a:defRPr>
            </a:lvl1pPr>
            <a:lvl2pPr algn="l">
              <a:defRPr sz="1200" b="1">
                <a:solidFill>
                  <a:srgbClr val="0DBE85"/>
                </a:solidFill>
                <a:latin typeface="Arial"/>
                <a:ea typeface="Arial"/>
                <a:cs typeface="Arial"/>
              </a:defRPr>
            </a:lvl2pPr>
            <a:lvl3pPr algn="l">
              <a:defRPr sz="1200" b="1">
                <a:solidFill>
                  <a:srgbClr val="0DBE85"/>
                </a:solidFill>
                <a:latin typeface="Arial"/>
                <a:ea typeface="Arial"/>
                <a:cs typeface="Arial"/>
              </a:defRPr>
            </a:lvl3pPr>
            <a:lvl4pPr algn="l">
              <a:defRPr sz="1200" b="1">
                <a:solidFill>
                  <a:srgbClr val="0DBE85"/>
                </a:solidFill>
                <a:latin typeface="Arial"/>
                <a:ea typeface="Arial"/>
                <a:cs typeface="Arial"/>
              </a:defRPr>
            </a:lvl4pPr>
            <a:lvl5pPr algn="l">
              <a:defRPr sz="1200" b="1">
                <a:solidFill>
                  <a:srgbClr val="0DBE85"/>
                </a:solidFill>
                <a:latin typeface="Arial"/>
                <a:ea typeface="Arial"/>
                <a:cs typeface="Arial"/>
              </a:defRPr>
            </a:lvl5pPr>
            <a:lvl6pPr algn="l">
              <a:defRPr sz="1200" b="1">
                <a:solidFill>
                  <a:srgbClr val="0DBE85"/>
                </a:solidFill>
                <a:latin typeface="Arial"/>
                <a:ea typeface="Arial"/>
                <a:cs typeface="Arial"/>
              </a:defRPr>
            </a:lvl6pPr>
            <a:lvl7pPr algn="l">
              <a:defRPr sz="1200" b="1">
                <a:solidFill>
                  <a:srgbClr val="0DBE85"/>
                </a:solidFill>
                <a:latin typeface="Arial"/>
                <a:ea typeface="Arial"/>
                <a:cs typeface="Arial"/>
              </a:defRPr>
            </a:lvl7pPr>
            <a:lvl8pPr algn="l">
              <a:defRPr sz="1200" b="1">
                <a:solidFill>
                  <a:srgbClr val="0DBE85"/>
                </a:solidFill>
                <a:latin typeface="Arial"/>
                <a:ea typeface="Arial"/>
                <a:cs typeface="Arial"/>
              </a:defRPr>
            </a:lvl8pPr>
            <a:lvl9pPr algn="l">
              <a:defRPr sz="1200" b="1">
                <a:solidFill>
                  <a:srgbClr val="0DBE85"/>
                </a:solidFill>
                <a:latin typeface="Arial"/>
                <a:ea typeface="Arial"/>
                <a:cs typeface="Arial"/>
              </a:defRPr>
            </a:lvl9pPr>
          </a:lstStyle>
          <a:p>
            <a:pPr algn="l">
              <a:defRPr sz="1200" b="1">
                <a:solidFill>
                  <a:srgbClr val="0DBE85"/>
                </a:solidFill>
                <a:latin typeface="Arial"/>
                <a:ea typeface="Arial"/>
                <a:cs typeface="Arial"/>
              </a:defRPr>
            </a:pPr>
            <a:r>
              <a:rPr sz="1200" b="1">
                <a:solidFill>
                  <a:srgbClr val="0AA372"/>
                </a:solidFill>
                <a:latin typeface="JetBrains Mono"/>
                <a:ea typeface="Arial"/>
                <a:cs typeface="Arial"/>
              </a:rPr>
              <a:t>D-SHARE / PRIME</a:t>
            </a:r>
            <a:endParaRPr/>
          </a:p>
        </p:txBody>
      </p:sp>
      <p:sp>
        <p:nvSpPr>
          <p:cNvPr id="102749027" name="prime-text-44"/>
          <p:cNvSpPr>
            <a:spLocks noGrp="1"/>
          </p:cNvSpPr>
          <p:nvPr/>
        </p:nvSpPr>
        <p:spPr bwMode="auto">
          <a:xfrm>
            <a:off x="11020424" y="6438899"/>
            <a:ext cx="561975" cy="238125"/>
          </a:xfrm>
          <a:prstGeom prst="rect">
            <a:avLst/>
          </a:prstGeom>
          <a:noFill/>
          <a:ln w="0">
            <a:solidFill/>
            <a:prstDash val="solid"/>
          </a:ln>
        </p:spPr>
        <p:txBody>
          <a:bodyPr wrap="square" lIns="0" tIns="0" rIns="0" bIns="0" anchor="t">
            <a:noAutofit/>
          </a:bodyPr>
          <a:lstStyle>
            <a:defPPr algn="r">
              <a:defRPr sz="1200" b="0">
                <a:solidFill>
                  <a:srgbClr val="5D6A67"/>
                </a:solidFill>
                <a:latin typeface="Arial"/>
                <a:ea typeface="Arial"/>
                <a:cs typeface="Arial"/>
              </a:defRPr>
            </a:defPPr>
            <a:lvl1pPr algn="r">
              <a:defRPr sz="1200" b="0">
                <a:solidFill>
                  <a:srgbClr val="5D6A67"/>
                </a:solidFill>
                <a:latin typeface="Arial"/>
                <a:ea typeface="Arial"/>
                <a:cs typeface="Arial"/>
              </a:defRPr>
            </a:lvl1pPr>
            <a:lvl2pPr algn="r">
              <a:defRPr sz="1200" b="0">
                <a:solidFill>
                  <a:srgbClr val="5D6A67"/>
                </a:solidFill>
                <a:latin typeface="Arial"/>
                <a:ea typeface="Arial"/>
                <a:cs typeface="Arial"/>
              </a:defRPr>
            </a:lvl2pPr>
            <a:lvl3pPr algn="r">
              <a:defRPr sz="1200" b="0">
                <a:solidFill>
                  <a:srgbClr val="5D6A67"/>
                </a:solidFill>
                <a:latin typeface="Arial"/>
                <a:ea typeface="Arial"/>
                <a:cs typeface="Arial"/>
              </a:defRPr>
            </a:lvl3pPr>
            <a:lvl4pPr algn="r">
              <a:defRPr sz="1200" b="0">
                <a:solidFill>
                  <a:srgbClr val="5D6A67"/>
                </a:solidFill>
                <a:latin typeface="Arial"/>
                <a:ea typeface="Arial"/>
                <a:cs typeface="Arial"/>
              </a:defRPr>
            </a:lvl4pPr>
            <a:lvl5pPr algn="r">
              <a:defRPr sz="1200" b="0">
                <a:solidFill>
                  <a:srgbClr val="5D6A67"/>
                </a:solidFill>
                <a:latin typeface="Arial"/>
                <a:ea typeface="Arial"/>
                <a:cs typeface="Arial"/>
              </a:defRPr>
            </a:lvl5pPr>
            <a:lvl6pPr algn="r">
              <a:defRPr sz="1200" b="0">
                <a:solidFill>
                  <a:srgbClr val="5D6A67"/>
                </a:solidFill>
                <a:latin typeface="Arial"/>
                <a:ea typeface="Arial"/>
                <a:cs typeface="Arial"/>
              </a:defRPr>
            </a:lvl6pPr>
            <a:lvl7pPr algn="r">
              <a:defRPr sz="1200" b="0">
                <a:solidFill>
                  <a:srgbClr val="5D6A67"/>
                </a:solidFill>
                <a:latin typeface="Arial"/>
                <a:ea typeface="Arial"/>
                <a:cs typeface="Arial"/>
              </a:defRPr>
            </a:lvl7pPr>
            <a:lvl8pPr algn="r">
              <a:defRPr sz="1200" b="0">
                <a:solidFill>
                  <a:srgbClr val="5D6A67"/>
                </a:solidFill>
                <a:latin typeface="Arial"/>
                <a:ea typeface="Arial"/>
                <a:cs typeface="Arial"/>
              </a:defRPr>
            </a:lvl8pPr>
            <a:lvl9pPr algn="r">
              <a:defRPr sz="1200" b="0">
                <a:solidFill>
                  <a:srgbClr val="5D6A67"/>
                </a:solidFill>
                <a:latin typeface="Arial"/>
                <a:ea typeface="Arial"/>
                <a:cs typeface="Arial"/>
              </a:defRPr>
            </a:lvl9pPr>
          </a:lstStyle>
          <a:p>
            <a:pPr algn="r">
              <a:defRPr sz="1200" b="0">
                <a:solidFill>
                  <a:srgbClr val="5D6A67"/>
                </a:solidFill>
                <a:latin typeface="Arial"/>
                <a:ea typeface="Arial"/>
                <a:cs typeface="Arial"/>
              </a:defRPr>
            </a:pPr>
            <a:r>
              <a:rPr sz="1200" b="0">
                <a:solidFill>
                  <a:srgbClr val="5D6A67"/>
                </a:solidFill>
                <a:latin typeface="JetBrains Mono"/>
                <a:ea typeface="Arial"/>
                <a:cs typeface="Arial"/>
              </a:rPr>
              <a:t>12</a:t>
            </a:r>
            <a:endParaRPr/>
          </a:p>
        </p:txBody>
      </p:sp>
      <p:sp>
        <p:nvSpPr>
          <p:cNvPr id="639286171" name="prime-text-45"/>
          <p:cNvSpPr>
            <a:spLocks noGrp="1"/>
          </p:cNvSpPr>
          <p:nvPr/>
        </p:nvSpPr>
        <p:spPr bwMode="auto">
          <a:xfrm>
            <a:off x="609600" y="2247900"/>
            <a:ext cx="4095750" cy="428625"/>
          </a:xfrm>
          <a:prstGeom prst="rect">
            <a:avLst/>
          </a:prstGeom>
          <a:noFill/>
          <a:ln w="0">
            <a:solidFill/>
            <a:prstDash val="solid"/>
          </a:ln>
        </p:spPr>
        <p:txBody>
          <a:bodyPr wrap="square" lIns="0" tIns="0" rIns="0" bIns="0" anchor="t">
            <a:noAutofit/>
          </a:bodyPr>
          <a:lstStyle>
            <a:defPPr algn="l">
              <a:defRPr sz="2200" b="1">
                <a:solidFill>
                  <a:srgbClr val="0DBE85"/>
                </a:solidFill>
                <a:latin typeface="Arial"/>
                <a:ea typeface="Arial"/>
                <a:cs typeface="Arial"/>
              </a:defRPr>
            </a:defPPr>
            <a:lvl1pPr algn="l">
              <a:defRPr sz="2200" b="1">
                <a:solidFill>
                  <a:srgbClr val="0DBE85"/>
                </a:solidFill>
                <a:latin typeface="Arial"/>
                <a:ea typeface="Arial"/>
                <a:cs typeface="Arial"/>
              </a:defRPr>
            </a:lvl1pPr>
            <a:lvl2pPr algn="l">
              <a:defRPr sz="2200" b="1">
                <a:solidFill>
                  <a:srgbClr val="0DBE85"/>
                </a:solidFill>
                <a:latin typeface="Arial"/>
                <a:ea typeface="Arial"/>
                <a:cs typeface="Arial"/>
              </a:defRPr>
            </a:lvl2pPr>
            <a:lvl3pPr algn="l">
              <a:defRPr sz="2200" b="1">
                <a:solidFill>
                  <a:srgbClr val="0DBE85"/>
                </a:solidFill>
                <a:latin typeface="Arial"/>
                <a:ea typeface="Arial"/>
                <a:cs typeface="Arial"/>
              </a:defRPr>
            </a:lvl3pPr>
            <a:lvl4pPr algn="l">
              <a:defRPr sz="2200" b="1">
                <a:solidFill>
                  <a:srgbClr val="0DBE85"/>
                </a:solidFill>
                <a:latin typeface="Arial"/>
                <a:ea typeface="Arial"/>
                <a:cs typeface="Arial"/>
              </a:defRPr>
            </a:lvl4pPr>
            <a:lvl5pPr algn="l">
              <a:defRPr sz="2200" b="1">
                <a:solidFill>
                  <a:srgbClr val="0DBE85"/>
                </a:solidFill>
                <a:latin typeface="Arial"/>
                <a:ea typeface="Arial"/>
                <a:cs typeface="Arial"/>
              </a:defRPr>
            </a:lvl5pPr>
            <a:lvl6pPr algn="l">
              <a:defRPr sz="2200" b="1">
                <a:solidFill>
                  <a:srgbClr val="0DBE85"/>
                </a:solidFill>
                <a:latin typeface="Arial"/>
                <a:ea typeface="Arial"/>
                <a:cs typeface="Arial"/>
              </a:defRPr>
            </a:lvl6pPr>
            <a:lvl7pPr algn="l">
              <a:defRPr sz="2200" b="1">
                <a:solidFill>
                  <a:srgbClr val="0DBE85"/>
                </a:solidFill>
                <a:latin typeface="Arial"/>
                <a:ea typeface="Arial"/>
                <a:cs typeface="Arial"/>
              </a:defRPr>
            </a:lvl7pPr>
            <a:lvl8pPr algn="l">
              <a:defRPr sz="2200" b="1">
                <a:solidFill>
                  <a:srgbClr val="0DBE85"/>
                </a:solidFill>
                <a:latin typeface="Arial"/>
                <a:ea typeface="Arial"/>
                <a:cs typeface="Arial"/>
              </a:defRPr>
            </a:lvl8pPr>
            <a:lvl9pPr algn="l">
              <a:defRPr sz="2200" b="1">
                <a:solidFill>
                  <a:srgbClr val="0DBE85"/>
                </a:solidFill>
                <a:latin typeface="Arial"/>
                <a:ea typeface="Arial"/>
                <a:cs typeface="Arial"/>
              </a:defRPr>
            </a:lvl9pPr>
          </a:lstStyle>
          <a:p>
            <a:pPr algn="l">
              <a:defRPr sz="2200" b="1">
                <a:solidFill>
                  <a:srgbClr val="0DBE85"/>
                </a:solidFill>
                <a:latin typeface="Arial"/>
                <a:ea typeface="Arial"/>
                <a:cs typeface="Arial"/>
              </a:defRPr>
            </a:pPr>
            <a:r>
              <a:rPr sz="2200" b="1">
                <a:solidFill>
                  <a:srgbClr val="0DBE85"/>
                </a:solidFill>
                <a:latin typeface="Outfit"/>
                <a:ea typeface="Arial"/>
                <a:cs typeface="Arial"/>
              </a:rPr>
              <a:t>Current foundation</a:t>
            </a:r>
            <a:endParaRPr/>
          </a:p>
        </p:txBody>
      </p:sp>
      <p:sp>
        <p:nvSpPr>
          <p:cNvPr id="947810876" name="prime-text-46"/>
          <p:cNvSpPr>
            <a:spLocks noGrp="1"/>
          </p:cNvSpPr>
          <p:nvPr/>
        </p:nvSpPr>
        <p:spPr bwMode="auto">
          <a:xfrm>
            <a:off x="609600" y="2857500"/>
            <a:ext cx="4095750" cy="1104900"/>
          </a:xfrm>
          <a:prstGeom prst="rect">
            <a:avLst/>
          </a:prstGeom>
          <a:noFill/>
          <a:ln w="0">
            <a:solidFill/>
            <a:prstDash val="solid"/>
          </a:ln>
        </p:spPr>
        <p:txBody>
          <a:bodyPr wrap="square" lIns="0" tIns="0" rIns="0" bIns="0" anchor="t">
            <a:noAutofit/>
          </a:bodyPr>
          <a:lstStyle>
            <a:defPPr algn="l">
              <a:defRPr sz="1950" b="0">
                <a:solidFill>
                  <a:srgbClr val="18201D"/>
                </a:solidFill>
                <a:latin typeface="Arial"/>
                <a:ea typeface="Arial"/>
                <a:cs typeface="Arial"/>
              </a:defRPr>
            </a:defPPr>
            <a:lvl1pPr algn="l">
              <a:defRPr sz="1950" b="0">
                <a:solidFill>
                  <a:srgbClr val="18201D"/>
                </a:solidFill>
                <a:latin typeface="Arial"/>
                <a:ea typeface="Arial"/>
                <a:cs typeface="Arial"/>
              </a:defRPr>
            </a:lvl1pPr>
            <a:lvl2pPr algn="l">
              <a:defRPr sz="1950" b="0">
                <a:solidFill>
                  <a:srgbClr val="18201D"/>
                </a:solidFill>
                <a:latin typeface="Arial"/>
                <a:ea typeface="Arial"/>
                <a:cs typeface="Arial"/>
              </a:defRPr>
            </a:lvl2pPr>
            <a:lvl3pPr algn="l">
              <a:defRPr sz="1950" b="0">
                <a:solidFill>
                  <a:srgbClr val="18201D"/>
                </a:solidFill>
                <a:latin typeface="Arial"/>
                <a:ea typeface="Arial"/>
                <a:cs typeface="Arial"/>
              </a:defRPr>
            </a:lvl3pPr>
            <a:lvl4pPr algn="l">
              <a:defRPr sz="1950" b="0">
                <a:solidFill>
                  <a:srgbClr val="18201D"/>
                </a:solidFill>
                <a:latin typeface="Arial"/>
                <a:ea typeface="Arial"/>
                <a:cs typeface="Arial"/>
              </a:defRPr>
            </a:lvl4pPr>
            <a:lvl5pPr algn="l">
              <a:defRPr sz="1950" b="0">
                <a:solidFill>
                  <a:srgbClr val="18201D"/>
                </a:solidFill>
                <a:latin typeface="Arial"/>
                <a:ea typeface="Arial"/>
                <a:cs typeface="Arial"/>
              </a:defRPr>
            </a:lvl5pPr>
            <a:lvl6pPr algn="l">
              <a:defRPr sz="1950" b="0">
                <a:solidFill>
                  <a:srgbClr val="18201D"/>
                </a:solidFill>
                <a:latin typeface="Arial"/>
                <a:ea typeface="Arial"/>
                <a:cs typeface="Arial"/>
              </a:defRPr>
            </a:lvl6pPr>
            <a:lvl7pPr algn="l">
              <a:defRPr sz="1950" b="0">
                <a:solidFill>
                  <a:srgbClr val="18201D"/>
                </a:solidFill>
                <a:latin typeface="Arial"/>
                <a:ea typeface="Arial"/>
                <a:cs typeface="Arial"/>
              </a:defRPr>
            </a:lvl7pPr>
            <a:lvl8pPr algn="l">
              <a:defRPr sz="1950" b="0">
                <a:solidFill>
                  <a:srgbClr val="18201D"/>
                </a:solidFill>
                <a:latin typeface="Arial"/>
                <a:ea typeface="Arial"/>
                <a:cs typeface="Arial"/>
              </a:defRPr>
            </a:lvl8pPr>
            <a:lvl9pPr algn="l">
              <a:defRPr sz="1950" b="0">
                <a:solidFill>
                  <a:srgbClr val="18201D"/>
                </a:solidFill>
                <a:latin typeface="Arial"/>
                <a:ea typeface="Arial"/>
                <a:cs typeface="Arial"/>
              </a:defRPr>
            </a:lvl9pPr>
          </a:lstStyle>
          <a:p>
            <a:pPr algn="l">
              <a:defRPr sz="1950" b="0">
                <a:solidFill>
                  <a:srgbClr val="18201D"/>
                </a:solidFill>
                <a:latin typeface="Arial"/>
                <a:ea typeface="Arial"/>
                <a:cs typeface="Arial"/>
              </a:defRPr>
            </a:pPr>
            <a:r>
              <a:rPr sz="1950" b="0">
                <a:solidFill>
                  <a:srgbClr val="18201D"/>
                </a:solidFill>
                <a:latin typeface="Plus Jakarta Sans"/>
                <a:ea typeface="Arial"/>
                <a:cs typeface="Arial"/>
              </a:rPr>
              <a:t>Receipt concept and lifecycle models</a:t>
            </a:r>
            <a:endParaRPr/>
          </a:p>
          <a:p>
            <a:pPr algn="l">
              <a:defRPr sz="1950" b="0">
                <a:solidFill>
                  <a:srgbClr val="18201D"/>
                </a:solidFill>
                <a:latin typeface="Arial"/>
                <a:ea typeface="Arial"/>
                <a:cs typeface="Arial"/>
              </a:defRPr>
            </a:pPr>
            <a:r>
              <a:rPr sz="1950" b="0">
                <a:solidFill>
                  <a:srgbClr val="18201D"/>
                </a:solidFill>
                <a:latin typeface="Plus Jakarta Sans"/>
                <a:ea typeface="Arial"/>
                <a:cs typeface="Arial"/>
              </a:rPr>
              <a:t>Trade and ledger test harness</a:t>
            </a:r>
            <a:endParaRPr/>
          </a:p>
          <a:p>
            <a:pPr algn="l">
              <a:defRPr sz="1950" b="0">
                <a:solidFill>
                  <a:srgbClr val="18201D"/>
                </a:solidFill>
                <a:latin typeface="Arial"/>
                <a:ea typeface="Arial"/>
                <a:cs typeface="Arial"/>
              </a:defRPr>
            </a:pPr>
            <a:r>
              <a:rPr sz="1950" b="0">
                <a:solidFill>
                  <a:srgbClr val="18201D"/>
                </a:solidFill>
                <a:latin typeface="Plus Jakarta Sans"/>
                <a:ea typeface="Arial"/>
                <a:cs typeface="Arial"/>
              </a:rPr>
              <a:t>Target cash-rail architecture</a:t>
            </a:r>
            <a:endParaRPr/>
          </a:p>
        </p:txBody>
      </p:sp>
      <p:sp>
        <p:nvSpPr>
          <p:cNvPr id="1965036436" name="prime-text-47"/>
          <p:cNvSpPr>
            <a:spLocks noGrp="1"/>
          </p:cNvSpPr>
          <p:nvPr/>
        </p:nvSpPr>
        <p:spPr bwMode="auto">
          <a:xfrm>
            <a:off x="609600" y="4314825"/>
            <a:ext cx="4095750" cy="419100"/>
          </a:xfrm>
          <a:prstGeom prst="rect">
            <a:avLst/>
          </a:prstGeom>
          <a:noFill/>
          <a:ln w="0">
            <a:solidFill/>
            <a:prstDash val="solid"/>
          </a:ln>
        </p:spPr>
        <p:txBody>
          <a:bodyPr wrap="square" lIns="0" tIns="0" rIns="0" bIns="0" anchor="t">
            <a:noAutofit/>
          </a:bodyPr>
          <a:lstStyle>
            <a:defPPr algn="l">
              <a:defRPr sz="2200" b="1">
                <a:solidFill>
                  <a:srgbClr val="D97706"/>
                </a:solidFill>
                <a:latin typeface="Arial"/>
                <a:ea typeface="Arial"/>
                <a:cs typeface="Arial"/>
              </a:defRPr>
            </a:defPPr>
            <a:lvl1pPr algn="l">
              <a:defRPr sz="2200" b="1">
                <a:solidFill>
                  <a:srgbClr val="D97706"/>
                </a:solidFill>
                <a:latin typeface="Arial"/>
                <a:ea typeface="Arial"/>
                <a:cs typeface="Arial"/>
              </a:defRPr>
            </a:lvl1pPr>
            <a:lvl2pPr algn="l">
              <a:defRPr sz="2200" b="1">
                <a:solidFill>
                  <a:srgbClr val="D97706"/>
                </a:solidFill>
                <a:latin typeface="Arial"/>
                <a:ea typeface="Arial"/>
                <a:cs typeface="Arial"/>
              </a:defRPr>
            </a:lvl2pPr>
            <a:lvl3pPr algn="l">
              <a:defRPr sz="2200" b="1">
                <a:solidFill>
                  <a:srgbClr val="D97706"/>
                </a:solidFill>
                <a:latin typeface="Arial"/>
                <a:ea typeface="Arial"/>
                <a:cs typeface="Arial"/>
              </a:defRPr>
            </a:lvl3pPr>
            <a:lvl4pPr algn="l">
              <a:defRPr sz="2200" b="1">
                <a:solidFill>
                  <a:srgbClr val="D97706"/>
                </a:solidFill>
                <a:latin typeface="Arial"/>
                <a:ea typeface="Arial"/>
                <a:cs typeface="Arial"/>
              </a:defRPr>
            </a:lvl4pPr>
            <a:lvl5pPr algn="l">
              <a:defRPr sz="2200" b="1">
                <a:solidFill>
                  <a:srgbClr val="D97706"/>
                </a:solidFill>
                <a:latin typeface="Arial"/>
                <a:ea typeface="Arial"/>
                <a:cs typeface="Arial"/>
              </a:defRPr>
            </a:lvl5pPr>
            <a:lvl6pPr algn="l">
              <a:defRPr sz="2200" b="1">
                <a:solidFill>
                  <a:srgbClr val="D97706"/>
                </a:solidFill>
                <a:latin typeface="Arial"/>
                <a:ea typeface="Arial"/>
                <a:cs typeface="Arial"/>
              </a:defRPr>
            </a:lvl6pPr>
            <a:lvl7pPr algn="l">
              <a:defRPr sz="2200" b="1">
                <a:solidFill>
                  <a:srgbClr val="D97706"/>
                </a:solidFill>
                <a:latin typeface="Arial"/>
                <a:ea typeface="Arial"/>
                <a:cs typeface="Arial"/>
              </a:defRPr>
            </a:lvl7pPr>
            <a:lvl8pPr algn="l">
              <a:defRPr sz="2200" b="1">
                <a:solidFill>
                  <a:srgbClr val="D97706"/>
                </a:solidFill>
                <a:latin typeface="Arial"/>
                <a:ea typeface="Arial"/>
                <a:cs typeface="Arial"/>
              </a:defRPr>
            </a:lvl8pPr>
            <a:lvl9pPr algn="l">
              <a:defRPr sz="2200" b="1">
                <a:solidFill>
                  <a:srgbClr val="D97706"/>
                </a:solidFill>
                <a:latin typeface="Arial"/>
                <a:ea typeface="Arial"/>
                <a:cs typeface="Arial"/>
              </a:defRPr>
            </a:lvl9pPr>
          </a:lstStyle>
          <a:p>
            <a:pPr algn="l">
              <a:defRPr sz="2200" b="1">
                <a:solidFill>
                  <a:srgbClr val="D97706"/>
                </a:solidFill>
                <a:latin typeface="Arial"/>
                <a:ea typeface="Arial"/>
                <a:cs typeface="Arial"/>
              </a:defRPr>
            </a:pPr>
            <a:r>
              <a:rPr sz="2200" b="1">
                <a:solidFill>
                  <a:srgbClr val="D97706"/>
                </a:solidFill>
                <a:latin typeface="Outfit"/>
                <a:ea typeface="Arial"/>
                <a:cs typeface="Arial"/>
              </a:rPr>
              <a:t>Controls before launch</a:t>
            </a:r>
            <a:endParaRPr/>
          </a:p>
        </p:txBody>
      </p:sp>
      <p:sp>
        <p:nvSpPr>
          <p:cNvPr id="358104179" name="prime-text-48"/>
          <p:cNvSpPr>
            <a:spLocks noGrp="1"/>
          </p:cNvSpPr>
          <p:nvPr/>
        </p:nvSpPr>
        <p:spPr bwMode="auto">
          <a:xfrm>
            <a:off x="609600" y="4876800"/>
            <a:ext cx="4095750" cy="1076325"/>
          </a:xfrm>
          <a:prstGeom prst="rect">
            <a:avLst/>
          </a:prstGeom>
          <a:noFill/>
          <a:ln w="0">
            <a:solidFill/>
            <a:prstDash val="solid"/>
          </a:ln>
        </p:spPr>
        <p:txBody>
          <a:bodyPr wrap="square" lIns="0" tIns="0" rIns="0" bIns="0" anchor="t">
            <a:noAutofit/>
          </a:bodyPr>
          <a:lstStyle>
            <a:defPPr algn="l">
              <a:defRPr sz="1900" b="0">
                <a:solidFill>
                  <a:srgbClr val="18201D"/>
                </a:solidFill>
                <a:latin typeface="Arial"/>
                <a:ea typeface="Arial"/>
                <a:cs typeface="Arial"/>
              </a:defRPr>
            </a:defPPr>
            <a:lvl1pPr algn="l">
              <a:defRPr sz="1900" b="0">
                <a:solidFill>
                  <a:srgbClr val="18201D"/>
                </a:solidFill>
                <a:latin typeface="Arial"/>
                <a:ea typeface="Arial"/>
                <a:cs typeface="Arial"/>
              </a:defRPr>
            </a:lvl1pPr>
            <a:lvl2pPr algn="l">
              <a:defRPr sz="1900" b="0">
                <a:solidFill>
                  <a:srgbClr val="18201D"/>
                </a:solidFill>
                <a:latin typeface="Arial"/>
                <a:ea typeface="Arial"/>
                <a:cs typeface="Arial"/>
              </a:defRPr>
            </a:lvl2pPr>
            <a:lvl3pPr algn="l">
              <a:defRPr sz="1900" b="0">
                <a:solidFill>
                  <a:srgbClr val="18201D"/>
                </a:solidFill>
                <a:latin typeface="Arial"/>
                <a:ea typeface="Arial"/>
                <a:cs typeface="Arial"/>
              </a:defRPr>
            </a:lvl3pPr>
            <a:lvl4pPr algn="l">
              <a:defRPr sz="1900" b="0">
                <a:solidFill>
                  <a:srgbClr val="18201D"/>
                </a:solidFill>
                <a:latin typeface="Arial"/>
                <a:ea typeface="Arial"/>
                <a:cs typeface="Arial"/>
              </a:defRPr>
            </a:lvl4pPr>
            <a:lvl5pPr algn="l">
              <a:defRPr sz="1900" b="0">
                <a:solidFill>
                  <a:srgbClr val="18201D"/>
                </a:solidFill>
                <a:latin typeface="Arial"/>
                <a:ea typeface="Arial"/>
                <a:cs typeface="Arial"/>
              </a:defRPr>
            </a:lvl5pPr>
            <a:lvl6pPr algn="l">
              <a:defRPr sz="1900" b="0">
                <a:solidFill>
                  <a:srgbClr val="18201D"/>
                </a:solidFill>
                <a:latin typeface="Arial"/>
                <a:ea typeface="Arial"/>
                <a:cs typeface="Arial"/>
              </a:defRPr>
            </a:lvl6pPr>
            <a:lvl7pPr algn="l">
              <a:defRPr sz="1900" b="0">
                <a:solidFill>
                  <a:srgbClr val="18201D"/>
                </a:solidFill>
                <a:latin typeface="Arial"/>
                <a:ea typeface="Arial"/>
                <a:cs typeface="Arial"/>
              </a:defRPr>
            </a:lvl7pPr>
            <a:lvl8pPr algn="l">
              <a:defRPr sz="1900" b="0">
                <a:solidFill>
                  <a:srgbClr val="18201D"/>
                </a:solidFill>
                <a:latin typeface="Arial"/>
                <a:ea typeface="Arial"/>
                <a:cs typeface="Arial"/>
              </a:defRPr>
            </a:lvl8pPr>
            <a:lvl9pPr algn="l">
              <a:defRPr sz="1900" b="0">
                <a:solidFill>
                  <a:srgbClr val="18201D"/>
                </a:solidFill>
                <a:latin typeface="Arial"/>
                <a:ea typeface="Arial"/>
                <a:cs typeface="Arial"/>
              </a:defRPr>
            </a:lvl9pPr>
          </a:lstStyle>
          <a:p>
            <a:pPr algn="l">
              <a:defRPr sz="1900" b="0">
                <a:solidFill>
                  <a:srgbClr val="18201D"/>
                </a:solidFill>
                <a:latin typeface="Arial"/>
                <a:ea typeface="Arial"/>
                <a:cs typeface="Arial"/>
              </a:defRPr>
            </a:pPr>
            <a:r>
              <a:rPr sz="1900" b="0">
                <a:solidFill>
                  <a:srgbClr val="18201D"/>
                </a:solidFill>
                <a:latin typeface="Plus Jakarta Sans"/>
                <a:ea typeface="Arial"/>
                <a:cs typeface="Arial"/>
              </a:rPr>
              <a:t>Programme rights and permissions</a:t>
            </a:r>
            <a:endParaRPr/>
          </a:p>
          <a:p>
            <a:pPr algn="l">
              <a:defRPr sz="1900" b="0">
                <a:solidFill>
                  <a:srgbClr val="18201D"/>
                </a:solidFill>
                <a:latin typeface="Arial"/>
                <a:ea typeface="Arial"/>
                <a:cs typeface="Arial"/>
              </a:defRPr>
            </a:pPr>
            <a:r>
              <a:rPr sz="1900" b="0">
                <a:solidFill>
                  <a:srgbClr val="18201D"/>
                </a:solidFill>
                <a:latin typeface="Plus Jakarta Sans"/>
                <a:ea typeface="Arial"/>
                <a:cs typeface="Arial"/>
              </a:rPr>
              <a:t>Custody proof and reconciliation</a:t>
            </a:r>
            <a:endParaRPr/>
          </a:p>
          <a:p>
            <a:pPr algn="l">
              <a:defRPr sz="1900" b="0">
                <a:solidFill>
                  <a:srgbClr val="18201D"/>
                </a:solidFill>
                <a:latin typeface="Arial"/>
                <a:ea typeface="Arial"/>
                <a:cs typeface="Arial"/>
              </a:defRPr>
            </a:pPr>
            <a:r>
              <a:rPr sz="1900" b="0">
                <a:solidFill>
                  <a:srgbClr val="18201D"/>
                </a:solidFill>
                <a:latin typeface="Plus Jakarta Sans"/>
                <a:ea typeface="Arial"/>
                <a:cs typeface="Arial"/>
              </a:rPr>
              <a:t>Cash finality, audits and recovery</a:t>
            </a:r>
            <a:endParaRPr/>
          </a:p>
        </p:txBody>
      </p:sp>
      <p:sp>
        <p:nvSpPr>
          <p:cNvPr id="337503945" name="prime-text-49"/>
          <p:cNvSpPr>
            <a:spLocks noGrp="1"/>
          </p:cNvSpPr>
          <p:nvPr/>
        </p:nvSpPr>
        <p:spPr bwMode="auto">
          <a:xfrm>
            <a:off x="5543550" y="2238375"/>
            <a:ext cx="6038850" cy="304800"/>
          </a:xfrm>
          <a:prstGeom prst="rect">
            <a:avLst/>
          </a:prstGeom>
          <a:noFill/>
          <a:ln w="0">
            <a:solidFill/>
            <a:prstDash val="solid"/>
          </a:ln>
        </p:spPr>
        <p:txBody>
          <a:bodyPr wrap="square" lIns="0" tIns="0" rIns="0" bIns="0" anchor="t">
            <a:noAutofit/>
          </a:bodyPr>
          <a:lstStyle>
            <a:defPPr algn="l">
              <a:defRPr sz="1800" b="1">
                <a:solidFill>
                  <a:srgbClr val="D97706"/>
                </a:solidFill>
                <a:latin typeface="Arial"/>
                <a:ea typeface="Arial"/>
                <a:cs typeface="Arial"/>
              </a:defRPr>
            </a:defPPr>
            <a:lvl1pPr algn="l">
              <a:defRPr sz="1800" b="1">
                <a:solidFill>
                  <a:srgbClr val="D97706"/>
                </a:solidFill>
                <a:latin typeface="Arial"/>
                <a:ea typeface="Arial"/>
                <a:cs typeface="Arial"/>
              </a:defRPr>
            </a:lvl1pPr>
            <a:lvl2pPr algn="l">
              <a:defRPr sz="1800" b="1">
                <a:solidFill>
                  <a:srgbClr val="D97706"/>
                </a:solidFill>
                <a:latin typeface="Arial"/>
                <a:ea typeface="Arial"/>
                <a:cs typeface="Arial"/>
              </a:defRPr>
            </a:lvl2pPr>
            <a:lvl3pPr algn="l">
              <a:defRPr sz="1800" b="1">
                <a:solidFill>
                  <a:srgbClr val="D97706"/>
                </a:solidFill>
                <a:latin typeface="Arial"/>
                <a:ea typeface="Arial"/>
                <a:cs typeface="Arial"/>
              </a:defRPr>
            </a:lvl3pPr>
            <a:lvl4pPr algn="l">
              <a:defRPr sz="1800" b="1">
                <a:solidFill>
                  <a:srgbClr val="D97706"/>
                </a:solidFill>
                <a:latin typeface="Arial"/>
                <a:ea typeface="Arial"/>
                <a:cs typeface="Arial"/>
              </a:defRPr>
            </a:lvl4pPr>
            <a:lvl5pPr algn="l">
              <a:defRPr sz="1800" b="1">
                <a:solidFill>
                  <a:srgbClr val="D97706"/>
                </a:solidFill>
                <a:latin typeface="Arial"/>
                <a:ea typeface="Arial"/>
                <a:cs typeface="Arial"/>
              </a:defRPr>
            </a:lvl5pPr>
            <a:lvl6pPr algn="l">
              <a:defRPr sz="1800" b="1">
                <a:solidFill>
                  <a:srgbClr val="D97706"/>
                </a:solidFill>
                <a:latin typeface="Arial"/>
                <a:ea typeface="Arial"/>
                <a:cs typeface="Arial"/>
              </a:defRPr>
            </a:lvl6pPr>
            <a:lvl7pPr algn="l">
              <a:defRPr sz="1800" b="1">
                <a:solidFill>
                  <a:srgbClr val="D97706"/>
                </a:solidFill>
                <a:latin typeface="Arial"/>
                <a:ea typeface="Arial"/>
                <a:cs typeface="Arial"/>
              </a:defRPr>
            </a:lvl7pPr>
            <a:lvl8pPr algn="l">
              <a:defRPr sz="1800" b="1">
                <a:solidFill>
                  <a:srgbClr val="D97706"/>
                </a:solidFill>
                <a:latin typeface="Arial"/>
                <a:ea typeface="Arial"/>
                <a:cs typeface="Arial"/>
              </a:defRPr>
            </a:lvl8pPr>
            <a:lvl9pPr algn="l">
              <a:defRPr sz="1800" b="1">
                <a:solidFill>
                  <a:srgbClr val="D97706"/>
                </a:solidFill>
                <a:latin typeface="Arial"/>
                <a:ea typeface="Arial"/>
                <a:cs typeface="Arial"/>
              </a:defRPr>
            </a:lvl9pPr>
          </a:lstStyle>
          <a:p>
            <a:pPr algn="l">
              <a:defRPr sz="1800" b="1">
                <a:solidFill>
                  <a:srgbClr val="D97706"/>
                </a:solidFill>
                <a:latin typeface="Arial"/>
                <a:ea typeface="Arial"/>
                <a:cs typeface="Arial"/>
              </a:defRPr>
            </a:pPr>
            <a:r>
              <a:rPr sz="1800" b="1">
                <a:solidFill>
                  <a:srgbClr val="D97706"/>
                </a:solidFill>
                <a:latin typeface="Outfit"/>
                <a:ea typeface="Arial"/>
                <a:cs typeface="Arial"/>
              </a:rPr>
              <a:t>Months 0-6</a:t>
            </a:r>
            <a:endParaRPr/>
          </a:p>
        </p:txBody>
      </p:sp>
      <p:sp>
        <p:nvSpPr>
          <p:cNvPr id="1324421029" name="prime-text-50"/>
          <p:cNvSpPr>
            <a:spLocks noGrp="1"/>
          </p:cNvSpPr>
          <p:nvPr/>
        </p:nvSpPr>
        <p:spPr bwMode="auto">
          <a:xfrm>
            <a:off x="5543550" y="2638425"/>
            <a:ext cx="6038850" cy="419100"/>
          </a:xfrm>
          <a:prstGeom prst="rect">
            <a:avLst/>
          </a:prstGeom>
          <a:noFill/>
          <a:ln w="0">
            <a:solidFill/>
            <a:prstDash val="solid"/>
          </a:ln>
        </p:spPr>
        <p:txBody>
          <a:bodyPr wrap="square" lIns="0" tIns="0" rIns="0" bIns="0" anchor="t">
            <a:noAutofit/>
          </a:bodyPr>
          <a:lstStyle>
            <a:defPPr algn="l">
              <a:defRPr sz="2100" b="1">
                <a:solidFill>
                  <a:srgbClr val="18201D"/>
                </a:solidFill>
                <a:latin typeface="Arial"/>
                <a:ea typeface="Arial"/>
                <a:cs typeface="Arial"/>
              </a:defRPr>
            </a:defPPr>
            <a:lvl1pPr algn="l">
              <a:defRPr sz="2100" b="1">
                <a:solidFill>
                  <a:srgbClr val="18201D"/>
                </a:solidFill>
                <a:latin typeface="Arial"/>
                <a:ea typeface="Arial"/>
                <a:cs typeface="Arial"/>
              </a:defRPr>
            </a:lvl1pPr>
            <a:lvl2pPr algn="l">
              <a:defRPr sz="2100" b="1">
                <a:solidFill>
                  <a:srgbClr val="18201D"/>
                </a:solidFill>
                <a:latin typeface="Arial"/>
                <a:ea typeface="Arial"/>
                <a:cs typeface="Arial"/>
              </a:defRPr>
            </a:lvl2pPr>
            <a:lvl3pPr algn="l">
              <a:defRPr sz="2100" b="1">
                <a:solidFill>
                  <a:srgbClr val="18201D"/>
                </a:solidFill>
                <a:latin typeface="Arial"/>
                <a:ea typeface="Arial"/>
                <a:cs typeface="Arial"/>
              </a:defRPr>
            </a:lvl3pPr>
            <a:lvl4pPr algn="l">
              <a:defRPr sz="2100" b="1">
                <a:solidFill>
                  <a:srgbClr val="18201D"/>
                </a:solidFill>
                <a:latin typeface="Arial"/>
                <a:ea typeface="Arial"/>
                <a:cs typeface="Arial"/>
              </a:defRPr>
            </a:lvl4pPr>
            <a:lvl5pPr algn="l">
              <a:defRPr sz="2100" b="1">
                <a:solidFill>
                  <a:srgbClr val="18201D"/>
                </a:solidFill>
                <a:latin typeface="Arial"/>
                <a:ea typeface="Arial"/>
                <a:cs typeface="Arial"/>
              </a:defRPr>
            </a:lvl5pPr>
            <a:lvl6pPr algn="l">
              <a:defRPr sz="2100" b="1">
                <a:solidFill>
                  <a:srgbClr val="18201D"/>
                </a:solidFill>
                <a:latin typeface="Arial"/>
                <a:ea typeface="Arial"/>
                <a:cs typeface="Arial"/>
              </a:defRPr>
            </a:lvl6pPr>
            <a:lvl7pPr algn="l">
              <a:defRPr sz="2100" b="1">
                <a:solidFill>
                  <a:srgbClr val="18201D"/>
                </a:solidFill>
                <a:latin typeface="Arial"/>
                <a:ea typeface="Arial"/>
                <a:cs typeface="Arial"/>
              </a:defRPr>
            </a:lvl7pPr>
            <a:lvl8pPr algn="l">
              <a:defRPr sz="2100" b="1">
                <a:solidFill>
                  <a:srgbClr val="18201D"/>
                </a:solidFill>
                <a:latin typeface="Arial"/>
                <a:ea typeface="Arial"/>
                <a:cs typeface="Arial"/>
              </a:defRPr>
            </a:lvl8pPr>
            <a:lvl9pPr algn="l">
              <a:defRPr sz="2100" b="1">
                <a:solidFill>
                  <a:srgbClr val="18201D"/>
                </a:solidFill>
                <a:latin typeface="Arial"/>
                <a:ea typeface="Arial"/>
                <a:cs typeface="Arial"/>
              </a:defRPr>
            </a:lvl9pPr>
          </a:lstStyle>
          <a:p>
            <a:pPr algn="l">
              <a:defRPr sz="2100" b="1">
                <a:solidFill>
                  <a:srgbClr val="18201D"/>
                </a:solidFill>
                <a:latin typeface="Arial"/>
                <a:ea typeface="Arial"/>
                <a:cs typeface="Arial"/>
              </a:defRPr>
            </a:pPr>
            <a:r>
              <a:rPr sz="2100" b="1">
                <a:solidFill>
                  <a:srgbClr val="18201D"/>
                </a:solidFill>
                <a:latin typeface="Outfit"/>
                <a:ea typeface="Arial"/>
                <a:cs typeface="Arial"/>
              </a:rPr>
              <a:t>Sponsor and programme terms</a:t>
            </a:r>
            <a:endParaRPr/>
          </a:p>
        </p:txBody>
      </p:sp>
      <p:sp>
        <p:nvSpPr>
          <p:cNvPr id="1910636413" name="prime-text-51"/>
          <p:cNvSpPr>
            <a:spLocks noGrp="1"/>
          </p:cNvSpPr>
          <p:nvPr/>
        </p:nvSpPr>
        <p:spPr bwMode="auto">
          <a:xfrm>
            <a:off x="5543550" y="3076574"/>
            <a:ext cx="6038850" cy="361950"/>
          </a:xfrm>
          <a:prstGeom prst="rect">
            <a:avLst/>
          </a:prstGeom>
          <a:noFill/>
          <a:ln w="0">
            <a:solidFill/>
            <a:prstDash val="solid"/>
          </a:ln>
        </p:spPr>
        <p:txBody>
          <a:bodyPr wrap="square" lIns="0" tIns="0" rIns="0" bIns="0" anchor="t">
            <a:noAutofit/>
          </a:bodyPr>
          <a:lstStyle>
            <a:defPPr algn="l">
              <a:defRPr sz="1750" b="0">
                <a:solidFill>
                  <a:srgbClr val="5D6A67"/>
                </a:solidFill>
                <a:latin typeface="Arial"/>
                <a:ea typeface="Arial"/>
                <a:cs typeface="Arial"/>
              </a:defRPr>
            </a:defPPr>
            <a:lvl1pPr algn="l">
              <a:defRPr sz="1750" b="0">
                <a:solidFill>
                  <a:srgbClr val="5D6A67"/>
                </a:solidFill>
                <a:latin typeface="Arial"/>
                <a:ea typeface="Arial"/>
                <a:cs typeface="Arial"/>
              </a:defRPr>
            </a:lvl1pPr>
            <a:lvl2pPr algn="l">
              <a:defRPr sz="1750" b="0">
                <a:solidFill>
                  <a:srgbClr val="5D6A67"/>
                </a:solidFill>
                <a:latin typeface="Arial"/>
                <a:ea typeface="Arial"/>
                <a:cs typeface="Arial"/>
              </a:defRPr>
            </a:lvl2pPr>
            <a:lvl3pPr algn="l">
              <a:defRPr sz="1750" b="0">
                <a:solidFill>
                  <a:srgbClr val="5D6A67"/>
                </a:solidFill>
                <a:latin typeface="Arial"/>
                <a:ea typeface="Arial"/>
                <a:cs typeface="Arial"/>
              </a:defRPr>
            </a:lvl3pPr>
            <a:lvl4pPr algn="l">
              <a:defRPr sz="1750" b="0">
                <a:solidFill>
                  <a:srgbClr val="5D6A67"/>
                </a:solidFill>
                <a:latin typeface="Arial"/>
                <a:ea typeface="Arial"/>
                <a:cs typeface="Arial"/>
              </a:defRPr>
            </a:lvl4pPr>
            <a:lvl5pPr algn="l">
              <a:defRPr sz="1750" b="0">
                <a:solidFill>
                  <a:srgbClr val="5D6A67"/>
                </a:solidFill>
                <a:latin typeface="Arial"/>
                <a:ea typeface="Arial"/>
                <a:cs typeface="Arial"/>
              </a:defRPr>
            </a:lvl5pPr>
            <a:lvl6pPr algn="l">
              <a:defRPr sz="1750" b="0">
                <a:solidFill>
                  <a:srgbClr val="5D6A67"/>
                </a:solidFill>
                <a:latin typeface="Arial"/>
                <a:ea typeface="Arial"/>
                <a:cs typeface="Arial"/>
              </a:defRPr>
            </a:lvl6pPr>
            <a:lvl7pPr algn="l">
              <a:defRPr sz="1750" b="0">
                <a:solidFill>
                  <a:srgbClr val="5D6A67"/>
                </a:solidFill>
                <a:latin typeface="Arial"/>
                <a:ea typeface="Arial"/>
                <a:cs typeface="Arial"/>
              </a:defRPr>
            </a:lvl7pPr>
            <a:lvl8pPr algn="l">
              <a:defRPr sz="1750" b="0">
                <a:solidFill>
                  <a:srgbClr val="5D6A67"/>
                </a:solidFill>
                <a:latin typeface="Arial"/>
                <a:ea typeface="Arial"/>
                <a:cs typeface="Arial"/>
              </a:defRPr>
            </a:lvl8pPr>
            <a:lvl9pPr algn="l">
              <a:defRPr sz="1750" b="0">
                <a:solidFill>
                  <a:srgbClr val="5D6A67"/>
                </a:solidFill>
                <a:latin typeface="Arial"/>
                <a:ea typeface="Arial"/>
                <a:cs typeface="Arial"/>
              </a:defRPr>
            </a:lvl9pPr>
          </a:lstStyle>
          <a:p>
            <a:pPr algn="l">
              <a:defRPr sz="1750" b="0">
                <a:solidFill>
                  <a:srgbClr val="5D6A67"/>
                </a:solidFill>
                <a:latin typeface="Arial"/>
                <a:ea typeface="Arial"/>
                <a:cs typeface="Arial"/>
              </a:defRPr>
            </a:pPr>
            <a:r>
              <a:rPr sz="1750" b="0">
                <a:solidFill>
                  <a:srgbClr val="5D6A67"/>
                </a:solidFill>
                <a:latin typeface="Plus Jakarta Sans"/>
                <a:ea typeface="Arial"/>
                <a:cs typeface="Arial"/>
              </a:rPr>
              <a:t>Jurisdiction, rights and priced cash routes</a:t>
            </a:r>
            <a:endParaRPr/>
          </a:p>
        </p:txBody>
      </p:sp>
      <p:sp>
        <p:nvSpPr>
          <p:cNvPr id="832196191" name="prime-rule-52"/>
          <p:cNvSpPr>
            <a:spLocks noGrp="1"/>
          </p:cNvSpPr>
          <p:nvPr/>
        </p:nvSpPr>
        <p:spPr bwMode="auto">
          <a:xfrm>
            <a:off x="5543550" y="3400425"/>
            <a:ext cx="6038850" cy="0"/>
          </a:xfrm>
          <a:prstGeom prst="line">
            <a:avLst/>
          </a:prstGeom>
          <a:noFill/>
          <a:ln w="11430">
            <a:solidFill>
              <a:srgbClr val="D7DFDA"/>
            </a:solidFill>
            <a:prstDash val="solid"/>
          </a:ln>
        </p:spPr>
        <p:txBody>
          <a:bodyPr/>
          <a:p/>
        </p:txBody>
      </p:sp>
      <p:sp>
        <p:nvSpPr>
          <p:cNvPr id="1533471656" name="prime-text-53"/>
          <p:cNvSpPr>
            <a:spLocks noGrp="1"/>
          </p:cNvSpPr>
          <p:nvPr/>
        </p:nvSpPr>
        <p:spPr bwMode="auto">
          <a:xfrm>
            <a:off x="5543550" y="3476625"/>
            <a:ext cx="6038850" cy="304800"/>
          </a:xfrm>
          <a:prstGeom prst="rect">
            <a:avLst/>
          </a:prstGeom>
          <a:noFill/>
          <a:ln w="0">
            <a:solidFill/>
            <a:prstDash val="solid"/>
          </a:ln>
        </p:spPr>
        <p:txBody>
          <a:bodyPr wrap="square" lIns="0" tIns="0" rIns="0" bIns="0" anchor="t">
            <a:noAutofit/>
          </a:bodyPr>
          <a:lstStyle>
            <a:defPPr algn="l">
              <a:defRPr sz="1800" b="1">
                <a:solidFill>
                  <a:srgbClr val="D97706"/>
                </a:solidFill>
                <a:latin typeface="Arial"/>
                <a:ea typeface="Arial"/>
                <a:cs typeface="Arial"/>
              </a:defRPr>
            </a:defPPr>
            <a:lvl1pPr algn="l">
              <a:defRPr sz="1800" b="1">
                <a:solidFill>
                  <a:srgbClr val="D97706"/>
                </a:solidFill>
                <a:latin typeface="Arial"/>
                <a:ea typeface="Arial"/>
                <a:cs typeface="Arial"/>
              </a:defRPr>
            </a:lvl1pPr>
            <a:lvl2pPr algn="l">
              <a:defRPr sz="1800" b="1">
                <a:solidFill>
                  <a:srgbClr val="D97706"/>
                </a:solidFill>
                <a:latin typeface="Arial"/>
                <a:ea typeface="Arial"/>
                <a:cs typeface="Arial"/>
              </a:defRPr>
            </a:lvl2pPr>
            <a:lvl3pPr algn="l">
              <a:defRPr sz="1800" b="1">
                <a:solidFill>
                  <a:srgbClr val="D97706"/>
                </a:solidFill>
                <a:latin typeface="Arial"/>
                <a:ea typeface="Arial"/>
                <a:cs typeface="Arial"/>
              </a:defRPr>
            </a:lvl3pPr>
            <a:lvl4pPr algn="l">
              <a:defRPr sz="1800" b="1">
                <a:solidFill>
                  <a:srgbClr val="D97706"/>
                </a:solidFill>
                <a:latin typeface="Arial"/>
                <a:ea typeface="Arial"/>
                <a:cs typeface="Arial"/>
              </a:defRPr>
            </a:lvl4pPr>
            <a:lvl5pPr algn="l">
              <a:defRPr sz="1800" b="1">
                <a:solidFill>
                  <a:srgbClr val="D97706"/>
                </a:solidFill>
                <a:latin typeface="Arial"/>
                <a:ea typeface="Arial"/>
                <a:cs typeface="Arial"/>
              </a:defRPr>
            </a:lvl5pPr>
            <a:lvl6pPr algn="l">
              <a:defRPr sz="1800" b="1">
                <a:solidFill>
                  <a:srgbClr val="D97706"/>
                </a:solidFill>
                <a:latin typeface="Arial"/>
                <a:ea typeface="Arial"/>
                <a:cs typeface="Arial"/>
              </a:defRPr>
            </a:lvl6pPr>
            <a:lvl7pPr algn="l">
              <a:defRPr sz="1800" b="1">
                <a:solidFill>
                  <a:srgbClr val="D97706"/>
                </a:solidFill>
                <a:latin typeface="Arial"/>
                <a:ea typeface="Arial"/>
                <a:cs typeface="Arial"/>
              </a:defRPr>
            </a:lvl7pPr>
            <a:lvl8pPr algn="l">
              <a:defRPr sz="1800" b="1">
                <a:solidFill>
                  <a:srgbClr val="D97706"/>
                </a:solidFill>
                <a:latin typeface="Arial"/>
                <a:ea typeface="Arial"/>
                <a:cs typeface="Arial"/>
              </a:defRPr>
            </a:lvl8pPr>
            <a:lvl9pPr algn="l">
              <a:defRPr sz="1800" b="1">
                <a:solidFill>
                  <a:srgbClr val="D97706"/>
                </a:solidFill>
                <a:latin typeface="Arial"/>
                <a:ea typeface="Arial"/>
                <a:cs typeface="Arial"/>
              </a:defRPr>
            </a:lvl9pPr>
          </a:lstStyle>
          <a:p>
            <a:pPr algn="l">
              <a:defRPr sz="1800" b="1">
                <a:solidFill>
                  <a:srgbClr val="D97706"/>
                </a:solidFill>
                <a:latin typeface="Arial"/>
                <a:ea typeface="Arial"/>
                <a:cs typeface="Arial"/>
              </a:defRPr>
            </a:pPr>
            <a:r>
              <a:rPr sz="1800" b="1">
                <a:solidFill>
                  <a:srgbClr val="D97706"/>
                </a:solidFill>
                <a:latin typeface="Outfit"/>
                <a:ea typeface="Arial"/>
                <a:cs typeface="Arial"/>
              </a:rPr>
              <a:t>Months 7-12</a:t>
            </a:r>
            <a:endParaRPr/>
          </a:p>
        </p:txBody>
      </p:sp>
      <p:sp>
        <p:nvSpPr>
          <p:cNvPr id="1209921298" name="prime-text-54"/>
          <p:cNvSpPr>
            <a:spLocks noGrp="1"/>
          </p:cNvSpPr>
          <p:nvPr/>
        </p:nvSpPr>
        <p:spPr bwMode="auto">
          <a:xfrm>
            <a:off x="5543550" y="3876675"/>
            <a:ext cx="6038850" cy="419100"/>
          </a:xfrm>
          <a:prstGeom prst="rect">
            <a:avLst/>
          </a:prstGeom>
          <a:noFill/>
          <a:ln w="0">
            <a:solidFill/>
            <a:prstDash val="solid"/>
          </a:ln>
        </p:spPr>
        <p:txBody>
          <a:bodyPr wrap="square" lIns="0" tIns="0" rIns="0" bIns="0" anchor="t">
            <a:noAutofit/>
          </a:bodyPr>
          <a:lstStyle>
            <a:defPPr algn="l">
              <a:defRPr sz="2100" b="1">
                <a:solidFill>
                  <a:srgbClr val="18201D"/>
                </a:solidFill>
                <a:latin typeface="Arial"/>
                <a:ea typeface="Arial"/>
                <a:cs typeface="Arial"/>
              </a:defRPr>
            </a:defPPr>
            <a:lvl1pPr algn="l">
              <a:defRPr sz="2100" b="1">
                <a:solidFill>
                  <a:srgbClr val="18201D"/>
                </a:solidFill>
                <a:latin typeface="Arial"/>
                <a:ea typeface="Arial"/>
                <a:cs typeface="Arial"/>
              </a:defRPr>
            </a:lvl1pPr>
            <a:lvl2pPr algn="l">
              <a:defRPr sz="2100" b="1">
                <a:solidFill>
                  <a:srgbClr val="18201D"/>
                </a:solidFill>
                <a:latin typeface="Arial"/>
                <a:ea typeface="Arial"/>
                <a:cs typeface="Arial"/>
              </a:defRPr>
            </a:lvl2pPr>
            <a:lvl3pPr algn="l">
              <a:defRPr sz="2100" b="1">
                <a:solidFill>
                  <a:srgbClr val="18201D"/>
                </a:solidFill>
                <a:latin typeface="Arial"/>
                <a:ea typeface="Arial"/>
                <a:cs typeface="Arial"/>
              </a:defRPr>
            </a:lvl3pPr>
            <a:lvl4pPr algn="l">
              <a:defRPr sz="2100" b="1">
                <a:solidFill>
                  <a:srgbClr val="18201D"/>
                </a:solidFill>
                <a:latin typeface="Arial"/>
                <a:ea typeface="Arial"/>
                <a:cs typeface="Arial"/>
              </a:defRPr>
            </a:lvl4pPr>
            <a:lvl5pPr algn="l">
              <a:defRPr sz="2100" b="1">
                <a:solidFill>
                  <a:srgbClr val="18201D"/>
                </a:solidFill>
                <a:latin typeface="Arial"/>
                <a:ea typeface="Arial"/>
                <a:cs typeface="Arial"/>
              </a:defRPr>
            </a:lvl5pPr>
            <a:lvl6pPr algn="l">
              <a:defRPr sz="2100" b="1">
                <a:solidFill>
                  <a:srgbClr val="18201D"/>
                </a:solidFill>
                <a:latin typeface="Arial"/>
                <a:ea typeface="Arial"/>
                <a:cs typeface="Arial"/>
              </a:defRPr>
            </a:lvl6pPr>
            <a:lvl7pPr algn="l">
              <a:defRPr sz="2100" b="1">
                <a:solidFill>
                  <a:srgbClr val="18201D"/>
                </a:solidFill>
                <a:latin typeface="Arial"/>
                <a:ea typeface="Arial"/>
                <a:cs typeface="Arial"/>
              </a:defRPr>
            </a:lvl7pPr>
            <a:lvl8pPr algn="l">
              <a:defRPr sz="2100" b="1">
                <a:solidFill>
                  <a:srgbClr val="18201D"/>
                </a:solidFill>
                <a:latin typeface="Arial"/>
                <a:ea typeface="Arial"/>
                <a:cs typeface="Arial"/>
              </a:defRPr>
            </a:lvl8pPr>
            <a:lvl9pPr algn="l">
              <a:defRPr sz="2100" b="1">
                <a:solidFill>
                  <a:srgbClr val="18201D"/>
                </a:solidFill>
                <a:latin typeface="Arial"/>
                <a:ea typeface="Arial"/>
                <a:cs typeface="Arial"/>
              </a:defRPr>
            </a:lvl9pPr>
          </a:lstStyle>
          <a:p>
            <a:pPr algn="l">
              <a:defRPr sz="2100" b="1">
                <a:solidFill>
                  <a:srgbClr val="18201D"/>
                </a:solidFill>
                <a:latin typeface="Arial"/>
                <a:ea typeface="Arial"/>
                <a:cs typeface="Arial"/>
              </a:defRPr>
            </a:pPr>
            <a:r>
              <a:rPr sz="2100" b="1">
                <a:solidFill>
                  <a:srgbClr val="18201D"/>
                </a:solidFill>
                <a:latin typeface="Outfit"/>
                <a:ea typeface="Arial"/>
                <a:cs typeface="Arial"/>
              </a:rPr>
              <a:t>USDC route and receipt certification</a:t>
            </a:r>
            <a:endParaRPr/>
          </a:p>
        </p:txBody>
      </p:sp>
      <p:sp>
        <p:nvSpPr>
          <p:cNvPr id="1363154354" name="prime-text-55"/>
          <p:cNvSpPr>
            <a:spLocks noGrp="1"/>
          </p:cNvSpPr>
          <p:nvPr/>
        </p:nvSpPr>
        <p:spPr bwMode="auto">
          <a:xfrm>
            <a:off x="5543550" y="4314825"/>
            <a:ext cx="6038850" cy="361950"/>
          </a:xfrm>
          <a:prstGeom prst="rect">
            <a:avLst/>
          </a:prstGeom>
          <a:noFill/>
          <a:ln w="0">
            <a:solidFill/>
            <a:prstDash val="solid"/>
          </a:ln>
        </p:spPr>
        <p:txBody>
          <a:bodyPr wrap="square" lIns="0" tIns="0" rIns="0" bIns="0" anchor="t">
            <a:noAutofit/>
          </a:bodyPr>
          <a:lstStyle>
            <a:defPPr algn="l">
              <a:defRPr sz="1750" b="0">
                <a:solidFill>
                  <a:srgbClr val="5D6A67"/>
                </a:solidFill>
                <a:latin typeface="Arial"/>
                <a:ea typeface="Arial"/>
                <a:cs typeface="Arial"/>
              </a:defRPr>
            </a:defPPr>
            <a:lvl1pPr algn="l">
              <a:defRPr sz="1750" b="0">
                <a:solidFill>
                  <a:srgbClr val="5D6A67"/>
                </a:solidFill>
                <a:latin typeface="Arial"/>
                <a:ea typeface="Arial"/>
                <a:cs typeface="Arial"/>
              </a:defRPr>
            </a:lvl1pPr>
            <a:lvl2pPr algn="l">
              <a:defRPr sz="1750" b="0">
                <a:solidFill>
                  <a:srgbClr val="5D6A67"/>
                </a:solidFill>
                <a:latin typeface="Arial"/>
                <a:ea typeface="Arial"/>
                <a:cs typeface="Arial"/>
              </a:defRPr>
            </a:lvl2pPr>
            <a:lvl3pPr algn="l">
              <a:defRPr sz="1750" b="0">
                <a:solidFill>
                  <a:srgbClr val="5D6A67"/>
                </a:solidFill>
                <a:latin typeface="Arial"/>
                <a:ea typeface="Arial"/>
                <a:cs typeface="Arial"/>
              </a:defRPr>
            </a:lvl3pPr>
            <a:lvl4pPr algn="l">
              <a:defRPr sz="1750" b="0">
                <a:solidFill>
                  <a:srgbClr val="5D6A67"/>
                </a:solidFill>
                <a:latin typeface="Arial"/>
                <a:ea typeface="Arial"/>
                <a:cs typeface="Arial"/>
              </a:defRPr>
            </a:lvl4pPr>
            <a:lvl5pPr algn="l">
              <a:defRPr sz="1750" b="0">
                <a:solidFill>
                  <a:srgbClr val="5D6A67"/>
                </a:solidFill>
                <a:latin typeface="Arial"/>
                <a:ea typeface="Arial"/>
                <a:cs typeface="Arial"/>
              </a:defRPr>
            </a:lvl5pPr>
            <a:lvl6pPr algn="l">
              <a:defRPr sz="1750" b="0">
                <a:solidFill>
                  <a:srgbClr val="5D6A67"/>
                </a:solidFill>
                <a:latin typeface="Arial"/>
                <a:ea typeface="Arial"/>
                <a:cs typeface="Arial"/>
              </a:defRPr>
            </a:lvl6pPr>
            <a:lvl7pPr algn="l">
              <a:defRPr sz="1750" b="0">
                <a:solidFill>
                  <a:srgbClr val="5D6A67"/>
                </a:solidFill>
                <a:latin typeface="Arial"/>
                <a:ea typeface="Arial"/>
                <a:cs typeface="Arial"/>
              </a:defRPr>
            </a:lvl7pPr>
            <a:lvl8pPr algn="l">
              <a:defRPr sz="1750" b="0">
                <a:solidFill>
                  <a:srgbClr val="5D6A67"/>
                </a:solidFill>
                <a:latin typeface="Arial"/>
                <a:ea typeface="Arial"/>
                <a:cs typeface="Arial"/>
              </a:defRPr>
            </a:lvl8pPr>
            <a:lvl9pPr algn="l">
              <a:defRPr sz="1750" b="0">
                <a:solidFill>
                  <a:srgbClr val="5D6A67"/>
                </a:solidFill>
                <a:latin typeface="Arial"/>
                <a:ea typeface="Arial"/>
                <a:cs typeface="Arial"/>
              </a:defRPr>
            </a:lvl9pPr>
          </a:lstStyle>
          <a:p>
            <a:pPr algn="l">
              <a:defRPr sz="1750" b="0">
                <a:solidFill>
                  <a:srgbClr val="5D6A67"/>
                </a:solidFill>
                <a:latin typeface="Arial"/>
                <a:ea typeface="Arial"/>
                <a:cs typeface="Arial"/>
              </a:defRPr>
            </a:pPr>
            <a:r>
              <a:rPr sz="1750" b="0">
                <a:solidFill>
                  <a:srgbClr val="5D6A67"/>
                </a:solidFill>
                <a:latin typeface="Plus Jakarta Sans"/>
                <a:ea typeface="Arial"/>
                <a:cs typeface="Arial"/>
              </a:rPr>
              <a:t>Custody, security and operating acceptance</a:t>
            </a:r>
            <a:endParaRPr/>
          </a:p>
        </p:txBody>
      </p:sp>
      <p:sp>
        <p:nvSpPr>
          <p:cNvPr id="1835795843" name="prime-rule-56"/>
          <p:cNvSpPr>
            <a:spLocks noGrp="1"/>
          </p:cNvSpPr>
          <p:nvPr/>
        </p:nvSpPr>
        <p:spPr bwMode="auto">
          <a:xfrm>
            <a:off x="5543550" y="4638675"/>
            <a:ext cx="6038850" cy="0"/>
          </a:xfrm>
          <a:prstGeom prst="line">
            <a:avLst/>
          </a:prstGeom>
          <a:noFill/>
          <a:ln w="11430">
            <a:solidFill>
              <a:srgbClr val="D7DFDA"/>
            </a:solidFill>
            <a:prstDash val="solid"/>
          </a:ln>
        </p:spPr>
        <p:txBody>
          <a:bodyPr/>
          <a:p/>
        </p:txBody>
      </p:sp>
      <p:sp>
        <p:nvSpPr>
          <p:cNvPr id="493881474" name="prime-text-57"/>
          <p:cNvSpPr>
            <a:spLocks noGrp="1"/>
          </p:cNvSpPr>
          <p:nvPr/>
        </p:nvSpPr>
        <p:spPr bwMode="auto">
          <a:xfrm>
            <a:off x="5543550" y="4714875"/>
            <a:ext cx="6038850" cy="304800"/>
          </a:xfrm>
          <a:prstGeom prst="rect">
            <a:avLst/>
          </a:prstGeom>
          <a:noFill/>
          <a:ln w="0">
            <a:solidFill/>
            <a:prstDash val="solid"/>
          </a:ln>
        </p:spPr>
        <p:txBody>
          <a:bodyPr wrap="square" lIns="0" tIns="0" rIns="0" bIns="0" anchor="t">
            <a:noAutofit/>
          </a:bodyPr>
          <a:lstStyle>
            <a:defPPr algn="l">
              <a:defRPr sz="1800" b="1">
                <a:solidFill>
                  <a:srgbClr val="D97706"/>
                </a:solidFill>
                <a:latin typeface="Arial"/>
                <a:ea typeface="Arial"/>
                <a:cs typeface="Arial"/>
              </a:defRPr>
            </a:defPPr>
            <a:lvl1pPr algn="l">
              <a:defRPr sz="1800" b="1">
                <a:solidFill>
                  <a:srgbClr val="D97706"/>
                </a:solidFill>
                <a:latin typeface="Arial"/>
                <a:ea typeface="Arial"/>
                <a:cs typeface="Arial"/>
              </a:defRPr>
            </a:lvl1pPr>
            <a:lvl2pPr algn="l">
              <a:defRPr sz="1800" b="1">
                <a:solidFill>
                  <a:srgbClr val="D97706"/>
                </a:solidFill>
                <a:latin typeface="Arial"/>
                <a:ea typeface="Arial"/>
                <a:cs typeface="Arial"/>
              </a:defRPr>
            </a:lvl2pPr>
            <a:lvl3pPr algn="l">
              <a:defRPr sz="1800" b="1">
                <a:solidFill>
                  <a:srgbClr val="D97706"/>
                </a:solidFill>
                <a:latin typeface="Arial"/>
                <a:ea typeface="Arial"/>
                <a:cs typeface="Arial"/>
              </a:defRPr>
            </a:lvl3pPr>
            <a:lvl4pPr algn="l">
              <a:defRPr sz="1800" b="1">
                <a:solidFill>
                  <a:srgbClr val="D97706"/>
                </a:solidFill>
                <a:latin typeface="Arial"/>
                <a:ea typeface="Arial"/>
                <a:cs typeface="Arial"/>
              </a:defRPr>
            </a:lvl4pPr>
            <a:lvl5pPr algn="l">
              <a:defRPr sz="1800" b="1">
                <a:solidFill>
                  <a:srgbClr val="D97706"/>
                </a:solidFill>
                <a:latin typeface="Arial"/>
                <a:ea typeface="Arial"/>
                <a:cs typeface="Arial"/>
              </a:defRPr>
            </a:lvl5pPr>
            <a:lvl6pPr algn="l">
              <a:defRPr sz="1800" b="1">
                <a:solidFill>
                  <a:srgbClr val="D97706"/>
                </a:solidFill>
                <a:latin typeface="Arial"/>
                <a:ea typeface="Arial"/>
                <a:cs typeface="Arial"/>
              </a:defRPr>
            </a:lvl6pPr>
            <a:lvl7pPr algn="l">
              <a:defRPr sz="1800" b="1">
                <a:solidFill>
                  <a:srgbClr val="D97706"/>
                </a:solidFill>
                <a:latin typeface="Arial"/>
                <a:ea typeface="Arial"/>
                <a:cs typeface="Arial"/>
              </a:defRPr>
            </a:lvl7pPr>
            <a:lvl8pPr algn="l">
              <a:defRPr sz="1800" b="1">
                <a:solidFill>
                  <a:srgbClr val="D97706"/>
                </a:solidFill>
                <a:latin typeface="Arial"/>
                <a:ea typeface="Arial"/>
                <a:cs typeface="Arial"/>
              </a:defRPr>
            </a:lvl8pPr>
            <a:lvl9pPr algn="l">
              <a:defRPr sz="1800" b="1">
                <a:solidFill>
                  <a:srgbClr val="D97706"/>
                </a:solidFill>
                <a:latin typeface="Arial"/>
                <a:ea typeface="Arial"/>
                <a:cs typeface="Arial"/>
              </a:defRPr>
            </a:lvl9pPr>
          </a:lstStyle>
          <a:p>
            <a:pPr algn="l">
              <a:defRPr sz="1800" b="1">
                <a:solidFill>
                  <a:srgbClr val="D97706"/>
                </a:solidFill>
                <a:latin typeface="Arial"/>
                <a:ea typeface="Arial"/>
                <a:cs typeface="Arial"/>
              </a:defRPr>
            </a:pPr>
            <a:r>
              <a:rPr sz="1800" b="1">
                <a:solidFill>
                  <a:srgbClr val="D97706"/>
                </a:solidFill>
                <a:latin typeface="Outfit"/>
                <a:ea typeface="Arial"/>
                <a:cs typeface="Arial"/>
              </a:rPr>
              <a:t>Months 13-24</a:t>
            </a:r>
            <a:endParaRPr/>
          </a:p>
        </p:txBody>
      </p:sp>
      <p:sp>
        <p:nvSpPr>
          <p:cNvPr id="1032470334" name="prime-text-58"/>
          <p:cNvSpPr>
            <a:spLocks noGrp="1"/>
          </p:cNvSpPr>
          <p:nvPr/>
        </p:nvSpPr>
        <p:spPr bwMode="auto">
          <a:xfrm>
            <a:off x="5543550" y="5114925"/>
            <a:ext cx="6038850" cy="419100"/>
          </a:xfrm>
          <a:prstGeom prst="rect">
            <a:avLst/>
          </a:prstGeom>
          <a:noFill/>
          <a:ln w="0">
            <a:solidFill/>
            <a:prstDash val="solid"/>
          </a:ln>
        </p:spPr>
        <p:txBody>
          <a:bodyPr wrap="square" lIns="0" tIns="0" rIns="0" bIns="0" anchor="t">
            <a:noAutofit/>
          </a:bodyPr>
          <a:lstStyle>
            <a:defPPr algn="l">
              <a:defRPr sz="2100" b="1">
                <a:solidFill>
                  <a:srgbClr val="18201D"/>
                </a:solidFill>
                <a:latin typeface="Arial"/>
                <a:ea typeface="Arial"/>
                <a:cs typeface="Arial"/>
              </a:defRPr>
            </a:defPPr>
            <a:lvl1pPr algn="l">
              <a:defRPr sz="2100" b="1">
                <a:solidFill>
                  <a:srgbClr val="18201D"/>
                </a:solidFill>
                <a:latin typeface="Arial"/>
                <a:ea typeface="Arial"/>
                <a:cs typeface="Arial"/>
              </a:defRPr>
            </a:lvl1pPr>
            <a:lvl2pPr algn="l">
              <a:defRPr sz="2100" b="1">
                <a:solidFill>
                  <a:srgbClr val="18201D"/>
                </a:solidFill>
                <a:latin typeface="Arial"/>
                <a:ea typeface="Arial"/>
                <a:cs typeface="Arial"/>
              </a:defRPr>
            </a:lvl2pPr>
            <a:lvl3pPr algn="l">
              <a:defRPr sz="2100" b="1">
                <a:solidFill>
                  <a:srgbClr val="18201D"/>
                </a:solidFill>
                <a:latin typeface="Arial"/>
                <a:ea typeface="Arial"/>
                <a:cs typeface="Arial"/>
              </a:defRPr>
            </a:lvl3pPr>
            <a:lvl4pPr algn="l">
              <a:defRPr sz="2100" b="1">
                <a:solidFill>
                  <a:srgbClr val="18201D"/>
                </a:solidFill>
                <a:latin typeface="Arial"/>
                <a:ea typeface="Arial"/>
                <a:cs typeface="Arial"/>
              </a:defRPr>
            </a:lvl4pPr>
            <a:lvl5pPr algn="l">
              <a:defRPr sz="2100" b="1">
                <a:solidFill>
                  <a:srgbClr val="18201D"/>
                </a:solidFill>
                <a:latin typeface="Arial"/>
                <a:ea typeface="Arial"/>
                <a:cs typeface="Arial"/>
              </a:defRPr>
            </a:lvl5pPr>
            <a:lvl6pPr algn="l">
              <a:defRPr sz="2100" b="1">
                <a:solidFill>
                  <a:srgbClr val="18201D"/>
                </a:solidFill>
                <a:latin typeface="Arial"/>
                <a:ea typeface="Arial"/>
                <a:cs typeface="Arial"/>
              </a:defRPr>
            </a:lvl6pPr>
            <a:lvl7pPr algn="l">
              <a:defRPr sz="2100" b="1">
                <a:solidFill>
                  <a:srgbClr val="18201D"/>
                </a:solidFill>
                <a:latin typeface="Arial"/>
                <a:ea typeface="Arial"/>
                <a:cs typeface="Arial"/>
              </a:defRPr>
            </a:lvl7pPr>
            <a:lvl8pPr algn="l">
              <a:defRPr sz="2100" b="1">
                <a:solidFill>
                  <a:srgbClr val="18201D"/>
                </a:solidFill>
                <a:latin typeface="Arial"/>
                <a:ea typeface="Arial"/>
                <a:cs typeface="Arial"/>
              </a:defRPr>
            </a:lvl8pPr>
            <a:lvl9pPr algn="l">
              <a:defRPr sz="2100" b="1">
                <a:solidFill>
                  <a:srgbClr val="18201D"/>
                </a:solidFill>
                <a:latin typeface="Arial"/>
                <a:ea typeface="Arial"/>
                <a:cs typeface="Arial"/>
              </a:defRPr>
            </a:lvl9pPr>
          </a:lstStyle>
          <a:p>
            <a:pPr algn="l">
              <a:defRPr sz="2100" b="1">
                <a:solidFill>
                  <a:srgbClr val="18201D"/>
                </a:solidFill>
                <a:latin typeface="Arial"/>
                <a:ea typeface="Arial"/>
                <a:cs typeface="Arial"/>
              </a:defRPr>
            </a:pPr>
            <a:r>
              <a:rPr sz="2100" b="1">
                <a:solidFill>
                  <a:srgbClr val="18201D"/>
                </a:solidFill>
                <a:latin typeface="Outfit"/>
                <a:ea typeface="Arial"/>
                <a:cs typeface="Arial"/>
              </a:rPr>
              <a:t>Launch and eligible distribution</a:t>
            </a:r>
            <a:endParaRPr/>
          </a:p>
        </p:txBody>
      </p:sp>
      <p:sp>
        <p:nvSpPr>
          <p:cNvPr id="24485984" name="prime-text-59"/>
          <p:cNvSpPr>
            <a:spLocks noGrp="1"/>
          </p:cNvSpPr>
          <p:nvPr/>
        </p:nvSpPr>
        <p:spPr bwMode="auto">
          <a:xfrm>
            <a:off x="5543550" y="5553075"/>
            <a:ext cx="6038850" cy="361950"/>
          </a:xfrm>
          <a:prstGeom prst="rect">
            <a:avLst/>
          </a:prstGeom>
          <a:noFill/>
          <a:ln w="0">
            <a:solidFill/>
            <a:prstDash val="solid"/>
          </a:ln>
        </p:spPr>
        <p:txBody>
          <a:bodyPr wrap="square" lIns="0" tIns="0" rIns="0" bIns="0" anchor="t">
            <a:noAutofit/>
          </a:bodyPr>
          <a:lstStyle>
            <a:defPPr algn="l">
              <a:defRPr sz="1750" b="0">
                <a:solidFill>
                  <a:srgbClr val="5D6A67"/>
                </a:solidFill>
                <a:latin typeface="Arial"/>
                <a:ea typeface="Arial"/>
                <a:cs typeface="Arial"/>
              </a:defRPr>
            </a:defPPr>
            <a:lvl1pPr algn="l">
              <a:defRPr sz="1750" b="0">
                <a:solidFill>
                  <a:srgbClr val="5D6A67"/>
                </a:solidFill>
                <a:latin typeface="Arial"/>
                <a:ea typeface="Arial"/>
                <a:cs typeface="Arial"/>
              </a:defRPr>
            </a:lvl1pPr>
            <a:lvl2pPr algn="l">
              <a:defRPr sz="1750" b="0">
                <a:solidFill>
                  <a:srgbClr val="5D6A67"/>
                </a:solidFill>
                <a:latin typeface="Arial"/>
                <a:ea typeface="Arial"/>
                <a:cs typeface="Arial"/>
              </a:defRPr>
            </a:lvl2pPr>
            <a:lvl3pPr algn="l">
              <a:defRPr sz="1750" b="0">
                <a:solidFill>
                  <a:srgbClr val="5D6A67"/>
                </a:solidFill>
                <a:latin typeface="Arial"/>
                <a:ea typeface="Arial"/>
                <a:cs typeface="Arial"/>
              </a:defRPr>
            </a:lvl3pPr>
            <a:lvl4pPr algn="l">
              <a:defRPr sz="1750" b="0">
                <a:solidFill>
                  <a:srgbClr val="5D6A67"/>
                </a:solidFill>
                <a:latin typeface="Arial"/>
                <a:ea typeface="Arial"/>
                <a:cs typeface="Arial"/>
              </a:defRPr>
            </a:lvl4pPr>
            <a:lvl5pPr algn="l">
              <a:defRPr sz="1750" b="0">
                <a:solidFill>
                  <a:srgbClr val="5D6A67"/>
                </a:solidFill>
                <a:latin typeface="Arial"/>
                <a:ea typeface="Arial"/>
                <a:cs typeface="Arial"/>
              </a:defRPr>
            </a:lvl5pPr>
            <a:lvl6pPr algn="l">
              <a:defRPr sz="1750" b="0">
                <a:solidFill>
                  <a:srgbClr val="5D6A67"/>
                </a:solidFill>
                <a:latin typeface="Arial"/>
                <a:ea typeface="Arial"/>
                <a:cs typeface="Arial"/>
              </a:defRPr>
            </a:lvl6pPr>
            <a:lvl7pPr algn="l">
              <a:defRPr sz="1750" b="0">
                <a:solidFill>
                  <a:srgbClr val="5D6A67"/>
                </a:solidFill>
                <a:latin typeface="Arial"/>
                <a:ea typeface="Arial"/>
                <a:cs typeface="Arial"/>
              </a:defRPr>
            </a:lvl7pPr>
            <a:lvl8pPr algn="l">
              <a:defRPr sz="1750" b="0">
                <a:solidFill>
                  <a:srgbClr val="5D6A67"/>
                </a:solidFill>
                <a:latin typeface="Arial"/>
                <a:ea typeface="Arial"/>
                <a:cs typeface="Arial"/>
              </a:defRPr>
            </a:lvl8pPr>
            <a:lvl9pPr algn="l">
              <a:defRPr sz="1750" b="0">
                <a:solidFill>
                  <a:srgbClr val="5D6A67"/>
                </a:solidFill>
                <a:latin typeface="Arial"/>
                <a:ea typeface="Arial"/>
                <a:cs typeface="Arial"/>
              </a:defRPr>
            </a:lvl9pPr>
          </a:lstStyle>
          <a:p>
            <a:pPr algn="l">
              <a:defRPr sz="1750" b="0">
                <a:solidFill>
                  <a:srgbClr val="5D6A67"/>
                </a:solidFill>
                <a:latin typeface="Arial"/>
                <a:ea typeface="Arial"/>
                <a:cs typeface="Arial"/>
              </a:defRPr>
            </a:pPr>
            <a:r>
              <a:rPr sz="1750" b="0">
                <a:solidFill>
                  <a:srgbClr val="5D6A67"/>
                </a:solidFill>
                <a:latin typeface="Plus Jakarta Sans"/>
                <a:ea typeface="Arial"/>
                <a:cs typeface="Arial"/>
              </a:rPr>
              <a:t>5 series, 2 brokers, 2 LPs as a planning target</a:t>
            </a:r>
            <a:endParaRPr/>
          </a:p>
        </p:txBody>
      </p:sp>
      <p:sp>
        <p:nvSpPr>
          <p:cNvPr id="1656623049" name="prime-text-60"/>
          <p:cNvSpPr>
            <a:spLocks noGrp="1"/>
          </p:cNvSpPr>
          <p:nvPr/>
        </p:nvSpPr>
        <p:spPr bwMode="auto">
          <a:xfrm>
            <a:off x="609600" y="6076950"/>
            <a:ext cx="10972800" cy="323850"/>
          </a:xfrm>
          <a:prstGeom prst="rect">
            <a:avLst/>
          </a:prstGeom>
          <a:noFill/>
          <a:ln w="0">
            <a:solidFill/>
            <a:prstDash val="solid"/>
          </a:ln>
        </p:spPr>
        <p:txBody>
          <a:bodyPr wrap="square" lIns="0" tIns="0" rIns="0" bIns="0" anchor="t">
            <a:noAutofit/>
          </a:bodyPr>
          <a:lstStyle>
            <a:defPPr algn="l">
              <a:defRPr sz="1450" b="0">
                <a:solidFill>
                  <a:srgbClr val="5D6A67"/>
                </a:solidFill>
                <a:latin typeface="Arial"/>
                <a:ea typeface="Arial"/>
                <a:cs typeface="Arial"/>
              </a:defRPr>
            </a:defPPr>
            <a:lvl1pPr algn="l">
              <a:defRPr sz="1450" b="0">
                <a:solidFill>
                  <a:srgbClr val="5D6A67"/>
                </a:solidFill>
                <a:latin typeface="Arial"/>
                <a:ea typeface="Arial"/>
                <a:cs typeface="Arial"/>
              </a:defRPr>
            </a:lvl1pPr>
            <a:lvl2pPr algn="l">
              <a:defRPr sz="1450" b="0">
                <a:solidFill>
                  <a:srgbClr val="5D6A67"/>
                </a:solidFill>
                <a:latin typeface="Arial"/>
                <a:ea typeface="Arial"/>
                <a:cs typeface="Arial"/>
              </a:defRPr>
            </a:lvl2pPr>
            <a:lvl3pPr algn="l">
              <a:defRPr sz="1450" b="0">
                <a:solidFill>
                  <a:srgbClr val="5D6A67"/>
                </a:solidFill>
                <a:latin typeface="Arial"/>
                <a:ea typeface="Arial"/>
                <a:cs typeface="Arial"/>
              </a:defRPr>
            </a:lvl3pPr>
            <a:lvl4pPr algn="l">
              <a:defRPr sz="1450" b="0">
                <a:solidFill>
                  <a:srgbClr val="5D6A67"/>
                </a:solidFill>
                <a:latin typeface="Arial"/>
                <a:ea typeface="Arial"/>
                <a:cs typeface="Arial"/>
              </a:defRPr>
            </a:lvl4pPr>
            <a:lvl5pPr algn="l">
              <a:defRPr sz="1450" b="0">
                <a:solidFill>
                  <a:srgbClr val="5D6A67"/>
                </a:solidFill>
                <a:latin typeface="Arial"/>
                <a:ea typeface="Arial"/>
                <a:cs typeface="Arial"/>
              </a:defRPr>
            </a:lvl5pPr>
            <a:lvl6pPr algn="l">
              <a:defRPr sz="1450" b="0">
                <a:solidFill>
                  <a:srgbClr val="5D6A67"/>
                </a:solidFill>
                <a:latin typeface="Arial"/>
                <a:ea typeface="Arial"/>
                <a:cs typeface="Arial"/>
              </a:defRPr>
            </a:lvl6pPr>
            <a:lvl7pPr algn="l">
              <a:defRPr sz="1450" b="0">
                <a:solidFill>
                  <a:srgbClr val="5D6A67"/>
                </a:solidFill>
                <a:latin typeface="Arial"/>
                <a:ea typeface="Arial"/>
                <a:cs typeface="Arial"/>
              </a:defRPr>
            </a:lvl7pPr>
            <a:lvl8pPr algn="l">
              <a:defRPr sz="1450" b="0">
                <a:solidFill>
                  <a:srgbClr val="5D6A67"/>
                </a:solidFill>
                <a:latin typeface="Arial"/>
                <a:ea typeface="Arial"/>
                <a:cs typeface="Arial"/>
              </a:defRPr>
            </a:lvl8pPr>
            <a:lvl9pPr algn="l">
              <a:defRPr sz="1450" b="0">
                <a:solidFill>
                  <a:srgbClr val="5D6A67"/>
                </a:solidFill>
                <a:latin typeface="Arial"/>
                <a:ea typeface="Arial"/>
                <a:cs typeface="Arial"/>
              </a:defRPr>
            </a:lvl9pPr>
          </a:lstStyle>
          <a:p>
            <a:pPr algn="l">
              <a:defRPr sz="1450" b="0">
                <a:solidFill>
                  <a:srgbClr val="5D6A67"/>
                </a:solidFill>
                <a:latin typeface="Arial"/>
                <a:ea typeface="Arial"/>
                <a:cs typeface="Arial"/>
              </a:defRPr>
            </a:pPr>
            <a:r>
              <a:rPr sz="1450" b="0">
                <a:solidFill>
                  <a:srgbClr val="5D6A67"/>
                </a:solidFill>
                <a:latin typeface="Plus Jakarta Sans"/>
                <a:ea typeface="Arial"/>
                <a:cs typeface="Arial"/>
              </a:rPr>
              <a:t>Partner acceptance governs rollout. RedCoin access, capital and liquidity arrangements remain separate launch decisions.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001335185" name="prime-text-61"/>
          <p:cNvSpPr>
            <a:spLocks noGrp="1"/>
          </p:cNvSpPr>
          <p:nvPr/>
        </p:nvSpPr>
        <p:spPr bwMode="auto">
          <a:xfrm>
            <a:off x="609600" y="504825"/>
            <a:ext cx="10972800" cy="828675"/>
          </a:xfrm>
          <a:prstGeom prst="rect">
            <a:avLst/>
          </a:prstGeom>
          <a:noFill/>
          <a:ln w="0">
            <a:solidFill/>
            <a:prstDash val="solid"/>
          </a:ln>
        </p:spPr>
        <p:txBody>
          <a:bodyPr wrap="square" lIns="0" tIns="0" rIns="0" bIns="0" anchor="t">
            <a:noAutofit/>
          </a:bodyPr>
          <a:lstStyle>
            <a:defPPr algn="l">
              <a:defRPr sz="3300" b="1">
                <a:solidFill>
                  <a:srgbClr val="18201D"/>
                </a:solidFill>
                <a:latin typeface="Arial"/>
                <a:ea typeface="Arial"/>
                <a:cs typeface="Arial"/>
              </a:defRPr>
            </a:defPPr>
            <a:lvl1pPr algn="l">
              <a:defRPr sz="3300" b="1">
                <a:solidFill>
                  <a:srgbClr val="18201D"/>
                </a:solidFill>
                <a:latin typeface="Arial"/>
                <a:ea typeface="Arial"/>
                <a:cs typeface="Arial"/>
              </a:defRPr>
            </a:lvl1pPr>
            <a:lvl2pPr algn="l">
              <a:defRPr sz="3300" b="1">
                <a:solidFill>
                  <a:srgbClr val="18201D"/>
                </a:solidFill>
                <a:latin typeface="Arial"/>
                <a:ea typeface="Arial"/>
                <a:cs typeface="Arial"/>
              </a:defRPr>
            </a:lvl2pPr>
            <a:lvl3pPr algn="l">
              <a:defRPr sz="3300" b="1">
                <a:solidFill>
                  <a:srgbClr val="18201D"/>
                </a:solidFill>
                <a:latin typeface="Arial"/>
                <a:ea typeface="Arial"/>
                <a:cs typeface="Arial"/>
              </a:defRPr>
            </a:lvl3pPr>
            <a:lvl4pPr algn="l">
              <a:defRPr sz="3300" b="1">
                <a:solidFill>
                  <a:srgbClr val="18201D"/>
                </a:solidFill>
                <a:latin typeface="Arial"/>
                <a:ea typeface="Arial"/>
                <a:cs typeface="Arial"/>
              </a:defRPr>
            </a:lvl4pPr>
            <a:lvl5pPr algn="l">
              <a:defRPr sz="3300" b="1">
                <a:solidFill>
                  <a:srgbClr val="18201D"/>
                </a:solidFill>
                <a:latin typeface="Arial"/>
                <a:ea typeface="Arial"/>
                <a:cs typeface="Arial"/>
              </a:defRPr>
            </a:lvl5pPr>
            <a:lvl6pPr algn="l">
              <a:defRPr sz="3300" b="1">
                <a:solidFill>
                  <a:srgbClr val="18201D"/>
                </a:solidFill>
                <a:latin typeface="Arial"/>
                <a:ea typeface="Arial"/>
                <a:cs typeface="Arial"/>
              </a:defRPr>
            </a:lvl6pPr>
            <a:lvl7pPr algn="l">
              <a:defRPr sz="3300" b="1">
                <a:solidFill>
                  <a:srgbClr val="18201D"/>
                </a:solidFill>
                <a:latin typeface="Arial"/>
                <a:ea typeface="Arial"/>
                <a:cs typeface="Arial"/>
              </a:defRPr>
            </a:lvl7pPr>
            <a:lvl8pPr algn="l">
              <a:defRPr sz="3300" b="1">
                <a:solidFill>
                  <a:srgbClr val="18201D"/>
                </a:solidFill>
                <a:latin typeface="Arial"/>
                <a:ea typeface="Arial"/>
                <a:cs typeface="Arial"/>
              </a:defRPr>
            </a:lvl8pPr>
            <a:lvl9pPr algn="l">
              <a:defRPr sz="3300" b="1">
                <a:solidFill>
                  <a:srgbClr val="18201D"/>
                </a:solidFill>
                <a:latin typeface="Arial"/>
                <a:ea typeface="Arial"/>
                <a:cs typeface="Arial"/>
              </a:defRPr>
            </a:lvl9pPr>
          </a:lstStyle>
          <a:p>
            <a:pPr algn="l">
              <a:defRPr sz="3300" b="1">
                <a:solidFill>
                  <a:srgbClr val="18201D"/>
                </a:solidFill>
                <a:latin typeface="Arial"/>
                <a:ea typeface="Arial"/>
                <a:cs typeface="Arial"/>
              </a:defRPr>
            </a:pPr>
            <a:r>
              <a:rPr sz="3300" b="1">
                <a:solidFill>
                  <a:srgbClr val="18201D"/>
                </a:solidFill>
                <a:latin typeface="Outfit"/>
                <a:ea typeface="Arial"/>
                <a:cs typeface="Arial"/>
              </a:rPr>
              <a:t>The 24-month planning cash case</a:t>
            </a:r>
            <a:endParaRPr/>
          </a:p>
        </p:txBody>
      </p:sp>
      <p:sp>
        <p:nvSpPr>
          <p:cNvPr id="676271725" name="prime-text-62"/>
          <p:cNvSpPr>
            <a:spLocks noGrp="1"/>
          </p:cNvSpPr>
          <p:nvPr/>
        </p:nvSpPr>
        <p:spPr bwMode="auto">
          <a:xfrm>
            <a:off x="609600" y="1409700"/>
            <a:ext cx="10972800" cy="609600"/>
          </a:xfrm>
          <a:prstGeom prst="rect">
            <a:avLst/>
          </a:prstGeom>
          <a:noFill/>
          <a:ln w="0">
            <a:solidFill/>
            <a:prstDash val="solid"/>
          </a:ln>
        </p:spPr>
        <p:txBody>
          <a:bodyPr wrap="square" lIns="0" tIns="0" rIns="0" bIns="0" anchor="t">
            <a:noAutofit/>
          </a:bodyPr>
          <a:lstStyle>
            <a:defPPr algn="l">
              <a:defRPr sz="1900" b="0">
                <a:solidFill>
                  <a:srgbClr val="5D6A67"/>
                </a:solidFill>
                <a:latin typeface="Arial"/>
                <a:ea typeface="Arial"/>
                <a:cs typeface="Arial"/>
              </a:defRPr>
            </a:defPPr>
            <a:lvl1pPr algn="l">
              <a:defRPr sz="1900" b="0">
                <a:solidFill>
                  <a:srgbClr val="5D6A67"/>
                </a:solidFill>
                <a:latin typeface="Arial"/>
                <a:ea typeface="Arial"/>
                <a:cs typeface="Arial"/>
              </a:defRPr>
            </a:lvl1pPr>
            <a:lvl2pPr algn="l">
              <a:defRPr sz="1900" b="0">
                <a:solidFill>
                  <a:srgbClr val="5D6A67"/>
                </a:solidFill>
                <a:latin typeface="Arial"/>
                <a:ea typeface="Arial"/>
                <a:cs typeface="Arial"/>
              </a:defRPr>
            </a:lvl2pPr>
            <a:lvl3pPr algn="l">
              <a:defRPr sz="1900" b="0">
                <a:solidFill>
                  <a:srgbClr val="5D6A67"/>
                </a:solidFill>
                <a:latin typeface="Arial"/>
                <a:ea typeface="Arial"/>
                <a:cs typeface="Arial"/>
              </a:defRPr>
            </a:lvl3pPr>
            <a:lvl4pPr algn="l">
              <a:defRPr sz="1900" b="0">
                <a:solidFill>
                  <a:srgbClr val="5D6A67"/>
                </a:solidFill>
                <a:latin typeface="Arial"/>
                <a:ea typeface="Arial"/>
                <a:cs typeface="Arial"/>
              </a:defRPr>
            </a:lvl4pPr>
            <a:lvl5pPr algn="l">
              <a:defRPr sz="1900" b="0">
                <a:solidFill>
                  <a:srgbClr val="5D6A67"/>
                </a:solidFill>
                <a:latin typeface="Arial"/>
                <a:ea typeface="Arial"/>
                <a:cs typeface="Arial"/>
              </a:defRPr>
            </a:lvl5pPr>
            <a:lvl6pPr algn="l">
              <a:defRPr sz="1900" b="0">
                <a:solidFill>
                  <a:srgbClr val="5D6A67"/>
                </a:solidFill>
                <a:latin typeface="Arial"/>
                <a:ea typeface="Arial"/>
                <a:cs typeface="Arial"/>
              </a:defRPr>
            </a:lvl6pPr>
            <a:lvl7pPr algn="l">
              <a:defRPr sz="1900" b="0">
                <a:solidFill>
                  <a:srgbClr val="5D6A67"/>
                </a:solidFill>
                <a:latin typeface="Arial"/>
                <a:ea typeface="Arial"/>
                <a:cs typeface="Arial"/>
              </a:defRPr>
            </a:lvl7pPr>
            <a:lvl8pPr algn="l">
              <a:defRPr sz="1900" b="0">
                <a:solidFill>
                  <a:srgbClr val="5D6A67"/>
                </a:solidFill>
                <a:latin typeface="Arial"/>
                <a:ea typeface="Arial"/>
                <a:cs typeface="Arial"/>
              </a:defRPr>
            </a:lvl8pPr>
            <a:lvl9pPr algn="l">
              <a:defRPr sz="1900" b="0">
                <a:solidFill>
                  <a:srgbClr val="5D6A67"/>
                </a:solidFill>
                <a:latin typeface="Arial"/>
                <a:ea typeface="Arial"/>
                <a:cs typeface="Arial"/>
              </a:defRPr>
            </a:lvl9pPr>
          </a:lstStyle>
          <a:p>
            <a:pPr algn="l">
              <a:defRPr sz="1900" b="0">
                <a:solidFill>
                  <a:srgbClr val="5D6A67"/>
                </a:solidFill>
                <a:latin typeface="Arial"/>
                <a:ea typeface="Arial"/>
                <a:cs typeface="Arial"/>
              </a:defRPr>
            </a:pPr>
            <a:r>
              <a:rPr sz="1900" b="0">
                <a:solidFill>
                  <a:srgbClr val="5D6A67"/>
                </a:solidFill>
                <a:latin typeface="Plus Jakarta Sans"/>
                <a:ea typeface="Arial"/>
                <a:cs typeface="Arial"/>
              </a:rPr>
              <a:t>US$3M funding, with customer revenue and variable service costs modeled in Year 2.</a:t>
            </a:r>
            <a:endParaRPr/>
          </a:p>
        </p:txBody>
      </p:sp>
      <p:sp>
        <p:nvSpPr>
          <p:cNvPr id="1053001498" name="prime-text-63"/>
          <p:cNvSpPr>
            <a:spLocks noGrp="1"/>
          </p:cNvSpPr>
          <p:nvPr/>
        </p:nvSpPr>
        <p:spPr bwMode="auto">
          <a:xfrm>
            <a:off x="609600" y="6438899"/>
            <a:ext cx="3619500" cy="238125"/>
          </a:xfrm>
          <a:prstGeom prst="rect">
            <a:avLst/>
          </a:prstGeom>
          <a:noFill/>
          <a:ln w="0">
            <a:solidFill/>
            <a:prstDash val="solid"/>
          </a:ln>
        </p:spPr>
        <p:txBody>
          <a:bodyPr wrap="square" lIns="0" tIns="0" rIns="0" bIns="0" anchor="t">
            <a:noAutofit/>
          </a:bodyPr>
          <a:lstStyle>
            <a:defPPr algn="l">
              <a:defRPr sz="1200" b="1">
                <a:solidFill>
                  <a:srgbClr val="0DBE85"/>
                </a:solidFill>
                <a:latin typeface="Arial"/>
                <a:ea typeface="Arial"/>
                <a:cs typeface="Arial"/>
              </a:defRPr>
            </a:defPPr>
            <a:lvl1pPr algn="l">
              <a:defRPr sz="1200" b="1">
                <a:solidFill>
                  <a:srgbClr val="0DBE85"/>
                </a:solidFill>
                <a:latin typeface="Arial"/>
                <a:ea typeface="Arial"/>
                <a:cs typeface="Arial"/>
              </a:defRPr>
            </a:lvl1pPr>
            <a:lvl2pPr algn="l">
              <a:defRPr sz="1200" b="1">
                <a:solidFill>
                  <a:srgbClr val="0DBE85"/>
                </a:solidFill>
                <a:latin typeface="Arial"/>
                <a:ea typeface="Arial"/>
                <a:cs typeface="Arial"/>
              </a:defRPr>
            </a:lvl2pPr>
            <a:lvl3pPr algn="l">
              <a:defRPr sz="1200" b="1">
                <a:solidFill>
                  <a:srgbClr val="0DBE85"/>
                </a:solidFill>
                <a:latin typeface="Arial"/>
                <a:ea typeface="Arial"/>
                <a:cs typeface="Arial"/>
              </a:defRPr>
            </a:lvl3pPr>
            <a:lvl4pPr algn="l">
              <a:defRPr sz="1200" b="1">
                <a:solidFill>
                  <a:srgbClr val="0DBE85"/>
                </a:solidFill>
                <a:latin typeface="Arial"/>
                <a:ea typeface="Arial"/>
                <a:cs typeface="Arial"/>
              </a:defRPr>
            </a:lvl4pPr>
            <a:lvl5pPr algn="l">
              <a:defRPr sz="1200" b="1">
                <a:solidFill>
                  <a:srgbClr val="0DBE85"/>
                </a:solidFill>
                <a:latin typeface="Arial"/>
                <a:ea typeface="Arial"/>
                <a:cs typeface="Arial"/>
              </a:defRPr>
            </a:lvl5pPr>
            <a:lvl6pPr algn="l">
              <a:defRPr sz="1200" b="1">
                <a:solidFill>
                  <a:srgbClr val="0DBE85"/>
                </a:solidFill>
                <a:latin typeface="Arial"/>
                <a:ea typeface="Arial"/>
                <a:cs typeface="Arial"/>
              </a:defRPr>
            </a:lvl6pPr>
            <a:lvl7pPr algn="l">
              <a:defRPr sz="1200" b="1">
                <a:solidFill>
                  <a:srgbClr val="0DBE85"/>
                </a:solidFill>
                <a:latin typeface="Arial"/>
                <a:ea typeface="Arial"/>
                <a:cs typeface="Arial"/>
              </a:defRPr>
            </a:lvl7pPr>
            <a:lvl8pPr algn="l">
              <a:defRPr sz="1200" b="1">
                <a:solidFill>
                  <a:srgbClr val="0DBE85"/>
                </a:solidFill>
                <a:latin typeface="Arial"/>
                <a:ea typeface="Arial"/>
                <a:cs typeface="Arial"/>
              </a:defRPr>
            </a:lvl8pPr>
            <a:lvl9pPr algn="l">
              <a:defRPr sz="1200" b="1">
                <a:solidFill>
                  <a:srgbClr val="0DBE85"/>
                </a:solidFill>
                <a:latin typeface="Arial"/>
                <a:ea typeface="Arial"/>
                <a:cs typeface="Arial"/>
              </a:defRPr>
            </a:lvl9pPr>
          </a:lstStyle>
          <a:p>
            <a:pPr algn="l">
              <a:defRPr sz="1200" b="1">
                <a:solidFill>
                  <a:srgbClr val="0DBE85"/>
                </a:solidFill>
                <a:latin typeface="Arial"/>
                <a:ea typeface="Arial"/>
                <a:cs typeface="Arial"/>
              </a:defRPr>
            </a:pPr>
            <a:r>
              <a:rPr sz="1200" b="1">
                <a:solidFill>
                  <a:srgbClr val="0AA372"/>
                </a:solidFill>
                <a:latin typeface="JetBrains Mono"/>
                <a:ea typeface="Arial"/>
                <a:cs typeface="Arial"/>
              </a:rPr>
              <a:t>D-SHARE / PRIME</a:t>
            </a:r>
            <a:endParaRPr/>
          </a:p>
        </p:txBody>
      </p:sp>
      <p:sp>
        <p:nvSpPr>
          <p:cNvPr id="964018688" name="prime-text-64"/>
          <p:cNvSpPr>
            <a:spLocks noGrp="1"/>
          </p:cNvSpPr>
          <p:nvPr/>
        </p:nvSpPr>
        <p:spPr bwMode="auto">
          <a:xfrm>
            <a:off x="11020424" y="6438899"/>
            <a:ext cx="561975" cy="238125"/>
          </a:xfrm>
          <a:prstGeom prst="rect">
            <a:avLst/>
          </a:prstGeom>
          <a:noFill/>
          <a:ln w="0">
            <a:solidFill/>
            <a:prstDash val="solid"/>
          </a:ln>
        </p:spPr>
        <p:txBody>
          <a:bodyPr wrap="square" lIns="0" tIns="0" rIns="0" bIns="0" anchor="t">
            <a:noAutofit/>
          </a:bodyPr>
          <a:lstStyle>
            <a:defPPr algn="r">
              <a:defRPr sz="1200" b="0">
                <a:solidFill>
                  <a:srgbClr val="5D6A67"/>
                </a:solidFill>
                <a:latin typeface="Arial"/>
                <a:ea typeface="Arial"/>
                <a:cs typeface="Arial"/>
              </a:defRPr>
            </a:defPPr>
            <a:lvl1pPr algn="r">
              <a:defRPr sz="1200" b="0">
                <a:solidFill>
                  <a:srgbClr val="5D6A67"/>
                </a:solidFill>
                <a:latin typeface="Arial"/>
                <a:ea typeface="Arial"/>
                <a:cs typeface="Arial"/>
              </a:defRPr>
            </a:lvl1pPr>
            <a:lvl2pPr algn="r">
              <a:defRPr sz="1200" b="0">
                <a:solidFill>
                  <a:srgbClr val="5D6A67"/>
                </a:solidFill>
                <a:latin typeface="Arial"/>
                <a:ea typeface="Arial"/>
                <a:cs typeface="Arial"/>
              </a:defRPr>
            </a:lvl2pPr>
            <a:lvl3pPr algn="r">
              <a:defRPr sz="1200" b="0">
                <a:solidFill>
                  <a:srgbClr val="5D6A67"/>
                </a:solidFill>
                <a:latin typeface="Arial"/>
                <a:ea typeface="Arial"/>
                <a:cs typeface="Arial"/>
              </a:defRPr>
            </a:lvl3pPr>
            <a:lvl4pPr algn="r">
              <a:defRPr sz="1200" b="0">
                <a:solidFill>
                  <a:srgbClr val="5D6A67"/>
                </a:solidFill>
                <a:latin typeface="Arial"/>
                <a:ea typeface="Arial"/>
                <a:cs typeface="Arial"/>
              </a:defRPr>
            </a:lvl4pPr>
            <a:lvl5pPr algn="r">
              <a:defRPr sz="1200" b="0">
                <a:solidFill>
                  <a:srgbClr val="5D6A67"/>
                </a:solidFill>
                <a:latin typeface="Arial"/>
                <a:ea typeface="Arial"/>
                <a:cs typeface="Arial"/>
              </a:defRPr>
            </a:lvl5pPr>
            <a:lvl6pPr algn="r">
              <a:defRPr sz="1200" b="0">
                <a:solidFill>
                  <a:srgbClr val="5D6A67"/>
                </a:solidFill>
                <a:latin typeface="Arial"/>
                <a:ea typeface="Arial"/>
                <a:cs typeface="Arial"/>
              </a:defRPr>
            </a:lvl6pPr>
            <a:lvl7pPr algn="r">
              <a:defRPr sz="1200" b="0">
                <a:solidFill>
                  <a:srgbClr val="5D6A67"/>
                </a:solidFill>
                <a:latin typeface="Arial"/>
                <a:ea typeface="Arial"/>
                <a:cs typeface="Arial"/>
              </a:defRPr>
            </a:lvl7pPr>
            <a:lvl8pPr algn="r">
              <a:defRPr sz="1200" b="0">
                <a:solidFill>
                  <a:srgbClr val="5D6A67"/>
                </a:solidFill>
                <a:latin typeface="Arial"/>
                <a:ea typeface="Arial"/>
                <a:cs typeface="Arial"/>
              </a:defRPr>
            </a:lvl8pPr>
            <a:lvl9pPr algn="r">
              <a:defRPr sz="1200" b="0">
                <a:solidFill>
                  <a:srgbClr val="5D6A67"/>
                </a:solidFill>
                <a:latin typeface="Arial"/>
                <a:ea typeface="Arial"/>
                <a:cs typeface="Arial"/>
              </a:defRPr>
            </a:lvl9pPr>
          </a:lstStyle>
          <a:p>
            <a:pPr algn="r">
              <a:defRPr sz="1200" b="0">
                <a:solidFill>
                  <a:srgbClr val="5D6A67"/>
                </a:solidFill>
                <a:latin typeface="Arial"/>
                <a:ea typeface="Arial"/>
                <a:cs typeface="Arial"/>
              </a:defRPr>
            </a:pPr>
            <a:r>
              <a:rPr sz="1200" b="0">
                <a:solidFill>
                  <a:srgbClr val="5D6A67"/>
                </a:solidFill>
                <a:latin typeface="JetBrains Mono"/>
                <a:ea typeface="Arial"/>
                <a:cs typeface="Arial"/>
              </a:rPr>
              <a:t>13</a:t>
            </a:r>
            <a:endParaRPr/>
          </a:p>
        </p:txBody>
      </p:sp>
      <p:graphicFrame>
        <p:nvGraphicFramePr>
          <p:cNvPr id="884872954" name=""/>
          <p:cNvGraphicFramePr>
            <a:graphicFrameLocks xmlns:a="http://schemas.openxmlformats.org/drawingml/2006/main"/>
          </p:cNvGraphicFramePr>
          <p:nvPr/>
        </p:nvGraphicFramePr>
        <p:xfrm rot="0">
          <a:off x="609600" y="2209800"/>
          <a:ext cx="5810250" cy="3152775"/>
        </p:xfrm>
        <a:graphic>
          <a:graphicData uri="http://schemas.openxmlformats.org/drawingml/2006/table">
            <a:tbl>
              <a:tblPr firstRow="1" firstCol="0" lastRow="0" lastCol="0" bandRow="0" bandCol="0"/>
              <a:tblGrid>
                <a:gridCol w="4267200"/>
                <a:gridCol w="1543050"/>
              </a:tblGrid>
              <a:tr h="525463">
                <a:tc>
                  <a:txBody>
                    <a:bodyPr/>
                    <a:p>
                      <a:pPr>
                        <a:defRPr/>
                      </a:pPr>
                      <a:r>
                        <a:rPr sz="1750" b="1">
                          <a:solidFill>
                            <a:srgbClr val="FFFFFF"/>
                          </a:solidFill>
                          <a:latin typeface="Outfit"/>
                          <a:ea typeface="Arial"/>
                          <a:cs typeface="Arial"/>
                        </a:rPr>
                        <a:t>Cash bridge</a:t>
                      </a:r>
                      <a:endParaRPr/>
                    </a:p>
                  </a:txBody>
                  <a:tcPr marL="91440" marR="91440" marT="45720" marB="45720" anchor="ctr">
                    <a:lnL w="9525" algn="ctr">
                      <a:solidFill>
                        <a:srgbClr val="0DBE85"/>
                      </a:solidFill>
                    </a:lnL>
                    <a:lnR w="9525" algn="ctr">
                      <a:solidFill>
                        <a:srgbClr val="0DBE85"/>
                      </a:solidFill>
                    </a:lnR>
                    <a:lnT w="9525" algn="ctr">
                      <a:solidFill>
                        <a:srgbClr val="0DBE85"/>
                      </a:solidFill>
                    </a:lnT>
                    <a:lnB w="9525" algn="ctr">
                      <a:solidFill>
                        <a:srgbClr val="0DBE85"/>
                      </a:solidFill>
                    </a:lnB>
                    <a:solidFill>
                      <a:srgbClr val="0AA372"/>
                    </a:solidFill>
                  </a:tcPr>
                </a:tc>
                <a:tc>
                  <a:txBody>
                    <a:bodyPr/>
                    <a:p>
                      <a:pPr>
                        <a:defRPr/>
                      </a:pPr>
                      <a:r>
                        <a:rPr sz="1750" b="1">
                          <a:solidFill>
                            <a:srgbClr val="FFFFFF"/>
                          </a:solidFill>
                          <a:latin typeface="Outfit"/>
                          <a:ea typeface="Arial"/>
                          <a:cs typeface="Arial"/>
                        </a:rPr>
                        <a:t>US$M</a:t>
                      </a:r>
                      <a:endParaRPr/>
                    </a:p>
                  </a:txBody>
                  <a:tcPr marL="91440" marR="91440" marT="45720" marB="45720" anchor="ctr">
                    <a:lnR w="9525" algn="ctr">
                      <a:solidFill>
                        <a:srgbClr val="0DBE85"/>
                      </a:solidFill>
                    </a:lnR>
                    <a:lnT w="9525" algn="ctr">
                      <a:solidFill>
                        <a:srgbClr val="0DBE85"/>
                      </a:solidFill>
                    </a:lnT>
                    <a:lnB w="9525" algn="ctr">
                      <a:solidFill>
                        <a:srgbClr val="0DBE85"/>
                      </a:solidFill>
                    </a:lnB>
                    <a:solidFill>
                      <a:srgbClr val="0AA372"/>
                    </a:solidFill>
                    <a:lnL w="12000">
                      <a:solidFill>
                        <a:srgbClr val="0DBE85"/>
                      </a:solidFill>
                      <a:prstDash val="solid"/>
                    </a:lnL>
                  </a:tcPr>
                </a:tc>
              </a:tr>
              <a:tr h="525463">
                <a:tc>
                  <a:txBody>
                    <a:bodyPr/>
                    <a:p>
                      <a:pPr>
                        <a:defRPr/>
                      </a:pPr>
                      <a:r>
                        <a:rPr sz="1800" b="0">
                          <a:solidFill>
                            <a:srgbClr val="18201D"/>
                          </a:solidFill>
                          <a:latin typeface="Plus Jakarta Sans"/>
                          <a:ea typeface="Arial"/>
                          <a:cs typeface="Arial"/>
                        </a:rPr>
                        <a:t>Opening funding</a:t>
                      </a:r>
                      <a:endParaRPr/>
                    </a:p>
                  </a:txBody>
                  <a:tcPr marL="91440" marR="91440" marT="45720" marB="45720" anchor="ctr">
                    <a:lnL w="9525" algn="ctr">
                      <a:solidFill>
                        <a:srgbClr val="D7DFDA"/>
                      </a:solidFill>
                    </a:lnL>
                    <a:lnR w="9525" algn="ctr">
                      <a:solidFill>
                        <a:srgbClr val="D7DFDA"/>
                      </a:solidFill>
                    </a:lnR>
                    <a:lnB w="9525" algn="ctr">
                      <a:solidFill>
                        <a:srgbClr val="D7DFDA"/>
                      </a:solidFill>
                    </a:lnB>
                    <a:solidFill>
                      <a:srgbClr val="F9FAFB"/>
                    </a:solidFill>
                    <a:lnT w="9525">
                      <a:solidFill>
                        <a:srgbClr val="D7DFDA"/>
                      </a:solidFill>
                      <a:prstDash val="solid"/>
                    </a:lnT>
                  </a:tcPr>
                </a:tc>
                <a:tc>
                  <a:txBody>
                    <a:bodyPr/>
                    <a:p>
                      <a:pPr>
                        <a:defRPr/>
                      </a:pPr>
                      <a:r>
                        <a:rPr sz="1800" b="0">
                          <a:solidFill>
                            <a:srgbClr val="18201D"/>
                          </a:solidFill>
                          <a:latin typeface="Plus Jakarta Sans"/>
                          <a:ea typeface="Arial"/>
                          <a:cs typeface="Arial"/>
                        </a:rPr>
                        <a:t>3.00</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r>
              <a:tr h="525463">
                <a:tc>
                  <a:txBody>
                    <a:bodyPr/>
                    <a:p>
                      <a:pPr>
                        <a:defRPr/>
                      </a:pPr>
                      <a:r>
                        <a:rPr sz="1800" b="0">
                          <a:solidFill>
                            <a:srgbClr val="18201D"/>
                          </a:solidFill>
                          <a:latin typeface="Plus Jakarta Sans"/>
                          <a:ea typeface="Arial"/>
                          <a:cs typeface="Arial"/>
                        </a:rPr>
                        <a:t>Add customer revenue</a:t>
                      </a:r>
                      <a:endParaRPr/>
                    </a:p>
                  </a:txBody>
                  <a:tcPr marL="91440" marR="91440" marT="45720" marB="45720" anchor="ctr">
                    <a:lnL w="9525" algn="ctr">
                      <a:solidFill>
                        <a:srgbClr val="D7DFDA"/>
                      </a:solidFill>
                    </a:lnL>
                    <a:lnR w="9525" algn="ctr">
                      <a:solidFill>
                        <a:srgbClr val="D7DFDA"/>
                      </a:solidFill>
                    </a:lnR>
                    <a:lnB w="9525" algn="ctr">
                      <a:solidFill>
                        <a:srgbClr val="D7DFDA"/>
                      </a:solidFill>
                    </a:lnB>
                    <a:solidFill>
                      <a:srgbClr val="FFFFFF"/>
                    </a:solidFill>
                    <a:lnT w="9525">
                      <a:solidFill>
                        <a:srgbClr val="D7DFDA"/>
                      </a:solidFill>
                      <a:prstDash val="solid"/>
                    </a:lnT>
                  </a:tcPr>
                </a:tc>
                <a:tc>
                  <a:txBody>
                    <a:bodyPr/>
                    <a:p>
                      <a:pPr>
                        <a:defRPr/>
                      </a:pPr>
                      <a:r>
                        <a:rPr sz="1800" b="0">
                          <a:solidFill>
                            <a:srgbClr val="18201D"/>
                          </a:solidFill>
                          <a:latin typeface="Plus Jakarta Sans"/>
                          <a:ea typeface="Arial"/>
                          <a:cs typeface="Arial"/>
                        </a:rPr>
                        <a:t>0.45</a:t>
                      </a:r>
                      <a:endParaRPr/>
                    </a:p>
                  </a:txBody>
                  <a:tcPr marL="91440" marR="91440" marT="45720" marB="45720" anchor="ctr">
                    <a:lnR w="9525" algn="ctr">
                      <a:solidFill>
                        <a:srgbClr val="D7DFDA"/>
                      </a:solidFill>
                    </a:lnR>
                    <a:lnB w="9525" algn="ctr">
                      <a:solidFill>
                        <a:srgbClr val="D7DFDA"/>
                      </a:solidFill>
                    </a:lnB>
                    <a:solidFill>
                      <a:srgbClr val="FFFFFF"/>
                    </a:solidFill>
                    <a:lnL w="9525">
                      <a:solidFill>
                        <a:srgbClr val="D7DFDA"/>
                      </a:solidFill>
                      <a:prstDash val="solid"/>
                    </a:lnL>
                    <a:lnT w="9525">
                      <a:solidFill>
                        <a:srgbClr val="D7DFDA"/>
                      </a:solidFill>
                      <a:prstDash val="solid"/>
                    </a:lnT>
                  </a:tcPr>
                </a:tc>
              </a:tr>
              <a:tr h="525463">
                <a:tc>
                  <a:txBody>
                    <a:bodyPr/>
                    <a:p>
                      <a:pPr>
                        <a:defRPr/>
                      </a:pPr>
                      <a:r>
                        <a:rPr sz="1800" b="0">
                          <a:solidFill>
                            <a:srgbClr val="18201D"/>
                          </a:solidFill>
                          <a:latin typeface="Plus Jakarta Sans"/>
                          <a:ea typeface="Arial"/>
                          <a:cs typeface="Arial"/>
                        </a:rPr>
                        <a:t>Less fixed operating spend</a:t>
                      </a:r>
                      <a:endParaRPr/>
                    </a:p>
                  </a:txBody>
                  <a:tcPr marL="91440" marR="91440" marT="45720" marB="45720" anchor="ctr">
                    <a:lnL w="9525" algn="ctr">
                      <a:solidFill>
                        <a:srgbClr val="D7DFDA"/>
                      </a:solidFill>
                    </a:lnL>
                    <a:lnR w="9525" algn="ctr">
                      <a:solidFill>
                        <a:srgbClr val="D7DFDA"/>
                      </a:solidFill>
                    </a:lnR>
                    <a:lnB w="9525" algn="ctr">
                      <a:solidFill>
                        <a:srgbClr val="D7DFDA"/>
                      </a:solidFill>
                    </a:lnB>
                    <a:solidFill>
                      <a:srgbClr val="F9FAFB"/>
                    </a:solidFill>
                    <a:lnT w="9525">
                      <a:solidFill>
                        <a:srgbClr val="D7DFDA"/>
                      </a:solidFill>
                      <a:prstDash val="solid"/>
                    </a:lnT>
                  </a:tcPr>
                </a:tc>
                <a:tc>
                  <a:txBody>
                    <a:bodyPr/>
                    <a:p>
                      <a:pPr>
                        <a:defRPr/>
                      </a:pPr>
                      <a:r>
                        <a:rPr sz="1800" b="0">
                          <a:solidFill>
                            <a:srgbClr val="18201D"/>
                          </a:solidFill>
                          <a:latin typeface="Plus Jakarta Sans"/>
                          <a:ea typeface="Arial"/>
                          <a:cs typeface="Arial"/>
                        </a:rPr>
                        <a:t>-2.70</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r>
              <a:tr h="525463">
                <a:tc>
                  <a:txBody>
                    <a:bodyPr/>
                    <a:p>
                      <a:pPr>
                        <a:defRPr/>
                      </a:pPr>
                      <a:r>
                        <a:rPr sz="1800" b="0">
                          <a:solidFill>
                            <a:srgbClr val="18201D"/>
                          </a:solidFill>
                          <a:latin typeface="Plus Jakarta Sans"/>
                          <a:ea typeface="Arial"/>
                          <a:cs typeface="Arial"/>
                        </a:rPr>
                        <a:t>Less variable service costs</a:t>
                      </a:r>
                      <a:endParaRPr/>
                    </a:p>
                  </a:txBody>
                  <a:tcPr marL="91440" marR="91440" marT="45720" marB="45720" anchor="ctr">
                    <a:lnL w="9525" algn="ctr">
                      <a:solidFill>
                        <a:srgbClr val="D7DFDA"/>
                      </a:solidFill>
                    </a:lnL>
                    <a:lnR w="9525" algn="ctr">
                      <a:solidFill>
                        <a:srgbClr val="D7DFDA"/>
                      </a:solidFill>
                    </a:lnR>
                    <a:lnB w="9525" algn="ctr">
                      <a:solidFill>
                        <a:srgbClr val="D7DFDA"/>
                      </a:solidFill>
                    </a:lnB>
                    <a:solidFill>
                      <a:srgbClr val="FFFFFF"/>
                    </a:solidFill>
                    <a:lnT w="9525">
                      <a:solidFill>
                        <a:srgbClr val="D7DFDA"/>
                      </a:solidFill>
                      <a:prstDash val="solid"/>
                    </a:lnT>
                  </a:tcPr>
                </a:tc>
                <a:tc>
                  <a:txBody>
                    <a:bodyPr/>
                    <a:p>
                      <a:pPr>
                        <a:defRPr/>
                      </a:pPr>
                      <a:r>
                        <a:rPr sz="1800" b="0">
                          <a:solidFill>
                            <a:srgbClr val="18201D"/>
                          </a:solidFill>
                          <a:latin typeface="Plus Jakarta Sans"/>
                          <a:ea typeface="Arial"/>
                          <a:cs typeface="Arial"/>
                        </a:rPr>
                        <a:t>-0.15</a:t>
                      </a:r>
                      <a:endParaRPr/>
                    </a:p>
                  </a:txBody>
                  <a:tcPr marL="91440" marR="91440" marT="45720" marB="45720" anchor="ctr">
                    <a:lnR w="9525" algn="ctr">
                      <a:solidFill>
                        <a:srgbClr val="D7DFDA"/>
                      </a:solidFill>
                    </a:lnR>
                    <a:lnB w="9525" algn="ctr">
                      <a:solidFill>
                        <a:srgbClr val="D7DFDA"/>
                      </a:solidFill>
                    </a:lnB>
                    <a:solidFill>
                      <a:srgbClr val="FFFFFF"/>
                    </a:solidFill>
                    <a:lnL w="9525">
                      <a:solidFill>
                        <a:srgbClr val="D7DFDA"/>
                      </a:solidFill>
                      <a:prstDash val="solid"/>
                    </a:lnL>
                    <a:lnT w="9525">
                      <a:solidFill>
                        <a:srgbClr val="D7DFDA"/>
                      </a:solidFill>
                      <a:prstDash val="solid"/>
                    </a:lnT>
                  </a:tcPr>
                </a:tc>
              </a:tr>
              <a:tr h="525463">
                <a:tc>
                  <a:txBody>
                    <a:bodyPr/>
                    <a:p>
                      <a:pPr>
                        <a:defRPr/>
                      </a:pPr>
                      <a:r>
                        <a:rPr sz="1800" b="1">
                          <a:solidFill>
                            <a:srgbClr val="18201D"/>
                          </a:solidFill>
                          <a:latin typeface="Plus Jakarta Sans"/>
                          <a:ea typeface="Arial"/>
                          <a:cs typeface="Arial"/>
                        </a:rPr>
                        <a:t>Closing cash at Month 24</a:t>
                      </a:r>
                      <a:endParaRPr/>
                    </a:p>
                  </a:txBody>
                  <a:tcPr marL="91440" marR="91440" marT="45720" marB="45720" anchor="ctr">
                    <a:lnL w="9525" algn="ctr">
                      <a:solidFill>
                        <a:srgbClr val="D7DFDA"/>
                      </a:solidFill>
                    </a:lnL>
                    <a:lnR w="9525" algn="ctr">
                      <a:solidFill>
                        <a:srgbClr val="D7DFDA"/>
                      </a:solidFill>
                    </a:lnR>
                    <a:lnB w="9525" algn="ctr">
                      <a:solidFill>
                        <a:srgbClr val="D7DFDA"/>
                      </a:solidFill>
                    </a:lnB>
                    <a:solidFill>
                      <a:srgbClr val="F9FAFB"/>
                    </a:solidFill>
                    <a:lnT w="9525">
                      <a:solidFill>
                        <a:srgbClr val="D7DFDA"/>
                      </a:solidFill>
                      <a:prstDash val="solid"/>
                    </a:lnT>
                  </a:tcPr>
                </a:tc>
                <a:tc>
                  <a:txBody>
                    <a:bodyPr/>
                    <a:p>
                      <a:pPr>
                        <a:defRPr/>
                      </a:pPr>
                      <a:r>
                        <a:rPr sz="1800" b="1">
                          <a:solidFill>
                            <a:srgbClr val="18201D"/>
                          </a:solidFill>
                          <a:latin typeface="Plus Jakarta Sans"/>
                          <a:ea typeface="Arial"/>
                          <a:cs typeface="Arial"/>
                        </a:rPr>
                        <a:t>0.60</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r>
            </a:tbl>
          </a:graphicData>
        </a:graphic>
      </p:graphicFrame>
      <p:sp>
        <p:nvSpPr>
          <p:cNvPr id="2107370013" name="prime-text-65"/>
          <p:cNvSpPr>
            <a:spLocks noGrp="1"/>
          </p:cNvSpPr>
          <p:nvPr/>
        </p:nvSpPr>
        <p:spPr bwMode="auto">
          <a:xfrm>
            <a:off x="6953250" y="2219325"/>
            <a:ext cx="4629150" cy="419100"/>
          </a:xfrm>
          <a:prstGeom prst="rect">
            <a:avLst/>
          </a:prstGeom>
          <a:noFill/>
          <a:ln w="0">
            <a:solidFill/>
            <a:prstDash val="solid"/>
          </a:ln>
        </p:spPr>
        <p:txBody>
          <a:bodyPr wrap="square" lIns="0" tIns="0" rIns="0" bIns="0" anchor="t">
            <a:noAutofit/>
          </a:bodyPr>
          <a:lstStyle>
            <a:defPPr algn="l">
              <a:defRPr sz="2100" b="1">
                <a:solidFill>
                  <a:srgbClr val="0DBE85"/>
                </a:solidFill>
                <a:latin typeface="Arial"/>
                <a:ea typeface="Arial"/>
                <a:cs typeface="Arial"/>
              </a:defRPr>
            </a:defPPr>
            <a:lvl1pPr algn="l">
              <a:defRPr sz="2100" b="1">
                <a:solidFill>
                  <a:srgbClr val="0DBE85"/>
                </a:solidFill>
                <a:latin typeface="Arial"/>
                <a:ea typeface="Arial"/>
                <a:cs typeface="Arial"/>
              </a:defRPr>
            </a:lvl1pPr>
            <a:lvl2pPr algn="l">
              <a:defRPr sz="2100" b="1">
                <a:solidFill>
                  <a:srgbClr val="0DBE85"/>
                </a:solidFill>
                <a:latin typeface="Arial"/>
                <a:ea typeface="Arial"/>
                <a:cs typeface="Arial"/>
              </a:defRPr>
            </a:lvl2pPr>
            <a:lvl3pPr algn="l">
              <a:defRPr sz="2100" b="1">
                <a:solidFill>
                  <a:srgbClr val="0DBE85"/>
                </a:solidFill>
                <a:latin typeface="Arial"/>
                <a:ea typeface="Arial"/>
                <a:cs typeface="Arial"/>
              </a:defRPr>
            </a:lvl3pPr>
            <a:lvl4pPr algn="l">
              <a:defRPr sz="2100" b="1">
                <a:solidFill>
                  <a:srgbClr val="0DBE85"/>
                </a:solidFill>
                <a:latin typeface="Arial"/>
                <a:ea typeface="Arial"/>
                <a:cs typeface="Arial"/>
              </a:defRPr>
            </a:lvl4pPr>
            <a:lvl5pPr algn="l">
              <a:defRPr sz="2100" b="1">
                <a:solidFill>
                  <a:srgbClr val="0DBE85"/>
                </a:solidFill>
                <a:latin typeface="Arial"/>
                <a:ea typeface="Arial"/>
                <a:cs typeface="Arial"/>
              </a:defRPr>
            </a:lvl5pPr>
            <a:lvl6pPr algn="l">
              <a:defRPr sz="2100" b="1">
                <a:solidFill>
                  <a:srgbClr val="0DBE85"/>
                </a:solidFill>
                <a:latin typeface="Arial"/>
                <a:ea typeface="Arial"/>
                <a:cs typeface="Arial"/>
              </a:defRPr>
            </a:lvl6pPr>
            <a:lvl7pPr algn="l">
              <a:defRPr sz="2100" b="1">
                <a:solidFill>
                  <a:srgbClr val="0DBE85"/>
                </a:solidFill>
                <a:latin typeface="Arial"/>
                <a:ea typeface="Arial"/>
                <a:cs typeface="Arial"/>
              </a:defRPr>
            </a:lvl7pPr>
            <a:lvl8pPr algn="l">
              <a:defRPr sz="2100" b="1">
                <a:solidFill>
                  <a:srgbClr val="0DBE85"/>
                </a:solidFill>
                <a:latin typeface="Arial"/>
                <a:ea typeface="Arial"/>
                <a:cs typeface="Arial"/>
              </a:defRPr>
            </a:lvl8pPr>
            <a:lvl9pPr algn="l">
              <a:defRPr sz="2100" b="1">
                <a:solidFill>
                  <a:srgbClr val="0DBE85"/>
                </a:solidFill>
                <a:latin typeface="Arial"/>
                <a:ea typeface="Arial"/>
                <a:cs typeface="Arial"/>
              </a:defRPr>
            </a:lvl9pPr>
          </a:lstStyle>
          <a:p>
            <a:pPr algn="l">
              <a:defRPr sz="2100" b="1">
                <a:solidFill>
                  <a:srgbClr val="0DBE85"/>
                </a:solidFill>
                <a:latin typeface="Arial"/>
                <a:ea typeface="Arial"/>
                <a:cs typeface="Arial"/>
              </a:defRPr>
            </a:pPr>
            <a:r>
              <a:rPr sz="2100" b="1">
                <a:solidFill>
                  <a:srgbClr val="0DBE85"/>
                </a:solidFill>
                <a:latin typeface="Outfit"/>
                <a:ea typeface="Arial"/>
                <a:cs typeface="Arial"/>
              </a:rPr>
              <a:t>Year 2 revenue: US$450,000</a:t>
            </a:r>
            <a:endParaRPr/>
          </a:p>
        </p:txBody>
      </p:sp>
      <p:sp>
        <p:nvSpPr>
          <p:cNvPr id="1846027827" name="prime-text-66"/>
          <p:cNvSpPr>
            <a:spLocks noGrp="1"/>
          </p:cNvSpPr>
          <p:nvPr/>
        </p:nvSpPr>
        <p:spPr bwMode="auto">
          <a:xfrm>
            <a:off x="6953250" y="2819400"/>
            <a:ext cx="4629150" cy="771525"/>
          </a:xfrm>
          <a:prstGeom prst="rect">
            <a:avLst/>
          </a:prstGeom>
          <a:noFill/>
          <a:ln w="0">
            <a:solidFill/>
            <a:prstDash val="solid"/>
          </a:ln>
        </p:spPr>
        <p:txBody>
          <a:bodyPr wrap="square" lIns="0" tIns="0" rIns="0" bIns="0" anchor="t">
            <a:noAutofit/>
          </a:bodyPr>
          <a:lstStyle>
            <a:defPPr algn="l">
              <a:defRPr sz="1900" b="0">
                <a:solidFill>
                  <a:srgbClr val="18201D"/>
                </a:solidFill>
                <a:latin typeface="Arial"/>
                <a:ea typeface="Arial"/>
                <a:cs typeface="Arial"/>
              </a:defRPr>
            </a:defPPr>
            <a:lvl1pPr algn="l">
              <a:defRPr sz="1900" b="0">
                <a:solidFill>
                  <a:srgbClr val="18201D"/>
                </a:solidFill>
                <a:latin typeface="Arial"/>
                <a:ea typeface="Arial"/>
                <a:cs typeface="Arial"/>
              </a:defRPr>
            </a:lvl1pPr>
            <a:lvl2pPr algn="l">
              <a:defRPr sz="1900" b="0">
                <a:solidFill>
                  <a:srgbClr val="18201D"/>
                </a:solidFill>
                <a:latin typeface="Arial"/>
                <a:ea typeface="Arial"/>
                <a:cs typeface="Arial"/>
              </a:defRPr>
            </a:lvl2pPr>
            <a:lvl3pPr algn="l">
              <a:defRPr sz="1900" b="0">
                <a:solidFill>
                  <a:srgbClr val="18201D"/>
                </a:solidFill>
                <a:latin typeface="Arial"/>
                <a:ea typeface="Arial"/>
                <a:cs typeface="Arial"/>
              </a:defRPr>
            </a:lvl3pPr>
            <a:lvl4pPr algn="l">
              <a:defRPr sz="1900" b="0">
                <a:solidFill>
                  <a:srgbClr val="18201D"/>
                </a:solidFill>
                <a:latin typeface="Arial"/>
                <a:ea typeface="Arial"/>
                <a:cs typeface="Arial"/>
              </a:defRPr>
            </a:lvl4pPr>
            <a:lvl5pPr algn="l">
              <a:defRPr sz="1900" b="0">
                <a:solidFill>
                  <a:srgbClr val="18201D"/>
                </a:solidFill>
                <a:latin typeface="Arial"/>
                <a:ea typeface="Arial"/>
                <a:cs typeface="Arial"/>
              </a:defRPr>
            </a:lvl5pPr>
            <a:lvl6pPr algn="l">
              <a:defRPr sz="1900" b="0">
                <a:solidFill>
                  <a:srgbClr val="18201D"/>
                </a:solidFill>
                <a:latin typeface="Arial"/>
                <a:ea typeface="Arial"/>
                <a:cs typeface="Arial"/>
              </a:defRPr>
            </a:lvl6pPr>
            <a:lvl7pPr algn="l">
              <a:defRPr sz="1900" b="0">
                <a:solidFill>
                  <a:srgbClr val="18201D"/>
                </a:solidFill>
                <a:latin typeface="Arial"/>
                <a:ea typeface="Arial"/>
                <a:cs typeface="Arial"/>
              </a:defRPr>
            </a:lvl7pPr>
            <a:lvl8pPr algn="l">
              <a:defRPr sz="1900" b="0">
                <a:solidFill>
                  <a:srgbClr val="18201D"/>
                </a:solidFill>
                <a:latin typeface="Arial"/>
                <a:ea typeface="Arial"/>
                <a:cs typeface="Arial"/>
              </a:defRPr>
            </a:lvl8pPr>
            <a:lvl9pPr algn="l">
              <a:defRPr sz="1900" b="0">
                <a:solidFill>
                  <a:srgbClr val="18201D"/>
                </a:solidFill>
                <a:latin typeface="Arial"/>
                <a:ea typeface="Arial"/>
                <a:cs typeface="Arial"/>
              </a:defRPr>
            </a:lvl9pPr>
          </a:lstStyle>
          <a:p>
            <a:pPr algn="l">
              <a:defRPr sz="1900" b="0">
                <a:solidFill>
                  <a:srgbClr val="18201D"/>
                </a:solidFill>
                <a:latin typeface="Arial"/>
                <a:ea typeface="Arial"/>
                <a:cs typeface="Arial"/>
              </a:defRPr>
            </a:pPr>
            <a:r>
              <a:rPr sz="1900" b="0">
                <a:solidFill>
                  <a:srgbClr val="18201D"/>
                </a:solidFill>
                <a:latin typeface="Plus Jakarta Sans"/>
                <a:ea typeface="Arial"/>
                <a:cs typeface="Arial"/>
              </a:rPr>
              <a:t>US$100M × 0.30% = US$300k</a:t>
            </a:r>
            <a:endParaRPr/>
          </a:p>
          <a:p>
            <a:pPr algn="l">
              <a:defRPr sz="1900" b="0">
                <a:solidFill>
                  <a:srgbClr val="18201D"/>
                </a:solidFill>
                <a:latin typeface="Arial"/>
                <a:ea typeface="Arial"/>
                <a:cs typeface="Arial"/>
              </a:defRPr>
            </a:pPr>
            <a:r>
              <a:rPr sz="1900" b="0">
                <a:solidFill>
                  <a:srgbClr val="18201D"/>
                </a:solidFill>
                <a:latin typeface="Plus Jakarta Sans"/>
                <a:ea typeface="Arial"/>
                <a:cs typeface="Arial"/>
              </a:rPr>
              <a:t>+ one US$150k sponsor setup</a:t>
            </a:r>
            <a:endParaRPr/>
          </a:p>
        </p:txBody>
      </p:sp>
      <p:sp>
        <p:nvSpPr>
          <p:cNvPr id="2028384811" name="prime-text-67"/>
          <p:cNvSpPr>
            <a:spLocks noGrp="1"/>
          </p:cNvSpPr>
          <p:nvPr/>
        </p:nvSpPr>
        <p:spPr bwMode="auto">
          <a:xfrm>
            <a:off x="6953250" y="3857625"/>
            <a:ext cx="4629150" cy="419100"/>
          </a:xfrm>
          <a:prstGeom prst="rect">
            <a:avLst/>
          </a:prstGeom>
          <a:noFill/>
          <a:ln w="0">
            <a:solidFill/>
            <a:prstDash val="solid"/>
          </a:ln>
        </p:spPr>
        <p:txBody>
          <a:bodyPr wrap="square" lIns="0" tIns="0" rIns="0" bIns="0" anchor="t">
            <a:noAutofit/>
          </a:bodyPr>
          <a:lstStyle>
            <a:defPPr algn="l">
              <a:defRPr sz="2100" b="1">
                <a:solidFill>
                  <a:srgbClr val="0DBE85"/>
                </a:solidFill>
                <a:latin typeface="Arial"/>
                <a:ea typeface="Arial"/>
                <a:cs typeface="Arial"/>
              </a:defRPr>
            </a:defPPr>
            <a:lvl1pPr algn="l">
              <a:defRPr sz="2100" b="1">
                <a:solidFill>
                  <a:srgbClr val="0DBE85"/>
                </a:solidFill>
                <a:latin typeface="Arial"/>
                <a:ea typeface="Arial"/>
                <a:cs typeface="Arial"/>
              </a:defRPr>
            </a:lvl1pPr>
            <a:lvl2pPr algn="l">
              <a:defRPr sz="2100" b="1">
                <a:solidFill>
                  <a:srgbClr val="0DBE85"/>
                </a:solidFill>
                <a:latin typeface="Arial"/>
                <a:ea typeface="Arial"/>
                <a:cs typeface="Arial"/>
              </a:defRPr>
            </a:lvl2pPr>
            <a:lvl3pPr algn="l">
              <a:defRPr sz="2100" b="1">
                <a:solidFill>
                  <a:srgbClr val="0DBE85"/>
                </a:solidFill>
                <a:latin typeface="Arial"/>
                <a:ea typeface="Arial"/>
                <a:cs typeface="Arial"/>
              </a:defRPr>
            </a:lvl3pPr>
            <a:lvl4pPr algn="l">
              <a:defRPr sz="2100" b="1">
                <a:solidFill>
                  <a:srgbClr val="0DBE85"/>
                </a:solidFill>
                <a:latin typeface="Arial"/>
                <a:ea typeface="Arial"/>
                <a:cs typeface="Arial"/>
              </a:defRPr>
            </a:lvl4pPr>
            <a:lvl5pPr algn="l">
              <a:defRPr sz="2100" b="1">
                <a:solidFill>
                  <a:srgbClr val="0DBE85"/>
                </a:solidFill>
                <a:latin typeface="Arial"/>
                <a:ea typeface="Arial"/>
                <a:cs typeface="Arial"/>
              </a:defRPr>
            </a:lvl5pPr>
            <a:lvl6pPr algn="l">
              <a:defRPr sz="2100" b="1">
                <a:solidFill>
                  <a:srgbClr val="0DBE85"/>
                </a:solidFill>
                <a:latin typeface="Arial"/>
                <a:ea typeface="Arial"/>
                <a:cs typeface="Arial"/>
              </a:defRPr>
            </a:lvl6pPr>
            <a:lvl7pPr algn="l">
              <a:defRPr sz="2100" b="1">
                <a:solidFill>
                  <a:srgbClr val="0DBE85"/>
                </a:solidFill>
                <a:latin typeface="Arial"/>
                <a:ea typeface="Arial"/>
                <a:cs typeface="Arial"/>
              </a:defRPr>
            </a:lvl7pPr>
            <a:lvl8pPr algn="l">
              <a:defRPr sz="2100" b="1">
                <a:solidFill>
                  <a:srgbClr val="0DBE85"/>
                </a:solidFill>
                <a:latin typeface="Arial"/>
                <a:ea typeface="Arial"/>
                <a:cs typeface="Arial"/>
              </a:defRPr>
            </a:lvl8pPr>
            <a:lvl9pPr algn="l">
              <a:defRPr sz="2100" b="1">
                <a:solidFill>
                  <a:srgbClr val="0DBE85"/>
                </a:solidFill>
                <a:latin typeface="Arial"/>
                <a:ea typeface="Arial"/>
                <a:cs typeface="Arial"/>
              </a:defRPr>
            </a:lvl9pPr>
          </a:lstStyle>
          <a:p>
            <a:pPr algn="l">
              <a:defRPr sz="2100" b="1">
                <a:solidFill>
                  <a:srgbClr val="0DBE85"/>
                </a:solidFill>
                <a:latin typeface="Arial"/>
                <a:ea typeface="Arial"/>
                <a:cs typeface="Arial"/>
              </a:defRPr>
            </a:pPr>
            <a:r>
              <a:rPr sz="2100" b="1">
                <a:solidFill>
                  <a:srgbClr val="0DBE85"/>
                </a:solidFill>
                <a:latin typeface="Outfit"/>
                <a:ea typeface="Arial"/>
                <a:cs typeface="Arial"/>
              </a:rPr>
              <a:t>Year 2 costs: US$1,650,000</a:t>
            </a:r>
            <a:endParaRPr/>
          </a:p>
        </p:txBody>
      </p:sp>
      <p:sp>
        <p:nvSpPr>
          <p:cNvPr id="778572732" name="prime-text-68"/>
          <p:cNvSpPr>
            <a:spLocks noGrp="1"/>
          </p:cNvSpPr>
          <p:nvPr/>
        </p:nvSpPr>
        <p:spPr bwMode="auto">
          <a:xfrm>
            <a:off x="6953250" y="4457700"/>
            <a:ext cx="4629150" cy="771525"/>
          </a:xfrm>
          <a:prstGeom prst="rect">
            <a:avLst/>
          </a:prstGeom>
          <a:noFill/>
          <a:ln w="0">
            <a:solidFill/>
            <a:prstDash val="solid"/>
          </a:ln>
        </p:spPr>
        <p:txBody>
          <a:bodyPr wrap="square" lIns="0" tIns="0" rIns="0" bIns="0" anchor="t">
            <a:noAutofit/>
          </a:bodyPr>
          <a:lstStyle>
            <a:defPPr algn="l">
              <a:defRPr sz="1900" b="0">
                <a:solidFill>
                  <a:srgbClr val="18201D"/>
                </a:solidFill>
                <a:latin typeface="Arial"/>
                <a:ea typeface="Arial"/>
                <a:cs typeface="Arial"/>
              </a:defRPr>
            </a:defPPr>
            <a:lvl1pPr algn="l">
              <a:defRPr sz="1900" b="0">
                <a:solidFill>
                  <a:srgbClr val="18201D"/>
                </a:solidFill>
                <a:latin typeface="Arial"/>
                <a:ea typeface="Arial"/>
                <a:cs typeface="Arial"/>
              </a:defRPr>
            </a:lvl1pPr>
            <a:lvl2pPr algn="l">
              <a:defRPr sz="1900" b="0">
                <a:solidFill>
                  <a:srgbClr val="18201D"/>
                </a:solidFill>
                <a:latin typeface="Arial"/>
                <a:ea typeface="Arial"/>
                <a:cs typeface="Arial"/>
              </a:defRPr>
            </a:lvl2pPr>
            <a:lvl3pPr algn="l">
              <a:defRPr sz="1900" b="0">
                <a:solidFill>
                  <a:srgbClr val="18201D"/>
                </a:solidFill>
                <a:latin typeface="Arial"/>
                <a:ea typeface="Arial"/>
                <a:cs typeface="Arial"/>
              </a:defRPr>
            </a:lvl3pPr>
            <a:lvl4pPr algn="l">
              <a:defRPr sz="1900" b="0">
                <a:solidFill>
                  <a:srgbClr val="18201D"/>
                </a:solidFill>
                <a:latin typeface="Arial"/>
                <a:ea typeface="Arial"/>
                <a:cs typeface="Arial"/>
              </a:defRPr>
            </a:lvl4pPr>
            <a:lvl5pPr algn="l">
              <a:defRPr sz="1900" b="0">
                <a:solidFill>
                  <a:srgbClr val="18201D"/>
                </a:solidFill>
                <a:latin typeface="Arial"/>
                <a:ea typeface="Arial"/>
                <a:cs typeface="Arial"/>
              </a:defRPr>
            </a:lvl5pPr>
            <a:lvl6pPr algn="l">
              <a:defRPr sz="1900" b="0">
                <a:solidFill>
                  <a:srgbClr val="18201D"/>
                </a:solidFill>
                <a:latin typeface="Arial"/>
                <a:ea typeface="Arial"/>
                <a:cs typeface="Arial"/>
              </a:defRPr>
            </a:lvl6pPr>
            <a:lvl7pPr algn="l">
              <a:defRPr sz="1900" b="0">
                <a:solidFill>
                  <a:srgbClr val="18201D"/>
                </a:solidFill>
                <a:latin typeface="Arial"/>
                <a:ea typeface="Arial"/>
                <a:cs typeface="Arial"/>
              </a:defRPr>
            </a:lvl7pPr>
            <a:lvl8pPr algn="l">
              <a:defRPr sz="1900" b="0">
                <a:solidFill>
                  <a:srgbClr val="18201D"/>
                </a:solidFill>
                <a:latin typeface="Arial"/>
                <a:ea typeface="Arial"/>
                <a:cs typeface="Arial"/>
              </a:defRPr>
            </a:lvl8pPr>
            <a:lvl9pPr algn="l">
              <a:defRPr sz="1900" b="0">
                <a:solidFill>
                  <a:srgbClr val="18201D"/>
                </a:solidFill>
                <a:latin typeface="Arial"/>
                <a:ea typeface="Arial"/>
                <a:cs typeface="Arial"/>
              </a:defRPr>
            </a:lvl9pPr>
          </a:lstStyle>
          <a:p>
            <a:pPr algn="l">
              <a:defRPr sz="1900" b="0">
                <a:solidFill>
                  <a:srgbClr val="18201D"/>
                </a:solidFill>
                <a:latin typeface="Arial"/>
                <a:ea typeface="Arial"/>
                <a:cs typeface="Arial"/>
              </a:defRPr>
            </a:pPr>
            <a:r>
              <a:rPr sz="1900" b="0">
                <a:solidFill>
                  <a:srgbClr val="18201D"/>
                </a:solidFill>
                <a:latin typeface="Plus Jakarta Sans"/>
                <a:ea typeface="Arial"/>
                <a:cs typeface="Arial"/>
              </a:rPr>
              <a:t>US$1.50M fixed + US$150k variable</a:t>
            </a:r>
            <a:endParaRPr/>
          </a:p>
          <a:p>
            <a:pPr algn="l">
              <a:defRPr sz="1900" b="0">
                <a:solidFill>
                  <a:srgbClr val="18201D"/>
                </a:solidFill>
                <a:latin typeface="Arial"/>
                <a:ea typeface="Arial"/>
                <a:cs typeface="Arial"/>
              </a:defRPr>
            </a:pPr>
            <a:r>
              <a:rPr sz="1900" b="0">
                <a:solidFill>
                  <a:srgbClr val="18201D"/>
                </a:solidFill>
                <a:latin typeface="Plus Jakarta Sans"/>
                <a:ea typeface="Arial"/>
                <a:cs typeface="Arial"/>
              </a:rPr>
              <a:t>Variable = US$100M × 0.15%</a:t>
            </a:r>
            <a:endParaRPr/>
          </a:p>
        </p:txBody>
      </p:sp>
      <p:sp>
        <p:nvSpPr>
          <p:cNvPr id="1304532754" name="prime-text-69"/>
          <p:cNvSpPr>
            <a:spLocks noGrp="1"/>
          </p:cNvSpPr>
          <p:nvPr/>
        </p:nvSpPr>
        <p:spPr bwMode="auto">
          <a:xfrm>
            <a:off x="609600" y="5629275"/>
            <a:ext cx="10972800" cy="400050"/>
          </a:xfrm>
          <a:prstGeom prst="rect">
            <a:avLst/>
          </a:prstGeom>
          <a:noFill/>
          <a:ln w="0">
            <a:solidFill/>
            <a:prstDash val="solid"/>
          </a:ln>
        </p:spPr>
        <p:txBody>
          <a:bodyPr wrap="square" lIns="0" tIns="0" rIns="0" bIns="0" anchor="t">
            <a:noAutofit/>
          </a:bodyPr>
          <a:lstStyle>
            <a:defPPr algn="l">
              <a:defRPr sz="2100" b="1">
                <a:solidFill>
                  <a:srgbClr val="0DBE85"/>
                </a:solidFill>
                <a:latin typeface="Arial"/>
                <a:ea typeface="Arial"/>
                <a:cs typeface="Arial"/>
              </a:defRPr>
            </a:defPPr>
            <a:lvl1pPr algn="l">
              <a:defRPr sz="2100" b="1">
                <a:solidFill>
                  <a:srgbClr val="0DBE85"/>
                </a:solidFill>
                <a:latin typeface="Arial"/>
                <a:ea typeface="Arial"/>
                <a:cs typeface="Arial"/>
              </a:defRPr>
            </a:lvl1pPr>
            <a:lvl2pPr algn="l">
              <a:defRPr sz="2100" b="1">
                <a:solidFill>
                  <a:srgbClr val="0DBE85"/>
                </a:solidFill>
                <a:latin typeface="Arial"/>
                <a:ea typeface="Arial"/>
                <a:cs typeface="Arial"/>
              </a:defRPr>
            </a:lvl2pPr>
            <a:lvl3pPr algn="l">
              <a:defRPr sz="2100" b="1">
                <a:solidFill>
                  <a:srgbClr val="0DBE85"/>
                </a:solidFill>
                <a:latin typeface="Arial"/>
                <a:ea typeface="Arial"/>
                <a:cs typeface="Arial"/>
              </a:defRPr>
            </a:lvl3pPr>
            <a:lvl4pPr algn="l">
              <a:defRPr sz="2100" b="1">
                <a:solidFill>
                  <a:srgbClr val="0DBE85"/>
                </a:solidFill>
                <a:latin typeface="Arial"/>
                <a:ea typeface="Arial"/>
                <a:cs typeface="Arial"/>
              </a:defRPr>
            </a:lvl4pPr>
            <a:lvl5pPr algn="l">
              <a:defRPr sz="2100" b="1">
                <a:solidFill>
                  <a:srgbClr val="0DBE85"/>
                </a:solidFill>
                <a:latin typeface="Arial"/>
                <a:ea typeface="Arial"/>
                <a:cs typeface="Arial"/>
              </a:defRPr>
            </a:lvl5pPr>
            <a:lvl6pPr algn="l">
              <a:defRPr sz="2100" b="1">
                <a:solidFill>
                  <a:srgbClr val="0DBE85"/>
                </a:solidFill>
                <a:latin typeface="Arial"/>
                <a:ea typeface="Arial"/>
                <a:cs typeface="Arial"/>
              </a:defRPr>
            </a:lvl6pPr>
            <a:lvl7pPr algn="l">
              <a:defRPr sz="2100" b="1">
                <a:solidFill>
                  <a:srgbClr val="0DBE85"/>
                </a:solidFill>
                <a:latin typeface="Arial"/>
                <a:ea typeface="Arial"/>
                <a:cs typeface="Arial"/>
              </a:defRPr>
            </a:lvl7pPr>
            <a:lvl8pPr algn="l">
              <a:defRPr sz="2100" b="1">
                <a:solidFill>
                  <a:srgbClr val="0DBE85"/>
                </a:solidFill>
                <a:latin typeface="Arial"/>
                <a:ea typeface="Arial"/>
                <a:cs typeface="Arial"/>
              </a:defRPr>
            </a:lvl8pPr>
            <a:lvl9pPr algn="l">
              <a:defRPr sz="2100" b="1">
                <a:solidFill>
                  <a:srgbClr val="0DBE85"/>
                </a:solidFill>
                <a:latin typeface="Arial"/>
                <a:ea typeface="Arial"/>
                <a:cs typeface="Arial"/>
              </a:defRPr>
            </a:lvl9pPr>
          </a:lstStyle>
          <a:p>
            <a:pPr algn="l">
              <a:defRPr sz="2100" b="1">
                <a:solidFill>
                  <a:srgbClr val="0DBE85"/>
                </a:solidFill>
                <a:latin typeface="Arial"/>
                <a:ea typeface="Arial"/>
                <a:cs typeface="Arial"/>
              </a:defRPr>
            </a:pPr>
            <a:r>
              <a:rPr sz="2100" b="1">
                <a:solidFill>
                  <a:srgbClr val="0DBE85"/>
                </a:solidFill>
                <a:latin typeface="Outfit"/>
                <a:ea typeface="Arial"/>
                <a:cs typeface="Arial"/>
              </a:rPr>
              <a:t>US$0.60M closing cash includes the US$0.30M unspent contingency</a:t>
            </a:r>
            <a:endParaRPr/>
          </a:p>
        </p:txBody>
      </p:sp>
      <p:sp>
        <p:nvSpPr>
          <p:cNvPr id="1923833388" name="prime-text-70"/>
          <p:cNvSpPr>
            <a:spLocks noGrp="1"/>
          </p:cNvSpPr>
          <p:nvPr/>
        </p:nvSpPr>
        <p:spPr bwMode="auto">
          <a:xfrm>
            <a:off x="609600" y="6076950"/>
            <a:ext cx="10972800" cy="323850"/>
          </a:xfrm>
          <a:prstGeom prst="rect">
            <a:avLst/>
          </a:prstGeom>
          <a:noFill/>
          <a:ln w="0">
            <a:solidFill/>
            <a:prstDash val="solid"/>
          </a:ln>
        </p:spPr>
        <p:txBody>
          <a:bodyPr wrap="square" lIns="0" tIns="0" rIns="0" bIns="0" anchor="t">
            <a:noAutofit/>
          </a:bodyPr>
          <a:lstStyle>
            <a:defPPr algn="l">
              <a:defRPr sz="1450" b="0">
                <a:solidFill>
                  <a:srgbClr val="5D6A67"/>
                </a:solidFill>
                <a:latin typeface="Arial"/>
                <a:ea typeface="Arial"/>
                <a:cs typeface="Arial"/>
              </a:defRPr>
            </a:defPPr>
            <a:lvl1pPr algn="l">
              <a:defRPr sz="1450" b="0">
                <a:solidFill>
                  <a:srgbClr val="5D6A67"/>
                </a:solidFill>
                <a:latin typeface="Arial"/>
                <a:ea typeface="Arial"/>
                <a:cs typeface="Arial"/>
              </a:defRPr>
            </a:lvl1pPr>
            <a:lvl2pPr algn="l">
              <a:defRPr sz="1450" b="0">
                <a:solidFill>
                  <a:srgbClr val="5D6A67"/>
                </a:solidFill>
                <a:latin typeface="Arial"/>
                <a:ea typeface="Arial"/>
                <a:cs typeface="Arial"/>
              </a:defRPr>
            </a:lvl2pPr>
            <a:lvl3pPr algn="l">
              <a:defRPr sz="1450" b="0">
                <a:solidFill>
                  <a:srgbClr val="5D6A67"/>
                </a:solidFill>
                <a:latin typeface="Arial"/>
                <a:ea typeface="Arial"/>
                <a:cs typeface="Arial"/>
              </a:defRPr>
            </a:lvl3pPr>
            <a:lvl4pPr algn="l">
              <a:defRPr sz="1450" b="0">
                <a:solidFill>
                  <a:srgbClr val="5D6A67"/>
                </a:solidFill>
                <a:latin typeface="Arial"/>
                <a:ea typeface="Arial"/>
                <a:cs typeface="Arial"/>
              </a:defRPr>
            </a:lvl4pPr>
            <a:lvl5pPr algn="l">
              <a:defRPr sz="1450" b="0">
                <a:solidFill>
                  <a:srgbClr val="5D6A67"/>
                </a:solidFill>
                <a:latin typeface="Arial"/>
                <a:ea typeface="Arial"/>
                <a:cs typeface="Arial"/>
              </a:defRPr>
            </a:lvl5pPr>
            <a:lvl6pPr algn="l">
              <a:defRPr sz="1450" b="0">
                <a:solidFill>
                  <a:srgbClr val="5D6A67"/>
                </a:solidFill>
                <a:latin typeface="Arial"/>
                <a:ea typeface="Arial"/>
                <a:cs typeface="Arial"/>
              </a:defRPr>
            </a:lvl6pPr>
            <a:lvl7pPr algn="l">
              <a:defRPr sz="1450" b="0">
                <a:solidFill>
                  <a:srgbClr val="5D6A67"/>
                </a:solidFill>
                <a:latin typeface="Arial"/>
                <a:ea typeface="Arial"/>
                <a:cs typeface="Arial"/>
              </a:defRPr>
            </a:lvl7pPr>
            <a:lvl8pPr algn="l">
              <a:defRPr sz="1450" b="0">
                <a:solidFill>
                  <a:srgbClr val="5D6A67"/>
                </a:solidFill>
                <a:latin typeface="Arial"/>
                <a:ea typeface="Arial"/>
                <a:cs typeface="Arial"/>
              </a:defRPr>
            </a:lvl8pPr>
            <a:lvl9pPr algn="l">
              <a:defRPr sz="1450" b="0">
                <a:solidFill>
                  <a:srgbClr val="5D6A67"/>
                </a:solidFill>
                <a:latin typeface="Arial"/>
                <a:ea typeface="Arial"/>
                <a:cs typeface="Arial"/>
              </a:defRPr>
            </a:lvl9pPr>
          </a:lstStyle>
          <a:p>
            <a:pPr algn="l">
              <a:defRPr sz="1450" b="0">
                <a:solidFill>
                  <a:srgbClr val="5D6A67"/>
                </a:solidFill>
                <a:latin typeface="Arial"/>
                <a:ea typeface="Arial"/>
                <a:cs typeface="Arial"/>
              </a:defRPr>
            </a:pPr>
            <a:r>
              <a:rPr sz="1450" b="0">
                <a:solidFill>
                  <a:srgbClr val="5D6A67"/>
                </a:solidFill>
                <a:latin typeface="Plus Jakarta Sans"/>
                <a:ea typeface="Arial"/>
                <a:cs typeface="Arial"/>
              </a:rPr>
              <a:t>Planning assumptions. Fixed budget: slide 14. Tax, required capital, cash timing and partner minimums remain unmodeled.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411197092" name="prime-text-71"/>
          <p:cNvSpPr>
            <a:spLocks noGrp="1"/>
          </p:cNvSpPr>
          <p:nvPr/>
        </p:nvSpPr>
        <p:spPr bwMode="auto">
          <a:xfrm>
            <a:off x="609600" y="504825"/>
            <a:ext cx="10972800" cy="828675"/>
          </a:xfrm>
          <a:prstGeom prst="rect">
            <a:avLst/>
          </a:prstGeom>
          <a:noFill/>
          <a:ln w="0">
            <a:solidFill/>
            <a:prstDash val="solid"/>
          </a:ln>
        </p:spPr>
        <p:txBody>
          <a:bodyPr wrap="square" lIns="0" tIns="0" rIns="0" bIns="0" anchor="t">
            <a:noAutofit/>
          </a:bodyPr>
          <a:lstStyle>
            <a:defPPr algn="l">
              <a:defRPr sz="3300" b="1">
                <a:solidFill>
                  <a:srgbClr val="18201D"/>
                </a:solidFill>
                <a:latin typeface="Arial"/>
                <a:ea typeface="Arial"/>
                <a:cs typeface="Arial"/>
              </a:defRPr>
            </a:defPPr>
            <a:lvl1pPr algn="l">
              <a:defRPr sz="3300" b="1">
                <a:solidFill>
                  <a:srgbClr val="18201D"/>
                </a:solidFill>
                <a:latin typeface="Arial"/>
                <a:ea typeface="Arial"/>
                <a:cs typeface="Arial"/>
              </a:defRPr>
            </a:lvl1pPr>
            <a:lvl2pPr algn="l">
              <a:defRPr sz="3300" b="1">
                <a:solidFill>
                  <a:srgbClr val="18201D"/>
                </a:solidFill>
                <a:latin typeface="Arial"/>
                <a:ea typeface="Arial"/>
                <a:cs typeface="Arial"/>
              </a:defRPr>
            </a:lvl2pPr>
            <a:lvl3pPr algn="l">
              <a:defRPr sz="3300" b="1">
                <a:solidFill>
                  <a:srgbClr val="18201D"/>
                </a:solidFill>
                <a:latin typeface="Arial"/>
                <a:ea typeface="Arial"/>
                <a:cs typeface="Arial"/>
              </a:defRPr>
            </a:lvl3pPr>
            <a:lvl4pPr algn="l">
              <a:defRPr sz="3300" b="1">
                <a:solidFill>
                  <a:srgbClr val="18201D"/>
                </a:solidFill>
                <a:latin typeface="Arial"/>
                <a:ea typeface="Arial"/>
                <a:cs typeface="Arial"/>
              </a:defRPr>
            </a:lvl4pPr>
            <a:lvl5pPr algn="l">
              <a:defRPr sz="3300" b="1">
                <a:solidFill>
                  <a:srgbClr val="18201D"/>
                </a:solidFill>
                <a:latin typeface="Arial"/>
                <a:ea typeface="Arial"/>
                <a:cs typeface="Arial"/>
              </a:defRPr>
            </a:lvl5pPr>
            <a:lvl6pPr algn="l">
              <a:defRPr sz="3300" b="1">
                <a:solidFill>
                  <a:srgbClr val="18201D"/>
                </a:solidFill>
                <a:latin typeface="Arial"/>
                <a:ea typeface="Arial"/>
                <a:cs typeface="Arial"/>
              </a:defRPr>
            </a:lvl6pPr>
            <a:lvl7pPr algn="l">
              <a:defRPr sz="3300" b="1">
                <a:solidFill>
                  <a:srgbClr val="18201D"/>
                </a:solidFill>
                <a:latin typeface="Arial"/>
                <a:ea typeface="Arial"/>
                <a:cs typeface="Arial"/>
              </a:defRPr>
            </a:lvl7pPr>
            <a:lvl8pPr algn="l">
              <a:defRPr sz="3300" b="1">
                <a:solidFill>
                  <a:srgbClr val="18201D"/>
                </a:solidFill>
                <a:latin typeface="Arial"/>
                <a:ea typeface="Arial"/>
                <a:cs typeface="Arial"/>
              </a:defRPr>
            </a:lvl8pPr>
            <a:lvl9pPr algn="l">
              <a:defRPr sz="3300" b="1">
                <a:solidFill>
                  <a:srgbClr val="18201D"/>
                </a:solidFill>
                <a:latin typeface="Arial"/>
                <a:ea typeface="Arial"/>
                <a:cs typeface="Arial"/>
              </a:defRPr>
            </a:lvl9pPr>
          </a:lstStyle>
          <a:p>
            <a:pPr algn="l">
              <a:defRPr sz="3300" b="1">
                <a:solidFill>
                  <a:srgbClr val="18201D"/>
                </a:solidFill>
                <a:latin typeface="Arial"/>
                <a:ea typeface="Arial"/>
                <a:cs typeface="Arial"/>
              </a:defRPr>
            </a:pPr>
            <a:r>
              <a:rPr sz="3300" b="1">
                <a:solidFill>
                  <a:srgbClr val="18201D"/>
                </a:solidFill>
                <a:latin typeface="Outfit"/>
                <a:ea typeface="Arial"/>
                <a:cs typeface="Arial"/>
              </a:rPr>
              <a:t>The itemized 24-month fixed budget</a:t>
            </a:r>
            <a:endParaRPr/>
          </a:p>
        </p:txBody>
      </p:sp>
      <p:sp>
        <p:nvSpPr>
          <p:cNvPr id="204916671" name="prime-text-72"/>
          <p:cNvSpPr>
            <a:spLocks noGrp="1"/>
          </p:cNvSpPr>
          <p:nvPr/>
        </p:nvSpPr>
        <p:spPr bwMode="auto">
          <a:xfrm>
            <a:off x="609600" y="1409700"/>
            <a:ext cx="10972800" cy="609600"/>
          </a:xfrm>
          <a:prstGeom prst="rect">
            <a:avLst/>
          </a:prstGeom>
          <a:noFill/>
          <a:ln w="0">
            <a:solidFill/>
            <a:prstDash val="solid"/>
          </a:ln>
        </p:spPr>
        <p:txBody>
          <a:bodyPr wrap="square" lIns="0" tIns="0" rIns="0" bIns="0" anchor="t">
            <a:noAutofit/>
          </a:bodyPr>
          <a:lstStyle>
            <a:defPPr algn="l">
              <a:defRPr sz="1900" b="0">
                <a:solidFill>
                  <a:srgbClr val="5D6A67"/>
                </a:solidFill>
                <a:latin typeface="Arial"/>
                <a:ea typeface="Arial"/>
                <a:cs typeface="Arial"/>
              </a:defRPr>
            </a:defPPr>
            <a:lvl1pPr algn="l">
              <a:defRPr sz="1900" b="0">
                <a:solidFill>
                  <a:srgbClr val="5D6A67"/>
                </a:solidFill>
                <a:latin typeface="Arial"/>
                <a:ea typeface="Arial"/>
                <a:cs typeface="Arial"/>
              </a:defRPr>
            </a:lvl1pPr>
            <a:lvl2pPr algn="l">
              <a:defRPr sz="1900" b="0">
                <a:solidFill>
                  <a:srgbClr val="5D6A67"/>
                </a:solidFill>
                <a:latin typeface="Arial"/>
                <a:ea typeface="Arial"/>
                <a:cs typeface="Arial"/>
              </a:defRPr>
            </a:lvl2pPr>
            <a:lvl3pPr algn="l">
              <a:defRPr sz="1900" b="0">
                <a:solidFill>
                  <a:srgbClr val="5D6A67"/>
                </a:solidFill>
                <a:latin typeface="Arial"/>
                <a:ea typeface="Arial"/>
                <a:cs typeface="Arial"/>
              </a:defRPr>
            </a:lvl3pPr>
            <a:lvl4pPr algn="l">
              <a:defRPr sz="1900" b="0">
                <a:solidFill>
                  <a:srgbClr val="5D6A67"/>
                </a:solidFill>
                <a:latin typeface="Arial"/>
                <a:ea typeface="Arial"/>
                <a:cs typeface="Arial"/>
              </a:defRPr>
            </a:lvl4pPr>
            <a:lvl5pPr algn="l">
              <a:defRPr sz="1900" b="0">
                <a:solidFill>
                  <a:srgbClr val="5D6A67"/>
                </a:solidFill>
                <a:latin typeface="Arial"/>
                <a:ea typeface="Arial"/>
                <a:cs typeface="Arial"/>
              </a:defRPr>
            </a:lvl5pPr>
            <a:lvl6pPr algn="l">
              <a:defRPr sz="1900" b="0">
                <a:solidFill>
                  <a:srgbClr val="5D6A67"/>
                </a:solidFill>
                <a:latin typeface="Arial"/>
                <a:ea typeface="Arial"/>
                <a:cs typeface="Arial"/>
              </a:defRPr>
            </a:lvl6pPr>
            <a:lvl7pPr algn="l">
              <a:defRPr sz="1900" b="0">
                <a:solidFill>
                  <a:srgbClr val="5D6A67"/>
                </a:solidFill>
                <a:latin typeface="Arial"/>
                <a:ea typeface="Arial"/>
                <a:cs typeface="Arial"/>
              </a:defRPr>
            </a:lvl7pPr>
            <a:lvl8pPr algn="l">
              <a:defRPr sz="1900" b="0">
                <a:solidFill>
                  <a:srgbClr val="5D6A67"/>
                </a:solidFill>
                <a:latin typeface="Arial"/>
                <a:ea typeface="Arial"/>
                <a:cs typeface="Arial"/>
              </a:defRPr>
            </a:lvl8pPr>
            <a:lvl9pPr algn="l">
              <a:defRPr sz="1900" b="0">
                <a:solidFill>
                  <a:srgbClr val="5D6A67"/>
                </a:solidFill>
                <a:latin typeface="Arial"/>
                <a:ea typeface="Arial"/>
                <a:cs typeface="Arial"/>
              </a:defRPr>
            </a:lvl9pPr>
          </a:lstStyle>
          <a:p>
            <a:pPr algn="l">
              <a:defRPr sz="1900" b="0">
                <a:solidFill>
                  <a:srgbClr val="5D6A67"/>
                </a:solidFill>
                <a:latin typeface="Arial"/>
                <a:ea typeface="Arial"/>
                <a:cs typeface="Arial"/>
              </a:defRPr>
            </a:pPr>
            <a:r>
              <a:rPr sz="1900" b="0">
                <a:solidFill>
                  <a:srgbClr val="5D6A67"/>
                </a:solidFill>
                <a:latin typeface="Plus Jakarta Sans"/>
                <a:ea typeface="Arial"/>
                <a:cs typeface="Arial"/>
              </a:rPr>
              <a:t>Proposed operating allowances in US$ thousands, subject to priced scope.</a:t>
            </a:r>
            <a:endParaRPr/>
          </a:p>
        </p:txBody>
      </p:sp>
      <p:sp>
        <p:nvSpPr>
          <p:cNvPr id="628393222" name="prime-text-73"/>
          <p:cNvSpPr>
            <a:spLocks noGrp="1"/>
          </p:cNvSpPr>
          <p:nvPr/>
        </p:nvSpPr>
        <p:spPr bwMode="auto">
          <a:xfrm>
            <a:off x="609600" y="6438899"/>
            <a:ext cx="3619500" cy="238125"/>
          </a:xfrm>
          <a:prstGeom prst="rect">
            <a:avLst/>
          </a:prstGeom>
          <a:noFill/>
          <a:ln w="0">
            <a:solidFill/>
            <a:prstDash val="solid"/>
          </a:ln>
        </p:spPr>
        <p:txBody>
          <a:bodyPr wrap="square" lIns="0" tIns="0" rIns="0" bIns="0" anchor="t">
            <a:noAutofit/>
          </a:bodyPr>
          <a:lstStyle>
            <a:defPPr algn="l">
              <a:defRPr sz="1200" b="1">
                <a:solidFill>
                  <a:srgbClr val="0DBE85"/>
                </a:solidFill>
                <a:latin typeface="Arial"/>
                <a:ea typeface="Arial"/>
                <a:cs typeface="Arial"/>
              </a:defRPr>
            </a:defPPr>
            <a:lvl1pPr algn="l">
              <a:defRPr sz="1200" b="1">
                <a:solidFill>
                  <a:srgbClr val="0DBE85"/>
                </a:solidFill>
                <a:latin typeface="Arial"/>
                <a:ea typeface="Arial"/>
                <a:cs typeface="Arial"/>
              </a:defRPr>
            </a:lvl1pPr>
            <a:lvl2pPr algn="l">
              <a:defRPr sz="1200" b="1">
                <a:solidFill>
                  <a:srgbClr val="0DBE85"/>
                </a:solidFill>
                <a:latin typeface="Arial"/>
                <a:ea typeface="Arial"/>
                <a:cs typeface="Arial"/>
              </a:defRPr>
            </a:lvl2pPr>
            <a:lvl3pPr algn="l">
              <a:defRPr sz="1200" b="1">
                <a:solidFill>
                  <a:srgbClr val="0DBE85"/>
                </a:solidFill>
                <a:latin typeface="Arial"/>
                <a:ea typeface="Arial"/>
                <a:cs typeface="Arial"/>
              </a:defRPr>
            </a:lvl3pPr>
            <a:lvl4pPr algn="l">
              <a:defRPr sz="1200" b="1">
                <a:solidFill>
                  <a:srgbClr val="0DBE85"/>
                </a:solidFill>
                <a:latin typeface="Arial"/>
                <a:ea typeface="Arial"/>
                <a:cs typeface="Arial"/>
              </a:defRPr>
            </a:lvl4pPr>
            <a:lvl5pPr algn="l">
              <a:defRPr sz="1200" b="1">
                <a:solidFill>
                  <a:srgbClr val="0DBE85"/>
                </a:solidFill>
                <a:latin typeface="Arial"/>
                <a:ea typeface="Arial"/>
                <a:cs typeface="Arial"/>
              </a:defRPr>
            </a:lvl5pPr>
            <a:lvl6pPr algn="l">
              <a:defRPr sz="1200" b="1">
                <a:solidFill>
                  <a:srgbClr val="0DBE85"/>
                </a:solidFill>
                <a:latin typeface="Arial"/>
                <a:ea typeface="Arial"/>
                <a:cs typeface="Arial"/>
              </a:defRPr>
            </a:lvl6pPr>
            <a:lvl7pPr algn="l">
              <a:defRPr sz="1200" b="1">
                <a:solidFill>
                  <a:srgbClr val="0DBE85"/>
                </a:solidFill>
                <a:latin typeface="Arial"/>
                <a:ea typeface="Arial"/>
                <a:cs typeface="Arial"/>
              </a:defRPr>
            </a:lvl7pPr>
            <a:lvl8pPr algn="l">
              <a:defRPr sz="1200" b="1">
                <a:solidFill>
                  <a:srgbClr val="0DBE85"/>
                </a:solidFill>
                <a:latin typeface="Arial"/>
                <a:ea typeface="Arial"/>
                <a:cs typeface="Arial"/>
              </a:defRPr>
            </a:lvl8pPr>
            <a:lvl9pPr algn="l">
              <a:defRPr sz="1200" b="1">
                <a:solidFill>
                  <a:srgbClr val="0DBE85"/>
                </a:solidFill>
                <a:latin typeface="Arial"/>
                <a:ea typeface="Arial"/>
                <a:cs typeface="Arial"/>
              </a:defRPr>
            </a:lvl9pPr>
          </a:lstStyle>
          <a:p>
            <a:pPr algn="l">
              <a:defRPr sz="1200" b="1">
                <a:solidFill>
                  <a:srgbClr val="0DBE85"/>
                </a:solidFill>
                <a:latin typeface="Arial"/>
                <a:ea typeface="Arial"/>
                <a:cs typeface="Arial"/>
              </a:defRPr>
            </a:pPr>
            <a:r>
              <a:rPr sz="1200" b="1">
                <a:solidFill>
                  <a:srgbClr val="0AA372"/>
                </a:solidFill>
                <a:latin typeface="JetBrains Mono"/>
                <a:ea typeface="Arial"/>
                <a:cs typeface="Arial"/>
              </a:rPr>
              <a:t>D-SHARE / PRIME</a:t>
            </a:r>
            <a:endParaRPr/>
          </a:p>
        </p:txBody>
      </p:sp>
      <p:sp>
        <p:nvSpPr>
          <p:cNvPr id="1404547004" name="prime-text-74"/>
          <p:cNvSpPr>
            <a:spLocks noGrp="1"/>
          </p:cNvSpPr>
          <p:nvPr/>
        </p:nvSpPr>
        <p:spPr bwMode="auto">
          <a:xfrm>
            <a:off x="11020424" y="6438899"/>
            <a:ext cx="561975" cy="238125"/>
          </a:xfrm>
          <a:prstGeom prst="rect">
            <a:avLst/>
          </a:prstGeom>
          <a:noFill/>
          <a:ln w="0">
            <a:solidFill/>
            <a:prstDash val="solid"/>
          </a:ln>
        </p:spPr>
        <p:txBody>
          <a:bodyPr wrap="square" lIns="0" tIns="0" rIns="0" bIns="0" anchor="t">
            <a:noAutofit/>
          </a:bodyPr>
          <a:lstStyle>
            <a:defPPr algn="r">
              <a:defRPr sz="1200" b="0">
                <a:solidFill>
                  <a:srgbClr val="5D6A67"/>
                </a:solidFill>
                <a:latin typeface="Arial"/>
                <a:ea typeface="Arial"/>
                <a:cs typeface="Arial"/>
              </a:defRPr>
            </a:defPPr>
            <a:lvl1pPr algn="r">
              <a:defRPr sz="1200" b="0">
                <a:solidFill>
                  <a:srgbClr val="5D6A67"/>
                </a:solidFill>
                <a:latin typeface="Arial"/>
                <a:ea typeface="Arial"/>
                <a:cs typeface="Arial"/>
              </a:defRPr>
            </a:lvl1pPr>
            <a:lvl2pPr algn="r">
              <a:defRPr sz="1200" b="0">
                <a:solidFill>
                  <a:srgbClr val="5D6A67"/>
                </a:solidFill>
                <a:latin typeface="Arial"/>
                <a:ea typeface="Arial"/>
                <a:cs typeface="Arial"/>
              </a:defRPr>
            </a:lvl2pPr>
            <a:lvl3pPr algn="r">
              <a:defRPr sz="1200" b="0">
                <a:solidFill>
                  <a:srgbClr val="5D6A67"/>
                </a:solidFill>
                <a:latin typeface="Arial"/>
                <a:ea typeface="Arial"/>
                <a:cs typeface="Arial"/>
              </a:defRPr>
            </a:lvl3pPr>
            <a:lvl4pPr algn="r">
              <a:defRPr sz="1200" b="0">
                <a:solidFill>
                  <a:srgbClr val="5D6A67"/>
                </a:solidFill>
                <a:latin typeface="Arial"/>
                <a:ea typeface="Arial"/>
                <a:cs typeface="Arial"/>
              </a:defRPr>
            </a:lvl4pPr>
            <a:lvl5pPr algn="r">
              <a:defRPr sz="1200" b="0">
                <a:solidFill>
                  <a:srgbClr val="5D6A67"/>
                </a:solidFill>
                <a:latin typeface="Arial"/>
                <a:ea typeface="Arial"/>
                <a:cs typeface="Arial"/>
              </a:defRPr>
            </a:lvl5pPr>
            <a:lvl6pPr algn="r">
              <a:defRPr sz="1200" b="0">
                <a:solidFill>
                  <a:srgbClr val="5D6A67"/>
                </a:solidFill>
                <a:latin typeface="Arial"/>
                <a:ea typeface="Arial"/>
                <a:cs typeface="Arial"/>
              </a:defRPr>
            </a:lvl6pPr>
            <a:lvl7pPr algn="r">
              <a:defRPr sz="1200" b="0">
                <a:solidFill>
                  <a:srgbClr val="5D6A67"/>
                </a:solidFill>
                <a:latin typeface="Arial"/>
                <a:ea typeface="Arial"/>
                <a:cs typeface="Arial"/>
              </a:defRPr>
            </a:lvl7pPr>
            <a:lvl8pPr algn="r">
              <a:defRPr sz="1200" b="0">
                <a:solidFill>
                  <a:srgbClr val="5D6A67"/>
                </a:solidFill>
                <a:latin typeface="Arial"/>
                <a:ea typeface="Arial"/>
                <a:cs typeface="Arial"/>
              </a:defRPr>
            </a:lvl8pPr>
            <a:lvl9pPr algn="r">
              <a:defRPr sz="1200" b="0">
                <a:solidFill>
                  <a:srgbClr val="5D6A67"/>
                </a:solidFill>
                <a:latin typeface="Arial"/>
                <a:ea typeface="Arial"/>
                <a:cs typeface="Arial"/>
              </a:defRPr>
            </a:lvl9pPr>
          </a:lstStyle>
          <a:p>
            <a:pPr algn="r">
              <a:defRPr sz="1200" b="0">
                <a:solidFill>
                  <a:srgbClr val="5D6A67"/>
                </a:solidFill>
                <a:latin typeface="Arial"/>
                <a:ea typeface="Arial"/>
                <a:cs typeface="Arial"/>
              </a:defRPr>
            </a:pPr>
            <a:r>
              <a:rPr sz="1200" b="0">
                <a:solidFill>
                  <a:srgbClr val="5D6A67"/>
                </a:solidFill>
                <a:latin typeface="JetBrains Mono"/>
                <a:ea typeface="Arial"/>
                <a:cs typeface="Arial"/>
              </a:rPr>
              <a:t>14</a:t>
            </a:r>
            <a:endParaRPr/>
          </a:p>
        </p:txBody>
      </p:sp>
      <p:graphicFrame>
        <p:nvGraphicFramePr>
          <p:cNvPr id="1317601151" name=""/>
          <p:cNvGraphicFramePr>
            <a:graphicFrameLocks xmlns:a="http://schemas.openxmlformats.org/drawingml/2006/main"/>
          </p:cNvGraphicFramePr>
          <p:nvPr/>
        </p:nvGraphicFramePr>
        <p:xfrm rot="0">
          <a:off x="609600" y="2000250"/>
          <a:ext cx="10972800" cy="3752850"/>
        </p:xfrm>
        <a:graphic>
          <a:graphicData uri="http://schemas.openxmlformats.org/drawingml/2006/table">
            <a:tbl>
              <a:tblPr firstRow="1" firstCol="0" lastRow="0" lastCol="0" bandRow="0" bandCol="0"/>
              <a:tblGrid>
                <a:gridCol w="5429250"/>
                <a:gridCol w="1847850"/>
                <a:gridCol w="1847850"/>
                <a:gridCol w="1847850"/>
              </a:tblGrid>
              <a:tr h="312738">
                <a:tc>
                  <a:txBody>
                    <a:bodyPr/>
                    <a:p>
                      <a:pPr>
                        <a:defRPr/>
                      </a:pPr>
                      <a:r>
                        <a:rPr sz="1500" b="1">
                          <a:solidFill>
                            <a:srgbClr val="FFFFFF"/>
                          </a:solidFill>
                          <a:latin typeface="Outfit"/>
                          <a:ea typeface="Arial"/>
                          <a:cs typeface="Arial"/>
                        </a:rPr>
                        <a:t>Fixed operating line</a:t>
                      </a:r>
                      <a:endParaRPr/>
                    </a:p>
                  </a:txBody>
                  <a:tcPr marL="91440" marR="91440" marT="45720" marB="45720" anchor="ctr">
                    <a:lnL w="9525" algn="ctr">
                      <a:solidFill>
                        <a:srgbClr val="0DBE85"/>
                      </a:solidFill>
                    </a:lnL>
                    <a:lnR w="9525" algn="ctr">
                      <a:solidFill>
                        <a:srgbClr val="0DBE85"/>
                      </a:solidFill>
                    </a:lnR>
                    <a:lnT w="9525" algn="ctr">
                      <a:solidFill>
                        <a:srgbClr val="0DBE85"/>
                      </a:solidFill>
                    </a:lnT>
                    <a:lnB w="9525" algn="ctr">
                      <a:solidFill>
                        <a:srgbClr val="0DBE85"/>
                      </a:solidFill>
                    </a:lnB>
                    <a:solidFill>
                      <a:srgbClr val="0AA372"/>
                    </a:solidFill>
                  </a:tcPr>
                </a:tc>
                <a:tc>
                  <a:txBody>
                    <a:bodyPr/>
                    <a:p>
                      <a:pPr>
                        <a:defRPr/>
                      </a:pPr>
                      <a:r>
                        <a:rPr sz="1500" b="1">
                          <a:solidFill>
                            <a:srgbClr val="FFFFFF"/>
                          </a:solidFill>
                          <a:latin typeface="Outfit"/>
                          <a:ea typeface="Arial"/>
                          <a:cs typeface="Arial"/>
                        </a:rPr>
                        <a:t>Year 1</a:t>
                      </a:r>
                      <a:endParaRPr/>
                    </a:p>
                  </a:txBody>
                  <a:tcPr marL="91440" marR="91440" marT="45720" marB="45720" anchor="ctr">
                    <a:lnR w="9525" algn="ctr">
                      <a:solidFill>
                        <a:srgbClr val="0DBE85"/>
                      </a:solidFill>
                    </a:lnR>
                    <a:lnT w="9525" algn="ctr">
                      <a:solidFill>
                        <a:srgbClr val="0DBE85"/>
                      </a:solidFill>
                    </a:lnT>
                    <a:lnB w="9525" algn="ctr">
                      <a:solidFill>
                        <a:srgbClr val="0DBE85"/>
                      </a:solidFill>
                    </a:lnB>
                    <a:solidFill>
                      <a:srgbClr val="0AA372"/>
                    </a:solidFill>
                    <a:lnL w="12000">
                      <a:solidFill>
                        <a:srgbClr val="0DBE85"/>
                      </a:solidFill>
                      <a:prstDash val="solid"/>
                    </a:lnL>
                  </a:tcPr>
                </a:tc>
                <a:tc>
                  <a:txBody>
                    <a:bodyPr/>
                    <a:p>
                      <a:pPr>
                        <a:defRPr/>
                      </a:pPr>
                      <a:r>
                        <a:rPr sz="1500" b="1">
                          <a:solidFill>
                            <a:srgbClr val="FFFFFF"/>
                          </a:solidFill>
                          <a:latin typeface="Outfit"/>
                          <a:ea typeface="Arial"/>
                          <a:cs typeface="Arial"/>
                        </a:rPr>
                        <a:t>Year 2</a:t>
                      </a:r>
                      <a:endParaRPr/>
                    </a:p>
                  </a:txBody>
                  <a:tcPr marL="91440" marR="91440" marT="45720" marB="45720" anchor="ctr">
                    <a:lnR w="9525" algn="ctr">
                      <a:solidFill>
                        <a:srgbClr val="0DBE85"/>
                      </a:solidFill>
                    </a:lnR>
                    <a:lnT w="9525" algn="ctr">
                      <a:solidFill>
                        <a:srgbClr val="0DBE85"/>
                      </a:solidFill>
                    </a:lnT>
                    <a:lnB w="9525" algn="ctr">
                      <a:solidFill>
                        <a:srgbClr val="0DBE85"/>
                      </a:solidFill>
                    </a:lnB>
                    <a:solidFill>
                      <a:srgbClr val="0AA372"/>
                    </a:solidFill>
                    <a:lnL w="12000">
                      <a:solidFill>
                        <a:srgbClr val="0DBE85"/>
                      </a:solidFill>
                      <a:prstDash val="solid"/>
                    </a:lnL>
                  </a:tcPr>
                </a:tc>
                <a:tc>
                  <a:txBody>
                    <a:bodyPr/>
                    <a:p>
                      <a:pPr>
                        <a:defRPr/>
                      </a:pPr>
                      <a:r>
                        <a:rPr sz="1500" b="1">
                          <a:solidFill>
                            <a:srgbClr val="FFFFFF"/>
                          </a:solidFill>
                          <a:latin typeface="Outfit"/>
                          <a:ea typeface="Arial"/>
                          <a:cs typeface="Arial"/>
                        </a:rPr>
                        <a:t>24M total</a:t>
                      </a:r>
                      <a:endParaRPr/>
                    </a:p>
                  </a:txBody>
                  <a:tcPr marL="91440" marR="91440" marT="45720" marB="45720" anchor="ctr">
                    <a:lnR w="9525" algn="ctr">
                      <a:solidFill>
                        <a:srgbClr val="0DBE85"/>
                      </a:solidFill>
                    </a:lnR>
                    <a:lnT w="9525" algn="ctr">
                      <a:solidFill>
                        <a:srgbClr val="0DBE85"/>
                      </a:solidFill>
                    </a:lnT>
                    <a:lnB w="9525" algn="ctr">
                      <a:solidFill>
                        <a:srgbClr val="0DBE85"/>
                      </a:solidFill>
                    </a:lnB>
                    <a:solidFill>
                      <a:srgbClr val="0AA372"/>
                    </a:solidFill>
                    <a:lnL w="12000">
                      <a:solidFill>
                        <a:srgbClr val="0DBE85"/>
                      </a:solidFill>
                      <a:prstDash val="solid"/>
                    </a:lnL>
                  </a:tcPr>
                </a:tc>
              </a:tr>
              <a:tr h="312738">
                <a:tc>
                  <a:txBody>
                    <a:bodyPr/>
                    <a:p>
                      <a:pPr>
                        <a:defRPr/>
                      </a:pPr>
                      <a:r>
                        <a:rPr sz="1600" b="0">
                          <a:solidFill>
                            <a:srgbClr val="18201D"/>
                          </a:solidFill>
                          <a:latin typeface="Plus Jakarta Sans"/>
                          <a:ea typeface="Arial"/>
                          <a:cs typeface="Arial"/>
                        </a:rPr>
                        <a:t>Engineering delivery capacity</a:t>
                      </a:r>
                      <a:endParaRPr/>
                    </a:p>
                  </a:txBody>
                  <a:tcPr marL="91440" marR="91440" marT="45720" marB="45720" anchor="ctr">
                    <a:lnL w="9525" algn="ctr">
                      <a:solidFill>
                        <a:srgbClr val="D7DFDA"/>
                      </a:solidFill>
                    </a:lnL>
                    <a:lnR w="9525" algn="ctr">
                      <a:solidFill>
                        <a:srgbClr val="D7DFDA"/>
                      </a:solidFill>
                    </a:lnR>
                    <a:lnB w="9525" algn="ctr">
                      <a:solidFill>
                        <a:srgbClr val="D7DFDA"/>
                      </a:solidFill>
                    </a:lnB>
                    <a:solidFill>
                      <a:srgbClr val="F9FAFB"/>
                    </a:solidFill>
                    <a:lnT w="9525">
                      <a:solidFill>
                        <a:srgbClr val="D7DFDA"/>
                      </a:solidFill>
                      <a:prstDash val="solid"/>
                    </a:lnT>
                  </a:tcPr>
                </a:tc>
                <a:tc>
                  <a:txBody>
                    <a:bodyPr/>
                    <a:p>
                      <a:pPr>
                        <a:defRPr/>
                      </a:pPr>
                      <a:r>
                        <a:rPr sz="1600" b="0">
                          <a:solidFill>
                            <a:srgbClr val="18201D"/>
                          </a:solidFill>
                          <a:latin typeface="Plus Jakarta Sans"/>
                          <a:ea typeface="Arial"/>
                          <a:cs typeface="Arial"/>
                        </a:rPr>
                        <a:t>300</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c>
                  <a:txBody>
                    <a:bodyPr/>
                    <a:p>
                      <a:pPr>
                        <a:defRPr/>
                      </a:pPr>
                      <a:r>
                        <a:rPr sz="1600" b="0">
                          <a:solidFill>
                            <a:srgbClr val="18201D"/>
                          </a:solidFill>
                          <a:latin typeface="Plus Jakarta Sans"/>
                          <a:ea typeface="Arial"/>
                          <a:cs typeface="Arial"/>
                        </a:rPr>
                        <a:t>300</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c>
                  <a:txBody>
                    <a:bodyPr/>
                    <a:p>
                      <a:pPr>
                        <a:defRPr/>
                      </a:pPr>
                      <a:r>
                        <a:rPr sz="1600" b="0">
                          <a:solidFill>
                            <a:srgbClr val="18201D"/>
                          </a:solidFill>
                          <a:latin typeface="Plus Jakarta Sans"/>
                          <a:ea typeface="Arial"/>
                          <a:cs typeface="Arial"/>
                        </a:rPr>
                        <a:t>600</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r>
              <a:tr h="312738">
                <a:tc>
                  <a:txBody>
                    <a:bodyPr/>
                    <a:p>
                      <a:pPr>
                        <a:defRPr/>
                      </a:pPr>
                      <a:r>
                        <a:rPr sz="1600" b="0">
                          <a:solidFill>
                            <a:srgbClr val="18201D"/>
                          </a:solidFill>
                          <a:latin typeface="Plus Jakarta Sans"/>
                          <a:ea typeface="Arial"/>
                          <a:cs typeface="Arial"/>
                        </a:rPr>
                        <a:t>Product and integration lead</a:t>
                      </a:r>
                      <a:endParaRPr/>
                    </a:p>
                  </a:txBody>
                  <a:tcPr marL="91440" marR="91440" marT="45720" marB="45720" anchor="ctr">
                    <a:lnL w="9525" algn="ctr">
                      <a:solidFill>
                        <a:srgbClr val="D7DFDA"/>
                      </a:solidFill>
                    </a:lnL>
                    <a:lnR w="9525" algn="ctr">
                      <a:solidFill>
                        <a:srgbClr val="D7DFDA"/>
                      </a:solidFill>
                    </a:lnR>
                    <a:lnB w="9525" algn="ctr">
                      <a:solidFill>
                        <a:srgbClr val="D7DFDA"/>
                      </a:solidFill>
                    </a:lnB>
                    <a:solidFill>
                      <a:srgbClr val="FFFFFF"/>
                    </a:solidFill>
                    <a:lnT w="9525">
                      <a:solidFill>
                        <a:srgbClr val="D7DFDA"/>
                      </a:solidFill>
                      <a:prstDash val="solid"/>
                    </a:lnT>
                  </a:tcPr>
                </a:tc>
                <a:tc>
                  <a:txBody>
                    <a:bodyPr/>
                    <a:p>
                      <a:pPr>
                        <a:defRPr/>
                      </a:pPr>
                      <a:r>
                        <a:rPr sz="1600" b="0">
                          <a:solidFill>
                            <a:srgbClr val="18201D"/>
                          </a:solidFill>
                          <a:latin typeface="Plus Jakarta Sans"/>
                          <a:ea typeface="Arial"/>
                          <a:cs typeface="Arial"/>
                        </a:rPr>
                        <a:t>150</a:t>
                      </a:r>
                      <a:endParaRPr/>
                    </a:p>
                  </a:txBody>
                  <a:tcPr marL="91440" marR="91440" marT="45720" marB="45720" anchor="ctr">
                    <a:lnR w="9525" algn="ctr">
                      <a:solidFill>
                        <a:srgbClr val="D7DFDA"/>
                      </a:solidFill>
                    </a:lnR>
                    <a:lnB w="9525" algn="ctr">
                      <a:solidFill>
                        <a:srgbClr val="D7DFDA"/>
                      </a:solidFill>
                    </a:lnB>
                    <a:solidFill>
                      <a:srgbClr val="FFFFFF"/>
                    </a:solidFill>
                    <a:lnL w="9525">
                      <a:solidFill>
                        <a:srgbClr val="D7DFDA"/>
                      </a:solidFill>
                      <a:prstDash val="solid"/>
                    </a:lnL>
                    <a:lnT w="9525">
                      <a:solidFill>
                        <a:srgbClr val="D7DFDA"/>
                      </a:solidFill>
                      <a:prstDash val="solid"/>
                    </a:lnT>
                  </a:tcPr>
                </a:tc>
                <a:tc>
                  <a:txBody>
                    <a:bodyPr/>
                    <a:p>
                      <a:pPr>
                        <a:defRPr/>
                      </a:pPr>
                      <a:r>
                        <a:rPr sz="1600" b="0">
                          <a:solidFill>
                            <a:srgbClr val="18201D"/>
                          </a:solidFill>
                          <a:latin typeface="Plus Jakarta Sans"/>
                          <a:ea typeface="Arial"/>
                          <a:cs typeface="Arial"/>
                        </a:rPr>
                        <a:t>150</a:t>
                      </a:r>
                      <a:endParaRPr/>
                    </a:p>
                  </a:txBody>
                  <a:tcPr marL="91440" marR="91440" marT="45720" marB="45720" anchor="ctr">
                    <a:lnR w="9525" algn="ctr">
                      <a:solidFill>
                        <a:srgbClr val="D7DFDA"/>
                      </a:solidFill>
                    </a:lnR>
                    <a:lnB w="9525" algn="ctr">
                      <a:solidFill>
                        <a:srgbClr val="D7DFDA"/>
                      </a:solidFill>
                    </a:lnB>
                    <a:solidFill>
                      <a:srgbClr val="FFFFFF"/>
                    </a:solidFill>
                    <a:lnL w="9525">
                      <a:solidFill>
                        <a:srgbClr val="D7DFDA"/>
                      </a:solidFill>
                      <a:prstDash val="solid"/>
                    </a:lnL>
                    <a:lnT w="9525">
                      <a:solidFill>
                        <a:srgbClr val="D7DFDA"/>
                      </a:solidFill>
                      <a:prstDash val="solid"/>
                    </a:lnT>
                  </a:tcPr>
                </a:tc>
                <a:tc>
                  <a:txBody>
                    <a:bodyPr/>
                    <a:p>
                      <a:pPr>
                        <a:defRPr/>
                      </a:pPr>
                      <a:r>
                        <a:rPr sz="1600" b="0">
                          <a:solidFill>
                            <a:srgbClr val="18201D"/>
                          </a:solidFill>
                          <a:latin typeface="Plus Jakarta Sans"/>
                          <a:ea typeface="Arial"/>
                          <a:cs typeface="Arial"/>
                        </a:rPr>
                        <a:t>300</a:t>
                      </a:r>
                      <a:endParaRPr/>
                    </a:p>
                  </a:txBody>
                  <a:tcPr marL="91440" marR="91440" marT="45720" marB="45720" anchor="ctr">
                    <a:lnR w="9525" algn="ctr">
                      <a:solidFill>
                        <a:srgbClr val="D7DFDA"/>
                      </a:solidFill>
                    </a:lnR>
                    <a:lnB w="9525" algn="ctr">
                      <a:solidFill>
                        <a:srgbClr val="D7DFDA"/>
                      </a:solidFill>
                    </a:lnB>
                    <a:solidFill>
                      <a:srgbClr val="FFFFFF"/>
                    </a:solidFill>
                    <a:lnL w="9525">
                      <a:solidFill>
                        <a:srgbClr val="D7DFDA"/>
                      </a:solidFill>
                      <a:prstDash val="solid"/>
                    </a:lnL>
                    <a:lnT w="9525">
                      <a:solidFill>
                        <a:srgbClr val="D7DFDA"/>
                      </a:solidFill>
                      <a:prstDash val="solid"/>
                    </a:lnT>
                  </a:tcPr>
                </a:tc>
              </a:tr>
              <a:tr h="312738">
                <a:tc>
                  <a:txBody>
                    <a:bodyPr/>
                    <a:p>
                      <a:pPr>
                        <a:defRPr/>
                      </a:pPr>
                      <a:r>
                        <a:rPr sz="1600" b="0">
                          <a:solidFill>
                            <a:srgbClr val="18201D"/>
                          </a:solidFill>
                          <a:latin typeface="Plus Jakarta Sans"/>
                          <a:ea typeface="Arial"/>
                          <a:cs typeface="Arial"/>
                        </a:rPr>
                        <a:t>Security audit and testing</a:t>
                      </a:r>
                      <a:endParaRPr/>
                    </a:p>
                  </a:txBody>
                  <a:tcPr marL="91440" marR="91440" marT="45720" marB="45720" anchor="ctr">
                    <a:lnL w="9525" algn="ctr">
                      <a:solidFill>
                        <a:srgbClr val="D7DFDA"/>
                      </a:solidFill>
                    </a:lnL>
                    <a:lnR w="9525" algn="ctr">
                      <a:solidFill>
                        <a:srgbClr val="D7DFDA"/>
                      </a:solidFill>
                    </a:lnR>
                    <a:lnB w="9525" algn="ctr">
                      <a:solidFill>
                        <a:srgbClr val="D7DFDA"/>
                      </a:solidFill>
                    </a:lnB>
                    <a:solidFill>
                      <a:srgbClr val="F9FAFB"/>
                    </a:solidFill>
                    <a:lnT w="9525">
                      <a:solidFill>
                        <a:srgbClr val="D7DFDA"/>
                      </a:solidFill>
                      <a:prstDash val="solid"/>
                    </a:lnT>
                  </a:tcPr>
                </a:tc>
                <a:tc>
                  <a:txBody>
                    <a:bodyPr/>
                    <a:p>
                      <a:pPr>
                        <a:defRPr/>
                      </a:pPr>
                      <a:r>
                        <a:rPr sz="1600" b="0">
                          <a:solidFill>
                            <a:srgbClr val="18201D"/>
                          </a:solidFill>
                          <a:latin typeface="Plus Jakarta Sans"/>
                          <a:ea typeface="Arial"/>
                          <a:cs typeface="Arial"/>
                        </a:rPr>
                        <a:t>60</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c>
                  <a:txBody>
                    <a:bodyPr/>
                    <a:p>
                      <a:pPr>
                        <a:defRPr/>
                      </a:pPr>
                      <a:r>
                        <a:rPr sz="1600" b="0">
                          <a:solidFill>
                            <a:srgbClr val="18201D"/>
                          </a:solidFill>
                          <a:latin typeface="Plus Jakarta Sans"/>
                          <a:ea typeface="Arial"/>
                          <a:cs typeface="Arial"/>
                        </a:rPr>
                        <a:t>120</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c>
                  <a:txBody>
                    <a:bodyPr/>
                    <a:p>
                      <a:pPr>
                        <a:defRPr/>
                      </a:pPr>
                      <a:r>
                        <a:rPr sz="1600" b="0">
                          <a:solidFill>
                            <a:srgbClr val="18201D"/>
                          </a:solidFill>
                          <a:latin typeface="Plus Jakarta Sans"/>
                          <a:ea typeface="Arial"/>
                          <a:cs typeface="Arial"/>
                        </a:rPr>
                        <a:t>180</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r>
              <a:tr h="312738">
                <a:tc>
                  <a:txBody>
                    <a:bodyPr/>
                    <a:p>
                      <a:pPr>
                        <a:defRPr/>
                      </a:pPr>
                      <a:r>
                        <a:rPr sz="1600" b="0">
                          <a:solidFill>
                            <a:srgbClr val="18201D"/>
                          </a:solidFill>
                          <a:latin typeface="Plus Jakarta Sans"/>
                          <a:ea typeface="Arial"/>
                          <a:cs typeface="Arial"/>
                        </a:rPr>
                        <a:t>Cloud, data and development tools</a:t>
                      </a:r>
                      <a:endParaRPr/>
                    </a:p>
                  </a:txBody>
                  <a:tcPr marL="91440" marR="91440" marT="45720" marB="45720" anchor="ctr">
                    <a:lnL w="9525" algn="ctr">
                      <a:solidFill>
                        <a:srgbClr val="D7DFDA"/>
                      </a:solidFill>
                    </a:lnL>
                    <a:lnR w="9525" algn="ctr">
                      <a:solidFill>
                        <a:srgbClr val="D7DFDA"/>
                      </a:solidFill>
                    </a:lnR>
                    <a:lnB w="9525" algn="ctr">
                      <a:solidFill>
                        <a:srgbClr val="D7DFDA"/>
                      </a:solidFill>
                    </a:lnB>
                    <a:solidFill>
                      <a:srgbClr val="FFFFFF"/>
                    </a:solidFill>
                    <a:lnT w="9525">
                      <a:solidFill>
                        <a:srgbClr val="D7DFDA"/>
                      </a:solidFill>
                      <a:prstDash val="solid"/>
                    </a:lnT>
                  </a:tcPr>
                </a:tc>
                <a:tc>
                  <a:txBody>
                    <a:bodyPr/>
                    <a:p>
                      <a:pPr>
                        <a:defRPr/>
                      </a:pPr>
                      <a:r>
                        <a:rPr sz="1600" b="0">
                          <a:solidFill>
                            <a:srgbClr val="18201D"/>
                          </a:solidFill>
                          <a:latin typeface="Plus Jakarta Sans"/>
                          <a:ea typeface="Arial"/>
                          <a:cs typeface="Arial"/>
                        </a:rPr>
                        <a:t>45</a:t>
                      </a:r>
                      <a:endParaRPr/>
                    </a:p>
                  </a:txBody>
                  <a:tcPr marL="91440" marR="91440" marT="45720" marB="45720" anchor="ctr">
                    <a:lnR w="9525" algn="ctr">
                      <a:solidFill>
                        <a:srgbClr val="D7DFDA"/>
                      </a:solidFill>
                    </a:lnR>
                    <a:lnB w="9525" algn="ctr">
                      <a:solidFill>
                        <a:srgbClr val="D7DFDA"/>
                      </a:solidFill>
                    </a:lnB>
                    <a:solidFill>
                      <a:srgbClr val="FFFFFF"/>
                    </a:solidFill>
                    <a:lnL w="9525">
                      <a:solidFill>
                        <a:srgbClr val="D7DFDA"/>
                      </a:solidFill>
                      <a:prstDash val="solid"/>
                    </a:lnL>
                    <a:lnT w="9525">
                      <a:solidFill>
                        <a:srgbClr val="D7DFDA"/>
                      </a:solidFill>
                      <a:prstDash val="solid"/>
                    </a:lnT>
                  </a:tcPr>
                </a:tc>
                <a:tc>
                  <a:txBody>
                    <a:bodyPr/>
                    <a:p>
                      <a:pPr>
                        <a:defRPr/>
                      </a:pPr>
                      <a:r>
                        <a:rPr sz="1600" b="0">
                          <a:solidFill>
                            <a:srgbClr val="18201D"/>
                          </a:solidFill>
                          <a:latin typeface="Plus Jakarta Sans"/>
                          <a:ea typeface="Arial"/>
                          <a:cs typeface="Arial"/>
                        </a:rPr>
                        <a:t>75</a:t>
                      </a:r>
                      <a:endParaRPr/>
                    </a:p>
                  </a:txBody>
                  <a:tcPr marL="91440" marR="91440" marT="45720" marB="45720" anchor="ctr">
                    <a:lnR w="9525" algn="ctr">
                      <a:solidFill>
                        <a:srgbClr val="D7DFDA"/>
                      </a:solidFill>
                    </a:lnR>
                    <a:lnB w="9525" algn="ctr">
                      <a:solidFill>
                        <a:srgbClr val="D7DFDA"/>
                      </a:solidFill>
                    </a:lnB>
                    <a:solidFill>
                      <a:srgbClr val="FFFFFF"/>
                    </a:solidFill>
                    <a:lnL w="9525">
                      <a:solidFill>
                        <a:srgbClr val="D7DFDA"/>
                      </a:solidFill>
                      <a:prstDash val="solid"/>
                    </a:lnL>
                    <a:lnT w="9525">
                      <a:solidFill>
                        <a:srgbClr val="D7DFDA"/>
                      </a:solidFill>
                      <a:prstDash val="solid"/>
                    </a:lnT>
                  </a:tcPr>
                </a:tc>
                <a:tc>
                  <a:txBody>
                    <a:bodyPr/>
                    <a:p>
                      <a:pPr>
                        <a:defRPr/>
                      </a:pPr>
                      <a:r>
                        <a:rPr sz="1600" b="0">
                          <a:solidFill>
                            <a:srgbClr val="18201D"/>
                          </a:solidFill>
                          <a:latin typeface="Plus Jakarta Sans"/>
                          <a:ea typeface="Arial"/>
                          <a:cs typeface="Arial"/>
                        </a:rPr>
                        <a:t>120</a:t>
                      </a:r>
                      <a:endParaRPr/>
                    </a:p>
                  </a:txBody>
                  <a:tcPr marL="91440" marR="91440" marT="45720" marB="45720" anchor="ctr">
                    <a:lnR w="9525" algn="ctr">
                      <a:solidFill>
                        <a:srgbClr val="D7DFDA"/>
                      </a:solidFill>
                    </a:lnR>
                    <a:lnB w="9525" algn="ctr">
                      <a:solidFill>
                        <a:srgbClr val="D7DFDA"/>
                      </a:solidFill>
                    </a:lnB>
                    <a:solidFill>
                      <a:srgbClr val="FFFFFF"/>
                    </a:solidFill>
                    <a:lnL w="9525">
                      <a:solidFill>
                        <a:srgbClr val="D7DFDA"/>
                      </a:solidFill>
                      <a:prstDash val="solid"/>
                    </a:lnL>
                    <a:lnT w="9525">
                      <a:solidFill>
                        <a:srgbClr val="D7DFDA"/>
                      </a:solidFill>
                      <a:prstDash val="solid"/>
                    </a:lnT>
                  </a:tcPr>
                </a:tc>
              </a:tr>
              <a:tr h="312738">
                <a:tc>
                  <a:txBody>
                    <a:bodyPr/>
                    <a:p>
                      <a:pPr>
                        <a:defRPr/>
                      </a:pPr>
                      <a:r>
                        <a:rPr sz="1600" b="0">
                          <a:solidFill>
                            <a:srgbClr val="18201D"/>
                          </a:solidFill>
                          <a:latin typeface="Plus Jakarta Sans"/>
                          <a:ea typeface="Arial"/>
                          <a:cs typeface="Arial"/>
                        </a:rPr>
                        <a:t>Securities counsel / programme docs</a:t>
                      </a:r>
                      <a:endParaRPr/>
                    </a:p>
                  </a:txBody>
                  <a:tcPr marL="91440" marR="91440" marT="45720" marB="45720" anchor="ctr">
                    <a:lnL w="9525" algn="ctr">
                      <a:solidFill>
                        <a:srgbClr val="D7DFDA"/>
                      </a:solidFill>
                    </a:lnL>
                    <a:lnR w="9525" algn="ctr">
                      <a:solidFill>
                        <a:srgbClr val="D7DFDA"/>
                      </a:solidFill>
                    </a:lnR>
                    <a:lnB w="9525" algn="ctr">
                      <a:solidFill>
                        <a:srgbClr val="D7DFDA"/>
                      </a:solidFill>
                    </a:lnB>
                    <a:solidFill>
                      <a:srgbClr val="F9FAFB"/>
                    </a:solidFill>
                    <a:lnT w="9525">
                      <a:solidFill>
                        <a:srgbClr val="D7DFDA"/>
                      </a:solidFill>
                      <a:prstDash val="solid"/>
                    </a:lnT>
                  </a:tcPr>
                </a:tc>
                <a:tc>
                  <a:txBody>
                    <a:bodyPr/>
                    <a:p>
                      <a:pPr>
                        <a:defRPr/>
                      </a:pPr>
                      <a:r>
                        <a:rPr sz="1600" b="0">
                          <a:solidFill>
                            <a:srgbClr val="18201D"/>
                          </a:solidFill>
                          <a:latin typeface="Plus Jakarta Sans"/>
                          <a:ea typeface="Arial"/>
                          <a:cs typeface="Arial"/>
                        </a:rPr>
                        <a:t>240</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c>
                  <a:txBody>
                    <a:bodyPr/>
                    <a:p>
                      <a:pPr>
                        <a:defRPr/>
                      </a:pPr>
                      <a:r>
                        <a:rPr sz="1600" b="0">
                          <a:solidFill>
                            <a:srgbClr val="18201D"/>
                          </a:solidFill>
                          <a:latin typeface="Plus Jakarta Sans"/>
                          <a:ea typeface="Arial"/>
                          <a:cs typeface="Arial"/>
                        </a:rPr>
                        <a:t>120</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c>
                  <a:txBody>
                    <a:bodyPr/>
                    <a:p>
                      <a:pPr>
                        <a:defRPr/>
                      </a:pPr>
                      <a:r>
                        <a:rPr sz="1600" b="0">
                          <a:solidFill>
                            <a:srgbClr val="18201D"/>
                          </a:solidFill>
                          <a:latin typeface="Plus Jakarta Sans"/>
                          <a:ea typeface="Arial"/>
                          <a:cs typeface="Arial"/>
                        </a:rPr>
                        <a:t>360</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r>
              <a:tr h="312738">
                <a:tc>
                  <a:txBody>
                    <a:bodyPr/>
                    <a:p>
                      <a:pPr>
                        <a:defRPr/>
                      </a:pPr>
                      <a:r>
                        <a:rPr sz="1600" b="0">
                          <a:solidFill>
                            <a:srgbClr val="18201D"/>
                          </a:solidFill>
                          <a:latin typeface="Plus Jakarta Sans"/>
                          <a:ea typeface="Arial"/>
                          <a:cs typeface="Arial"/>
                        </a:rPr>
                        <a:t>Compliance and licensing readiness</a:t>
                      </a:r>
                      <a:endParaRPr/>
                    </a:p>
                  </a:txBody>
                  <a:tcPr marL="91440" marR="91440" marT="45720" marB="45720" anchor="ctr">
                    <a:lnL w="9525" algn="ctr">
                      <a:solidFill>
                        <a:srgbClr val="D7DFDA"/>
                      </a:solidFill>
                    </a:lnL>
                    <a:lnR w="9525" algn="ctr">
                      <a:solidFill>
                        <a:srgbClr val="D7DFDA"/>
                      </a:solidFill>
                    </a:lnR>
                    <a:lnB w="9525" algn="ctr">
                      <a:solidFill>
                        <a:srgbClr val="D7DFDA"/>
                      </a:solidFill>
                    </a:lnB>
                    <a:solidFill>
                      <a:srgbClr val="FFFFFF"/>
                    </a:solidFill>
                    <a:lnT w="9525">
                      <a:solidFill>
                        <a:srgbClr val="D7DFDA"/>
                      </a:solidFill>
                      <a:prstDash val="solid"/>
                    </a:lnT>
                  </a:tcPr>
                </a:tc>
                <a:tc>
                  <a:txBody>
                    <a:bodyPr/>
                    <a:p>
                      <a:pPr>
                        <a:defRPr/>
                      </a:pPr>
                      <a:r>
                        <a:rPr sz="1600" b="0">
                          <a:solidFill>
                            <a:srgbClr val="18201D"/>
                          </a:solidFill>
                          <a:latin typeface="Plus Jakarta Sans"/>
                          <a:ea typeface="Arial"/>
                          <a:cs typeface="Arial"/>
                        </a:rPr>
                        <a:t>90</a:t>
                      </a:r>
                      <a:endParaRPr/>
                    </a:p>
                  </a:txBody>
                  <a:tcPr marL="91440" marR="91440" marT="45720" marB="45720" anchor="ctr">
                    <a:lnR w="9525" algn="ctr">
                      <a:solidFill>
                        <a:srgbClr val="D7DFDA"/>
                      </a:solidFill>
                    </a:lnR>
                    <a:lnB w="9525" algn="ctr">
                      <a:solidFill>
                        <a:srgbClr val="D7DFDA"/>
                      </a:solidFill>
                    </a:lnB>
                    <a:solidFill>
                      <a:srgbClr val="FFFFFF"/>
                    </a:solidFill>
                    <a:lnL w="9525">
                      <a:solidFill>
                        <a:srgbClr val="D7DFDA"/>
                      </a:solidFill>
                      <a:prstDash val="solid"/>
                    </a:lnL>
                    <a:lnT w="9525">
                      <a:solidFill>
                        <a:srgbClr val="D7DFDA"/>
                      </a:solidFill>
                      <a:prstDash val="solid"/>
                    </a:lnT>
                  </a:tcPr>
                </a:tc>
                <a:tc>
                  <a:txBody>
                    <a:bodyPr/>
                    <a:p>
                      <a:pPr>
                        <a:defRPr/>
                      </a:pPr>
                      <a:r>
                        <a:rPr sz="1600" b="0">
                          <a:solidFill>
                            <a:srgbClr val="18201D"/>
                          </a:solidFill>
                          <a:latin typeface="Plus Jakarta Sans"/>
                          <a:ea typeface="Arial"/>
                          <a:cs typeface="Arial"/>
                        </a:rPr>
                        <a:t>150</a:t>
                      </a:r>
                      <a:endParaRPr/>
                    </a:p>
                  </a:txBody>
                  <a:tcPr marL="91440" marR="91440" marT="45720" marB="45720" anchor="ctr">
                    <a:lnR w="9525" algn="ctr">
                      <a:solidFill>
                        <a:srgbClr val="D7DFDA"/>
                      </a:solidFill>
                    </a:lnR>
                    <a:lnB w="9525" algn="ctr">
                      <a:solidFill>
                        <a:srgbClr val="D7DFDA"/>
                      </a:solidFill>
                    </a:lnB>
                    <a:solidFill>
                      <a:srgbClr val="FFFFFF"/>
                    </a:solidFill>
                    <a:lnL w="9525">
                      <a:solidFill>
                        <a:srgbClr val="D7DFDA"/>
                      </a:solidFill>
                      <a:prstDash val="solid"/>
                    </a:lnL>
                    <a:lnT w="9525">
                      <a:solidFill>
                        <a:srgbClr val="D7DFDA"/>
                      </a:solidFill>
                      <a:prstDash val="solid"/>
                    </a:lnT>
                  </a:tcPr>
                </a:tc>
                <a:tc>
                  <a:txBody>
                    <a:bodyPr/>
                    <a:p>
                      <a:pPr>
                        <a:defRPr/>
                      </a:pPr>
                      <a:r>
                        <a:rPr sz="1600" b="0">
                          <a:solidFill>
                            <a:srgbClr val="18201D"/>
                          </a:solidFill>
                          <a:latin typeface="Plus Jakarta Sans"/>
                          <a:ea typeface="Arial"/>
                          <a:cs typeface="Arial"/>
                        </a:rPr>
                        <a:t>240</a:t>
                      </a:r>
                      <a:endParaRPr/>
                    </a:p>
                  </a:txBody>
                  <a:tcPr marL="91440" marR="91440" marT="45720" marB="45720" anchor="ctr">
                    <a:lnR w="9525" algn="ctr">
                      <a:solidFill>
                        <a:srgbClr val="D7DFDA"/>
                      </a:solidFill>
                    </a:lnR>
                    <a:lnB w="9525" algn="ctr">
                      <a:solidFill>
                        <a:srgbClr val="D7DFDA"/>
                      </a:solidFill>
                    </a:lnB>
                    <a:solidFill>
                      <a:srgbClr val="FFFFFF"/>
                    </a:solidFill>
                    <a:lnL w="9525">
                      <a:solidFill>
                        <a:srgbClr val="D7DFDA"/>
                      </a:solidFill>
                      <a:prstDash val="solid"/>
                    </a:lnL>
                    <a:lnT w="9525">
                      <a:solidFill>
                        <a:srgbClr val="D7DFDA"/>
                      </a:solidFill>
                      <a:prstDash val="solid"/>
                    </a:lnT>
                  </a:tcPr>
                </a:tc>
              </a:tr>
              <a:tr h="312738">
                <a:tc>
                  <a:txBody>
                    <a:bodyPr/>
                    <a:p>
                      <a:pPr>
                        <a:defRPr/>
                      </a:pPr>
                      <a:r>
                        <a:rPr sz="1600" b="0">
                          <a:solidFill>
                            <a:srgbClr val="18201D"/>
                          </a:solidFill>
                          <a:latin typeface="Plus Jakarta Sans"/>
                          <a:ea typeface="Arial"/>
                          <a:cs typeface="Arial"/>
                        </a:rPr>
                        <a:t>Operations and reconciliation capacity</a:t>
                      </a:r>
                      <a:endParaRPr/>
                    </a:p>
                  </a:txBody>
                  <a:tcPr marL="91440" marR="91440" marT="45720" marB="45720" anchor="ctr">
                    <a:lnL w="9525" algn="ctr">
                      <a:solidFill>
                        <a:srgbClr val="D7DFDA"/>
                      </a:solidFill>
                    </a:lnL>
                    <a:lnR w="9525" algn="ctr">
                      <a:solidFill>
                        <a:srgbClr val="D7DFDA"/>
                      </a:solidFill>
                    </a:lnR>
                    <a:lnB w="9525" algn="ctr">
                      <a:solidFill>
                        <a:srgbClr val="D7DFDA"/>
                      </a:solidFill>
                    </a:lnB>
                    <a:solidFill>
                      <a:srgbClr val="F9FAFB"/>
                    </a:solidFill>
                    <a:lnT w="9525">
                      <a:solidFill>
                        <a:srgbClr val="D7DFDA"/>
                      </a:solidFill>
                      <a:prstDash val="solid"/>
                    </a:lnT>
                  </a:tcPr>
                </a:tc>
                <a:tc>
                  <a:txBody>
                    <a:bodyPr/>
                    <a:p>
                      <a:pPr>
                        <a:defRPr/>
                      </a:pPr>
                      <a:r>
                        <a:rPr sz="1600" b="0">
                          <a:solidFill>
                            <a:srgbClr val="18201D"/>
                          </a:solidFill>
                          <a:latin typeface="Plus Jakarta Sans"/>
                          <a:ea typeface="Arial"/>
                          <a:cs typeface="Arial"/>
                        </a:rPr>
                        <a:t>90</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c>
                  <a:txBody>
                    <a:bodyPr/>
                    <a:p>
                      <a:pPr>
                        <a:defRPr/>
                      </a:pPr>
                      <a:r>
                        <a:rPr sz="1600" b="0">
                          <a:solidFill>
                            <a:srgbClr val="18201D"/>
                          </a:solidFill>
                          <a:latin typeface="Plus Jakarta Sans"/>
                          <a:ea typeface="Arial"/>
                          <a:cs typeface="Arial"/>
                        </a:rPr>
                        <a:t>150</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c>
                  <a:txBody>
                    <a:bodyPr/>
                    <a:p>
                      <a:pPr>
                        <a:defRPr/>
                      </a:pPr>
                      <a:r>
                        <a:rPr sz="1600" b="0">
                          <a:solidFill>
                            <a:srgbClr val="18201D"/>
                          </a:solidFill>
                          <a:latin typeface="Plus Jakarta Sans"/>
                          <a:ea typeface="Arial"/>
                          <a:cs typeface="Arial"/>
                        </a:rPr>
                        <a:t>240</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r>
              <a:tr h="312738">
                <a:tc>
                  <a:txBody>
                    <a:bodyPr/>
                    <a:p>
                      <a:pPr>
                        <a:defRPr/>
                      </a:pPr>
                      <a:r>
                        <a:rPr sz="1600" b="0">
                          <a:solidFill>
                            <a:srgbClr val="18201D"/>
                          </a:solidFill>
                          <a:latin typeface="Plus Jakarta Sans"/>
                          <a:ea typeface="Arial"/>
                          <a:cs typeface="Arial"/>
                        </a:rPr>
                        <a:t>Partner certification and testing</a:t>
                      </a:r>
                      <a:endParaRPr/>
                    </a:p>
                  </a:txBody>
                  <a:tcPr marL="91440" marR="91440" marT="45720" marB="45720" anchor="ctr">
                    <a:lnL w="9525" algn="ctr">
                      <a:solidFill>
                        <a:srgbClr val="D7DFDA"/>
                      </a:solidFill>
                    </a:lnL>
                    <a:lnR w="9525" algn="ctr">
                      <a:solidFill>
                        <a:srgbClr val="D7DFDA"/>
                      </a:solidFill>
                    </a:lnR>
                    <a:lnB w="9525" algn="ctr">
                      <a:solidFill>
                        <a:srgbClr val="D7DFDA"/>
                      </a:solidFill>
                    </a:lnB>
                    <a:solidFill>
                      <a:srgbClr val="FFFFFF"/>
                    </a:solidFill>
                    <a:lnT w="9525">
                      <a:solidFill>
                        <a:srgbClr val="D7DFDA"/>
                      </a:solidFill>
                      <a:prstDash val="solid"/>
                    </a:lnT>
                  </a:tcPr>
                </a:tc>
                <a:tc>
                  <a:txBody>
                    <a:bodyPr/>
                    <a:p>
                      <a:pPr>
                        <a:defRPr/>
                      </a:pPr>
                      <a:r>
                        <a:rPr sz="1600" b="0">
                          <a:solidFill>
                            <a:srgbClr val="18201D"/>
                          </a:solidFill>
                          <a:latin typeface="Plus Jakarta Sans"/>
                          <a:ea typeface="Arial"/>
                          <a:cs typeface="Arial"/>
                        </a:rPr>
                        <a:t>60</a:t>
                      </a:r>
                      <a:endParaRPr/>
                    </a:p>
                  </a:txBody>
                  <a:tcPr marL="91440" marR="91440" marT="45720" marB="45720" anchor="ctr">
                    <a:lnR w="9525" algn="ctr">
                      <a:solidFill>
                        <a:srgbClr val="D7DFDA"/>
                      </a:solidFill>
                    </a:lnR>
                    <a:lnB w="9525" algn="ctr">
                      <a:solidFill>
                        <a:srgbClr val="D7DFDA"/>
                      </a:solidFill>
                    </a:lnB>
                    <a:solidFill>
                      <a:srgbClr val="FFFFFF"/>
                    </a:solidFill>
                    <a:lnL w="9525">
                      <a:solidFill>
                        <a:srgbClr val="D7DFDA"/>
                      </a:solidFill>
                      <a:prstDash val="solid"/>
                    </a:lnL>
                    <a:lnT w="9525">
                      <a:solidFill>
                        <a:srgbClr val="D7DFDA"/>
                      </a:solidFill>
                      <a:prstDash val="solid"/>
                    </a:lnT>
                  </a:tcPr>
                </a:tc>
                <a:tc>
                  <a:txBody>
                    <a:bodyPr/>
                    <a:p>
                      <a:pPr>
                        <a:defRPr/>
                      </a:pPr>
                      <a:r>
                        <a:rPr sz="1600" b="0">
                          <a:solidFill>
                            <a:srgbClr val="18201D"/>
                          </a:solidFill>
                          <a:latin typeface="Plus Jakarta Sans"/>
                          <a:ea typeface="Arial"/>
                          <a:cs typeface="Arial"/>
                        </a:rPr>
                        <a:t>150</a:t>
                      </a:r>
                      <a:endParaRPr/>
                    </a:p>
                  </a:txBody>
                  <a:tcPr marL="91440" marR="91440" marT="45720" marB="45720" anchor="ctr">
                    <a:lnR w="9525" algn="ctr">
                      <a:solidFill>
                        <a:srgbClr val="D7DFDA"/>
                      </a:solidFill>
                    </a:lnR>
                    <a:lnB w="9525" algn="ctr">
                      <a:solidFill>
                        <a:srgbClr val="D7DFDA"/>
                      </a:solidFill>
                    </a:lnB>
                    <a:solidFill>
                      <a:srgbClr val="FFFFFF"/>
                    </a:solidFill>
                    <a:lnL w="9525">
                      <a:solidFill>
                        <a:srgbClr val="D7DFDA"/>
                      </a:solidFill>
                      <a:prstDash val="solid"/>
                    </a:lnL>
                    <a:lnT w="9525">
                      <a:solidFill>
                        <a:srgbClr val="D7DFDA"/>
                      </a:solidFill>
                      <a:prstDash val="solid"/>
                    </a:lnT>
                  </a:tcPr>
                </a:tc>
                <a:tc>
                  <a:txBody>
                    <a:bodyPr/>
                    <a:p>
                      <a:pPr>
                        <a:defRPr/>
                      </a:pPr>
                      <a:r>
                        <a:rPr sz="1600" b="0">
                          <a:solidFill>
                            <a:srgbClr val="18201D"/>
                          </a:solidFill>
                          <a:latin typeface="Plus Jakarta Sans"/>
                          <a:ea typeface="Arial"/>
                          <a:cs typeface="Arial"/>
                        </a:rPr>
                        <a:t>210</a:t>
                      </a:r>
                      <a:endParaRPr/>
                    </a:p>
                  </a:txBody>
                  <a:tcPr marL="91440" marR="91440" marT="45720" marB="45720" anchor="ctr">
                    <a:lnR w="9525" algn="ctr">
                      <a:solidFill>
                        <a:srgbClr val="D7DFDA"/>
                      </a:solidFill>
                    </a:lnR>
                    <a:lnB w="9525" algn="ctr">
                      <a:solidFill>
                        <a:srgbClr val="D7DFDA"/>
                      </a:solidFill>
                    </a:lnB>
                    <a:solidFill>
                      <a:srgbClr val="FFFFFF"/>
                    </a:solidFill>
                    <a:lnL w="9525">
                      <a:solidFill>
                        <a:srgbClr val="D7DFDA"/>
                      </a:solidFill>
                      <a:prstDash val="solid"/>
                    </a:lnL>
                    <a:lnT w="9525">
                      <a:solidFill>
                        <a:srgbClr val="D7DFDA"/>
                      </a:solidFill>
                      <a:prstDash val="solid"/>
                    </a:lnT>
                  </a:tcPr>
                </a:tc>
              </a:tr>
              <a:tr h="312738">
                <a:tc>
                  <a:txBody>
                    <a:bodyPr/>
                    <a:p>
                      <a:pPr>
                        <a:defRPr/>
                      </a:pPr>
                      <a:r>
                        <a:rPr sz="1600" b="0">
                          <a:solidFill>
                            <a:srgbClr val="18201D"/>
                          </a:solidFill>
                          <a:latin typeface="Plus Jakarta Sans"/>
                          <a:ea typeface="Arial"/>
                          <a:cs typeface="Arial"/>
                        </a:rPr>
                        <a:t>Partner development / account support</a:t>
                      </a:r>
                      <a:endParaRPr/>
                    </a:p>
                  </a:txBody>
                  <a:tcPr marL="91440" marR="91440" marT="45720" marB="45720" anchor="ctr">
                    <a:lnL w="9525" algn="ctr">
                      <a:solidFill>
                        <a:srgbClr val="D7DFDA"/>
                      </a:solidFill>
                    </a:lnL>
                    <a:lnR w="9525" algn="ctr">
                      <a:solidFill>
                        <a:srgbClr val="D7DFDA"/>
                      </a:solidFill>
                    </a:lnR>
                    <a:lnB w="9525" algn="ctr">
                      <a:solidFill>
                        <a:srgbClr val="D7DFDA"/>
                      </a:solidFill>
                    </a:lnB>
                    <a:solidFill>
                      <a:srgbClr val="F9FAFB"/>
                    </a:solidFill>
                    <a:lnT w="9525">
                      <a:solidFill>
                        <a:srgbClr val="D7DFDA"/>
                      </a:solidFill>
                      <a:prstDash val="solid"/>
                    </a:lnT>
                  </a:tcPr>
                </a:tc>
                <a:tc>
                  <a:txBody>
                    <a:bodyPr/>
                    <a:p>
                      <a:pPr>
                        <a:defRPr/>
                      </a:pPr>
                      <a:r>
                        <a:rPr sz="1600" b="0">
                          <a:solidFill>
                            <a:srgbClr val="18201D"/>
                          </a:solidFill>
                          <a:latin typeface="Plus Jakarta Sans"/>
                          <a:ea typeface="Arial"/>
                          <a:cs typeface="Arial"/>
                        </a:rPr>
                        <a:t>120</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c>
                  <a:txBody>
                    <a:bodyPr/>
                    <a:p>
                      <a:pPr>
                        <a:defRPr/>
                      </a:pPr>
                      <a:r>
                        <a:rPr sz="1600" b="0">
                          <a:solidFill>
                            <a:srgbClr val="18201D"/>
                          </a:solidFill>
                          <a:latin typeface="Plus Jakarta Sans"/>
                          <a:ea typeface="Arial"/>
                          <a:cs typeface="Arial"/>
                        </a:rPr>
                        <a:t>180</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c>
                  <a:txBody>
                    <a:bodyPr/>
                    <a:p>
                      <a:pPr>
                        <a:defRPr/>
                      </a:pPr>
                      <a:r>
                        <a:rPr sz="1600" b="0">
                          <a:solidFill>
                            <a:srgbClr val="18201D"/>
                          </a:solidFill>
                          <a:latin typeface="Plus Jakarta Sans"/>
                          <a:ea typeface="Arial"/>
                          <a:cs typeface="Arial"/>
                        </a:rPr>
                        <a:t>300</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r>
              <a:tr h="312738">
                <a:tc>
                  <a:txBody>
                    <a:bodyPr/>
                    <a:p>
                      <a:pPr>
                        <a:defRPr/>
                      </a:pPr>
                      <a:r>
                        <a:rPr sz="1600" b="0">
                          <a:solidFill>
                            <a:srgbClr val="18201D"/>
                          </a:solidFill>
                          <a:latin typeface="Plus Jakarta Sans"/>
                          <a:ea typeface="Arial"/>
                          <a:cs typeface="Arial"/>
                        </a:rPr>
                        <a:t>Market launch and investor education</a:t>
                      </a:r>
                      <a:endParaRPr/>
                    </a:p>
                  </a:txBody>
                  <a:tcPr marL="91440" marR="91440" marT="45720" marB="45720" anchor="ctr">
                    <a:lnL w="9525" algn="ctr">
                      <a:solidFill>
                        <a:srgbClr val="D7DFDA"/>
                      </a:solidFill>
                    </a:lnL>
                    <a:lnR w="9525" algn="ctr">
                      <a:solidFill>
                        <a:srgbClr val="D7DFDA"/>
                      </a:solidFill>
                    </a:lnR>
                    <a:lnB w="9525" algn="ctr">
                      <a:solidFill>
                        <a:srgbClr val="D7DFDA"/>
                      </a:solidFill>
                    </a:lnB>
                    <a:solidFill>
                      <a:srgbClr val="FFFFFF"/>
                    </a:solidFill>
                    <a:lnT w="9525">
                      <a:solidFill>
                        <a:srgbClr val="D7DFDA"/>
                      </a:solidFill>
                      <a:prstDash val="solid"/>
                    </a:lnT>
                  </a:tcPr>
                </a:tc>
                <a:tc>
                  <a:txBody>
                    <a:bodyPr/>
                    <a:p>
                      <a:pPr>
                        <a:defRPr/>
                      </a:pPr>
                      <a:r>
                        <a:rPr sz="1600" b="0">
                          <a:solidFill>
                            <a:srgbClr val="18201D"/>
                          </a:solidFill>
                          <a:latin typeface="Plus Jakarta Sans"/>
                          <a:ea typeface="Arial"/>
                          <a:cs typeface="Arial"/>
                        </a:rPr>
                        <a:t>45</a:t>
                      </a:r>
                      <a:endParaRPr/>
                    </a:p>
                  </a:txBody>
                  <a:tcPr marL="91440" marR="91440" marT="45720" marB="45720" anchor="ctr">
                    <a:lnR w="9525" algn="ctr">
                      <a:solidFill>
                        <a:srgbClr val="D7DFDA"/>
                      </a:solidFill>
                    </a:lnR>
                    <a:lnB w="9525" algn="ctr">
                      <a:solidFill>
                        <a:srgbClr val="D7DFDA"/>
                      </a:solidFill>
                    </a:lnB>
                    <a:solidFill>
                      <a:srgbClr val="FFFFFF"/>
                    </a:solidFill>
                    <a:lnL w="9525">
                      <a:solidFill>
                        <a:srgbClr val="D7DFDA"/>
                      </a:solidFill>
                      <a:prstDash val="solid"/>
                    </a:lnL>
                    <a:lnT w="9525">
                      <a:solidFill>
                        <a:srgbClr val="D7DFDA"/>
                      </a:solidFill>
                      <a:prstDash val="solid"/>
                    </a:lnT>
                  </a:tcPr>
                </a:tc>
                <a:tc>
                  <a:txBody>
                    <a:bodyPr/>
                    <a:p>
                      <a:pPr>
                        <a:defRPr/>
                      </a:pPr>
                      <a:r>
                        <a:rPr sz="1600" b="0">
                          <a:solidFill>
                            <a:srgbClr val="18201D"/>
                          </a:solidFill>
                          <a:latin typeface="Plus Jakarta Sans"/>
                          <a:ea typeface="Arial"/>
                          <a:cs typeface="Arial"/>
                        </a:rPr>
                        <a:t>105</a:t>
                      </a:r>
                      <a:endParaRPr/>
                    </a:p>
                  </a:txBody>
                  <a:tcPr marL="91440" marR="91440" marT="45720" marB="45720" anchor="ctr">
                    <a:lnR w="9525" algn="ctr">
                      <a:solidFill>
                        <a:srgbClr val="D7DFDA"/>
                      </a:solidFill>
                    </a:lnR>
                    <a:lnB w="9525" algn="ctr">
                      <a:solidFill>
                        <a:srgbClr val="D7DFDA"/>
                      </a:solidFill>
                    </a:lnB>
                    <a:solidFill>
                      <a:srgbClr val="FFFFFF"/>
                    </a:solidFill>
                    <a:lnL w="9525">
                      <a:solidFill>
                        <a:srgbClr val="D7DFDA"/>
                      </a:solidFill>
                      <a:prstDash val="solid"/>
                    </a:lnL>
                    <a:lnT w="9525">
                      <a:solidFill>
                        <a:srgbClr val="D7DFDA"/>
                      </a:solidFill>
                      <a:prstDash val="solid"/>
                    </a:lnT>
                  </a:tcPr>
                </a:tc>
                <a:tc>
                  <a:txBody>
                    <a:bodyPr/>
                    <a:p>
                      <a:pPr>
                        <a:defRPr/>
                      </a:pPr>
                      <a:r>
                        <a:rPr sz="1600" b="0">
                          <a:solidFill>
                            <a:srgbClr val="18201D"/>
                          </a:solidFill>
                          <a:latin typeface="Plus Jakarta Sans"/>
                          <a:ea typeface="Arial"/>
                          <a:cs typeface="Arial"/>
                        </a:rPr>
                        <a:t>150</a:t>
                      </a:r>
                      <a:endParaRPr/>
                    </a:p>
                  </a:txBody>
                  <a:tcPr marL="91440" marR="91440" marT="45720" marB="45720" anchor="ctr">
                    <a:lnR w="9525" algn="ctr">
                      <a:solidFill>
                        <a:srgbClr val="D7DFDA"/>
                      </a:solidFill>
                    </a:lnR>
                    <a:lnB w="9525" algn="ctr">
                      <a:solidFill>
                        <a:srgbClr val="D7DFDA"/>
                      </a:solidFill>
                    </a:lnB>
                    <a:solidFill>
                      <a:srgbClr val="FFFFFF"/>
                    </a:solidFill>
                    <a:lnL w="9525">
                      <a:solidFill>
                        <a:srgbClr val="D7DFDA"/>
                      </a:solidFill>
                      <a:prstDash val="solid"/>
                    </a:lnL>
                    <a:lnT w="9525">
                      <a:solidFill>
                        <a:srgbClr val="D7DFDA"/>
                      </a:solidFill>
                      <a:prstDash val="solid"/>
                    </a:lnT>
                  </a:tcPr>
                </a:tc>
              </a:tr>
              <a:tr h="312738">
                <a:tc>
                  <a:txBody>
                    <a:bodyPr/>
                    <a:p>
                      <a:pPr>
                        <a:defRPr/>
                      </a:pPr>
                      <a:r>
                        <a:rPr sz="1600" b="1">
                          <a:solidFill>
                            <a:srgbClr val="18201D"/>
                          </a:solidFill>
                          <a:latin typeface="Plus Jakarta Sans"/>
                          <a:ea typeface="Arial"/>
                          <a:cs typeface="Arial"/>
                        </a:rPr>
                        <a:t>Total fixed spending</a:t>
                      </a:r>
                      <a:endParaRPr/>
                    </a:p>
                  </a:txBody>
                  <a:tcPr marL="91440" marR="91440" marT="45720" marB="45720" anchor="ctr">
                    <a:lnL w="9525" algn="ctr">
                      <a:solidFill>
                        <a:srgbClr val="D7DFDA"/>
                      </a:solidFill>
                    </a:lnL>
                    <a:lnR w="9525" algn="ctr">
                      <a:solidFill>
                        <a:srgbClr val="D7DFDA"/>
                      </a:solidFill>
                    </a:lnR>
                    <a:lnB w="9525" algn="ctr">
                      <a:solidFill>
                        <a:srgbClr val="D7DFDA"/>
                      </a:solidFill>
                    </a:lnB>
                    <a:solidFill>
                      <a:srgbClr val="F9FAFB"/>
                    </a:solidFill>
                    <a:lnT w="9525">
                      <a:solidFill>
                        <a:srgbClr val="D7DFDA"/>
                      </a:solidFill>
                      <a:prstDash val="solid"/>
                    </a:lnT>
                  </a:tcPr>
                </a:tc>
                <a:tc>
                  <a:txBody>
                    <a:bodyPr/>
                    <a:p>
                      <a:pPr>
                        <a:defRPr/>
                      </a:pPr>
                      <a:r>
                        <a:rPr sz="1600" b="1">
                          <a:solidFill>
                            <a:srgbClr val="18201D"/>
                          </a:solidFill>
                          <a:latin typeface="Plus Jakarta Sans"/>
                          <a:ea typeface="Arial"/>
                          <a:cs typeface="Arial"/>
                        </a:rPr>
                        <a:t>1,200</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c>
                  <a:txBody>
                    <a:bodyPr/>
                    <a:p>
                      <a:pPr>
                        <a:defRPr/>
                      </a:pPr>
                      <a:r>
                        <a:rPr sz="1600" b="1">
                          <a:solidFill>
                            <a:srgbClr val="18201D"/>
                          </a:solidFill>
                          <a:latin typeface="Plus Jakarta Sans"/>
                          <a:ea typeface="Arial"/>
                          <a:cs typeface="Arial"/>
                        </a:rPr>
                        <a:t>1,500</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c>
                  <a:txBody>
                    <a:bodyPr/>
                    <a:p>
                      <a:pPr>
                        <a:defRPr/>
                      </a:pPr>
                      <a:r>
                        <a:rPr sz="1600" b="1">
                          <a:solidFill>
                            <a:srgbClr val="18201D"/>
                          </a:solidFill>
                          <a:latin typeface="Plus Jakarta Sans"/>
                          <a:ea typeface="Arial"/>
                          <a:cs typeface="Arial"/>
                        </a:rPr>
                        <a:t>2,700</a:t>
                      </a:r>
                      <a:endParaRPr/>
                    </a:p>
                  </a:txBody>
                  <a:tcPr marL="91440" marR="91440" marT="45720" marB="45720" anchor="ctr">
                    <a:lnR w="9525" algn="ctr">
                      <a:solidFill>
                        <a:srgbClr val="D7DFDA"/>
                      </a:solidFill>
                    </a:lnR>
                    <a:lnB w="9525" algn="ctr">
                      <a:solidFill>
                        <a:srgbClr val="D7DFDA"/>
                      </a:solidFill>
                    </a:lnB>
                    <a:solidFill>
                      <a:srgbClr val="F9FAFB"/>
                    </a:solidFill>
                    <a:lnL w="9525">
                      <a:solidFill>
                        <a:srgbClr val="D7DFDA"/>
                      </a:solidFill>
                      <a:prstDash val="solid"/>
                    </a:lnL>
                    <a:lnT w="9525">
                      <a:solidFill>
                        <a:srgbClr val="D7DFDA"/>
                      </a:solidFill>
                      <a:prstDash val="solid"/>
                    </a:lnT>
                  </a:tcPr>
                </a:tc>
              </a:tr>
            </a:tbl>
          </a:graphicData>
        </a:graphic>
      </p:graphicFrame>
      <p:sp>
        <p:nvSpPr>
          <p:cNvPr id="1824978442" name="prime-text-75"/>
          <p:cNvSpPr>
            <a:spLocks noGrp="1"/>
          </p:cNvSpPr>
          <p:nvPr/>
        </p:nvSpPr>
        <p:spPr bwMode="auto">
          <a:xfrm>
            <a:off x="609600" y="6076950"/>
            <a:ext cx="10972800" cy="323850"/>
          </a:xfrm>
          <a:prstGeom prst="rect">
            <a:avLst/>
          </a:prstGeom>
          <a:noFill/>
          <a:ln w="0">
            <a:solidFill/>
            <a:prstDash val="solid"/>
          </a:ln>
        </p:spPr>
        <p:txBody>
          <a:bodyPr wrap="square" lIns="0" tIns="0" rIns="0" bIns="0" anchor="t">
            <a:noAutofit/>
          </a:bodyPr>
          <a:lstStyle>
            <a:defPPr algn="l">
              <a:defRPr sz="1500" b="0">
                <a:solidFill>
                  <a:srgbClr val="5D6A67"/>
                </a:solidFill>
                <a:latin typeface="Arial"/>
                <a:ea typeface="Arial"/>
                <a:cs typeface="Arial"/>
              </a:defRPr>
            </a:defPPr>
            <a:lvl1pPr algn="l">
              <a:defRPr sz="1500" b="0">
                <a:solidFill>
                  <a:srgbClr val="5D6A67"/>
                </a:solidFill>
                <a:latin typeface="Arial"/>
                <a:ea typeface="Arial"/>
                <a:cs typeface="Arial"/>
              </a:defRPr>
            </a:lvl1pPr>
            <a:lvl2pPr algn="l">
              <a:defRPr sz="1500" b="0">
                <a:solidFill>
                  <a:srgbClr val="5D6A67"/>
                </a:solidFill>
                <a:latin typeface="Arial"/>
                <a:ea typeface="Arial"/>
                <a:cs typeface="Arial"/>
              </a:defRPr>
            </a:lvl2pPr>
            <a:lvl3pPr algn="l">
              <a:defRPr sz="1500" b="0">
                <a:solidFill>
                  <a:srgbClr val="5D6A67"/>
                </a:solidFill>
                <a:latin typeface="Arial"/>
                <a:ea typeface="Arial"/>
                <a:cs typeface="Arial"/>
              </a:defRPr>
            </a:lvl3pPr>
            <a:lvl4pPr algn="l">
              <a:defRPr sz="1500" b="0">
                <a:solidFill>
                  <a:srgbClr val="5D6A67"/>
                </a:solidFill>
                <a:latin typeface="Arial"/>
                <a:ea typeface="Arial"/>
                <a:cs typeface="Arial"/>
              </a:defRPr>
            </a:lvl4pPr>
            <a:lvl5pPr algn="l">
              <a:defRPr sz="1500" b="0">
                <a:solidFill>
                  <a:srgbClr val="5D6A67"/>
                </a:solidFill>
                <a:latin typeface="Arial"/>
                <a:ea typeface="Arial"/>
                <a:cs typeface="Arial"/>
              </a:defRPr>
            </a:lvl5pPr>
            <a:lvl6pPr algn="l">
              <a:defRPr sz="1500" b="0">
                <a:solidFill>
                  <a:srgbClr val="5D6A67"/>
                </a:solidFill>
                <a:latin typeface="Arial"/>
                <a:ea typeface="Arial"/>
                <a:cs typeface="Arial"/>
              </a:defRPr>
            </a:lvl6pPr>
            <a:lvl7pPr algn="l">
              <a:defRPr sz="1500" b="0">
                <a:solidFill>
                  <a:srgbClr val="5D6A67"/>
                </a:solidFill>
                <a:latin typeface="Arial"/>
                <a:ea typeface="Arial"/>
                <a:cs typeface="Arial"/>
              </a:defRPr>
            </a:lvl7pPr>
            <a:lvl8pPr algn="l">
              <a:defRPr sz="1500" b="0">
                <a:solidFill>
                  <a:srgbClr val="5D6A67"/>
                </a:solidFill>
                <a:latin typeface="Arial"/>
                <a:ea typeface="Arial"/>
                <a:cs typeface="Arial"/>
              </a:defRPr>
            </a:lvl8pPr>
            <a:lvl9pPr algn="l">
              <a:defRPr sz="1500" b="0">
                <a:solidFill>
                  <a:srgbClr val="5D6A67"/>
                </a:solidFill>
                <a:latin typeface="Arial"/>
                <a:ea typeface="Arial"/>
                <a:cs typeface="Arial"/>
              </a:defRPr>
            </a:lvl9pPr>
          </a:lstStyle>
          <a:p>
            <a:pPr algn="l">
              <a:defRPr sz="1500" b="0">
                <a:solidFill>
                  <a:srgbClr val="5D6A67"/>
                </a:solidFill>
                <a:latin typeface="Arial"/>
                <a:ea typeface="Arial"/>
                <a:cs typeface="Arial"/>
              </a:defRPr>
            </a:pPr>
            <a:r>
              <a:rPr sz="1500" b="0">
                <a:solidFill>
                  <a:srgbClr val="5D6A67"/>
                </a:solidFill>
                <a:latin typeface="Plus Jakarta Sans"/>
                <a:ea typeface="Arial"/>
                <a:cs typeface="Arial"/>
              </a:rPr>
              <a:t>US$2.70M fixed + US$0.30M reserve = US$3M. Variable service costs and backing inventory are separate.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62156604" name="prime-text-76"/>
          <p:cNvSpPr>
            <a:spLocks noGrp="1"/>
          </p:cNvSpPr>
          <p:nvPr/>
        </p:nvSpPr>
        <p:spPr bwMode="auto">
          <a:xfrm>
            <a:off x="609600" y="504825"/>
            <a:ext cx="10972800" cy="828675"/>
          </a:xfrm>
          <a:prstGeom prst="rect">
            <a:avLst/>
          </a:prstGeom>
          <a:noFill/>
          <a:ln w="0">
            <a:solidFill/>
            <a:prstDash val="solid"/>
          </a:ln>
        </p:spPr>
        <p:txBody>
          <a:bodyPr wrap="square" lIns="0" tIns="0" rIns="0" bIns="0" anchor="t">
            <a:noAutofit/>
          </a:bodyPr>
          <a:lstStyle>
            <a:defPPr algn="l">
              <a:defRPr sz="3300" b="1">
                <a:solidFill>
                  <a:srgbClr val="18201D"/>
                </a:solidFill>
                <a:latin typeface="Arial"/>
                <a:ea typeface="Arial"/>
                <a:cs typeface="Arial"/>
              </a:defRPr>
            </a:defPPr>
            <a:lvl1pPr algn="l">
              <a:defRPr sz="3300" b="1">
                <a:solidFill>
                  <a:srgbClr val="18201D"/>
                </a:solidFill>
                <a:latin typeface="Arial"/>
                <a:ea typeface="Arial"/>
                <a:cs typeface="Arial"/>
              </a:defRPr>
            </a:lvl1pPr>
            <a:lvl2pPr algn="l">
              <a:defRPr sz="3300" b="1">
                <a:solidFill>
                  <a:srgbClr val="18201D"/>
                </a:solidFill>
                <a:latin typeface="Arial"/>
                <a:ea typeface="Arial"/>
                <a:cs typeface="Arial"/>
              </a:defRPr>
            </a:lvl2pPr>
            <a:lvl3pPr algn="l">
              <a:defRPr sz="3300" b="1">
                <a:solidFill>
                  <a:srgbClr val="18201D"/>
                </a:solidFill>
                <a:latin typeface="Arial"/>
                <a:ea typeface="Arial"/>
                <a:cs typeface="Arial"/>
              </a:defRPr>
            </a:lvl3pPr>
            <a:lvl4pPr algn="l">
              <a:defRPr sz="3300" b="1">
                <a:solidFill>
                  <a:srgbClr val="18201D"/>
                </a:solidFill>
                <a:latin typeface="Arial"/>
                <a:ea typeface="Arial"/>
                <a:cs typeface="Arial"/>
              </a:defRPr>
            </a:lvl4pPr>
            <a:lvl5pPr algn="l">
              <a:defRPr sz="3300" b="1">
                <a:solidFill>
                  <a:srgbClr val="18201D"/>
                </a:solidFill>
                <a:latin typeface="Arial"/>
                <a:ea typeface="Arial"/>
                <a:cs typeface="Arial"/>
              </a:defRPr>
            </a:lvl5pPr>
            <a:lvl6pPr algn="l">
              <a:defRPr sz="3300" b="1">
                <a:solidFill>
                  <a:srgbClr val="18201D"/>
                </a:solidFill>
                <a:latin typeface="Arial"/>
                <a:ea typeface="Arial"/>
                <a:cs typeface="Arial"/>
              </a:defRPr>
            </a:lvl6pPr>
            <a:lvl7pPr algn="l">
              <a:defRPr sz="3300" b="1">
                <a:solidFill>
                  <a:srgbClr val="18201D"/>
                </a:solidFill>
                <a:latin typeface="Arial"/>
                <a:ea typeface="Arial"/>
                <a:cs typeface="Arial"/>
              </a:defRPr>
            </a:lvl7pPr>
            <a:lvl8pPr algn="l">
              <a:defRPr sz="3300" b="1">
                <a:solidFill>
                  <a:srgbClr val="18201D"/>
                </a:solidFill>
                <a:latin typeface="Arial"/>
                <a:ea typeface="Arial"/>
                <a:cs typeface="Arial"/>
              </a:defRPr>
            </a:lvl8pPr>
            <a:lvl9pPr algn="l">
              <a:defRPr sz="3300" b="1">
                <a:solidFill>
                  <a:srgbClr val="18201D"/>
                </a:solidFill>
                <a:latin typeface="Arial"/>
                <a:ea typeface="Arial"/>
                <a:cs typeface="Arial"/>
              </a:defRPr>
            </a:lvl9pPr>
          </a:lstStyle>
          <a:p>
            <a:pPr algn="l">
              <a:defRPr sz="3300" b="1">
                <a:solidFill>
                  <a:srgbClr val="18201D"/>
                </a:solidFill>
                <a:latin typeface="Arial"/>
                <a:ea typeface="Arial"/>
                <a:cs typeface="Arial"/>
              </a:defRPr>
            </a:pPr>
            <a:r>
              <a:rPr sz="3300" b="1">
                <a:solidFill>
                  <a:srgbClr val="18201D"/>
                </a:solidFill>
                <a:latin typeface="Outfit"/>
                <a:ea typeface="Arial"/>
                <a:cs typeface="Arial"/>
              </a:rPr>
              <a:t>US$3 million for the first production programme</a:t>
            </a:r>
            <a:endParaRPr/>
          </a:p>
        </p:txBody>
      </p:sp>
      <p:sp>
        <p:nvSpPr>
          <p:cNvPr id="601113864" name="prime-text-77"/>
          <p:cNvSpPr>
            <a:spLocks noGrp="1"/>
          </p:cNvSpPr>
          <p:nvPr/>
        </p:nvSpPr>
        <p:spPr bwMode="auto">
          <a:xfrm>
            <a:off x="609600" y="1409700"/>
            <a:ext cx="10972800" cy="609600"/>
          </a:xfrm>
          <a:prstGeom prst="rect">
            <a:avLst/>
          </a:prstGeom>
          <a:noFill/>
          <a:ln w="0">
            <a:solidFill/>
            <a:prstDash val="solid"/>
          </a:ln>
        </p:spPr>
        <p:txBody>
          <a:bodyPr wrap="square" lIns="0" tIns="0" rIns="0" bIns="0" anchor="t">
            <a:noAutofit/>
          </a:bodyPr>
          <a:lstStyle>
            <a:defPPr algn="l">
              <a:defRPr sz="1900" b="0">
                <a:solidFill>
                  <a:srgbClr val="5D6A67"/>
                </a:solidFill>
                <a:latin typeface="Arial"/>
                <a:ea typeface="Arial"/>
                <a:cs typeface="Arial"/>
              </a:defRPr>
            </a:defPPr>
            <a:lvl1pPr algn="l">
              <a:defRPr sz="1900" b="0">
                <a:solidFill>
                  <a:srgbClr val="5D6A67"/>
                </a:solidFill>
                <a:latin typeface="Arial"/>
                <a:ea typeface="Arial"/>
                <a:cs typeface="Arial"/>
              </a:defRPr>
            </a:lvl1pPr>
            <a:lvl2pPr algn="l">
              <a:defRPr sz="1900" b="0">
                <a:solidFill>
                  <a:srgbClr val="5D6A67"/>
                </a:solidFill>
                <a:latin typeface="Arial"/>
                <a:ea typeface="Arial"/>
                <a:cs typeface="Arial"/>
              </a:defRPr>
            </a:lvl2pPr>
            <a:lvl3pPr algn="l">
              <a:defRPr sz="1900" b="0">
                <a:solidFill>
                  <a:srgbClr val="5D6A67"/>
                </a:solidFill>
                <a:latin typeface="Arial"/>
                <a:ea typeface="Arial"/>
                <a:cs typeface="Arial"/>
              </a:defRPr>
            </a:lvl3pPr>
            <a:lvl4pPr algn="l">
              <a:defRPr sz="1900" b="0">
                <a:solidFill>
                  <a:srgbClr val="5D6A67"/>
                </a:solidFill>
                <a:latin typeface="Arial"/>
                <a:ea typeface="Arial"/>
                <a:cs typeface="Arial"/>
              </a:defRPr>
            </a:lvl4pPr>
            <a:lvl5pPr algn="l">
              <a:defRPr sz="1900" b="0">
                <a:solidFill>
                  <a:srgbClr val="5D6A67"/>
                </a:solidFill>
                <a:latin typeface="Arial"/>
                <a:ea typeface="Arial"/>
                <a:cs typeface="Arial"/>
              </a:defRPr>
            </a:lvl5pPr>
            <a:lvl6pPr algn="l">
              <a:defRPr sz="1900" b="0">
                <a:solidFill>
                  <a:srgbClr val="5D6A67"/>
                </a:solidFill>
                <a:latin typeface="Arial"/>
                <a:ea typeface="Arial"/>
                <a:cs typeface="Arial"/>
              </a:defRPr>
            </a:lvl6pPr>
            <a:lvl7pPr algn="l">
              <a:defRPr sz="1900" b="0">
                <a:solidFill>
                  <a:srgbClr val="5D6A67"/>
                </a:solidFill>
                <a:latin typeface="Arial"/>
                <a:ea typeface="Arial"/>
                <a:cs typeface="Arial"/>
              </a:defRPr>
            </a:lvl7pPr>
            <a:lvl8pPr algn="l">
              <a:defRPr sz="1900" b="0">
                <a:solidFill>
                  <a:srgbClr val="5D6A67"/>
                </a:solidFill>
                <a:latin typeface="Arial"/>
                <a:ea typeface="Arial"/>
                <a:cs typeface="Arial"/>
              </a:defRPr>
            </a:lvl8pPr>
            <a:lvl9pPr algn="l">
              <a:defRPr sz="1900" b="0">
                <a:solidFill>
                  <a:srgbClr val="5D6A67"/>
                </a:solidFill>
                <a:latin typeface="Arial"/>
                <a:ea typeface="Arial"/>
                <a:cs typeface="Arial"/>
              </a:defRPr>
            </a:lvl9pPr>
          </a:lstStyle>
          <a:p>
            <a:pPr algn="l">
              <a:defRPr sz="1900" b="0">
                <a:solidFill>
                  <a:srgbClr val="5D6A67"/>
                </a:solidFill>
                <a:latin typeface="Arial"/>
                <a:ea typeface="Arial"/>
                <a:cs typeface="Arial"/>
              </a:defRPr>
            </a:pPr>
            <a:r>
              <a:rPr sz="1900" b="0">
                <a:solidFill>
                  <a:srgbClr val="5D6A67"/>
                </a:solidFill>
                <a:latin typeface="Outfit"/>
                <a:ea typeface="Arial"/>
                <a:cs typeface="Arial"/>
              </a:rPr>
              <a:t>Expansion capital for delivery and programme readiness over 24 months.</a:t>
            </a:r>
            <a:endParaRPr/>
          </a:p>
        </p:txBody>
      </p:sp>
      <p:sp>
        <p:nvSpPr>
          <p:cNvPr id="1819275240" name="prime-text-78"/>
          <p:cNvSpPr>
            <a:spLocks noGrp="1"/>
          </p:cNvSpPr>
          <p:nvPr/>
        </p:nvSpPr>
        <p:spPr bwMode="auto">
          <a:xfrm>
            <a:off x="609600" y="6438899"/>
            <a:ext cx="3619500" cy="238125"/>
          </a:xfrm>
          <a:prstGeom prst="rect">
            <a:avLst/>
          </a:prstGeom>
          <a:noFill/>
          <a:ln w="0">
            <a:solidFill/>
            <a:prstDash val="solid"/>
          </a:ln>
        </p:spPr>
        <p:txBody>
          <a:bodyPr wrap="square" lIns="0" tIns="0" rIns="0" bIns="0" anchor="t">
            <a:noAutofit/>
          </a:bodyPr>
          <a:lstStyle>
            <a:defPPr algn="l">
              <a:defRPr sz="1200" b="1">
                <a:solidFill>
                  <a:srgbClr val="0DBE85"/>
                </a:solidFill>
                <a:latin typeface="Arial"/>
                <a:ea typeface="Arial"/>
                <a:cs typeface="Arial"/>
              </a:defRPr>
            </a:defPPr>
            <a:lvl1pPr algn="l">
              <a:defRPr sz="1200" b="1">
                <a:solidFill>
                  <a:srgbClr val="0DBE85"/>
                </a:solidFill>
                <a:latin typeface="Arial"/>
                <a:ea typeface="Arial"/>
                <a:cs typeface="Arial"/>
              </a:defRPr>
            </a:lvl1pPr>
            <a:lvl2pPr algn="l">
              <a:defRPr sz="1200" b="1">
                <a:solidFill>
                  <a:srgbClr val="0DBE85"/>
                </a:solidFill>
                <a:latin typeface="Arial"/>
                <a:ea typeface="Arial"/>
                <a:cs typeface="Arial"/>
              </a:defRPr>
            </a:lvl2pPr>
            <a:lvl3pPr algn="l">
              <a:defRPr sz="1200" b="1">
                <a:solidFill>
                  <a:srgbClr val="0DBE85"/>
                </a:solidFill>
                <a:latin typeface="Arial"/>
                <a:ea typeface="Arial"/>
                <a:cs typeface="Arial"/>
              </a:defRPr>
            </a:lvl3pPr>
            <a:lvl4pPr algn="l">
              <a:defRPr sz="1200" b="1">
                <a:solidFill>
                  <a:srgbClr val="0DBE85"/>
                </a:solidFill>
                <a:latin typeface="Arial"/>
                <a:ea typeface="Arial"/>
                <a:cs typeface="Arial"/>
              </a:defRPr>
            </a:lvl4pPr>
            <a:lvl5pPr algn="l">
              <a:defRPr sz="1200" b="1">
                <a:solidFill>
                  <a:srgbClr val="0DBE85"/>
                </a:solidFill>
                <a:latin typeface="Arial"/>
                <a:ea typeface="Arial"/>
                <a:cs typeface="Arial"/>
              </a:defRPr>
            </a:lvl5pPr>
            <a:lvl6pPr algn="l">
              <a:defRPr sz="1200" b="1">
                <a:solidFill>
                  <a:srgbClr val="0DBE85"/>
                </a:solidFill>
                <a:latin typeface="Arial"/>
                <a:ea typeface="Arial"/>
                <a:cs typeface="Arial"/>
              </a:defRPr>
            </a:lvl6pPr>
            <a:lvl7pPr algn="l">
              <a:defRPr sz="1200" b="1">
                <a:solidFill>
                  <a:srgbClr val="0DBE85"/>
                </a:solidFill>
                <a:latin typeface="Arial"/>
                <a:ea typeface="Arial"/>
                <a:cs typeface="Arial"/>
              </a:defRPr>
            </a:lvl7pPr>
            <a:lvl8pPr algn="l">
              <a:defRPr sz="1200" b="1">
                <a:solidFill>
                  <a:srgbClr val="0DBE85"/>
                </a:solidFill>
                <a:latin typeface="Arial"/>
                <a:ea typeface="Arial"/>
                <a:cs typeface="Arial"/>
              </a:defRPr>
            </a:lvl8pPr>
            <a:lvl9pPr algn="l">
              <a:defRPr sz="1200" b="1">
                <a:solidFill>
                  <a:srgbClr val="0DBE85"/>
                </a:solidFill>
                <a:latin typeface="Arial"/>
                <a:ea typeface="Arial"/>
                <a:cs typeface="Arial"/>
              </a:defRPr>
            </a:lvl9pPr>
          </a:lstStyle>
          <a:p>
            <a:pPr algn="l">
              <a:defRPr sz="1200" b="1">
                <a:solidFill>
                  <a:srgbClr val="0DBE85"/>
                </a:solidFill>
                <a:latin typeface="Arial"/>
                <a:ea typeface="Arial"/>
                <a:cs typeface="Arial"/>
              </a:defRPr>
            </a:pPr>
            <a:r>
              <a:rPr sz="1200" b="1">
                <a:solidFill>
                  <a:srgbClr val="0AA372"/>
                </a:solidFill>
                <a:latin typeface="JetBrains Mono"/>
                <a:ea typeface="Arial"/>
                <a:cs typeface="Arial"/>
              </a:rPr>
              <a:t>D-SHARE / PRIME</a:t>
            </a:r>
            <a:endParaRPr/>
          </a:p>
        </p:txBody>
      </p:sp>
      <p:sp>
        <p:nvSpPr>
          <p:cNvPr id="1916016551" name="prime-text-79"/>
          <p:cNvSpPr>
            <a:spLocks noGrp="1"/>
          </p:cNvSpPr>
          <p:nvPr/>
        </p:nvSpPr>
        <p:spPr bwMode="auto">
          <a:xfrm>
            <a:off x="11020424" y="6438899"/>
            <a:ext cx="561975" cy="238125"/>
          </a:xfrm>
          <a:prstGeom prst="rect">
            <a:avLst/>
          </a:prstGeom>
          <a:noFill/>
          <a:ln w="0">
            <a:solidFill/>
            <a:prstDash val="solid"/>
          </a:ln>
        </p:spPr>
        <p:txBody>
          <a:bodyPr wrap="square" lIns="0" tIns="0" rIns="0" bIns="0" anchor="t">
            <a:noAutofit/>
          </a:bodyPr>
          <a:lstStyle>
            <a:defPPr algn="r">
              <a:defRPr sz="1200" b="0">
                <a:solidFill>
                  <a:srgbClr val="5D6A67"/>
                </a:solidFill>
                <a:latin typeface="Arial"/>
                <a:ea typeface="Arial"/>
                <a:cs typeface="Arial"/>
              </a:defRPr>
            </a:defPPr>
            <a:lvl1pPr algn="r">
              <a:defRPr sz="1200" b="0">
                <a:solidFill>
                  <a:srgbClr val="5D6A67"/>
                </a:solidFill>
                <a:latin typeface="Arial"/>
                <a:ea typeface="Arial"/>
                <a:cs typeface="Arial"/>
              </a:defRPr>
            </a:lvl1pPr>
            <a:lvl2pPr algn="r">
              <a:defRPr sz="1200" b="0">
                <a:solidFill>
                  <a:srgbClr val="5D6A67"/>
                </a:solidFill>
                <a:latin typeface="Arial"/>
                <a:ea typeface="Arial"/>
                <a:cs typeface="Arial"/>
              </a:defRPr>
            </a:lvl2pPr>
            <a:lvl3pPr algn="r">
              <a:defRPr sz="1200" b="0">
                <a:solidFill>
                  <a:srgbClr val="5D6A67"/>
                </a:solidFill>
                <a:latin typeface="Arial"/>
                <a:ea typeface="Arial"/>
                <a:cs typeface="Arial"/>
              </a:defRPr>
            </a:lvl3pPr>
            <a:lvl4pPr algn="r">
              <a:defRPr sz="1200" b="0">
                <a:solidFill>
                  <a:srgbClr val="5D6A67"/>
                </a:solidFill>
                <a:latin typeface="Arial"/>
                <a:ea typeface="Arial"/>
                <a:cs typeface="Arial"/>
              </a:defRPr>
            </a:lvl4pPr>
            <a:lvl5pPr algn="r">
              <a:defRPr sz="1200" b="0">
                <a:solidFill>
                  <a:srgbClr val="5D6A67"/>
                </a:solidFill>
                <a:latin typeface="Arial"/>
                <a:ea typeface="Arial"/>
                <a:cs typeface="Arial"/>
              </a:defRPr>
            </a:lvl5pPr>
            <a:lvl6pPr algn="r">
              <a:defRPr sz="1200" b="0">
                <a:solidFill>
                  <a:srgbClr val="5D6A67"/>
                </a:solidFill>
                <a:latin typeface="Arial"/>
                <a:ea typeface="Arial"/>
                <a:cs typeface="Arial"/>
              </a:defRPr>
            </a:lvl6pPr>
            <a:lvl7pPr algn="r">
              <a:defRPr sz="1200" b="0">
                <a:solidFill>
                  <a:srgbClr val="5D6A67"/>
                </a:solidFill>
                <a:latin typeface="Arial"/>
                <a:ea typeface="Arial"/>
                <a:cs typeface="Arial"/>
              </a:defRPr>
            </a:lvl7pPr>
            <a:lvl8pPr algn="r">
              <a:defRPr sz="1200" b="0">
                <a:solidFill>
                  <a:srgbClr val="5D6A67"/>
                </a:solidFill>
                <a:latin typeface="Arial"/>
                <a:ea typeface="Arial"/>
                <a:cs typeface="Arial"/>
              </a:defRPr>
            </a:lvl8pPr>
            <a:lvl9pPr algn="r">
              <a:defRPr sz="1200" b="0">
                <a:solidFill>
                  <a:srgbClr val="5D6A67"/>
                </a:solidFill>
                <a:latin typeface="Arial"/>
                <a:ea typeface="Arial"/>
                <a:cs typeface="Arial"/>
              </a:defRPr>
            </a:lvl9pPr>
          </a:lstStyle>
          <a:p>
            <a:pPr algn="r">
              <a:defRPr sz="1200" b="0">
                <a:solidFill>
                  <a:srgbClr val="5D6A67"/>
                </a:solidFill>
                <a:latin typeface="Arial"/>
                <a:ea typeface="Arial"/>
                <a:cs typeface="Arial"/>
              </a:defRPr>
            </a:pPr>
            <a:r>
              <a:rPr sz="1200" b="0">
                <a:solidFill>
                  <a:srgbClr val="5D6A67"/>
                </a:solidFill>
                <a:latin typeface="JetBrains Mono"/>
                <a:ea typeface="Arial"/>
                <a:cs typeface="Arial"/>
              </a:rPr>
              <a:t>15</a:t>
            </a:r>
            <a:endParaRPr/>
          </a:p>
        </p:txBody>
      </p:sp>
      <p:graphicFrame>
        <p:nvGraphicFramePr>
          <p:cNvPr id="1154971826" name="Chart"/>
          <p:cNvGraphicFramePr>
            <a:graphicFrameLocks xmlns:a="http://schemas.openxmlformats.org/drawingml/2006/main"/>
          </p:cNvGraphicFramePr>
          <p:nvPr/>
        </p:nvGraphicFramePr>
        <p:xfrm rot="0">
          <a:off x="609600" y="2133600"/>
          <a:ext cx="7353300" cy="3343275"/>
        </p:xfrm>
        <a:graphic>
          <a:graphicData uri="http://schemas.openxmlformats.org/drawingml/2006/chart">
            <c:chart xmlns:c="http://schemas.openxmlformats.org/drawingml/2006/chart" xmlns:r="http://schemas.openxmlformats.org/officeDocument/2006/relationships" r:id="rId3"/>
          </a:graphicData>
        </a:graphic>
      </p:graphicFrame>
      <p:sp>
        <p:nvSpPr>
          <p:cNvPr id="563375723" name="prime-text-80"/>
          <p:cNvSpPr>
            <a:spLocks noGrp="1"/>
          </p:cNvSpPr>
          <p:nvPr/>
        </p:nvSpPr>
        <p:spPr bwMode="auto">
          <a:xfrm>
            <a:off x="8362950" y="2238375"/>
            <a:ext cx="3219449" cy="647700"/>
          </a:xfrm>
          <a:prstGeom prst="rect">
            <a:avLst/>
          </a:prstGeom>
          <a:noFill/>
          <a:ln w="0">
            <a:solidFill/>
            <a:prstDash val="solid"/>
          </a:ln>
        </p:spPr>
        <p:txBody>
          <a:bodyPr wrap="square" lIns="0" tIns="0" rIns="0" bIns="0" anchor="t">
            <a:noAutofit/>
          </a:bodyPr>
          <a:lstStyle>
            <a:defPPr algn="l">
              <a:defRPr sz="3450" b="1">
                <a:solidFill>
                  <a:srgbClr val="18201D"/>
                </a:solidFill>
                <a:latin typeface="Arial"/>
                <a:ea typeface="Arial"/>
                <a:cs typeface="Arial"/>
              </a:defRPr>
            </a:defPPr>
            <a:lvl1pPr algn="l">
              <a:defRPr sz="3450" b="1">
                <a:solidFill>
                  <a:srgbClr val="18201D"/>
                </a:solidFill>
                <a:latin typeface="Arial"/>
                <a:ea typeface="Arial"/>
                <a:cs typeface="Arial"/>
              </a:defRPr>
            </a:lvl1pPr>
            <a:lvl2pPr algn="l">
              <a:defRPr sz="3450" b="1">
                <a:solidFill>
                  <a:srgbClr val="18201D"/>
                </a:solidFill>
                <a:latin typeface="Arial"/>
                <a:ea typeface="Arial"/>
                <a:cs typeface="Arial"/>
              </a:defRPr>
            </a:lvl2pPr>
            <a:lvl3pPr algn="l">
              <a:defRPr sz="3450" b="1">
                <a:solidFill>
                  <a:srgbClr val="18201D"/>
                </a:solidFill>
                <a:latin typeface="Arial"/>
                <a:ea typeface="Arial"/>
                <a:cs typeface="Arial"/>
              </a:defRPr>
            </a:lvl3pPr>
            <a:lvl4pPr algn="l">
              <a:defRPr sz="3450" b="1">
                <a:solidFill>
                  <a:srgbClr val="18201D"/>
                </a:solidFill>
                <a:latin typeface="Arial"/>
                <a:ea typeface="Arial"/>
                <a:cs typeface="Arial"/>
              </a:defRPr>
            </a:lvl4pPr>
            <a:lvl5pPr algn="l">
              <a:defRPr sz="3450" b="1">
                <a:solidFill>
                  <a:srgbClr val="18201D"/>
                </a:solidFill>
                <a:latin typeface="Arial"/>
                <a:ea typeface="Arial"/>
                <a:cs typeface="Arial"/>
              </a:defRPr>
            </a:lvl5pPr>
            <a:lvl6pPr algn="l">
              <a:defRPr sz="3450" b="1">
                <a:solidFill>
                  <a:srgbClr val="18201D"/>
                </a:solidFill>
                <a:latin typeface="Arial"/>
                <a:ea typeface="Arial"/>
                <a:cs typeface="Arial"/>
              </a:defRPr>
            </a:lvl6pPr>
            <a:lvl7pPr algn="l">
              <a:defRPr sz="3450" b="1">
                <a:solidFill>
                  <a:srgbClr val="18201D"/>
                </a:solidFill>
                <a:latin typeface="Arial"/>
                <a:ea typeface="Arial"/>
                <a:cs typeface="Arial"/>
              </a:defRPr>
            </a:lvl7pPr>
            <a:lvl8pPr algn="l">
              <a:defRPr sz="3450" b="1">
                <a:solidFill>
                  <a:srgbClr val="18201D"/>
                </a:solidFill>
                <a:latin typeface="Arial"/>
                <a:ea typeface="Arial"/>
                <a:cs typeface="Arial"/>
              </a:defRPr>
            </a:lvl8pPr>
            <a:lvl9pPr algn="l">
              <a:defRPr sz="3450" b="1">
                <a:solidFill>
                  <a:srgbClr val="18201D"/>
                </a:solidFill>
                <a:latin typeface="Arial"/>
                <a:ea typeface="Arial"/>
                <a:cs typeface="Arial"/>
              </a:defRPr>
            </a:lvl9pPr>
          </a:lstStyle>
          <a:p>
            <a:pPr algn="l">
              <a:defRPr sz="3450" b="1">
                <a:solidFill>
                  <a:srgbClr val="18201D"/>
                </a:solidFill>
                <a:latin typeface="Arial"/>
                <a:ea typeface="Arial"/>
                <a:cs typeface="Arial"/>
              </a:defRPr>
            </a:pPr>
            <a:r>
              <a:rPr sz="3450" b="1">
                <a:solidFill>
                  <a:srgbClr val="18201D"/>
                </a:solidFill>
                <a:latin typeface="Outfit"/>
                <a:ea typeface="Arial"/>
                <a:cs typeface="Arial"/>
              </a:rPr>
              <a:t>24 months</a:t>
            </a:r>
            <a:endParaRPr/>
          </a:p>
        </p:txBody>
      </p:sp>
      <p:sp>
        <p:nvSpPr>
          <p:cNvPr id="490762073" name="prime-text-81"/>
          <p:cNvSpPr>
            <a:spLocks noGrp="1"/>
          </p:cNvSpPr>
          <p:nvPr/>
        </p:nvSpPr>
        <p:spPr bwMode="auto">
          <a:xfrm>
            <a:off x="8362950" y="3209925"/>
            <a:ext cx="3219449" cy="533400"/>
          </a:xfrm>
          <a:prstGeom prst="rect">
            <a:avLst/>
          </a:prstGeom>
          <a:noFill/>
          <a:ln w="0">
            <a:solidFill/>
            <a:prstDash val="solid"/>
          </a:ln>
        </p:spPr>
        <p:txBody>
          <a:bodyPr wrap="square" lIns="0" tIns="0" rIns="0" bIns="0" anchor="t">
            <a:noAutofit/>
          </a:bodyPr>
          <a:lstStyle>
            <a:defPPr algn="l">
              <a:defRPr sz="2650" b="1">
                <a:solidFill>
                  <a:srgbClr val="0DBE85"/>
                </a:solidFill>
                <a:latin typeface="Arial"/>
                <a:ea typeface="Arial"/>
                <a:cs typeface="Arial"/>
              </a:defRPr>
            </a:defPPr>
            <a:lvl1pPr algn="l">
              <a:defRPr sz="2650" b="1">
                <a:solidFill>
                  <a:srgbClr val="0DBE85"/>
                </a:solidFill>
                <a:latin typeface="Arial"/>
                <a:ea typeface="Arial"/>
                <a:cs typeface="Arial"/>
              </a:defRPr>
            </a:lvl1pPr>
            <a:lvl2pPr algn="l">
              <a:defRPr sz="2650" b="1">
                <a:solidFill>
                  <a:srgbClr val="0DBE85"/>
                </a:solidFill>
                <a:latin typeface="Arial"/>
                <a:ea typeface="Arial"/>
                <a:cs typeface="Arial"/>
              </a:defRPr>
            </a:lvl2pPr>
            <a:lvl3pPr algn="l">
              <a:defRPr sz="2650" b="1">
                <a:solidFill>
                  <a:srgbClr val="0DBE85"/>
                </a:solidFill>
                <a:latin typeface="Arial"/>
                <a:ea typeface="Arial"/>
                <a:cs typeface="Arial"/>
              </a:defRPr>
            </a:lvl3pPr>
            <a:lvl4pPr algn="l">
              <a:defRPr sz="2650" b="1">
                <a:solidFill>
                  <a:srgbClr val="0DBE85"/>
                </a:solidFill>
                <a:latin typeface="Arial"/>
                <a:ea typeface="Arial"/>
                <a:cs typeface="Arial"/>
              </a:defRPr>
            </a:lvl4pPr>
            <a:lvl5pPr algn="l">
              <a:defRPr sz="2650" b="1">
                <a:solidFill>
                  <a:srgbClr val="0DBE85"/>
                </a:solidFill>
                <a:latin typeface="Arial"/>
                <a:ea typeface="Arial"/>
                <a:cs typeface="Arial"/>
              </a:defRPr>
            </a:lvl5pPr>
            <a:lvl6pPr algn="l">
              <a:defRPr sz="2650" b="1">
                <a:solidFill>
                  <a:srgbClr val="0DBE85"/>
                </a:solidFill>
                <a:latin typeface="Arial"/>
                <a:ea typeface="Arial"/>
                <a:cs typeface="Arial"/>
              </a:defRPr>
            </a:lvl6pPr>
            <a:lvl7pPr algn="l">
              <a:defRPr sz="2650" b="1">
                <a:solidFill>
                  <a:srgbClr val="0DBE85"/>
                </a:solidFill>
                <a:latin typeface="Arial"/>
                <a:ea typeface="Arial"/>
                <a:cs typeface="Arial"/>
              </a:defRPr>
            </a:lvl7pPr>
            <a:lvl8pPr algn="l">
              <a:defRPr sz="2650" b="1">
                <a:solidFill>
                  <a:srgbClr val="0DBE85"/>
                </a:solidFill>
                <a:latin typeface="Arial"/>
                <a:ea typeface="Arial"/>
                <a:cs typeface="Arial"/>
              </a:defRPr>
            </a:lvl8pPr>
            <a:lvl9pPr algn="l">
              <a:defRPr sz="2650" b="1">
                <a:solidFill>
                  <a:srgbClr val="0DBE85"/>
                </a:solidFill>
                <a:latin typeface="Arial"/>
                <a:ea typeface="Arial"/>
                <a:cs typeface="Arial"/>
              </a:defRPr>
            </a:lvl9pPr>
          </a:lstStyle>
          <a:p>
            <a:pPr algn="l">
              <a:defRPr sz="2650" b="1">
                <a:solidFill>
                  <a:srgbClr val="0DBE85"/>
                </a:solidFill>
                <a:latin typeface="Arial"/>
                <a:ea typeface="Arial"/>
                <a:cs typeface="Arial"/>
              </a:defRPr>
            </a:pPr>
            <a:r>
              <a:rPr sz="2650" b="1">
                <a:solidFill>
                  <a:srgbClr val="0DBE85"/>
                </a:solidFill>
                <a:latin typeface="Outfit"/>
                <a:ea typeface="Arial"/>
                <a:cs typeface="Arial"/>
              </a:rPr>
              <a:t>US$125,000</a:t>
            </a:r>
            <a:endParaRPr/>
          </a:p>
        </p:txBody>
      </p:sp>
      <p:sp>
        <p:nvSpPr>
          <p:cNvPr id="417515339" name="prime-text-82"/>
          <p:cNvSpPr>
            <a:spLocks noGrp="1"/>
          </p:cNvSpPr>
          <p:nvPr/>
        </p:nvSpPr>
        <p:spPr bwMode="auto">
          <a:xfrm>
            <a:off x="8362950" y="3857625"/>
            <a:ext cx="3219449" cy="762000"/>
          </a:xfrm>
          <a:prstGeom prst="rect">
            <a:avLst/>
          </a:prstGeom>
          <a:noFill/>
          <a:ln w="0">
            <a:solidFill/>
            <a:prstDash val="solid"/>
          </a:ln>
        </p:spPr>
        <p:txBody>
          <a:bodyPr wrap="square" lIns="0" tIns="0" rIns="0" bIns="0" anchor="t">
            <a:noAutofit/>
          </a:bodyPr>
          <a:lstStyle>
            <a:defPPr algn="l">
              <a:defRPr sz="1800" b="0">
                <a:solidFill>
                  <a:srgbClr val="5D6A67"/>
                </a:solidFill>
                <a:latin typeface="Arial"/>
                <a:ea typeface="Arial"/>
                <a:cs typeface="Arial"/>
              </a:defRPr>
            </a:defPPr>
            <a:lvl1pPr algn="l">
              <a:defRPr sz="1800" b="0">
                <a:solidFill>
                  <a:srgbClr val="5D6A67"/>
                </a:solidFill>
                <a:latin typeface="Arial"/>
                <a:ea typeface="Arial"/>
                <a:cs typeface="Arial"/>
              </a:defRPr>
            </a:lvl1pPr>
            <a:lvl2pPr algn="l">
              <a:defRPr sz="1800" b="0">
                <a:solidFill>
                  <a:srgbClr val="5D6A67"/>
                </a:solidFill>
                <a:latin typeface="Arial"/>
                <a:ea typeface="Arial"/>
                <a:cs typeface="Arial"/>
              </a:defRPr>
            </a:lvl2pPr>
            <a:lvl3pPr algn="l">
              <a:defRPr sz="1800" b="0">
                <a:solidFill>
                  <a:srgbClr val="5D6A67"/>
                </a:solidFill>
                <a:latin typeface="Arial"/>
                <a:ea typeface="Arial"/>
                <a:cs typeface="Arial"/>
              </a:defRPr>
            </a:lvl3pPr>
            <a:lvl4pPr algn="l">
              <a:defRPr sz="1800" b="0">
                <a:solidFill>
                  <a:srgbClr val="5D6A67"/>
                </a:solidFill>
                <a:latin typeface="Arial"/>
                <a:ea typeface="Arial"/>
                <a:cs typeface="Arial"/>
              </a:defRPr>
            </a:lvl4pPr>
            <a:lvl5pPr algn="l">
              <a:defRPr sz="1800" b="0">
                <a:solidFill>
                  <a:srgbClr val="5D6A67"/>
                </a:solidFill>
                <a:latin typeface="Arial"/>
                <a:ea typeface="Arial"/>
                <a:cs typeface="Arial"/>
              </a:defRPr>
            </a:lvl5pPr>
            <a:lvl6pPr algn="l">
              <a:defRPr sz="1800" b="0">
                <a:solidFill>
                  <a:srgbClr val="5D6A67"/>
                </a:solidFill>
                <a:latin typeface="Arial"/>
                <a:ea typeface="Arial"/>
                <a:cs typeface="Arial"/>
              </a:defRPr>
            </a:lvl6pPr>
            <a:lvl7pPr algn="l">
              <a:defRPr sz="1800" b="0">
                <a:solidFill>
                  <a:srgbClr val="5D6A67"/>
                </a:solidFill>
                <a:latin typeface="Arial"/>
                <a:ea typeface="Arial"/>
                <a:cs typeface="Arial"/>
              </a:defRPr>
            </a:lvl7pPr>
            <a:lvl8pPr algn="l">
              <a:defRPr sz="1800" b="0">
                <a:solidFill>
                  <a:srgbClr val="5D6A67"/>
                </a:solidFill>
                <a:latin typeface="Arial"/>
                <a:ea typeface="Arial"/>
                <a:cs typeface="Arial"/>
              </a:defRPr>
            </a:lvl8pPr>
            <a:lvl9pPr algn="l">
              <a:defRPr sz="1800" b="0">
                <a:solidFill>
                  <a:srgbClr val="5D6A67"/>
                </a:solidFill>
                <a:latin typeface="Arial"/>
                <a:ea typeface="Arial"/>
                <a:cs typeface="Arial"/>
              </a:defRPr>
            </a:lvl9pPr>
          </a:lstStyle>
          <a:p>
            <a:pPr algn="l">
              <a:defRPr sz="1800" b="0">
                <a:solidFill>
                  <a:srgbClr val="5D6A67"/>
                </a:solidFill>
                <a:latin typeface="Arial"/>
                <a:ea typeface="Arial"/>
                <a:cs typeface="Arial"/>
              </a:defRPr>
            </a:pPr>
            <a:r>
              <a:rPr sz="1800" b="0">
                <a:solidFill>
                  <a:srgbClr val="5D6A67"/>
                </a:solidFill>
                <a:latin typeface="Plus Jakarta Sans"/>
                <a:ea typeface="Arial"/>
                <a:cs typeface="Arial"/>
              </a:rPr>
              <a:t>average monthly funding</a:t>
            </a:r>
            <a:endParaRPr/>
          </a:p>
          <a:p>
            <a:pPr algn="l">
              <a:defRPr sz="1800" b="0">
                <a:solidFill>
                  <a:srgbClr val="5D6A67"/>
                </a:solidFill>
                <a:latin typeface="Arial"/>
                <a:ea typeface="Arial"/>
                <a:cs typeface="Arial"/>
              </a:defRPr>
            </a:pPr>
            <a:r>
              <a:rPr sz="1800" b="0">
                <a:solidFill>
                  <a:srgbClr val="5D6A67"/>
                </a:solidFill>
                <a:latin typeface="Plus Jakarta Sans"/>
                <a:ea typeface="Arial"/>
                <a:cs typeface="Arial"/>
              </a:rPr>
              <a:t>envelope, including reserve</a:t>
            </a:r>
            <a:endParaRPr/>
          </a:p>
        </p:txBody>
      </p:sp>
      <p:sp>
        <p:nvSpPr>
          <p:cNvPr id="712857109" name="prime-text-83"/>
          <p:cNvSpPr>
            <a:spLocks noGrp="1"/>
          </p:cNvSpPr>
          <p:nvPr/>
        </p:nvSpPr>
        <p:spPr bwMode="auto">
          <a:xfrm>
            <a:off x="8362950" y="4905375"/>
            <a:ext cx="3219449" cy="619125"/>
          </a:xfrm>
          <a:prstGeom prst="rect">
            <a:avLst/>
          </a:prstGeom>
          <a:noFill/>
          <a:ln w="0">
            <a:solidFill/>
            <a:prstDash val="solid"/>
          </a:ln>
        </p:spPr>
        <p:txBody>
          <a:bodyPr wrap="square" lIns="0" tIns="0" rIns="0" bIns="0" anchor="t">
            <a:noAutofit/>
          </a:bodyPr>
          <a:lstStyle>
            <a:defPPr algn="l">
              <a:defRPr sz="1650" b="0">
                <a:solidFill>
                  <a:srgbClr val="18201D"/>
                </a:solidFill>
                <a:latin typeface="Arial"/>
                <a:ea typeface="Arial"/>
                <a:cs typeface="Arial"/>
              </a:defRPr>
            </a:defPPr>
            <a:lvl1pPr algn="l">
              <a:defRPr sz="1650" b="0">
                <a:solidFill>
                  <a:srgbClr val="18201D"/>
                </a:solidFill>
                <a:latin typeface="Arial"/>
                <a:ea typeface="Arial"/>
                <a:cs typeface="Arial"/>
              </a:defRPr>
            </a:lvl1pPr>
            <a:lvl2pPr algn="l">
              <a:defRPr sz="1650" b="0">
                <a:solidFill>
                  <a:srgbClr val="18201D"/>
                </a:solidFill>
                <a:latin typeface="Arial"/>
                <a:ea typeface="Arial"/>
                <a:cs typeface="Arial"/>
              </a:defRPr>
            </a:lvl2pPr>
            <a:lvl3pPr algn="l">
              <a:defRPr sz="1650" b="0">
                <a:solidFill>
                  <a:srgbClr val="18201D"/>
                </a:solidFill>
                <a:latin typeface="Arial"/>
                <a:ea typeface="Arial"/>
                <a:cs typeface="Arial"/>
              </a:defRPr>
            </a:lvl3pPr>
            <a:lvl4pPr algn="l">
              <a:defRPr sz="1650" b="0">
                <a:solidFill>
                  <a:srgbClr val="18201D"/>
                </a:solidFill>
                <a:latin typeface="Arial"/>
                <a:ea typeface="Arial"/>
                <a:cs typeface="Arial"/>
              </a:defRPr>
            </a:lvl4pPr>
            <a:lvl5pPr algn="l">
              <a:defRPr sz="1650" b="0">
                <a:solidFill>
                  <a:srgbClr val="18201D"/>
                </a:solidFill>
                <a:latin typeface="Arial"/>
                <a:ea typeface="Arial"/>
                <a:cs typeface="Arial"/>
              </a:defRPr>
            </a:lvl5pPr>
            <a:lvl6pPr algn="l">
              <a:defRPr sz="1650" b="0">
                <a:solidFill>
                  <a:srgbClr val="18201D"/>
                </a:solidFill>
                <a:latin typeface="Arial"/>
                <a:ea typeface="Arial"/>
                <a:cs typeface="Arial"/>
              </a:defRPr>
            </a:lvl6pPr>
            <a:lvl7pPr algn="l">
              <a:defRPr sz="1650" b="0">
                <a:solidFill>
                  <a:srgbClr val="18201D"/>
                </a:solidFill>
                <a:latin typeface="Arial"/>
                <a:ea typeface="Arial"/>
                <a:cs typeface="Arial"/>
              </a:defRPr>
            </a:lvl7pPr>
            <a:lvl8pPr algn="l">
              <a:defRPr sz="1650" b="0">
                <a:solidFill>
                  <a:srgbClr val="18201D"/>
                </a:solidFill>
                <a:latin typeface="Arial"/>
                <a:ea typeface="Arial"/>
                <a:cs typeface="Arial"/>
              </a:defRPr>
            </a:lvl8pPr>
            <a:lvl9pPr algn="l">
              <a:defRPr sz="1650" b="0">
                <a:solidFill>
                  <a:srgbClr val="18201D"/>
                </a:solidFill>
                <a:latin typeface="Arial"/>
                <a:ea typeface="Arial"/>
                <a:cs typeface="Arial"/>
              </a:defRPr>
            </a:lvl9pPr>
          </a:lstStyle>
          <a:p>
            <a:pPr algn="l">
              <a:defRPr sz="1650" b="0">
                <a:solidFill>
                  <a:srgbClr val="18201D"/>
                </a:solidFill>
                <a:latin typeface="Arial"/>
                <a:ea typeface="Arial"/>
                <a:cs typeface="Arial"/>
              </a:defRPr>
            </a:pPr>
            <a:r>
              <a:rPr sz="1650" b="0">
                <a:solidFill>
                  <a:srgbClr val="18201D"/>
                </a:solidFill>
                <a:latin typeface="Plus Jakarta Sans"/>
                <a:ea typeface="Arial"/>
                <a:cs typeface="Arial"/>
              </a:rPr>
              <a:t>US$112,500 fixed</a:t>
            </a:r>
            <a:endParaRPr/>
          </a:p>
          <a:p>
            <a:pPr algn="l">
              <a:defRPr sz="1650" b="0">
                <a:solidFill>
                  <a:srgbClr val="18201D"/>
                </a:solidFill>
                <a:latin typeface="Arial"/>
                <a:ea typeface="Arial"/>
                <a:cs typeface="Arial"/>
              </a:defRPr>
            </a:pPr>
            <a:r>
              <a:rPr sz="1650" b="0">
                <a:solidFill>
                  <a:srgbClr val="18201D"/>
                </a:solidFill>
                <a:latin typeface="Plus Jakarta Sans"/>
                <a:ea typeface="Arial"/>
                <a:cs typeface="Arial"/>
              </a:rPr>
              <a:t>+ US$12,500 reserve equivalent</a:t>
            </a:r>
            <a:endParaRPr/>
          </a:p>
        </p:txBody>
      </p:sp>
      <p:sp>
        <p:nvSpPr>
          <p:cNvPr id="1552027745" name="prime-text-84"/>
          <p:cNvSpPr>
            <a:spLocks noGrp="1"/>
          </p:cNvSpPr>
          <p:nvPr/>
        </p:nvSpPr>
        <p:spPr bwMode="auto">
          <a:xfrm>
            <a:off x="609600" y="5705475"/>
            <a:ext cx="10972800" cy="409575"/>
          </a:xfrm>
          <a:prstGeom prst="rect">
            <a:avLst/>
          </a:prstGeom>
          <a:noFill/>
          <a:ln w="0">
            <a:solidFill/>
            <a:prstDash val="solid"/>
          </a:ln>
        </p:spPr>
        <p:txBody>
          <a:bodyPr wrap="square" lIns="0" tIns="0" rIns="0" bIns="0" anchor="t">
            <a:noAutofit/>
          </a:bodyPr>
          <a:lstStyle>
            <a:defPPr algn="l">
              <a:defRPr sz="2250" b="1">
                <a:solidFill>
                  <a:srgbClr val="0DBE85"/>
                </a:solidFill>
                <a:latin typeface="Arial"/>
                <a:ea typeface="Arial"/>
                <a:cs typeface="Arial"/>
              </a:defRPr>
            </a:defPPr>
            <a:lvl1pPr algn="l">
              <a:defRPr sz="2250" b="1">
                <a:solidFill>
                  <a:srgbClr val="0DBE85"/>
                </a:solidFill>
                <a:latin typeface="Arial"/>
                <a:ea typeface="Arial"/>
                <a:cs typeface="Arial"/>
              </a:defRPr>
            </a:lvl1pPr>
            <a:lvl2pPr algn="l">
              <a:defRPr sz="2250" b="1">
                <a:solidFill>
                  <a:srgbClr val="0DBE85"/>
                </a:solidFill>
                <a:latin typeface="Arial"/>
                <a:ea typeface="Arial"/>
                <a:cs typeface="Arial"/>
              </a:defRPr>
            </a:lvl2pPr>
            <a:lvl3pPr algn="l">
              <a:defRPr sz="2250" b="1">
                <a:solidFill>
                  <a:srgbClr val="0DBE85"/>
                </a:solidFill>
                <a:latin typeface="Arial"/>
                <a:ea typeface="Arial"/>
                <a:cs typeface="Arial"/>
              </a:defRPr>
            </a:lvl3pPr>
            <a:lvl4pPr algn="l">
              <a:defRPr sz="2250" b="1">
                <a:solidFill>
                  <a:srgbClr val="0DBE85"/>
                </a:solidFill>
                <a:latin typeface="Arial"/>
                <a:ea typeface="Arial"/>
                <a:cs typeface="Arial"/>
              </a:defRPr>
            </a:lvl4pPr>
            <a:lvl5pPr algn="l">
              <a:defRPr sz="2250" b="1">
                <a:solidFill>
                  <a:srgbClr val="0DBE85"/>
                </a:solidFill>
                <a:latin typeface="Arial"/>
                <a:ea typeface="Arial"/>
                <a:cs typeface="Arial"/>
              </a:defRPr>
            </a:lvl5pPr>
            <a:lvl6pPr algn="l">
              <a:defRPr sz="2250" b="1">
                <a:solidFill>
                  <a:srgbClr val="0DBE85"/>
                </a:solidFill>
                <a:latin typeface="Arial"/>
                <a:ea typeface="Arial"/>
                <a:cs typeface="Arial"/>
              </a:defRPr>
            </a:lvl6pPr>
            <a:lvl7pPr algn="l">
              <a:defRPr sz="2250" b="1">
                <a:solidFill>
                  <a:srgbClr val="0DBE85"/>
                </a:solidFill>
                <a:latin typeface="Arial"/>
                <a:ea typeface="Arial"/>
                <a:cs typeface="Arial"/>
              </a:defRPr>
            </a:lvl7pPr>
            <a:lvl8pPr algn="l">
              <a:defRPr sz="2250" b="1">
                <a:solidFill>
                  <a:srgbClr val="0DBE85"/>
                </a:solidFill>
                <a:latin typeface="Arial"/>
                <a:ea typeface="Arial"/>
                <a:cs typeface="Arial"/>
              </a:defRPr>
            </a:lvl8pPr>
            <a:lvl9pPr algn="l">
              <a:defRPr sz="2250" b="1">
                <a:solidFill>
                  <a:srgbClr val="0DBE85"/>
                </a:solidFill>
                <a:latin typeface="Arial"/>
                <a:ea typeface="Arial"/>
                <a:cs typeface="Arial"/>
              </a:defRPr>
            </a:lvl9pPr>
          </a:lstStyle>
          <a:p>
            <a:pPr algn="l">
              <a:defRPr sz="2250" b="1">
                <a:solidFill>
                  <a:srgbClr val="0DBE85"/>
                </a:solidFill>
                <a:latin typeface="Arial"/>
                <a:ea typeface="Arial"/>
                <a:cs typeface="Arial"/>
              </a:defRPr>
            </a:pPr>
            <a:r>
              <a:rPr sz="2250" b="1">
                <a:solidFill>
                  <a:srgbClr val="0DBE85"/>
                </a:solidFill>
                <a:latin typeface="Outfit"/>
                <a:ea typeface="Arial"/>
                <a:cs typeface="Arial"/>
              </a:rPr>
              <a:t>Seeking investors and an anchor programme sponsor</a:t>
            </a:r>
            <a:endParaRPr/>
          </a:p>
        </p:txBody>
      </p:sp>
      <p:sp>
        <p:nvSpPr>
          <p:cNvPr id="39386989" name="prime-text-85"/>
          <p:cNvSpPr>
            <a:spLocks noGrp="1"/>
          </p:cNvSpPr>
          <p:nvPr/>
        </p:nvSpPr>
        <p:spPr bwMode="auto">
          <a:xfrm>
            <a:off x="609600" y="6162675"/>
            <a:ext cx="10972800" cy="266700"/>
          </a:xfrm>
          <a:prstGeom prst="rect">
            <a:avLst/>
          </a:prstGeom>
          <a:noFill/>
          <a:ln w="0">
            <a:solidFill/>
            <a:prstDash val="solid"/>
          </a:ln>
        </p:spPr>
        <p:txBody>
          <a:bodyPr wrap="square" lIns="0" tIns="0" rIns="0" bIns="0" anchor="t">
            <a:noAutofit/>
          </a:bodyPr>
          <a:lstStyle>
            <a:defPPr algn="l">
              <a:defRPr sz="1500" b="0">
                <a:solidFill>
                  <a:srgbClr val="5D6A67"/>
                </a:solidFill>
                <a:latin typeface="Arial"/>
                <a:ea typeface="Arial"/>
                <a:cs typeface="Arial"/>
              </a:defRPr>
            </a:defPPr>
            <a:lvl1pPr algn="l">
              <a:defRPr sz="1500" b="0">
                <a:solidFill>
                  <a:srgbClr val="5D6A67"/>
                </a:solidFill>
                <a:latin typeface="Arial"/>
                <a:ea typeface="Arial"/>
                <a:cs typeface="Arial"/>
              </a:defRPr>
            </a:lvl1pPr>
            <a:lvl2pPr algn="l">
              <a:defRPr sz="1500" b="0">
                <a:solidFill>
                  <a:srgbClr val="5D6A67"/>
                </a:solidFill>
                <a:latin typeface="Arial"/>
                <a:ea typeface="Arial"/>
                <a:cs typeface="Arial"/>
              </a:defRPr>
            </a:lvl2pPr>
            <a:lvl3pPr algn="l">
              <a:defRPr sz="1500" b="0">
                <a:solidFill>
                  <a:srgbClr val="5D6A67"/>
                </a:solidFill>
                <a:latin typeface="Arial"/>
                <a:ea typeface="Arial"/>
                <a:cs typeface="Arial"/>
              </a:defRPr>
            </a:lvl3pPr>
            <a:lvl4pPr algn="l">
              <a:defRPr sz="1500" b="0">
                <a:solidFill>
                  <a:srgbClr val="5D6A67"/>
                </a:solidFill>
                <a:latin typeface="Arial"/>
                <a:ea typeface="Arial"/>
                <a:cs typeface="Arial"/>
              </a:defRPr>
            </a:lvl4pPr>
            <a:lvl5pPr algn="l">
              <a:defRPr sz="1500" b="0">
                <a:solidFill>
                  <a:srgbClr val="5D6A67"/>
                </a:solidFill>
                <a:latin typeface="Arial"/>
                <a:ea typeface="Arial"/>
                <a:cs typeface="Arial"/>
              </a:defRPr>
            </a:lvl5pPr>
            <a:lvl6pPr algn="l">
              <a:defRPr sz="1500" b="0">
                <a:solidFill>
                  <a:srgbClr val="5D6A67"/>
                </a:solidFill>
                <a:latin typeface="Arial"/>
                <a:ea typeface="Arial"/>
                <a:cs typeface="Arial"/>
              </a:defRPr>
            </a:lvl6pPr>
            <a:lvl7pPr algn="l">
              <a:defRPr sz="1500" b="0">
                <a:solidFill>
                  <a:srgbClr val="5D6A67"/>
                </a:solidFill>
                <a:latin typeface="Arial"/>
                <a:ea typeface="Arial"/>
                <a:cs typeface="Arial"/>
              </a:defRPr>
            </a:lvl7pPr>
            <a:lvl8pPr algn="l">
              <a:defRPr sz="1500" b="0">
                <a:solidFill>
                  <a:srgbClr val="5D6A67"/>
                </a:solidFill>
                <a:latin typeface="Arial"/>
                <a:ea typeface="Arial"/>
                <a:cs typeface="Arial"/>
              </a:defRPr>
            </a:lvl8pPr>
            <a:lvl9pPr algn="l">
              <a:defRPr sz="1500" b="0">
                <a:solidFill>
                  <a:srgbClr val="5D6A67"/>
                </a:solidFill>
                <a:latin typeface="Arial"/>
                <a:ea typeface="Arial"/>
                <a:cs typeface="Arial"/>
              </a:defRPr>
            </a:lvl9pPr>
          </a:lstStyle>
          <a:p>
            <a:pPr algn="l">
              <a:defRPr sz="1500" b="0">
                <a:solidFill>
                  <a:srgbClr val="5D6A67"/>
                </a:solidFill>
                <a:latin typeface="Arial"/>
                <a:ea typeface="Arial"/>
                <a:cs typeface="Arial"/>
              </a:defRPr>
            </a:pPr>
            <a:r>
              <a:rPr sz="1500" b="0">
                <a:solidFill>
                  <a:srgbClr val="5D6A67"/>
                </a:solidFill>
                <a:latin typeface="Plus Jakarta Sans"/>
                <a:ea typeface="Arial"/>
                <a:cs typeface="Arial"/>
              </a:rPr>
              <a:t>Connextium.xyz / Finux Labs     connextium.xyz</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theme1.xml><?xml version="1.0" encoding="utf-8"?>
<a:theme xmlns:a="http://schemas.openxmlformats.org/drawingml/2006/main" xmlns:r="http://schemas.openxmlformats.org/officeDocument/2006/relationships" xmlns:p="http://schemas.openxmlformats.org/presentationml/2006/main" name="ChatGPT">
  <a:themeElements>
    <a:clrScheme name="ChatGPT">
      <a:dk1>
        <a:srgbClr val="000000"/>
      </a:dk1>
      <a:lt1>
        <a:srgbClr val="FFFFFF"/>
      </a:lt1>
      <a:dk2>
        <a:srgbClr val="0E2841"/>
      </a:dk2>
      <a:lt2>
        <a:srgbClr val="E8E8E8"/>
      </a:lt2>
      <a:accent1>
        <a:srgbClr val="0DBE85"/>
      </a:accent1>
      <a:accent2>
        <a:srgbClr val="0891B2"/>
      </a:accent2>
      <a:accent3>
        <a:srgbClr val="D97706"/>
      </a:accent3>
      <a:accent4>
        <a:srgbClr val="7C3AED"/>
      </a:accent4>
      <a:accent5>
        <a:srgbClr val="A02B93"/>
      </a:accent5>
      <a:accent6>
        <a:srgbClr val="4EA72E"/>
      </a:accent6>
      <a:hlink>
        <a:srgbClr val="467886"/>
      </a:hlink>
      <a:folHlink>
        <a:srgbClr val="96607D"/>
      </a:folHlink>
    </a:clrScheme>
    <a:fontScheme name="">
      <a:majorFont>
        <a:latin typeface="Outfit"/>
        <a:ea typeface="Arial"/>
        <a:cs typeface="Arial"/>
      </a:majorFont>
      <a:minorFont>
        <a:latin typeface="Outfit"/>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Arial"/>
        <a:cs typeface="Arial"/>
      </a:majorFont>
      <a:minorFont>
        <a:latin typeface="Aptos"/>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ONLYOFFICE/9.2.1.43</Application>
  <PresentationFormat>On-screen Show (4:3)</PresentationFormat>
  <Paragraphs>0</Paragraphs>
  <Slides>15</Slides>
  <Notes>15</Notes>
  <HiddenSlides>0</HiddenSlides>
  <MMClips>2</MMClips>
  <ScaleCrop>0</ScaleCrop>
  <HeadingPairs>
    <vt:vector size="4" baseType="variant">
      <vt:variant>
        <vt:lpstr>Theme</vt:lpstr>
      </vt:variant>
      <vt:variant>
        <vt:i4>1</vt:i4>
      </vt:variant>
      <vt:variant>
        <vt:lpstr>Slide Titles</vt:lpstr>
      </vt:variant>
      <vt:variant>
        <vt:i4>15</vt:i4>
      </vt:variant>
    </vt:vector>
  </HeadingPairs>
  <TitlesOfParts>
    <vt:vector size="16"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revision>1</cp:revision>
  <dcterms:modified xsi:type="dcterms:W3CDTF">2026-10-31T08:42:52Z</dcterms:modified>
</cp:coreProperties>
</file>