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wmf" ContentType="image/x-wmf"/>
  <Default Extension="png" ContentType="image/png"/>
  <Default Extension="rels" ContentType="application/vnd.openxmlformats-package.relationships+xml"/>
  <Default Extension="bin" ContentType="application/vnd.openxmlformats-officedocument.oleObject"/>
  <Override PartName="/ppt/charts/chart7.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charts/chart3.xml" ContentType="application/vnd.openxmlformats-officedocument.drawingml.chart+xml"/>
  <Override PartName="/ppt/tableStyles.xml" ContentType="application/vnd.openxmlformats-officedocument.presentationml.tableStyles+xml"/>
  <Override PartName="/docProps/app.xml" ContentType="application/vnd.openxmlformats-officedocument.extended-properties+xml"/>
  <Override PartName="/ppt/charts/chart8.xml" ContentType="application/vnd.openxmlformats-officedocument.drawingml.chart+xml"/>
  <Override PartName="/ppt/charts/chart6.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ppt/viewProps.xml" ContentType="application/vnd.openxmlformats-officedocument.presentationml.viewProps+xml"/>
  <Override PartName="/ppt/presentation.xml" ContentType="application/vnd.openxmlformats-officedocument.presentationml.presentation.main+xml"/>
  <Override PartName="/ppt/charts/chart1.xml" ContentType="application/vnd.openxmlformats-officedocument.drawingml.chart+xml"/>
  <Override PartName="/ppt/charts/chart2.xml" ContentType="application/vnd.openxmlformats-officedocument.drawingml.char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officeDocument" Target="ppt/presentation.xml"></Relationship><Relationship Id="rId2" Type="http://schemas.openxmlformats.org/package/2006/relationships/metadata/core-properties" Target="docProps/core.xml"></Relationship><Relationship Id="rId3" Type="http://schemas.openxmlformats.org/officeDocument/2006/relationships/extended-properties" Target="docProps/app.xml"></Relationship></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p14="http://schemas.microsoft.com/office/powerpoint/2010/main">
  <p:sldMasterIdLst>
    <p:sldMasterId id="2147483663" r:id="rId8"/>
  </p:sldMasterIdLst>
  <p:notesMasterIdLst>
    <p:notesMasterId r:id="rId10"/>
  </p:notesMasterIdLst>
  <p:sldIdLst>
    <p:sldId id="256" r:id="rId12"/>
    <p:sldId id="257" r:id="rId13"/>
    <p:sldId id="258" r:id="rId15"/>
    <p:sldId id="259" r:id="rId17"/>
    <p:sldId id="260" r:id="rId19"/>
    <p:sldId id="261" r:id="rId21"/>
    <p:sldId id="262" r:id="rId23"/>
    <p:sldId id="264" r:id="rId25"/>
    <p:sldId id="265" r:id="rId27"/>
    <p:sldId id="266" r:id="rId29"/>
    <p:sldId id="267" r:id="rId31"/>
    <p:sldId id="269" r:id="rId33"/>
    <p:sldId id="271" r:id="rId35"/>
    <p:sldId id="272" r:id="rId37"/>
    <p:sldId id="274" r:id="rId38"/>
    <p:sldId id="275" r:id="rId40"/>
    <p:sldId id="277" r:id="rId42"/>
    <p:sldId id="278" r:id="rId44"/>
    <p:sldId id="279" r:id="rId46"/>
    <p:sldId id="280" r:id="rId48"/>
    <p:sldId id="281" r:id="rId50"/>
    <p:sldId id="282" r:id="rId52"/>
    <p:sldId id="283" r:id="rId54"/>
    <p:sldId id="284" r:id="rId56"/>
    <p:sldId id="285" r:id="rId58"/>
    <p:sldId id="290" r:id="rId60"/>
    <p:sldId id="292" r:id="rId62"/>
    <p:sldId id="293" r:id="rId64"/>
    <p:sldId id="294" r:id="rId66"/>
    <p:sldId id="297" r:id="rId68"/>
    <p:sldId id="298" r:id="rId70"/>
    <p:sldId id="305" r:id="rId72"/>
    <p:sldId id="306" r:id="rId74"/>
    <p:sldId id="307" r:id="rId76"/>
    <p:sldId id="310" r:id="rId78"/>
  </p:sldIdLst>
  <p:sldSz cx="12192000" cy="6858000"/>
  <p:notesSz cx="6858000" cy="9144000"/>
  <p:extLst>
    <p:ext uri="{EFAFB233-063F-42B5-8137-9DF3F51BA10A}">
      <p15:sldGuideLst xmlns:p15="http://schemas.microsoft.com/office/powerpoint/2012/main">
        <p15:guide id="0" pos="3839" userDrawn="1">
          <p15:clr>
            <a:srgbClr val="A4A3A4"/>
          </p15:clr>
        </p15:guide>
        <p15:guide id="1" orient="horz" pos="215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Lst>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slideViewPr>
    <p:cSldViewPr snapToGrid="1" snapToObjects="1">
      <p:cViewPr>
        <p:scale>
          <a:sx n="0" d="0"/>
          <a:sy n="0" d="0"/>
        </p:scale>
        <p:origin x="0" y="0"/>
      </p:cViewPr>
      <p:guideLst>
        <p:guide pos="3839"/>
        <p:guide orient="horz" pos="2159"/>
      </p:guideLst>
    </p:cSldViewPr>
  </p:slideViewPr>
</p:viewPr>
</file>

<file path=ppt/_rels/presentation.xml.rels><?xml version="1.0" encoding="UTF-8"?>
<Relationships xmlns="http://schemas.openxmlformats.org/package/2006/relationships"><Relationship Id="rId1" Type="http://schemas.openxmlformats.org/officeDocument/2006/relationships/tableStyles" Target="tableStyles.xml"></Relationship><Relationship Id="rId8" Type="http://schemas.openxmlformats.org/officeDocument/2006/relationships/slideMaster" Target="slideMasters/slideMaster1.xml"></Relationship><Relationship Id="rId9" Type="http://schemas.openxmlformats.org/officeDocument/2006/relationships/theme" Target="theme/theme1.xml"></Relationship><Relationship Id="rId10" Type="http://schemas.openxmlformats.org/officeDocument/2006/relationships/notesMaster" Target="notesMasters/notesMaster1.xml"></Relationship><Relationship Id="rId12" Type="http://schemas.openxmlformats.org/officeDocument/2006/relationships/slide" Target="slides/slide1.xml"></Relationship><Relationship Id="rId13" Type="http://schemas.openxmlformats.org/officeDocument/2006/relationships/slide" Target="slides/slide2.xml"></Relationship><Relationship Id="rId15" Type="http://schemas.openxmlformats.org/officeDocument/2006/relationships/slide" Target="slides/slide3.xml"></Relationship><Relationship Id="rId17" Type="http://schemas.openxmlformats.org/officeDocument/2006/relationships/slide" Target="slides/slide4.xml"></Relationship><Relationship Id="rId19" Type="http://schemas.openxmlformats.org/officeDocument/2006/relationships/slide" Target="slides/slide5.xml"></Relationship><Relationship Id="rId21" Type="http://schemas.openxmlformats.org/officeDocument/2006/relationships/slide" Target="slides/slide6.xml"></Relationship><Relationship Id="rId23" Type="http://schemas.openxmlformats.org/officeDocument/2006/relationships/slide" Target="slides/slide7.xml"></Relationship><Relationship Id="rId25" Type="http://schemas.openxmlformats.org/officeDocument/2006/relationships/slide" Target="slides/slide8.xml"></Relationship><Relationship Id="rId27" Type="http://schemas.openxmlformats.org/officeDocument/2006/relationships/slide" Target="slides/slide9.xml"></Relationship><Relationship Id="rId29" Type="http://schemas.openxmlformats.org/officeDocument/2006/relationships/slide" Target="slides/slide10.xml"></Relationship><Relationship Id="rId31" Type="http://schemas.openxmlformats.org/officeDocument/2006/relationships/slide" Target="slides/slide11.xml"></Relationship><Relationship Id="rId33" Type="http://schemas.openxmlformats.org/officeDocument/2006/relationships/slide" Target="slides/slide12.xml"></Relationship><Relationship Id="rId35" Type="http://schemas.openxmlformats.org/officeDocument/2006/relationships/slide" Target="slides/slide13.xml"></Relationship><Relationship Id="rId37" Type="http://schemas.openxmlformats.org/officeDocument/2006/relationships/slide" Target="slides/slide14.xml"></Relationship><Relationship Id="rId38" Type="http://schemas.openxmlformats.org/officeDocument/2006/relationships/slide" Target="slides/slide15.xml"></Relationship><Relationship Id="rId40" Type="http://schemas.openxmlformats.org/officeDocument/2006/relationships/slide" Target="slides/slide16.xml"></Relationship><Relationship Id="rId42" Type="http://schemas.openxmlformats.org/officeDocument/2006/relationships/slide" Target="slides/slide17.xml"></Relationship><Relationship Id="rId44" Type="http://schemas.openxmlformats.org/officeDocument/2006/relationships/slide" Target="slides/slide18.xml"></Relationship><Relationship Id="rId46" Type="http://schemas.openxmlformats.org/officeDocument/2006/relationships/slide" Target="slides/slide19.xml"></Relationship><Relationship Id="rId48" Type="http://schemas.openxmlformats.org/officeDocument/2006/relationships/slide" Target="slides/slide20.xml"></Relationship><Relationship Id="rId50" Type="http://schemas.openxmlformats.org/officeDocument/2006/relationships/slide" Target="slides/slide21.xml"></Relationship><Relationship Id="rId52" Type="http://schemas.openxmlformats.org/officeDocument/2006/relationships/slide" Target="slides/slide22.xml"></Relationship><Relationship Id="rId54" Type="http://schemas.openxmlformats.org/officeDocument/2006/relationships/slide" Target="slides/slide23.xml"></Relationship><Relationship Id="rId56" Type="http://schemas.openxmlformats.org/officeDocument/2006/relationships/slide" Target="slides/slide24.xml"></Relationship><Relationship Id="rId58" Type="http://schemas.openxmlformats.org/officeDocument/2006/relationships/slide" Target="slides/slide25.xml"></Relationship><Relationship Id="rId60" Type="http://schemas.openxmlformats.org/officeDocument/2006/relationships/slide" Target="slides/slide26.xml"></Relationship><Relationship Id="rId62" Type="http://schemas.openxmlformats.org/officeDocument/2006/relationships/slide" Target="slides/slide27.xml"></Relationship><Relationship Id="rId64" Type="http://schemas.openxmlformats.org/officeDocument/2006/relationships/slide" Target="slides/slide28.xml"></Relationship><Relationship Id="rId66" Type="http://schemas.openxmlformats.org/officeDocument/2006/relationships/slide" Target="slides/slide29.xml"></Relationship><Relationship Id="rId68" Type="http://schemas.openxmlformats.org/officeDocument/2006/relationships/slide" Target="slides/slide30.xml"></Relationship><Relationship Id="rId70" Type="http://schemas.openxmlformats.org/officeDocument/2006/relationships/slide" Target="slides/slide31.xml"></Relationship><Relationship Id="rId72" Type="http://schemas.openxmlformats.org/officeDocument/2006/relationships/slide" Target="slides/slide32.xml"></Relationship><Relationship Id="rId74" Type="http://schemas.openxmlformats.org/officeDocument/2006/relationships/slide" Target="slides/slide33.xml"></Relationship><Relationship Id="rId76" Type="http://schemas.openxmlformats.org/officeDocument/2006/relationships/slide" Target="slides/slide34.xml"></Relationship><Relationship Id="rId78" Type="http://schemas.openxmlformats.org/officeDocument/2006/relationships/slide" Target="slides/slide35.xml"></Relationship><Relationship Id="rId82" Type="http://schemas.openxmlformats.org/officeDocument/2006/relationships/viewProps" Target="viewProps.xml"></Relationship><Relationship Id="rId83" Type="http://schemas.openxmlformats.org/officeDocument/2006/relationships/presProps" Target="presProps.xml"></Relationship></Relationships>
</file>

<file path=ppt/charts/_rels/chart1.xml.rels><?xml version="1.0" encoding="UTF-8"?>
<Relationships xmlns="http://schemas.openxmlformats.org/package/2006/relationships"><Relationship Id="rId1" Type="http://schemas.openxmlformats.org/officeDocument/2006/relationships/package" Target="../embeddings/Polaris_Office_Excel_____-1237135208.xlsx"></Relationship></Relationships>
</file>

<file path=ppt/charts/_rels/chart2.xml.rels><?xml version="1.0" encoding="UTF-8"?>
<Relationships xmlns="http://schemas.openxmlformats.org/package/2006/relationships"><Relationship Id="rId1" Type="http://schemas.openxmlformats.org/officeDocument/2006/relationships/package" Target="../embeddings/Polaris_Office_Excel_____-1231041240.xlsx"></Relationship></Relationships>
</file>

<file path=ppt/charts/_rels/chart3.xml.rels><?xml version="1.0" encoding="UTF-8"?>
<Relationships xmlns="http://schemas.openxmlformats.org/package/2006/relationships"><Relationship Id="rId1" Type="http://schemas.openxmlformats.org/officeDocument/2006/relationships/package" Target="../embeddings/Polaris_Office_Excel_____-1231041576.xlsx"></Relationship></Relationships>
</file>

<file path=ppt/charts/_rels/chart4.xml.rels><?xml version="1.0" encoding="UTF-8"?>
<Relationships xmlns="http://schemas.openxmlformats.org/package/2006/relationships"><Relationship Id="rId1" Type="http://schemas.openxmlformats.org/officeDocument/2006/relationships/package" Target="../embeddings/Polaris_Office_Excel_____-1226337416.xlsx"></Relationship></Relationships>
</file>

<file path=ppt/charts/_rels/chart5.xml.rels><?xml version="1.0" encoding="UTF-8"?>
<Relationships xmlns="http://schemas.openxmlformats.org/package/2006/relationships"><Relationship Id="rId1" Type="http://schemas.openxmlformats.org/officeDocument/2006/relationships/package" Target="../embeddings/Polaris_Office_Excel_____-1215076200.xlsx"></Relationship></Relationships>
</file>

<file path=ppt/charts/_rels/chart6.xml.rels><?xml version="1.0" encoding="UTF-8"?>
<Relationships xmlns="http://schemas.openxmlformats.org/package/2006/relationships"><Relationship Id="rId1" Type="http://schemas.openxmlformats.org/officeDocument/2006/relationships/package" Target="../embeddings/Polaris_Office_Excel_____-1213157080.xlsx"></Relationship></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Indicative holding value</c:v>
          </c:tx>
          <c:spPr bwMode="auto">
            <a:prstGeom prst="rect">
              <a:avLst/>
            </a:prstGeom>
            <a:solidFill>
              <a:srgbClr val="176C6B"/>
            </a:solidFill>
          </c:spPr>
          <c:invertIfNegative val="0"/>
          <c:cat>
            <c:strRef>
              <c:f>'Chart Data'!$A$2:$A$3</c:f>
              <c:strCache>
                <c:ptCount val="2"/>
                <c:pt idx="0">
                  <c:v>At purchase</c:v>
                </c:pt>
                <c:pt idx="1">
                  <c:v>After +10%</c:v>
                </c:pt>
              </c:strCache>
            </c:strRef>
          </c:cat>
          <c:val>
            <c:numRef>
              <c:f>'Chart Data'!$B$2:$B$3</c:f>
              <c:numCache>
                <c:formatCode>"US$"0</c:formatCode>
                <c:ptCount val="2"/>
                <c:pt idx="0">
                  <c:v>300</c:v>
                </c:pt>
                <c:pt idx="1">
                  <c:v>330</c:v>
                </c:pt>
              </c:numCache>
            </c:numRef>
          </c:val>
        </c:ser>
        <c:dLbls>
          <c:dLblPos val="outEnd"/>
          <c:numFmt formatCode="&quot;US$&quot;0" sourceLinked="0"/>
          <c:showBubbleSize val="0"/>
          <c:showCatName val="0"/>
          <c:showLeaderLines val="0"/>
          <c:showLegendKey val="0"/>
          <c:showPercent val="0"/>
          <c:showSerName val="0"/>
          <c:showVal val="1"/>
          <c:txPr>
            <a:bodyPr anchorCtr="1"/>
            <a:lstStyle/>
            <a:p>
              <a:pPr>
                <a:defRPr sz="190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40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Holding value in USD</a:t>
                </a:r>
                <a:endParaRPr/>
              </a:p>
            </c:rich>
          </c:tx>
          <c:layout/>
          <c:overlay val="0"/>
          <c:txPr>
            <a:bodyPr anchorCtr="1"/>
            <a:lstStyle/>
            <a:p>
              <a:pPr>
                <a:defRPr sz="1600">
                  <a:solidFill>
                    <a:srgbClr val="53676D"/>
                  </a:solidFill>
                  <a:latin typeface="Arial"/>
                  <a:ea typeface="Arial"/>
                  <a:cs typeface="Arial"/>
                </a:defRPr>
              </a:pPr>
              <a:endParaRPr/>
            </a:p>
          </c:txPr>
        </c:title>
        <c:numFmt formatCode="&quot;US$&quot;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00"/>
      </c:valAx>
      <c:spPr bwMode="auto">
        <a:prstGeom prst="rect">
          <a:avLst/>
        </a:prstGeom>
        <a:noFill/>
        <a:ln w="0">
          <a:noFill/>
          <a:prstDash val="solid"/>
        </a:ln>
      </c:spPr>
    </c:plotArea>
    <c:plotVisOnly val="1"/>
    <c:showDLblsOverMax val="0"/>
  </c:chart>
  <c:spPr bwMode="auto">
    <a:xfrm rot="0">
      <a:off x="609600" y="2209800"/>
      <a:ext cx="5429250" cy="3714750"/>
    </a:xfrm>
    <a:prstGeom prst="rect">
      <a:avLst/>
    </a:prstGeom>
    <a:noFill/>
    <a:ln w="0">
      <a:noFill/>
      <a:prstDash val="solid"/>
    </a:ln>
  </c:spPr>
  <c:externalData r:id="rId1">
    <c:autoUpdate val="1"/>
  </c:externalData>
</c:chartSpace>
</file>

<file path=ppt/charts/chart2.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Average programme assets</c:v>
          </c:tx>
          <c:spPr bwMode="auto">
            <a:prstGeom prst="rect">
              <a:avLst/>
            </a:prstGeom>
            <a:solidFill>
              <a:srgbClr val="176C6B"/>
            </a:solidFill>
          </c:spPr>
          <c:invertIfNegative val="0"/>
          <c:cat>
            <c:strRef>
              <c:f>'Chart Data'!$A$2:$A$4</c:f>
              <c:strCache>
                <c:ptCount val="3"/>
                <c:pt idx="0">
                  <c:v>1 series</c:v>
                </c:pt>
                <c:pt idx="1">
                  <c:v>3 series</c:v>
                </c:pt>
                <c:pt idx="2">
                  <c:v>5 series</c:v>
                </c:pt>
              </c:strCache>
            </c:strRef>
          </c:cat>
          <c:val>
            <c:numRef>
              <c:f>'Chart Data'!$B$2:$B$4</c:f>
              <c:numCache>
                <c:formatCode>0</c:formatCode>
                <c:ptCount val="3"/>
                <c:pt idx="0">
                  <c:v>20</c:v>
                </c:pt>
                <c:pt idx="1">
                  <c:v>60</c:v>
                </c:pt>
                <c:pt idx="2">
                  <c:v>100</c:v>
                </c:pt>
              </c:numCache>
            </c:numRef>
          </c:val>
        </c:ser>
        <c:dLbls>
          <c:dLblPos val="outEnd"/>
          <c:numFmt formatCode="0" sourceLinked="0"/>
          <c:showBubbleSize val="0"/>
          <c:showCatName val="0"/>
          <c:showLeaderLines val="0"/>
          <c:showLegendKey val="0"/>
          <c:showPercent val="0"/>
          <c:showSerName val="0"/>
          <c:showVal val="1"/>
          <c:txPr>
            <a:bodyPr anchorCtr="1"/>
            <a:lstStyle/>
            <a:p>
              <a:pPr>
                <a:defRPr sz="1750" b="1">
                  <a:solidFill>
                    <a:srgbClr val="183440"/>
                  </a:solidFill>
                  <a:latin typeface="Arial"/>
                  <a:ea typeface="Arial"/>
                  <a:cs typeface="Arial"/>
                </a:defRPr>
              </a:pPr>
              <a:endParaRPr/>
            </a:p>
          </c:txPr>
        </c:dLbls>
        <c:gapWidth val="150"/>
        <c:axId val="48650112"/>
        <c:axId val="48672768"/>
      </c:barChart>
      <c:catAx>
        <c:axId val="48650112"/>
        <c:scaling>
          <c:orientation val="minMax"/>
        </c:scaling>
        <c:delete val="0"/>
        <c:axPos val="b"/>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120.0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Average assets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20.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3.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Gross fees</c:v>
          </c:tx>
          <c:spPr bwMode="auto">
            <a:prstGeom prst="rect">
              <a:avLst/>
            </a:prstGeom>
            <a:solidFill>
              <a:srgbClr val="537DA1"/>
            </a:solidFill>
          </c:spPr>
          <c:invertIfNegative val="0"/>
          <c:cat>
            <c:strRef>
              <c:f>'Chart Data'!$A$2:$A$4</c:f>
              <c:strCache>
                <c:ptCount val="3"/>
                <c:pt idx="0">
                  <c:v>US$100M</c:v>
                </c:pt>
                <c:pt idx="1">
                  <c:v>US$500M</c:v>
                </c:pt>
                <c:pt idx="2">
                  <c:v>US$1,000M</c:v>
                </c:pt>
              </c:strCache>
            </c:strRef>
          </c:cat>
          <c:val>
            <c:numRef>
              <c:f>'Chart Data'!$B$2:$B$4</c:f>
              <c:numCache>
                <c:formatCode>0.0</c:formatCode>
                <c:ptCount val="3"/>
                <c:pt idx="0">
                  <c:v>0.3</c:v>
                </c:pt>
                <c:pt idx="1">
                  <c:v>1.5</c:v>
                </c:pt>
                <c:pt idx="2">
                  <c:v>3</c:v>
                </c:pt>
              </c:numCache>
            </c:numRef>
          </c:val>
        </c:ser>
        <c:ser>
          <c:idx val="1"/>
          <c:order val="1"/>
          <c:tx>
            <c:v>Contribution</c:v>
          </c:tx>
          <c:spPr bwMode="auto">
            <a:prstGeom prst="rect">
              <a:avLst/>
            </a:prstGeom>
            <a:solidFill>
              <a:srgbClr val="176C6B"/>
            </a:solidFill>
          </c:spPr>
          <c:invertIfNegative val="0"/>
          <c:cat>
            <c:strRef>
              <c:f>'Chart Data'!$C$2:$C$4</c:f>
              <c:strCache>
                <c:ptCount val="3"/>
                <c:pt idx="0">
                  <c:v>US$100M</c:v>
                </c:pt>
                <c:pt idx="1">
                  <c:v>US$500M</c:v>
                </c:pt>
                <c:pt idx="2">
                  <c:v>US$1,000M</c:v>
                </c:pt>
              </c:strCache>
            </c:strRef>
          </c:cat>
          <c:val>
            <c:numRef>
              <c:f>'Chart Data'!$D$2:$D$4</c:f>
              <c:numCache>
                <c:formatCode>0.0</c:formatCode>
                <c:ptCount val="3"/>
                <c:pt idx="0">
                  <c:v>0.15</c:v>
                </c:pt>
                <c:pt idx="1">
                  <c:v>0.75</c:v>
                </c:pt>
                <c:pt idx="2">
                  <c:v>1.5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00">
                  <a:solidFill>
                    <a:srgbClr val="183440"/>
                  </a:solidFill>
                  <a:latin typeface="Arial"/>
                  <a:ea typeface="Arial"/>
                  <a:cs typeface="Arial"/>
                </a:defRPr>
              </a:pPr>
              <a:endParaRPr/>
            </a:p>
          </c:txPr>
        </c:dLbls>
        <c:gapWidth val="100"/>
        <c:axId val="48650112"/>
        <c:axId val="48672768"/>
      </c:barChart>
      <c:catAx>
        <c:axId val="48650112"/>
        <c:scaling>
          <c:orientation val="minMax"/>
        </c:scaling>
        <c:delete val="0"/>
        <c:axPos val="b"/>
        <c:title>
          <c:tx>
            <c:rich>
              <a:bodyPr/>
              <a:lstStyle/>
              <a:p>
                <a:pPr>
                  <a:defRPr/>
                </a:pPr>
                <a:r>
                  <a:rPr sz="1600">
                    <a:solidFill>
                      <a:srgbClr val="53676D"/>
                    </a:solidFill>
                    <a:latin typeface="Arial"/>
                    <a:ea typeface="Arial"/>
                    <a:cs typeface="Arial"/>
                  </a:rPr>
                  <a:t>Average programme assets</a:t>
                </a:r>
                <a:endParaRPr/>
              </a:p>
            </c:rich>
          </c:tx>
          <c:layout/>
          <c:overlay val="0"/>
          <c:txPr>
            <a:bodyPr anchorCtr="1"/>
            <a:lstStyle/>
            <a:p>
              <a:pPr>
                <a:defRPr sz="1600">
                  <a:solidFill>
                    <a:srgbClr val="53676D"/>
                  </a:solidFill>
                  <a:latin typeface="Arial"/>
                  <a:ea typeface="Arial"/>
                  <a:cs typeface="Arial"/>
                </a:defRPr>
              </a:pPr>
              <a:endParaRPr/>
            </a:p>
          </c:txPr>
        </c:title>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3.6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Annual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charts/chart4.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bar"/>
        <c:grouping val="clustered"/>
        <c:varyColors val="0"/>
        <c:ser>
          <c:idx val="0"/>
          <c:order val="0"/>
          <c:tx>
            <c:v>USD funding allocation</c:v>
          </c:tx>
          <c:spPr bwMode="auto">
            <a:prstGeom prst="rect">
              <a:avLst/>
            </a:prstGeom>
            <a:solidFill>
              <a:srgbClr val="176C6B"/>
            </a:solidFill>
          </c:spPr>
          <c:invertIfNegative val="0"/>
          <c:cat>
            <c:strRef>
              <c:f>'Chart Data'!$A$2:$A$6</c:f>
              <c:strCache>
                <c:ptCount val="5"/>
                <c:pt idx="0">
                  <c:v>Product and security (40%)</c:v>
                </c:pt>
                <c:pt idx="1">
                  <c:v>Programme structuring (20%)</c:v>
                </c:pt>
                <c:pt idx="2">
                  <c:v>Partner operations (15%)</c:v>
                </c:pt>
                <c:pt idx="3">
                  <c:v>Distribution (15%)</c:v>
                </c:pt>
                <c:pt idx="4">
                  <c:v>Contingency (10%)</c:v>
                </c:pt>
              </c:strCache>
            </c:strRef>
          </c:cat>
          <c:val>
            <c:numRef>
              <c:f>'Chart Data'!$B$2:$B$6</c:f>
              <c:numCache>
                <c:formatCode>0.0</c:formatCode>
                <c:ptCount val="5"/>
                <c:pt idx="0">
                  <c:v>1.2</c:v>
                </c:pt>
                <c:pt idx="1">
                  <c:v>0.6</c:v>
                </c:pt>
                <c:pt idx="2">
                  <c:v>0.45</c:v>
                </c:pt>
                <c:pt idx="3">
                  <c:v>0.45</c:v>
                </c:pt>
                <c:pt idx="4">
                  <c:v>0.3</c:v>
                </c:pt>
              </c:numCache>
            </c:numRef>
          </c:val>
        </c:ser>
        <c:dLbls>
          <c:dLblPos val="outEnd"/>
          <c:numFmt formatCode="&quot;US$&quot;0.00&quot;M&quot;" sourceLinked="0"/>
          <c:showBubbleSize val="0"/>
          <c:showCatName val="0"/>
          <c:showLeaderLines val="0"/>
          <c:showLegendKey val="0"/>
          <c:showPercent val="0"/>
          <c:showSerName val="0"/>
          <c:showVal val="1"/>
          <c:txPr>
            <a:bodyPr anchorCtr="1"/>
            <a:lstStyle/>
            <a:p>
              <a:pPr>
                <a:defRPr sz="1650" b="1">
                  <a:solidFill>
                    <a:srgbClr val="183440"/>
                  </a:solidFill>
                  <a:latin typeface="Arial"/>
                  <a:ea typeface="Arial"/>
                  <a:cs typeface="Arial"/>
                </a:defRPr>
              </a:pPr>
              <a:endParaRPr/>
            </a:p>
          </c:txPr>
        </c:dLbls>
        <c:gapWidth val="80"/>
        <c:axId val="48650112"/>
        <c:axId val="48672768"/>
      </c:barChart>
      <c:catAx>
        <c:axId val="48650112"/>
        <c:scaling>
          <c:orientation val="minMax"/>
        </c:scaling>
        <c:delete val="0"/>
        <c:axPos val="l"/>
        <c:numFmt formatCode="General"/>
        <c:majorTickMark val="none"/>
        <c:minorTickMark val="none"/>
        <c:spPr bwMode="auto">
          <a:prstGeom prst="rect">
            <a:avLst/>
          </a:prstGeom>
          <a:ln w="0">
            <a:noFill/>
            <a:prstDash val="solid"/>
          </a:ln>
        </c:spPr>
        <c:txPr>
          <a:bodyPr anchorCtr="1"/>
          <a:lstStyle/>
          <a:p>
            <a:pPr>
              <a:defRPr sz="1500">
                <a:solidFill>
                  <a:srgbClr val="53676D"/>
                </a:solidFill>
                <a:latin typeface="Arial"/>
                <a:ea typeface="Arial"/>
                <a:cs typeface="Arial"/>
              </a:defRPr>
            </a:pPr>
            <a:endParaRPr/>
          </a:p>
        </c:txPr>
        <c:crossAx val="48672768"/>
        <c:crosses val="autoZero"/>
        <c:noMultiLvlLbl val="0"/>
      </c:catAx>
      <c:valAx>
        <c:axId val="48672768"/>
        <c:scaling>
          <c:orientation val="minMax"/>
          <c:max val="1.600000"/>
          <c:min val="0.000000"/>
        </c:scaling>
        <c:delete val="1"/>
        <c:axPos val="b"/>
        <c:numFmt formatCode="0.0"/>
        <c:majorTickMark val="none"/>
        <c:minorTickMark val="none"/>
        <c:spPr bwMode="auto">
          <a:prstGeom prst="rect">
            <a:avLst/>
          </a:prstGeom>
          <a:ln w="0">
            <a:noFill/>
            <a:prstDash val="solid"/>
          </a:ln>
        </c:spPr>
        <c:txPr>
          <a:bodyPr anchorCtr="1"/>
          <a:lstStyle/>
          <a:p>
            <a:pPr>
              <a:defRPr sz="1350">
                <a:solidFill>
                  <a:srgbClr val="53676D"/>
                </a:solidFill>
                <a:latin typeface="Arial"/>
                <a:ea typeface="Arial"/>
                <a:cs typeface="Arial"/>
              </a:defRPr>
            </a:pPr>
            <a:endParaRPr/>
          </a:p>
        </c:txPr>
        <c:crossAx val="48650112"/>
        <c:crosses val="autoZero"/>
        <c:crossBetween val="between"/>
        <c:majorUnit val="0.400000"/>
      </c:valAx>
      <c:spPr bwMode="auto">
        <a:prstGeom prst="rect">
          <a:avLst/>
        </a:prstGeom>
        <a:noFill/>
        <a:ln w="0">
          <a:noFill/>
          <a:prstDash val="solid"/>
        </a:ln>
      </c:spPr>
    </c:plotArea>
    <c:plotVisOnly val="1"/>
    <c:showDLblsOverMax val="0"/>
  </c:chart>
  <c:spPr bwMode="auto">
    <a:xfrm rot="0">
      <a:off x="609600" y="2133600"/>
      <a:ext cx="7353300" cy="3667125"/>
    </a:xfrm>
    <a:prstGeom prst="rect">
      <a:avLst/>
    </a:prstGeom>
    <a:noFill/>
    <a:ln w="0">
      <a:noFill/>
      <a:prstDash val="solid"/>
    </a:ln>
  </c:spPr>
  <c:externalData r:id="rId1">
    <c:autoUpdate val="1"/>
  </c:externalData>
</c:chartSpace>
</file>

<file path=ppt/charts/chart5.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scatterChart>
        <c:scatterStyle val="lineMarker"/>
        <c:varyColors val="0"/>
        <c:ser>
          <c:idx val="0"/>
          <c:order val="0"/>
          <c:tx>
            <c:v>Contribution after variable costs</c:v>
          </c:tx>
          <c:spPr bwMode="auto">
            <a:prstGeom prst="rect">
              <a:avLst/>
            </a:prstGeom>
            <a:ln w="28575">
              <a:solidFill>
                <a:srgbClr val="176C6B"/>
              </a:solidFill>
              <a:prstDash val="solid"/>
            </a:ln>
          </c:spPr>
          <c:marker>
            <c:symbol val="circle"/>
            <c:size val="6"/>
            <c:spPr bwMode="auto">
              <a:prstGeom prst="rect">
                <a:avLst/>
              </a:prstGeom>
              <a:solidFill>
                <a:srgbClr val="176C6B"/>
              </a:solidFill>
            </c:spPr>
          </c:marker>
          <c:xVal>
            <c:numRef>
              <c:f>'Chart Data'!$A$2:$A$7</c:f>
              <c:numCache>
                <c:formatCode>General</c:formatCode>
                <c:ptCount val="6"/>
                <c:pt idx="0">
                  <c:v>0</c:v>
                </c:pt>
                <c:pt idx="1">
                  <c:v>100</c:v>
                </c:pt>
                <c:pt idx="2">
                  <c:v>300</c:v>
                </c:pt>
                <c:pt idx="3">
                  <c:v>500</c:v>
                </c:pt>
                <c:pt idx="4">
                  <c:v>1000</c:v>
                </c:pt>
                <c:pt idx="5">
                  <c:v>1500</c:v>
                </c:pt>
              </c:numCache>
            </c:numRef>
          </c:xVal>
          <c:yVal>
            <c:numRef>
              <c:f>'Chart Data'!$B$2:$B$7</c:f>
              <c:numCache>
                <c:formatCode>0.0</c:formatCode>
                <c:ptCount val="6"/>
                <c:pt idx="0">
                  <c:v>0</c:v>
                </c:pt>
                <c:pt idx="1">
                  <c:v>0.15</c:v>
                </c:pt>
                <c:pt idx="2">
                  <c:v>0.45</c:v>
                </c:pt>
                <c:pt idx="3">
                  <c:v>0.75</c:v>
                </c:pt>
                <c:pt idx="4">
                  <c:v>1.5</c:v>
                </c:pt>
                <c:pt idx="5">
                  <c:v>2.25</c:v>
                </c:pt>
              </c:numCache>
            </c:numRef>
          </c:yVal>
          <c:smooth val="0"/>
        </c:ser>
        <c:ser>
          <c:idx val="1"/>
          <c:order val="1"/>
          <c:tx>
            <c:v>Fixed operating spend</c:v>
          </c:tx>
          <c:spPr bwMode="auto">
            <a:prstGeom prst="rect">
              <a:avLst/>
            </a:prstGeom>
            <a:ln w="23813">
              <a:solidFill>
                <a:srgbClr val="AC8743"/>
              </a:solidFill>
              <a:prstDash val="dash"/>
            </a:ln>
          </c:spPr>
          <c:marker>
            <c:symbol val="none"/>
          </c:marker>
          <c:xVal>
            <c:numRef>
              <c:f>'Chart Data'!$C$2:$C$7</c:f>
              <c:numCache>
                <c:formatCode>General</c:formatCode>
                <c:ptCount val="6"/>
                <c:pt idx="0">
                  <c:v>0</c:v>
                </c:pt>
                <c:pt idx="1">
                  <c:v>100</c:v>
                </c:pt>
                <c:pt idx="2">
                  <c:v>300</c:v>
                </c:pt>
                <c:pt idx="3">
                  <c:v>500</c:v>
                </c:pt>
                <c:pt idx="4">
                  <c:v>1000</c:v>
                </c:pt>
                <c:pt idx="5">
                  <c:v>1500</c:v>
                </c:pt>
              </c:numCache>
            </c:numRef>
          </c:xVal>
          <c:yVal>
            <c:numRef>
              <c:f>'Chart Data'!$D$2:$D$7</c:f>
              <c:numCache>
                <c:formatCode>0.0</c:formatCode>
                <c:ptCount val="6"/>
                <c:pt idx="0">
                  <c:v>1.5</c:v>
                </c:pt>
                <c:pt idx="1">
                  <c:v>1.5</c:v>
                </c:pt>
                <c:pt idx="2">
                  <c:v>1.5</c:v>
                </c:pt>
                <c:pt idx="3">
                  <c:v>1.5</c:v>
                </c:pt>
                <c:pt idx="4">
                  <c:v>1.5</c:v>
                </c:pt>
                <c:pt idx="5">
                  <c:v>1.5</c:v>
                </c:pt>
              </c:numCache>
            </c:numRef>
          </c:yVal>
          <c:smooth val="0"/>
        </c:ser>
        <c:dLbls>
          <c:delete val="1"/>
          <c:showBubbleSize val="0"/>
          <c:showCatName val="0"/>
          <c:showLeaderLines val="0"/>
          <c:showLegendKey val="0"/>
          <c:showPercent val="0"/>
          <c:showSerName val="0"/>
          <c:showVal val="0"/>
          <c:txPr>
            <a:bodyPr anchorCtr="1"/>
            <a:lstStyle/>
            <a:p>
              <a:pPr>
                <a:defRPr>
                  <a:latin typeface="Arial"/>
                  <a:ea typeface="Arial"/>
                  <a:cs typeface="Arial"/>
                </a:defRPr>
              </a:pPr>
              <a:endParaRPr/>
            </a:p>
          </c:txPr>
        </c:dLbls>
        <c:axId val="48650112"/>
        <c:axId val="48672768"/>
      </c:scatterChart>
      <c:valAx>
        <c:axId val="48672768"/>
        <c:scaling>
          <c:orientation val="minMax"/>
          <c:max val="2.5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Annual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0.500000"/>
      </c:valAx>
      <c:valAx>
        <c:axId val="48650112"/>
        <c:scaling>
          <c:orientation val="minMax"/>
          <c:max val="1500.000000"/>
          <c:min val="0.000000"/>
        </c:scaling>
        <c:delete val="0"/>
        <c:axPos val="b"/>
        <c:title>
          <c:tx>
            <c:rich>
              <a:bodyPr/>
              <a:lstStyle/>
              <a:p>
                <a:pPr>
                  <a:defRPr/>
                </a:pPr>
                <a:r>
                  <a:rPr sz="1600">
                    <a:solidFill>
                      <a:srgbClr val="53676D"/>
                    </a:solidFill>
                    <a:latin typeface="Arial"/>
                    <a:ea typeface="Arial"/>
                    <a:cs typeface="Arial"/>
                  </a:rPr>
                  <a:t>Average programme assets (US$ millions)</a:t>
                </a:r>
                <a:endParaRPr/>
              </a:p>
            </c:rich>
          </c:tx>
          <c:layout/>
          <c:overlay val="0"/>
          <c:txPr>
            <a:bodyPr anchorCtr="1"/>
            <a:lstStyle/>
            <a:p>
              <a:pPr>
                <a:defRPr sz="1600">
                  <a:solidFill>
                    <a:srgbClr val="53676D"/>
                  </a:solidFill>
                  <a:latin typeface="Arial"/>
                  <a:ea typeface="Arial"/>
                  <a:cs typeface="Arial"/>
                </a:defRPr>
              </a:pPr>
              <a:endParaRPr/>
            </a:p>
          </c:txPr>
        </c:title>
        <c:numFmt formatCode="#,##0"/>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crossBetween val="between"/>
        <c:majorUnit val="500.000000"/>
      </c:valAx>
      <c:spPr bwMode="auto">
        <a:prstGeom prst="rect">
          <a:avLst/>
        </a:prstGeom>
        <a:noFill/>
        <a:ln w="0">
          <a:noFill/>
          <a:prstDash val="solid"/>
        </a:ln>
      </c:spPr>
    </c:plotArea>
    <c:legend>
      <c:legendPos val="b"/>
      <c:layout/>
      <c:overlay val="0"/>
      <c:txPr>
        <a:bodyPr anchorCtr="1"/>
        <a:lstStyle/>
        <a:p>
          <a:pPr>
            <a:defRPr sz="1600">
              <a:solidFill>
                <a:srgbClr val="183440"/>
              </a:solidFill>
              <a:latin typeface="Arial"/>
              <a:ea typeface="Arial"/>
              <a:cs typeface="Arial"/>
            </a:defRPr>
          </a:pPr>
          <a:endParaRPr/>
        </a:p>
      </c:txPr>
    </c:legend>
    <c:plotVisOnly val="1"/>
    <c:showDLblsOverMax val="0"/>
  </c:chart>
  <c:spPr bwMode="auto">
    <a:xfrm rot="0">
      <a:off x="609600" y="2200275"/>
      <a:ext cx="8001000" cy="3762375"/>
    </a:xfrm>
    <a:prstGeom prst="rect">
      <a:avLst/>
    </a:prstGeom>
    <a:noFill/>
    <a:ln w="0">
      <a:noFill/>
      <a:prstDash val="solid"/>
    </a:ln>
  </c:spPr>
  <c:externalData r:id="rId1">
    <c:autoUpdate val="1"/>
  </c:externalData>
</c:chartSpace>
</file>

<file path=ppt/charts/chart6.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lang val="en-US"/>
  <c:roundedCorners val="0"/>
  <mc:AlternateContent>
    <mc:Choice Requires="c14">
      <c14:style val="102"/>
    </mc:Choice>
    <mc:Fallback>
      <c:style val="2"/>
    </mc:Fallback>
  </mc:AlternateContent>
  <c:chart>
    <c:plotArea>
      <c:layout/>
      <c:barChart>
        <c:barDir val="col"/>
        <c:grouping val="clustered"/>
        <c:varyColors val="0"/>
        <c:ser>
          <c:idx val="0"/>
          <c:order val="0"/>
          <c:tx>
            <c:v>Break-even average assets</c:v>
          </c:tx>
          <c:spPr bwMode="auto">
            <a:prstGeom prst="rect">
              <a:avLst/>
            </a:prstGeom>
            <a:solidFill>
              <a:srgbClr val="176C6B"/>
            </a:solidFill>
          </c:spPr>
          <c:invertIfNegative val="0"/>
          <c:cat>
            <c:strRef>
              <c:f>'Chart Data'!$A$2:$A$5</c:f>
              <c:strCache>
                <c:ptCount val="4"/>
                <c:pt idx="0">
                  <c:v>5 bps</c:v>
                </c:pt>
                <c:pt idx="1">
                  <c:v>10 bps</c:v>
                </c:pt>
                <c:pt idx="2">
                  <c:v>15 bps</c:v>
                </c:pt>
                <c:pt idx="3">
                  <c:v>20 bps</c:v>
                </c:pt>
              </c:strCache>
            </c:strRef>
          </c:cat>
          <c:val>
            <c:numRef>
              <c:f>'Chart Data'!$B$2:$B$5</c:f>
              <c:numCache>
                <c:formatCode>0.0</c:formatCode>
                <c:ptCount val="4"/>
                <c:pt idx="0">
                  <c:v>3</c:v>
                </c:pt>
                <c:pt idx="1">
                  <c:v>1.5</c:v>
                </c:pt>
                <c:pt idx="2">
                  <c:v>1</c:v>
                </c:pt>
                <c:pt idx="3">
                  <c:v>0.75</c:v>
                </c:pt>
              </c:numCache>
            </c:numRef>
          </c:val>
        </c:ser>
        <c:dLbls>
          <c:dLblPos val="outEnd"/>
          <c:numFmt formatCode="0.00" sourceLinked="0"/>
          <c:showBubbleSize val="0"/>
          <c:showCatName val="0"/>
          <c:showLeaderLines val="0"/>
          <c:showLegendKey val="0"/>
          <c:showPercent val="0"/>
          <c:showSerName val="0"/>
          <c:showVal val="1"/>
          <c:txPr>
            <a:bodyPr anchorCtr="1"/>
            <a:lstStyle/>
            <a:p>
              <a:pPr>
                <a:defRPr sz="1650">
                  <a:solidFill>
                    <a:srgbClr val="183440"/>
                  </a:solidFill>
                  <a:latin typeface="Arial"/>
                  <a:ea typeface="Arial"/>
                  <a:cs typeface="Arial"/>
                </a:defRPr>
              </a:pPr>
              <a:endParaRPr/>
            </a:p>
          </c:txPr>
        </c:dLbls>
        <c:gapWidth val="140"/>
        <c:axId val="48650112"/>
        <c:axId val="48672768"/>
      </c:barChart>
      <c:catAx>
        <c:axId val="48650112"/>
        <c:scaling>
          <c:orientation val="minMax"/>
        </c:scaling>
        <c:delete val="0"/>
        <c:axPos val="b"/>
        <c:title>
          <c:tx>
            <c:rich>
              <a:bodyPr/>
              <a:lstStyle/>
              <a:p>
                <a:pPr>
                  <a:defRPr/>
                </a:pPr>
                <a:r>
                  <a:rPr sz="1600">
                    <a:solidFill>
                      <a:srgbClr val="53676D"/>
                    </a:solidFill>
                    <a:latin typeface="Arial"/>
                    <a:ea typeface="Arial"/>
                    <a:cs typeface="Arial"/>
                  </a:rPr>
                  <a:t>Net contribution margin</a:t>
                </a:r>
                <a:endParaRPr/>
              </a:p>
            </c:rich>
          </c:tx>
          <c:layout/>
          <c:overlay val="0"/>
          <c:txPr>
            <a:bodyPr anchorCtr="1"/>
            <a:lstStyle/>
            <a:p>
              <a:pPr>
                <a:defRPr sz="1600">
                  <a:solidFill>
                    <a:srgbClr val="53676D"/>
                  </a:solidFill>
                  <a:latin typeface="Arial"/>
                  <a:ea typeface="Arial"/>
                  <a:cs typeface="Arial"/>
                </a:defRPr>
              </a:pPr>
              <a:endParaRPr/>
            </a:p>
          </c:txPr>
        </c:title>
        <c:numFmt formatCode="General"/>
        <c:majorTickMark val="none"/>
        <c:minorTickMark val="none"/>
        <c:spPr bwMode="auto">
          <a:prstGeom prst="rect">
            <a:avLst/>
          </a:prstGeom>
          <a:ln w="9525">
            <a:solidFill>
              <a:srgbClr val="CFD7D1"/>
            </a:solidFill>
            <a:prstDash val="solid"/>
          </a:ln>
        </c:spPr>
        <c:txPr>
          <a:bodyPr anchorCtr="1"/>
          <a:lstStyle/>
          <a:p>
            <a:pPr>
              <a:defRPr sz="1600">
                <a:solidFill>
                  <a:srgbClr val="53676D"/>
                </a:solidFill>
                <a:latin typeface="Arial"/>
                <a:ea typeface="Arial"/>
                <a:cs typeface="Arial"/>
              </a:defRPr>
            </a:pPr>
            <a:endParaRPr/>
          </a:p>
        </c:txPr>
        <c:crossAx val="48672768"/>
        <c:crosses val="autoZero"/>
        <c:noMultiLvlLbl val="0"/>
      </c:catAx>
      <c:valAx>
        <c:axId val="48672768"/>
        <c:scaling>
          <c:orientation val="minMax"/>
          <c:max val="3.500000"/>
          <c:min val="0.000000"/>
        </c:scaling>
        <c:delete val="0"/>
        <c:axPos val="l"/>
        <c:majorGridlines>
          <c:spPr bwMode="auto">
            <a:prstGeom prst="rect">
              <a:avLst/>
            </a:prstGeom>
            <a:ln w="9525">
              <a:solidFill>
                <a:srgbClr val="CFD7D1"/>
              </a:solidFill>
              <a:prstDash val="solid"/>
            </a:ln>
          </c:spPr>
        </c:majorGridlines>
        <c:title>
          <c:tx>
            <c:rich>
              <a:bodyPr/>
              <a:lstStyle/>
              <a:p>
                <a:pPr>
                  <a:defRPr/>
                </a:pPr>
                <a:r>
                  <a:rPr sz="1600">
                    <a:solidFill>
                      <a:srgbClr val="53676D"/>
                    </a:solidFill>
                    <a:latin typeface="Arial"/>
                    <a:ea typeface="Arial"/>
                    <a:cs typeface="Arial"/>
                  </a:rPr>
                  <a:t>Average assets (US$ billions)</a:t>
                </a:r>
                <a:endParaRPr/>
              </a:p>
            </c:rich>
          </c:tx>
          <c:layout/>
          <c:overlay val="0"/>
          <c:txPr>
            <a:bodyPr anchorCtr="1"/>
            <a:lstStyle/>
            <a:p>
              <a:pPr>
                <a:defRPr sz="1600">
                  <a:solidFill>
                    <a:srgbClr val="53676D"/>
                  </a:solidFill>
                  <a:latin typeface="Arial"/>
                  <a:ea typeface="Arial"/>
                  <a:cs typeface="Arial"/>
                </a:defRPr>
              </a:pPr>
              <a:endParaRPr/>
            </a:p>
          </c:txPr>
        </c:title>
        <c:numFmt formatCode="0.0"/>
        <c:majorTickMark val="none"/>
        <c:minorTickMark val="none"/>
        <c:spPr bwMode="auto">
          <a:prstGeom prst="rect">
            <a:avLst/>
          </a:prstGeom>
          <a:ln w="0">
            <a:noFill/>
            <a:prstDash val="solid"/>
          </a:ln>
        </c:spPr>
        <c:txPr>
          <a:bodyPr anchorCtr="1"/>
          <a:lstStyle/>
          <a:p>
            <a:pPr>
              <a:defRPr sz="1600">
                <a:solidFill>
                  <a:srgbClr val="53676D"/>
                </a:solidFill>
                <a:latin typeface="Arial"/>
                <a:ea typeface="Arial"/>
                <a:cs typeface="Arial"/>
              </a:defRPr>
            </a:pPr>
            <a:endParaRPr/>
          </a:p>
        </c:txPr>
        <c:crossAx val="48650112"/>
        <c:crosses val="autoZero"/>
        <c:crossBetween val="between"/>
        <c:majorUnit val="1.000000"/>
      </c:valAx>
      <c:spPr bwMode="auto">
        <a:prstGeom prst="rect">
          <a:avLst/>
        </a:prstGeom>
        <a:noFill/>
        <a:ln w="0">
          <a:noFill/>
          <a:prstDash val="solid"/>
        </a:ln>
      </c:spPr>
    </c:plotArea>
    <c:plotVisOnly val="1"/>
    <c:showDLblsOverMax val="0"/>
  </c:chart>
  <c:spPr bwMode="auto">
    <a:xfrm rot="0">
      <a:off x="4267200" y="2209800"/>
      <a:ext cx="7315200" cy="3762375"/>
    </a:xfrm>
    <a:prstGeom prst="rect">
      <a:avLst/>
    </a:prstGeom>
    <a:noFill/>
    <a:ln w="0">
      <a:noFill/>
      <a:prstDash val="solid"/>
    </a:ln>
  </c:spPr>
  <c:externalData r:id="rId1">
    <c:autoUpdate val="1"/>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596945373" name="Header Placeholder"/>
          <p:cNvSpPr/>
          <p:nvPr>
            <p:ph type="hdr" sz="quarter"/>
          </p:nvPr>
        </p:nvSpPr>
        <p:spPr bwMode="auto">
          <a:prstGeom prst="rect">
            <a:avLst/>
          </a:prstGeom>
        </p:spPr>
        <p:txBody>
          <a:bodyPr/>
          <a:lstStyle/>
          <a:p>
            <a:pPr>
              <a:defRPr/>
            </a:pPr>
            <a:endParaRPr/>
          </a:p>
        </p:txBody>
      </p:sp>
      <p:sp>
        <p:nvSpPr>
          <p:cNvPr id="644713956" name="Date Placeholder"/>
          <p:cNvSpPr/>
          <p:nvPr>
            <p:ph type="dt" sz="quarter" idx="1"/>
          </p:nvPr>
        </p:nvSpPr>
        <p:spPr bwMode="auto">
          <a:prstGeom prst="rect">
            <a:avLst/>
          </a:prstGeom>
        </p:spPr>
        <p:txBody>
          <a:bodyPr/>
          <a:lstStyle/>
          <a:p>
            <a:pPr>
              <a:defRPr/>
            </a:pPr>
            <a:endParaRPr/>
          </a:p>
        </p:txBody>
      </p:sp>
      <p:sp>
        <p:nvSpPr>
          <p:cNvPr id="744163665" name="Slide Image Placeholder"/>
          <p:cNvSpPr/>
          <p:nvPr>
            <p:ph type="sldImg" idx="2"/>
          </p:nvPr>
        </p:nvSpPr>
        <p:spPr bwMode="auto">
          <a:prstGeom prst="rect">
            <a:avLst/>
          </a:prstGeom>
        </p:spPr>
        <p:txBody>
          <a:bodyPr/>
          <a:lstStyle/>
          <a:p>
            <a:pPr>
              <a:defRPr/>
            </a:pPr>
            <a:endParaRPr/>
          </a:p>
        </p:txBody>
      </p:sp>
      <p:sp>
        <p:nvSpPr>
          <p:cNvPr id="183358093" name="Notes Placeholder"/>
          <p:cNvSpPr/>
          <p:nvPr>
            <p:ph type="body" sz="quarter" idx="3"/>
          </p:nvPr>
        </p:nvSpPr>
        <p:spPr bwMode="auto">
          <a:prstGeom prst="rect">
            <a:avLst/>
          </a:prstGeom>
        </p:spPr>
        <p:txBody>
          <a:bodyPr/>
          <a:lstStyle/>
          <a:p>
            <a:pPr>
              <a:defRPr/>
            </a:pPr>
            <a:endParaRPr/>
          </a:p>
        </p:txBody>
      </p:sp>
      <p:sp>
        <p:nvSpPr>
          <p:cNvPr id="960050289" name="Footer Placeholder"/>
          <p:cNvSpPr/>
          <p:nvPr>
            <p:ph type="ftr" sz="quarter" idx="4"/>
          </p:nvPr>
        </p:nvSpPr>
        <p:spPr bwMode="auto">
          <a:prstGeom prst="rect">
            <a:avLst/>
          </a:prstGeom>
        </p:spPr>
        <p:txBody>
          <a:bodyPr/>
          <a:lstStyle/>
          <a:p>
            <a:pPr>
              <a:defRPr/>
            </a:pPr>
            <a:endParaRPr/>
          </a:p>
        </p:txBody>
      </p:sp>
      <p:sp>
        <p:nvSpPr>
          <p:cNvPr id="64826609"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xml"></Relationship></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xml"></Relationship></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xml"></Relationship></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4.xml"></Relationship></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5.xml"></Relationship></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6.xml"></Relationship></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7.xml"></Relationship></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8.xml"></Relationship></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9.xml"></Relationship></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0.xml"></Relationship></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1.xml"></Relationship></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2.xml"></Relationship></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3.xml"></Relationship></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4.xml"></Relationship></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5.xml"></Relationship></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6.xml"></Relationship></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7.xml"></Relationship></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8.xml"></Relationship></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19.xml"></Relationship></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0.xml"></Relationship></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1.xml"></Relationship></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2.xml"></Relationship></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3.xml"></Relationship></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4.xml"></Relationship></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5.xml"></Relationship></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6.xml"></Relationship></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7.xml"></Relationship></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8.xml"></Relationship></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29.xml"></Relationship></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0.xml"></Relationship></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1.xml"></Relationship></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2.xml"></Relationship></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3.xml"></Relationship></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4.xml"></Relationship></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Relationship Id="rId2" Type="http://schemas.openxmlformats.org/officeDocument/2006/relationships/slide" Target="../slides/slide35.xml"></Relationship></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418776" name="Slide Image Placeholder 1"/>
          <p:cNvSpPr>
            <a:spLocks noGrp="1"/>
          </p:cNvSpPr>
          <p:nvPr>
            <p:ph type="sldImg" idx="0"/>
          </p:nvPr>
        </p:nvSpPr>
        <p:spPr bwMode="auto"/>
      </p:sp>
      <p:sp>
        <p:nvSpPr>
          <p:cNvPr id="1937419734" name="Notes Placeholder 2"/>
          <p:cNvSpPr>
            <a:spLocks noGrp="1"/>
          </p:cNvSpPr>
          <p:nvPr>
            <p:ph type="body" idx="1"/>
          </p:nvPr>
        </p:nvSpPr>
        <p:spPr bwMode="auto"/>
        <p:txBody>
          <a:bodyPr/>
          <a:lstStyle/>
          <a:p>
            <a:pPr>
              <a:defRPr/>
            </a:pPr>
            <a:r>
              <a:rPr/>
              <a:t>D-SHARE: Depository Securities Homing Access to Receipted Equity. Proposed Connextium.xyz / Finux Labs expansion programme for tokenized depository receipts, targeting investment utility for eligible USDC and HSBC RedCoin holders. The fundraising and financial planning basis is USD, with a proposed US$3m raise. USDC is the USD cash route and RedCoin is the HKD cash route; neither cash token is the equity receipt. No signed Circle or HSBC programme relationship, distribution access, product approval or live customer assets are claimed. Launch jurisdiction and eligible investor segments must be selected with the issuer, counsel and regulated distributors. This is a market-ready product build plan, currently pre-launch. The abstract light cover artwork is conceptual.</a:t>
            </a:r>
            <a:endParaRPr/>
          </a:p>
          <a:p>
            <a:pPr>
              <a:defRPr/>
            </a:pPr>
            <a:endParaRPr/>
          </a:p>
          <a:p>
            <a:pPr>
              <a:defRPr/>
            </a:pPr>
            <a:r>
              <a:rPr/>
              <a:t>D-SHARE Concept. Full proposed name: Depository Securities Homing Access to Receipted Equity. The concept label identifies the programme as proposed, without suggesting an issued or authorized product.</a:t>
            </a:r>
            <a:endParaRPr/>
          </a:p>
        </p:txBody>
      </p:sp>
      <p:sp>
        <p:nvSpPr>
          <p:cNvPr id="122484663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1755432" name="Slide Image Placeholder 1"/>
          <p:cNvSpPr>
            <a:spLocks noGrp="1"/>
          </p:cNvSpPr>
          <p:nvPr>
            <p:ph type="sldImg" idx="0"/>
          </p:nvPr>
        </p:nvSpPr>
        <p:spPr bwMode="auto"/>
      </p:sp>
      <p:sp>
        <p:nvSpPr>
          <p:cNvPr id="860548765" name="Notes Placeholder 2"/>
          <p:cNvSpPr>
            <a:spLocks noGrp="1"/>
          </p:cNvSpPr>
          <p:nvPr>
            <p:ph type="body" idx="1"/>
          </p:nvPr>
        </p:nvSpPr>
        <p:spPr bwMode="auto"/>
        <p:txBody>
          <a:bodyPr/>
          <a:lstStyle/>
          <a:p>
            <a:pPr>
              <a:defRPr/>
            </a:pPr>
            <a:r>
              <a:rPr/>
              <a:t>Problem framing. The US$300 investor budget is hypothetical and the arithmetic concerns purchasing a whole share. It does not imply that a high nominal share price is a high valuation, or that high-priced shares must grow in value. Existing fractional-share brokerage services address affordability for many investors. The SEC bulletin says availability can differ by brokerage, customer and security. D-SHARE must demonstrate additional value through permitted distribution, funding and servicing rather than claiming to invent fractional investment. Source A2: https://www.investor.gov/introduction-investing/general-resources/news-alerts/alerts-bulletins/investor-bulletins/fractional-share-investing-buying-slice-instead-whole-share. Account and local-market availability are country- and provider-specific, as illustrated by A3/A4: https://www.interactivebrokers.com/en/accounts/individual.php and https://www.rbi.org.in/Scripts/BS_ViewMasDirections.aspx?id=10192. The access thesis remains subject to customer and partner discovery.</a:t>
            </a:r>
            <a:endParaRPr/>
          </a:p>
        </p:txBody>
      </p:sp>
      <p:sp>
        <p:nvSpPr>
          <p:cNvPr id="90886594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3019148" name="Slide Image Placeholder 1"/>
          <p:cNvSpPr>
            <a:spLocks noGrp="1"/>
          </p:cNvSpPr>
          <p:nvPr>
            <p:ph type="sldImg" idx="0"/>
          </p:nvPr>
        </p:nvSpPr>
        <p:spPr bwMode="auto"/>
      </p:sp>
      <p:sp>
        <p:nvSpPr>
          <p:cNvPr id="1832282804" name="Notes Placeholder 2"/>
          <p:cNvSpPr>
            <a:spLocks noGrp="1"/>
          </p:cNvSpPr>
          <p:nvPr>
            <p:ph type="body" idx="1"/>
          </p:nvPr>
        </p:nvSpPr>
        <p:spPr bwMode="auto"/>
        <p:txBody>
          <a:bodyPr/>
          <a:lstStyle/>
          <a:p>
            <a:pPr>
              <a:defRPr/>
            </a:pPr>
            <a:r>
              <a:rPr/>
              <a:t>A1 market quote evidence retrieved on 30 October 2026, client-local date. Indicative equity quote feed, rather than official closing prices or executable quotes. NVR US$5,958.56, AutoZone AZO US$3,169.82, First Citizens BancShares Class A FCNCA US$2,352.64, Markel Group MKL US$1,869.82, Mettler-Toledo International MTD US$1,674.81, MercadoLibre MELI US$1,624.53. Latest trade timestamps reported by the feed: NVR/AZO/MKL/MTD 2026-10-30 23:15:00 UTC, FCNCA 21:35:00 UTC, MELI 23:34:14 UTC. The six selected prices exceed US$1,000 on this snapshot. Refresh them before external use because prices and share counts can change, including through stock splits. Nominal share price does not measure company valuation, growth potential or suitability. These companies have no asserted D-SHARE affiliation. Fractional-share access may already be available to eligible customers. Feed lookups were ticker-specific market-data finance queries. Company stock references include https://nvri.gcs-web.com/stock-information/stock-quote and https://investors.autozone.com/investor-relations/stock-information. A2 fractional access context: https://www.investor.gov/introduction-investing/general-resources/news-alerts/alerts-bulletins/investor-bulletins/fractional-share-investing-buying-slice-instead-whole-share.</a:t>
            </a:r>
            <a:endParaRPr/>
          </a:p>
        </p:txBody>
      </p:sp>
      <p:sp>
        <p:nvSpPr>
          <p:cNvPr id="13176632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2347015" name="Slide Image Placeholder 1"/>
          <p:cNvSpPr>
            <a:spLocks noGrp="1"/>
          </p:cNvSpPr>
          <p:nvPr>
            <p:ph type="sldImg" idx="0"/>
          </p:nvPr>
        </p:nvSpPr>
        <p:spPr bwMode="auto"/>
      </p:sp>
      <p:sp>
        <p:nvSpPr>
          <p:cNvPr id="160430784" name="Notes Placeholder 2"/>
          <p:cNvSpPr>
            <a:spLocks noGrp="1"/>
          </p:cNvSpPr>
          <p:nvPr>
            <p:ph type="body" idx="1"/>
          </p:nvPr>
        </p:nvSpPr>
        <p:spPr bwMode="auto"/>
        <p:txBody>
          <a:bodyPr/>
          <a:lstStyle/>
          <a:p>
            <a:pPr>
              <a:defRPr/>
            </a:pPr>
            <a:r>
              <a:rPr/>
              <a:t>Access thesis and proposed distribution design. This slide does not assert a blanket ban on overseas accounts in emerging markets. Some international brokers accept residents of many countries. Interactive Brokers describes country/risk exclusions and account-age requirements (A3): https://www.interactivebrokers.com/en/accounts/individual.php. Its KYC documentation describes identity/address verification, including different automated-verification coverage by country: https://www.interactivebrokers.com/docs/web-api/account-management/client-registration/kyc-documents. Actual access and supported products require jurisdiction/provider review. RBI LRS Master Direction, updated 6 September 2024, permits resident individuals to remit up to US$250,000 per financial year for permitted transactions and allows overseas portfolio investment under applicable rules (A4): https://www.rbi.org.in/Scripts/BS_ViewMasDirections.aspx?id=10192. This annual allowance is not presented as a small-investor affordability threshold. The programme must independently satisfy offering, distribution, custody, foreign-exchange and cash-rail requirements. Evidence does not measure the number of prospective D-SHARE customers. Local partner coverage and retail demand remain discovery questions.</a:t>
            </a:r>
            <a:endParaRPr/>
          </a:p>
        </p:txBody>
      </p:sp>
      <p:sp>
        <p:nvSpPr>
          <p:cNvPr id="18753210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1252" name="Slide Image Placeholder 1"/>
          <p:cNvSpPr>
            <a:spLocks noGrp="1"/>
          </p:cNvSpPr>
          <p:nvPr>
            <p:ph type="sldImg" idx="0"/>
          </p:nvPr>
        </p:nvSpPr>
        <p:spPr bwMode="auto"/>
      </p:sp>
      <p:sp>
        <p:nvSpPr>
          <p:cNvPr id="2106333263" name="Notes Placeholder 2"/>
          <p:cNvSpPr>
            <a:spLocks noGrp="1"/>
          </p:cNvSpPr>
          <p:nvPr>
            <p:ph type="body" idx="1"/>
          </p:nvPr>
        </p:nvSpPr>
        <p:spPr bwMode="auto"/>
        <p:txBody>
          <a:bodyPr/>
          <a:lstStyle/>
          <a:p>
            <a:pPr>
              <a:defRPr/>
            </a:pPr>
            <a:r>
              <a:rPr/>
              <a:t>A5 World Bank Global Findex 2025 press release, 16 July 2025: 42% of adults in low- and middle-income countries made a digital merchant payment in 2024 versus 35% in 2021. https://www.worldbank.org/en/news/press-release/2025/07/16/mobile-phone-technology-powers-saving-surge-in-developing-economies. This measures digital payment use rather than brokerage access, investable wealth or securities demand. A6 Chainalysis 2026 Global Crypto Adoption Index, published 23 September 2026, studies 1 July 2025 to 30 June 2026. Latin America crypto economic activity grew 9.8% relative to the preceding period, with a shift toward stablecoin use. https://www.chainalysis.com/blog/2026-global-crypto-adoption-index/. This regional crypto measure includes activity beyond DeFi and cannot establish D-SHARE adoption. Global on-chain economic activity fell 1.6% in the same report, so the slide does not claim universal growth. The proposed business inference is that wallet and stablecoin familiarity can support eligible distribution. Country-level wallet/DeFi use, willingness to invest, local product permission and partner economics need direct validation.</a:t>
            </a:r>
            <a:endParaRPr/>
          </a:p>
        </p:txBody>
      </p:sp>
      <p:sp>
        <p:nvSpPr>
          <p:cNvPr id="110795658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4815917" name="Slide Image Placeholder 1"/>
          <p:cNvSpPr>
            <a:spLocks noGrp="1"/>
          </p:cNvSpPr>
          <p:nvPr>
            <p:ph type="sldImg" idx="0"/>
          </p:nvPr>
        </p:nvSpPr>
        <p:spPr bwMode="auto"/>
      </p:sp>
      <p:sp>
        <p:nvSpPr>
          <p:cNvPr id="782163584" name="Notes Placeholder 2"/>
          <p:cNvSpPr>
            <a:spLocks noGrp="1"/>
          </p:cNvSpPr>
          <p:nvPr>
            <p:ph type="body" idx="1"/>
          </p:nvPr>
        </p:nvSpPr>
        <p:spPr bwMode="auto"/>
        <p:txBody>
          <a:bodyPr/>
          <a:lstStyle/>
          <a:p>
            <a:pPr>
              <a:defRPr/>
            </a:pPr>
            <a:r>
              <a:rPr/>
              <a:t>Founder-supplied startup vision: Leading Payments Engineering to Capital Markets. This slide describes the product expansion strategy rather than a claim of a live securities venue, authorized issuer or committed partnership. Payments engineering provides relevant integration, ledger and reconciliation capabilities for proposed capital-markets workflows. Phase A is a production receipt product and its supporting operations, subject to programme documents, licensing/distribution decisions and partner integration. USDC is the first proposed cash route. RedCoin access remains separately gated. Broader product series and jurisdictions follow customer validation and launch readiness. Options and a new exchange need separate legal, capital, market-structure and operating work.</a:t>
            </a:r>
            <a:endParaRPr/>
          </a:p>
        </p:txBody>
      </p:sp>
      <p:sp>
        <p:nvSpPr>
          <p:cNvPr id="148689235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6039470" name="Slide Image Placeholder 1"/>
          <p:cNvSpPr>
            <a:spLocks noGrp="1"/>
          </p:cNvSpPr>
          <p:nvPr>
            <p:ph type="sldImg" idx="0"/>
          </p:nvPr>
        </p:nvSpPr>
        <p:spPr bwMode="auto"/>
      </p:sp>
      <p:sp>
        <p:nvSpPr>
          <p:cNvPr id="1613695315" name="Notes Placeholder 2"/>
          <p:cNvSpPr>
            <a:spLocks noGrp="1"/>
          </p:cNvSpPr>
          <p:nvPr>
            <p:ph type="body" idx="1"/>
          </p:nvPr>
        </p:nvSpPr>
        <p:spPr bwMode="auto"/>
        <p:txBody>
          <a:bodyPr/>
          <a:lstStyle/>
          <a:p>
            <a:pPr>
              <a:defRPr/>
            </a:pPr>
            <a:r>
              <a:rPr/>
              <a:t>Vision and adoption hypothesis. Enable eligible stablecoin holders to acquire and service legally issued equity receipt positions through accountable institutions. The first commercial objective is one sponsor programme with custody-backed issuance, an approved native USDC funding path and separately gated RedCoin access. Commercial discovery must establish demand, investment eligibility, contractual access and cost. There is no assumption that every stablecoin holder can invest in every jurisdiction or product.</a:t>
            </a:r>
            <a:endParaRPr/>
          </a:p>
          <a:p>
            <a:pPr>
              <a:defRPr/>
            </a:pPr>
            <a:endParaRPr/>
          </a:p>
          <a:p>
            <a:pPr>
              <a:defRPr/>
            </a:pPr>
            <a:r>
              <a:rPr/>
              <a:t>Updated mission wording supplied by the founder: Global equity access for stablecoin adoption. Market adoption of stablecoin to invest in global equity through accountable financial structure.</a:t>
            </a:r>
            <a:endParaRPr/>
          </a:p>
          <a:p>
            <a:pPr>
              <a:defRPr/>
            </a:pPr>
            <a:endParaRPr/>
          </a:p>
          <a:p>
            <a:pPr>
              <a:defRPr/>
            </a:pPr>
            <a:r>
              <a:rPr/>
              <a:t>The product concept seeks broader access for ordinary investors through smaller receipt denominations and approved local distribution. Eligibility, programme rights and permitted cash access continue to govern availability.</a:t>
            </a:r>
            <a:endParaRPr/>
          </a:p>
        </p:txBody>
      </p:sp>
      <p:sp>
        <p:nvSpPr>
          <p:cNvPr id="61168310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0654093" name="Slide Image Placeholder 1"/>
          <p:cNvSpPr>
            <a:spLocks noGrp="1"/>
          </p:cNvSpPr>
          <p:nvPr>
            <p:ph type="sldImg" idx="0"/>
          </p:nvPr>
        </p:nvSpPr>
        <p:spPr bwMode="auto"/>
      </p:sp>
      <p:sp>
        <p:nvSpPr>
          <p:cNvPr id="1843916076" name="Notes Placeholder 2"/>
          <p:cNvSpPr>
            <a:spLocks noGrp="1"/>
          </p:cNvSpPr>
          <p:nvPr>
            <p:ph type="body" idx="1"/>
          </p:nvPr>
        </p:nvSpPr>
        <p:spPr bwMode="auto"/>
        <p:txBody>
          <a:bodyPr/>
          <a:lstStyle/>
          <a:p>
            <a:pPr>
              <a:defRPr/>
            </a:pPr>
            <a:r>
              <a:rPr/>
              <a:t>Step 1, fictional product illustration. This is a proposed D-SHARE Concept and does not represent an issued or authorized GlobalTech programme. Underlying price US$1,200, ratio 0.01 underlying share per receipt, hence indicative receipt value US$12 and 100 receipts per underlying share. Programme documents must set legal rights, fees, distributions, corporate actions, permitted investors and redemption access. The token records the receipt security and does not create an additional equity claim. Market prices may deviate from an indicative backing value because of spreads, liquidity, FX, taxes and service charges. All values in this four-step example are hypothetical.</a:t>
            </a:r>
            <a:endParaRPr/>
          </a:p>
        </p:txBody>
      </p:sp>
      <p:sp>
        <p:nvSpPr>
          <p:cNvPr id="114351066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6978542" name="Slide Image Placeholder 1"/>
          <p:cNvSpPr>
            <a:spLocks noGrp="1"/>
          </p:cNvSpPr>
          <p:nvPr>
            <p:ph type="sldImg" idx="0"/>
          </p:nvPr>
        </p:nvSpPr>
        <p:spPr bwMode="auto"/>
      </p:sp>
      <p:sp>
        <p:nvSpPr>
          <p:cNvPr id="406181558" name="Notes Placeholder 2"/>
          <p:cNvSpPr>
            <a:spLocks noGrp="1"/>
          </p:cNvSpPr>
          <p:nvPr>
            <p:ph type="body" idx="1"/>
          </p:nvPr>
        </p:nvSpPr>
        <p:spPr bwMode="auto"/>
        <p:txBody>
          <a:bodyPr/>
          <a:lstStyle/>
          <a:p>
            <a:pPr>
              <a:defRPr/>
            </a:pPr>
            <a:r>
              <a:rPr/>
              <a:t>Step 2, fictional GlobalTech issuance. The authorized participant arranges delivery of 1,000 settled underlying shares to the appointed custodian. At a US$1,200 illustrative share price the backing has a US$1.2m market value. This inventory belongs to the programme creation process and is separate from the startup US$3m operating raise. The custodian provides settled backing evidence. The issuer/registrar checks programme rights, ratio 0.01 and authorized issuance quantity of 100,000 receipts, then signs the mint instruction under dual control. The permissioned DLT register records 100,000 receipt tokens to the AP eligible account. The custodian, registrar and DLT maintain separate evidence records. Person icons denote institutional actors, linked blocks denote the DLT system, folded document objects denote securities or instructions/confirmations. Every actor stays in its own column. Issuance follows custody confirmation. Retail investors subsequently acquire receipts through an eligible broker route.</a:t>
            </a:r>
            <a:endParaRPr/>
          </a:p>
        </p:txBody>
      </p:sp>
      <p:sp>
        <p:nvSpPr>
          <p:cNvPr id="131162203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5493158" name="Slide Image Placeholder 1"/>
          <p:cNvSpPr>
            <a:spLocks noGrp="1"/>
          </p:cNvSpPr>
          <p:nvPr>
            <p:ph type="sldImg" idx="0"/>
          </p:nvPr>
        </p:nvSpPr>
        <p:spPr bwMode="auto"/>
      </p:sp>
      <p:sp>
        <p:nvSpPr>
          <p:cNvPr id="123260331" name="Notes Placeholder 2"/>
          <p:cNvSpPr>
            <a:spLocks noGrp="1"/>
          </p:cNvSpPr>
          <p:nvPr>
            <p:ph type="body" idx="1"/>
          </p:nvPr>
        </p:nvSpPr>
        <p:spPr bwMode="auto"/>
        <p:txBody>
          <a:bodyPr/>
          <a:lstStyle/>
          <a:p>
            <a:pPr>
              <a:defRPr/>
            </a:pPr>
            <a:r>
              <a:rPr/>
              <a:t>Step 3, fictional purchase example. HSDR was the earlier working product name and refers here to a D-SHARE receipt unit, not a second financial product or a cash token. The investor passes eligibility and account/wallet checks through the approved distribution partner. They buy 25 receipts at US$12 each, US$300 before charges, with economic exposure defined by programme terms to 25 × 0.01 = 0.25 underlying share. A liquidity partner supplies the receipts. At an assumed USDC/USD execution rate of 1.00, funding is 300 USDC. An alternative approved RedCoin/HKD route would require 300 × 7.80 = 2,340 RedCoin at assumed RedCoin/HKD 1.00. These cash assets are alternative payment routes for the same receipt claim. USDC, RedCoin and D-SHARE receipt units remain separate financial objects. Actual prices, spreads, network costs, FX quotes, counterparty approval, payment finality and holder-register update govern delivery. The arrows summarize logical interactions and do not assert an atomic cross-network settlement or a live integration. Secondary-purchase proceeds flow to the seller/liquidity partner, rather than automatically funding new backing shares.</a:t>
            </a:r>
            <a:endParaRPr/>
          </a:p>
        </p:txBody>
      </p:sp>
      <p:sp>
        <p:nvSpPr>
          <p:cNvPr id="56359880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3242049" name="Slide Image Placeholder 1"/>
          <p:cNvSpPr>
            <a:spLocks noGrp="1"/>
          </p:cNvSpPr>
          <p:nvPr>
            <p:ph type="sldImg" idx="0"/>
          </p:nvPr>
        </p:nvSpPr>
        <p:spPr bwMode="auto"/>
      </p:sp>
      <p:sp>
        <p:nvSpPr>
          <p:cNvPr id="60109098" name="Notes Placeholder 2"/>
          <p:cNvSpPr>
            <a:spLocks noGrp="1"/>
          </p:cNvSpPr>
          <p:nvPr>
            <p:ph type="body" idx="1"/>
          </p:nvPr>
        </p:nvSpPr>
        <p:spPr bwMode="auto"/>
        <p:txBody>
          <a:bodyPr/>
          <a:lstStyle/>
          <a:p>
            <a:pPr>
              <a:defRPr/>
            </a:pPr>
            <a:r>
              <a:rPr/>
              <a:t>Step 4, positive hypothetical valuation scenario, not a forecast, performance result or guaranteed return. Assumptions: GlobalTech share price increases from US$1,200 to US$1,320 (+10%). Receipt ratio stays 0.01 and the investor continues to hold 25 receipt units. Initial indicative unit value US$12 and holding US$300. Later unit value US$13.20 and holding US$330. Unrealized increase US$30, 10%, before spreads, fees and tax. No extra tokens or new equity claims arise from this price movement. Actual executable receipt prices can diverge from indicative backing value. A sale and settlement are needed to realize cash. Optional HKD reporting case: initial 300 × 7.80 = HK$2,340; after equity growth with unchanged FX, 330 × 7.80 = HK$2,574; after equity growth and hypothetical 7.82 HKD per USD, 330 × 7.82 = HK$2,580.60. Total change HK$240.60 / HK$2,340 = 10.282051%, rounded 10.28%. FX alone contributes HK$6.60 relative to the unchanged-FX growth scenario. The HKD valuation does not assert a payout or RedCoin redemption transaction. Both FX rates are illustrative rather than current quotes. A7 HKMA gives the linked exchange-rate band HK$7.75-7.85 per US dollar: https://www.hkma.gov.hk/eng/key-functions/money/linked-exchange-rate-system/. Values can fall because of equity price, FX, liquidity or other product risks.</a:t>
            </a:r>
            <a:endParaRPr/>
          </a:p>
        </p:txBody>
      </p:sp>
      <p:sp>
        <p:nvSpPr>
          <p:cNvPr id="136477284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2016984" name="Slide Image Placeholder 1"/>
          <p:cNvSpPr>
            <a:spLocks noGrp="1"/>
          </p:cNvSpPr>
          <p:nvPr>
            <p:ph type="sldImg" idx="0"/>
          </p:nvPr>
        </p:nvSpPr>
        <p:spPr bwMode="auto"/>
      </p:sp>
      <p:sp>
        <p:nvSpPr>
          <p:cNvPr id="2074836291" name="Notes Placeholder 2"/>
          <p:cNvSpPr>
            <a:spLocks noGrp="1"/>
          </p:cNvSpPr>
          <p:nvPr>
            <p:ph type="body" idx="1"/>
          </p:nvPr>
        </p:nvSpPr>
        <p:spPr bwMode="auto"/>
        <p:txBody>
          <a:bodyPr/>
          <a:lstStyle/>
          <a:p>
            <a:pPr>
              <a:defRPr/>
            </a:pPr>
            <a:r>
              <a:rPr/>
              <a:t>[S1] Circle reports USDC natively supported on 38 blockchains as of 16 September 2026: https://www.circle.com/usdc. This is ecosystem reach, not the number of D-SHARE-supported networks. [S2] HSBC's dated 23 October 2026 launch announcement describes RedCoin as HKD denominated and available through PayMe, whose user base exceeds 3.3m: https://www.about.hsbc.com.hk/news-and-media/hsbc-redcoin-launches-today. PayMe users are not a count of active RedCoin investors. The adoption thesis and any channel access remain D-SHARE hypotheses. These indicators do not establish addressable demand or programme assets.</a:t>
            </a:r>
            <a:endParaRPr/>
          </a:p>
        </p:txBody>
      </p:sp>
      <p:sp>
        <p:nvSpPr>
          <p:cNvPr id="109172486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6556796" name="Slide Image Placeholder 1"/>
          <p:cNvSpPr>
            <a:spLocks noGrp="1"/>
          </p:cNvSpPr>
          <p:nvPr>
            <p:ph type="sldImg" idx="0"/>
          </p:nvPr>
        </p:nvSpPr>
        <p:spPr bwMode="auto"/>
      </p:sp>
      <p:sp>
        <p:nvSpPr>
          <p:cNvPr id="813763619" name="Notes Placeholder 2"/>
          <p:cNvSpPr>
            <a:spLocks noGrp="1"/>
          </p:cNvSpPr>
          <p:nvPr>
            <p:ph type="body" idx="1"/>
          </p:nvPr>
        </p:nvSpPr>
        <p:spPr bwMode="auto"/>
        <p:txBody>
          <a:bodyPr/>
          <a:lstStyle/>
          <a:p>
            <a:pPr>
              <a:defRPr/>
            </a:pPr>
            <a:r>
              <a:rPr/>
              <a:t>Proposed editable interface concepts, without live connectivity. Fictional GlobalTech GT-01 uses ratio 0.01 underlying share per receipt. The investor reviews 25 units at US$12 = US$300, funded by 300 USDC at assumed USDC/USD 1.00 before fees. The programme interface shows a request for 100,000 receipt units backed by 1,000 settled shares. Custody confirmation, registrar approval and dual authorization precede minting. Production screens must display executable quotes, charges, permissions, disclosures and exception states.</a:t>
            </a:r>
            <a:endParaRPr/>
          </a:p>
        </p:txBody>
      </p:sp>
      <p:sp>
        <p:nvSpPr>
          <p:cNvPr id="96926276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6104143" name="Slide Image Placeholder 1"/>
          <p:cNvSpPr>
            <a:spLocks noGrp="1"/>
          </p:cNvSpPr>
          <p:nvPr>
            <p:ph type="sldImg" idx="0"/>
          </p:nvPr>
        </p:nvSpPr>
        <p:spPr bwMode="auto"/>
      </p:sp>
      <p:sp>
        <p:nvSpPr>
          <p:cNvPr id="1622204037" name="Notes Placeholder 2"/>
          <p:cNvSpPr>
            <a:spLocks noGrp="1"/>
          </p:cNvSpPr>
          <p:nvPr>
            <p:ph type="body" idx="1"/>
          </p:nvPr>
        </p:nvSpPr>
        <p:spPr bwMode="auto"/>
        <p:txBody>
          <a:bodyPr/>
          <a:lstStyle/>
          <a:p>
            <a:pPr>
              <a:defRPr/>
            </a:pPr>
            <a:r>
              <a:rPr/>
              <a:t>Target contracting customer is the issuer/sponsor. Brokers and regulated wallet/custody distributors provide eligible investment access. Authorized participants and liquidity providers arrange underlying inventory, creation/redemption and quoting. Investor holdings remain securities positions, while USDC and RedCoin are funding/proceeds assets. Illustrative adoption scenario: five receipt series times US$20m average assets each equals US$100m serviced programme assets. This is a planning scenario rather than a forecast or contracted commitment. Assets are measured in USD for the fee model, using the agreed valuation method.</a:t>
            </a:r>
            <a:endParaRPr/>
          </a:p>
        </p:txBody>
      </p:sp>
      <p:sp>
        <p:nvSpPr>
          <p:cNvPr id="49241536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1259097" name="Slide Image Placeholder 1"/>
          <p:cNvSpPr>
            <a:spLocks noGrp="1"/>
          </p:cNvSpPr>
          <p:nvPr>
            <p:ph type="sldImg" idx="0"/>
          </p:nvPr>
        </p:nvSpPr>
        <p:spPr bwMode="auto"/>
      </p:sp>
      <p:sp>
        <p:nvSpPr>
          <p:cNvPr id="1329241042" name="Notes Placeholder 2"/>
          <p:cNvSpPr>
            <a:spLocks noGrp="1"/>
          </p:cNvSpPr>
          <p:nvPr>
            <p:ph type="body" idx="1"/>
          </p:nvPr>
        </p:nvSpPr>
        <p:spPr bwMode="auto"/>
        <p:txBody>
          <a:bodyPr/>
          <a:lstStyle/>
          <a:p>
            <a:pPr>
              <a:defRPr/>
            </a:pPr>
            <a:r>
              <a:rPr/>
              <a:t>Management adoption sensitivity, not an external total addressable market estimate or a sales forecast. At an assumed US$20m full-period average per receipt series, 1/3/5 series imply US$20m/60m/100m average programme assets. At a 0.30% annual gross fee, five series produce US$300,000 recurring annual fees before variable and fixed costs. No assets, investor commitments or signed series mandates are supplied. Full-period average assets differ from closing assets. For example, a simple linear year-2 ramp from zero to US$200m would average US$100m, whereas a closing balance of US$100m would average only US$50m. The financial model uses unvalidated annual averages and needs a monthly series-by-series ramp before investment approval. Targets in the launch roadmap do not establish the financial-model adoption path.</a:t>
            </a:r>
            <a:endParaRPr/>
          </a:p>
        </p:txBody>
      </p:sp>
      <p:sp>
        <p:nvSpPr>
          <p:cNvPr id="101317684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8014631" name="Slide Image Placeholder 1"/>
          <p:cNvSpPr>
            <a:spLocks noGrp="1"/>
          </p:cNvSpPr>
          <p:nvPr>
            <p:ph type="sldImg" idx="0"/>
          </p:nvPr>
        </p:nvSpPr>
        <p:spPr bwMode="auto"/>
      </p:sp>
      <p:sp>
        <p:nvSpPr>
          <p:cNvPr id="540847282" name="Notes Placeholder 2"/>
          <p:cNvSpPr>
            <a:spLocks noGrp="1"/>
          </p:cNvSpPr>
          <p:nvPr>
            <p:ph type="body" idx="1"/>
          </p:nvPr>
        </p:nvSpPr>
        <p:spPr bwMode="auto"/>
        <p:txBody>
          <a:bodyPr/>
          <a:lstStyle/>
          <a:p>
            <a:pPr>
              <a:defRPr/>
            </a:pPr>
            <a:r>
              <a:rPr/>
              <a:t>Management USD pricing sensitivity. New-sponsor setup fee US$150k; annual servicing fee 0.30% of average serviced assets; variable partner/service costs assumed 0.15% of assets. At US$100m / US$500m / US$1bn assets, gross recurring fees are US$0.30m / US$1.50m / US$3.00m and contribution is US$0.15m / US$0.75m / US$1.50m, before fixed operating costs. Setup fees are excluded from the chart. Amounts are a reset USD planning case with retained nominal assumptions, rather than an FX conversion of prior estimates. No issuer-reserve yield, stablecoin-balance revenue, FX spread, tokenization premium, inventory gain, trading spread or options revenue is assumed. Cash-rail and FX charges require current partner quotes and pass-through policy. The new native chart uses a deliberate literal-data workbook snapshot.</a:t>
            </a:r>
            <a:endParaRPr/>
          </a:p>
        </p:txBody>
      </p:sp>
      <p:sp>
        <p:nvSpPr>
          <p:cNvPr id="145774817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061136" name="Slide Image Placeholder 1"/>
          <p:cNvSpPr>
            <a:spLocks noGrp="1"/>
          </p:cNvSpPr>
          <p:nvPr>
            <p:ph type="sldImg" idx="0"/>
          </p:nvPr>
        </p:nvSpPr>
        <p:spPr bwMode="auto"/>
      </p:sp>
      <p:sp>
        <p:nvSpPr>
          <p:cNvPr id="1577479464" name="Notes Placeholder 2"/>
          <p:cNvSpPr>
            <a:spLocks noGrp="1"/>
          </p:cNvSpPr>
          <p:nvPr>
            <p:ph type="body" idx="1"/>
          </p:nvPr>
        </p:nvSpPr>
        <p:spPr bwMode="auto"/>
        <p:txBody>
          <a:bodyPr/>
          <a:lstStyle/>
          <a:p>
            <a:pPr>
              <a:defRPr/>
            </a:pPr>
            <a:r>
              <a:rPr/>
              <a:t>Proposed production architecture. The receipt programme remains a custody-backed security, with issuer/registrar ownership of legal rights and register governance. The permissioned receipt register holds units, locks and controlled transfers. Separate cash adapters validate settlement-asset issuer, native network/contract identifier, denomination and finality evidence. USDC access should use an approved native asset and regulated/custody provider. [S6] Circle lists native USDC contracts by network: https://developers.circle.com/stablecoins/usdc-contract-addresses. The RedCoin adapter is a proposed interface dependent on HSBC-approved product/channel access and agreed evidence; no public transfer API or common-chain interoperability is assumed. Quotes, private identity, documents and accounting remain restricted off-ledger records. A CashAssetID, SettlementCurrency, FXQuoteID/expiry and CashFinalityReference connect to the TradeID and receipt event. The DLT record must have accepted legal status before transferable tokens represent the claim. Conventional and tokenized positions cannot both create spendable copies. Until recognition, any operational mirror is non-transferable. Custody proof and approved ratios gate minting. Cash partners hold or move settlement assets under agreed arrangements. Legal and technical settlement finality must be established for each rail. Atomic DvP is a possible later mode only where both legs have compatible infrastructure, rights and finality.</a:t>
            </a:r>
            <a:endParaRPr/>
          </a:p>
        </p:txBody>
      </p:sp>
      <p:sp>
        <p:nvSpPr>
          <p:cNvPr id="91352606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3479020" name="Slide Image Placeholder 1"/>
          <p:cNvSpPr>
            <a:spLocks noGrp="1"/>
          </p:cNvSpPr>
          <p:nvPr>
            <p:ph type="sldImg" idx="0"/>
          </p:nvPr>
        </p:nvSpPr>
        <p:spPr bwMode="auto"/>
      </p:sp>
      <p:sp>
        <p:nvSpPr>
          <p:cNvPr id="732788218" name="Notes Placeholder 2"/>
          <p:cNvSpPr>
            <a:spLocks noGrp="1"/>
          </p:cNvSpPr>
          <p:nvPr>
            <p:ph type="body" idx="1"/>
          </p:nvPr>
        </p:nvSpPr>
        <p:spPr bwMode="auto"/>
        <p:txBody>
          <a:bodyPr/>
          <a:lstStyle/>
          <a:p>
            <a:pPr>
              <a:defRPr/>
            </a:pPr>
            <a:r>
              <a:rPr/>
              <a:t>Proposed secondary-settlement sequence with fixed actor columns. Step 1: the authorized venue/broker provides the matched TradeID, receipt series, units, price, selected CashAssetID and quote reference. Step 2: reserve seller receipt units and verify investor/transfer eligibility. Step 3: the approved cash/custody/FX operator processes the chosen USDC/USD or RedCoin/HKD leg. D-SHARE is not assumed to custody customer cash. For RedCoin funding of a USD-valued trade, validate a current executable HKD/USD quote, counterparty, amount and expiry. Step 4: capture authenticated payment finality and FX execution evidence. Native USDC evidence can reference its approved chain/contract transaction. RedCoin evidence must come from an HSBC-approved interface or settlement provider; no public-chain API or universal interoperability is assumed. Step 5: accepted legal/operating conditions authorize the receipt transfer and register update. Step 6: reconcile and confirm the trade and controlled journal postings. Failure before release holds or cancels reservations; a post-cash failure enters recovery under the settlement agreement. This coordinated inter-ledger path is not represented as atomic DvP. Link TradeID, CashAssetID, PaymentInstruction, FXQuote/Execution, CashFinalityReference, TransferLock, ReceiptTransfer, HolderPosition and JournalEntry; ExceptionCase owns unresolved states. Keep different asset units and denominations separate in both ledger and UI.</a:t>
            </a:r>
            <a:endParaRPr/>
          </a:p>
        </p:txBody>
      </p:sp>
      <p:sp>
        <p:nvSpPr>
          <p:cNvPr id="9383585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4295739" name="Slide Image Placeholder 1"/>
          <p:cNvSpPr>
            <a:spLocks noGrp="1"/>
          </p:cNvSpPr>
          <p:nvPr>
            <p:ph type="sldImg" idx="0"/>
          </p:nvPr>
        </p:nvSpPr>
        <p:spPr bwMode="auto"/>
      </p:sp>
      <p:sp>
        <p:nvSpPr>
          <p:cNvPr id="1762705300" name="Notes Placeholder 2"/>
          <p:cNvSpPr>
            <a:spLocks noGrp="1"/>
          </p:cNvSpPr>
          <p:nvPr>
            <p:ph type="body" idx="1"/>
          </p:nvPr>
        </p:nvSpPr>
        <p:spPr bwMode="auto"/>
        <p:txBody>
          <a:bodyPr/>
          <a:lstStyle/>
          <a:p>
            <a:pPr>
              <a:defRPr/>
            </a:pPr>
            <a:r>
              <a:rPr/>
              <a:t>Fictional GlobalTech AP redemption, consistent with the 0.01 share-per-receipt ratio. An eligible AP submits 100,000 receipts for redemption. The issuer/registrar locks and cancels the legally registered units and the DLT burns the linked tokens. Final burn/cancellation evidence and release approval precede the custody release of 1,000 underlying shares. Programme terms determine eligibility, fees, minimums and handling of unsettled obligations. Retail investors use a broker sale or another approved cash exit unless direct redemption is explicitly available. This is proposed functionality rather than a live redemption service.</a:t>
            </a:r>
            <a:endParaRPr/>
          </a:p>
        </p:txBody>
      </p:sp>
      <p:sp>
        <p:nvSpPr>
          <p:cNvPr id="34971859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5976325" name="Slide Image Placeholder 1"/>
          <p:cNvSpPr>
            <a:spLocks noGrp="1"/>
          </p:cNvSpPr>
          <p:nvPr>
            <p:ph type="sldImg" idx="0"/>
          </p:nvPr>
        </p:nvSpPr>
        <p:spPr bwMode="auto"/>
      </p:sp>
      <p:sp>
        <p:nvSpPr>
          <p:cNvPr id="1741865180" name="Notes Placeholder 2"/>
          <p:cNvSpPr>
            <a:spLocks noGrp="1"/>
          </p:cNvSpPr>
          <p:nvPr>
            <p:ph type="body" idx="1"/>
          </p:nvPr>
        </p:nvSpPr>
        <p:spPr bwMode="auto"/>
        <p:txBody>
          <a:bodyPr/>
          <a:lstStyle/>
          <a:p>
            <a:pPr>
              <a:defRPr/>
            </a:pPr>
            <a:r>
              <a:rPr/>
              <a:t>Fictional GlobalTech distribution example. For an investor holding 25 receipts at ratio 0.01, a US$1 dividend per underlying share gives 25 × 0.01 × US$1 = US$0.25 gross. The record-date position determines entitlement. Tax, charges, rounding, minimum distributions and any FX conversion follow the programme terms. This example does not promise a dividend. Payout availability depends on approved cash rails and partner operation. Custodian evidence, the registrar allocation and the payment record reconcile to the same distribution event.</a:t>
            </a:r>
            <a:endParaRPr/>
          </a:p>
        </p:txBody>
      </p:sp>
      <p:sp>
        <p:nvSpPr>
          <p:cNvPr id="104158980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2129229" name="Slide Image Placeholder 1"/>
          <p:cNvSpPr>
            <a:spLocks noGrp="1"/>
          </p:cNvSpPr>
          <p:nvPr>
            <p:ph type="sldImg" idx="0"/>
          </p:nvPr>
        </p:nvSpPr>
        <p:spPr bwMode="auto"/>
      </p:sp>
      <p:sp>
        <p:nvSpPr>
          <p:cNvPr id="124847602" name="Notes Placeholder 2"/>
          <p:cNvSpPr>
            <a:spLocks noGrp="1"/>
          </p:cNvSpPr>
          <p:nvPr>
            <p:ph type="body" idx="1"/>
          </p:nvPr>
        </p:nvSpPr>
        <p:spPr bwMode="auto"/>
        <p:txBody>
          <a:bodyPr/>
          <a:lstStyle/>
          <a:p>
            <a:pPr>
              <a:defRPr/>
            </a:pPr>
            <a:r>
              <a:rPr/>
              <a:t>Launch controls require a named issuer/registrar, custody agreements and the chosen jurisdiction's applicable offering, distribution, marketplace and securities-servicing permissions. Stablecoin access does not authorize security distribution. [S3] The SFC's 2 November 2023 circular describes tokenized securities and continuing securities obligations plus ownership/technology risk controls: https://apps.sfc.hk/edistributionWeb/api/circular/list-content?lang=EN&amp;refNo=23EC52. This is Hong Kong guidance relevant to a potential RedCoin route; it is not D-SHARE authorization or a commitment to a final launch jurisdiction. Contract audit, privileged access, key recovery and upgrades need named control owners. Each cash route needs asset validation, finality criteria, eligible holders and failure recovery. HSBC access must be approved separately.</a:t>
            </a:r>
            <a:endParaRPr/>
          </a:p>
        </p:txBody>
      </p:sp>
      <p:sp>
        <p:nvSpPr>
          <p:cNvPr id="14326715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6033669" name="Slide Image Placeholder 1"/>
          <p:cNvSpPr>
            <a:spLocks noGrp="1"/>
          </p:cNvSpPr>
          <p:nvPr>
            <p:ph type="sldImg" idx="0"/>
          </p:nvPr>
        </p:nvSpPr>
        <p:spPr bwMode="auto"/>
      </p:sp>
      <p:sp>
        <p:nvSpPr>
          <p:cNvPr id="2058697138" name="Notes Placeholder 2"/>
          <p:cNvSpPr>
            <a:spLocks noGrp="1"/>
          </p:cNvSpPr>
          <p:nvPr>
            <p:ph type="body" idx="1"/>
          </p:nvPr>
        </p:nvSpPr>
        <p:spPr bwMode="auto"/>
        <p:txBody>
          <a:bodyPr/>
          <a:lstStyle/>
          <a:p>
            <a:pPr>
              <a:defRPr/>
            </a:pPr>
            <a:r>
              <a:rPr/>
              <a:t>Intended operating advantage. Shared receipt state links approved supply and transfers to authenticated cash-asset evidence. Data includes CashAssetID, issuer, network/contract identifier or approved provider reference, SettlementCurrency, FXQuoteID, quote expiry, execution amount, finality policy/version and associated receipt transfer. KYC and private documents remain off ledger. Adoption measures to establish with partners include funded-to-invested conversion, repeat funded investors, serviced assets, successful settlement rate, FX quote expiry/rejection, cash-to-receipt reconciliation breaks and time to recover failures. No measured adoption, speed or cost improvement is claimed.</a:t>
            </a:r>
            <a:endParaRPr/>
          </a:p>
        </p:txBody>
      </p:sp>
      <p:sp>
        <p:nvSpPr>
          <p:cNvPr id="6205323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2982962" name="Slide Image Placeholder 1"/>
          <p:cNvSpPr>
            <a:spLocks noGrp="1"/>
          </p:cNvSpPr>
          <p:nvPr>
            <p:ph type="sldImg" idx="0"/>
          </p:nvPr>
        </p:nvSpPr>
        <p:spPr bwMode="auto"/>
      </p:sp>
      <p:sp>
        <p:nvSpPr>
          <p:cNvPr id="436264524" name="Notes Placeholder 2"/>
          <p:cNvSpPr>
            <a:spLocks noGrp="1"/>
          </p:cNvSpPr>
          <p:nvPr>
            <p:ph type="body" idx="1"/>
          </p:nvPr>
        </p:nvSpPr>
        <p:spPr bwMode="auto"/>
        <p:txBody>
          <a:bodyPr/>
          <a:lstStyle/>
          <a:p>
            <a:pPr>
              <a:defRPr/>
            </a:pPr>
            <a:r>
              <a:rPr/>
              <a:t>Management-reported progress from the source presentation. Completed work comprises the receipt concept, business/lifecycle models, prior executable trade/ledger test harness and proposed USDC/RedCoin architecture in this deck. A production stablecoin integration, audited contracts, issuer programme, regulatory permissions and signed distribution/customer mandates are not claimed. The target is a production financial product. The historical simulator and option scenarios are test foundations, not current commercial scope. Next proof should include partner access terms, priced integrations and a paid sponsor programme mandate.</a:t>
            </a:r>
            <a:endParaRPr/>
          </a:p>
        </p:txBody>
      </p:sp>
      <p:sp>
        <p:nvSpPr>
          <p:cNvPr id="353016601"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1847133" name="Slide Image Placeholder 1"/>
          <p:cNvSpPr>
            <a:spLocks noGrp="1"/>
          </p:cNvSpPr>
          <p:nvPr>
            <p:ph type="sldImg" idx="0"/>
          </p:nvPr>
        </p:nvSpPr>
        <p:spPr bwMode="auto"/>
      </p:sp>
      <p:sp>
        <p:nvSpPr>
          <p:cNvPr id="1848003411" name="Notes Placeholder 2"/>
          <p:cNvSpPr>
            <a:spLocks noGrp="1"/>
          </p:cNvSpPr>
          <p:nvPr>
            <p:ph type="body" idx="1"/>
          </p:nvPr>
        </p:nvSpPr>
        <p:spPr bwMode="auto"/>
        <p:txBody>
          <a:bodyPr/>
          <a:lstStyle/>
          <a:p>
            <a:pPr>
              <a:defRPr/>
            </a:pPr>
            <a:r>
              <a:rPr/>
              <a:t>Proposed milestones from funding close. Months 0-6: select launch jurisdiction and programme structure, negotiate sponsor/custody/distribution relationships, agree a native USDC access path and investigate RedCoin investment access with HSBC. Months 7-12: implement the certified USDC receipt/cash workflow, complete contract/security review, test backing and key controls, establish finality and recovery, and obtain required permissions and partner acceptance. Months 13-24: launch the first programme, target five series with two brokers and two liquidity providers, and activate RedCoin only after separately accepted terms and product/channel integration. RedCoin timing depends on third-party access. Underlying inventory, regulatory capital and FX liquidity need separate arrangements. No committed calendar launch is represented.</a:t>
            </a:r>
            <a:endParaRPr/>
          </a:p>
        </p:txBody>
      </p:sp>
      <p:sp>
        <p:nvSpPr>
          <p:cNvPr id="56179121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2915224" name="Slide Image Placeholder 1"/>
          <p:cNvSpPr>
            <a:spLocks noGrp="1"/>
          </p:cNvSpPr>
          <p:nvPr>
            <p:ph type="sldImg" idx="0"/>
          </p:nvPr>
        </p:nvSpPr>
        <p:spPr bwMode="auto"/>
      </p:sp>
      <p:sp>
        <p:nvSpPr>
          <p:cNvPr id="576595199" name="Notes Placeholder 2"/>
          <p:cNvSpPr>
            <a:spLocks noGrp="1"/>
          </p:cNvSpPr>
          <p:nvPr>
            <p:ph type="body" idx="1"/>
          </p:nvPr>
        </p:nvSpPr>
        <p:spPr bwMode="auto"/>
        <p:txBody>
          <a:bodyPr/>
          <a:lstStyle/>
          <a:p>
            <a:pPr>
              <a:defRPr/>
            </a:pPr>
            <a:r>
              <a:rPr/>
              <a:t>US$3m expansion round, unchanged. The first 24 months of fixed operating spending total US$2.7m, now itemized on slide 34. Functional allocations remain US$1.2m product/security, US$0.6m programme structuring, US$0.45m partner operations and US$0.45m distribution. Add US$0.3m contingency to reach US$3m. US$3m divided by 24 months equals a US$125,000 average monthly funding envelope. US$2.7m divided by 24 is US$112,500 planned fixed spending per month. US$0.3m divided by 24 is US$12,500 reserve equivalent per month. These are averages, not fixed monthly invoices. The contingency remains unallocated and unspent in the cash model. Asset-based variable costs are separate from the fixed budget and are included in the planning adoption case, together with customer revenue. The funding allocation is not additional spending on top of the annual operating model. All costs remain unpriced planning allowances. Inventory, mandatory capital, cash-rail minimums and settlement/FX liquidity require separate arrangements.</a:t>
            </a:r>
            <a:endParaRPr/>
          </a:p>
        </p:txBody>
      </p:sp>
      <p:sp>
        <p:nvSpPr>
          <p:cNvPr id="2105171843"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0847045" name="Slide Image Placeholder 1"/>
          <p:cNvSpPr>
            <a:spLocks noGrp="1"/>
          </p:cNvSpPr>
          <p:nvPr>
            <p:ph type="sldImg" idx="0"/>
          </p:nvPr>
        </p:nvSpPr>
        <p:spPr bwMode="auto"/>
      </p:sp>
      <p:sp>
        <p:nvSpPr>
          <p:cNvPr id="1029639942" name="Notes Placeholder 2"/>
          <p:cNvSpPr>
            <a:spLocks noGrp="1"/>
          </p:cNvSpPr>
          <p:nvPr>
            <p:ph type="body" idx="1"/>
          </p:nvPr>
        </p:nvSpPr>
        <p:spPr bwMode="auto"/>
        <p:txBody>
          <a:bodyPr/>
          <a:lstStyle/>
          <a:p>
            <a:pPr>
              <a:defRPr/>
            </a:pPr>
            <a:r>
              <a:rPr/>
              <a:t>Reconciliation of functional use-of-funds allocations to the proposed itemized fixed operating budget. Product and security sums the engineering, product/integration, audit/testing and cloud/tooling lines: Year 1 US$555k, Year 2 US$645k, 24-month US$1.2m. Programme structuring sums securities counsel/documentation and compliance/licensing readiness: US$330k/270k, total US$600k. Partner operations sums operating/reconciliation capacity and partner certification/testing: US$150k/300k, total US$450k. Distribution sums partner development/account support and market launch/education: US$165k/285k, total US$450k. Fixed totals are US$1.2m and US$1.5m, or US$2.7m. A separately held US$300k contingency brings the funding envelope to US$3m. The reserve has no annual spending allocation and remains unspent in the model. US$2.7m/24 = US$112,500 average monthly fixed spending. US$300k/24 = US$12,500 reserve equivalent, so the average funding envelope is US$125,000/month. These are two views of the same budget, without double-counting the allocations. Year 2 variable costs US$150k are included separately in the planning adoption case and net against modeled customer revenue. Underlying inventory, required capital, cash-rail minimums and settlement/FX liquidity remain outside the operating envelope.</a:t>
            </a:r>
            <a:endParaRPr/>
          </a:p>
        </p:txBody>
      </p:sp>
      <p:sp>
        <p:nvSpPr>
          <p:cNvPr id="63541218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7188145" name="Slide Image Placeholder 1"/>
          <p:cNvSpPr>
            <a:spLocks noGrp="1"/>
          </p:cNvSpPr>
          <p:nvPr>
            <p:ph type="sldImg" idx="0"/>
          </p:nvPr>
        </p:nvSpPr>
        <p:spPr bwMode="auto"/>
      </p:sp>
      <p:sp>
        <p:nvSpPr>
          <p:cNvPr id="1173254251" name="Notes Placeholder 2"/>
          <p:cNvSpPr>
            <a:spLocks noGrp="1"/>
          </p:cNvSpPr>
          <p:nvPr>
            <p:ph type="body" idx="1"/>
          </p:nvPr>
        </p:nvSpPr>
        <p:spPr bwMode="auto"/>
        <p:txBody>
          <a:bodyPr/>
          <a:lstStyle/>
          <a:p>
            <a:pPr>
              <a:defRPr/>
            </a:pPr>
            <a:r>
              <a:rPr/>
              <a:t>Key execution risks: jurisdiction-specific securities permissions, legal register rights, custody/backing gaps, insufficient liquidity, stablecoin issuer and redemption exposure, price deviations from reference currency, asset freezes, compromised keys/contracts, network failure, stale FX quotes and cash/receipt sequencing. Controls need cash-asset/network allowlists, authenticated finality evidence, FX counterparties and limits, audits, pause/recovery and reconciliation ownership. A paid cash leg followed by failed receipt delivery requires agreed recovery/compensation. Distribution and all Circle/HSBC channel access remain unconfirmed. Quotes, minimum fees and integration scope may shorten modeled runway.</a:t>
            </a:r>
            <a:endParaRPr/>
          </a:p>
        </p:txBody>
      </p:sp>
      <p:sp>
        <p:nvSpPr>
          <p:cNvPr id="20003375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6299813" name="Slide Image Placeholder 1"/>
          <p:cNvSpPr>
            <a:spLocks noGrp="1"/>
          </p:cNvSpPr>
          <p:nvPr>
            <p:ph type="sldImg" idx="0"/>
          </p:nvPr>
        </p:nvSpPr>
        <p:spPr bwMode="auto"/>
      </p:sp>
      <p:sp>
        <p:nvSpPr>
          <p:cNvPr id="1839161160" name="Notes Placeholder 2"/>
          <p:cNvSpPr>
            <a:spLocks noGrp="1"/>
          </p:cNvSpPr>
          <p:nvPr>
            <p:ph type="body" idx="1"/>
          </p:nvPr>
        </p:nvSpPr>
        <p:spPr bwMode="auto"/>
        <p:txBody>
          <a:bodyPr/>
          <a:lstStyle/>
          <a:p>
            <a:pPr>
              <a:defRPr/>
            </a:pPr>
            <a:r>
              <a:rPr/>
              <a:t>Commercial asks for the next financing phase. One accountable sponsor mandate is the initial buying decision. Custody, registrar, brokers, market operator where needed, native-USDC access and cash/FX providers each need priced scope, rights, operating duties and acceptance evidence. Liquidity providers/APs fund or arrange underlying inventory and executable quotes under separate agreements. RedCoin investment use requires HSBC-approved access and distribution arrangements. Its launch release describes planned investment channels but grants no D-SHARE integration rights: https://www.about.hsbc.com.hk/news-and-media/hsbc-redcoin-launches-today. No signed relationships, exclusivity or endorsements are claimed. The US$3m raise covers the proposed startup operating plan, excluding securities inventory, required regulatory capital and settlement/FX liquidity. Financing instrument, valuation and ownership terms remain open.</a:t>
            </a:r>
            <a:endParaRPr/>
          </a:p>
        </p:txBody>
      </p:sp>
      <p:sp>
        <p:nvSpPr>
          <p:cNvPr id="17252129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0340169" name="Slide Image Placeholder 1"/>
          <p:cNvSpPr>
            <a:spLocks noGrp="1"/>
          </p:cNvSpPr>
          <p:nvPr>
            <p:ph type="sldImg" idx="0"/>
          </p:nvPr>
        </p:nvSpPr>
        <p:spPr bwMode="auto"/>
      </p:sp>
      <p:sp>
        <p:nvSpPr>
          <p:cNvPr id="1687064850" name="Notes Placeholder 2"/>
          <p:cNvSpPr>
            <a:spLocks noGrp="1"/>
          </p:cNvSpPr>
          <p:nvPr>
            <p:ph type="body" idx="1"/>
          </p:nvPr>
        </p:nvSpPr>
        <p:spPr bwMode="auto"/>
        <p:txBody>
          <a:bodyPr/>
          <a:lstStyle/>
          <a:p>
            <a:pPr>
              <a:defRPr/>
            </a:pPr>
            <a:r>
              <a:rPr/>
              <a:t>Proposed US$3m startup expansion ask and strategic programme relationships. Seeking investors and anchor partners to bring stablecoin-funded D-SHARE receipt programmes into production. The raise is USD, distinct from any payment quantity in USDC or RedCoin. Connextium.xyz is the founder-supplied contact. No offer of receipt tokens or signed issuer/bank affiliation is represented. The abstract light background remains conceptual artwork.</a:t>
            </a:r>
            <a:endParaRPr/>
          </a:p>
        </p:txBody>
      </p:sp>
      <p:sp>
        <p:nvSpPr>
          <p:cNvPr id="156899489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929504" name="Slide Image Placeholder 1"/>
          <p:cNvSpPr>
            <a:spLocks noGrp="1"/>
          </p:cNvSpPr>
          <p:nvPr>
            <p:ph type="sldImg" idx="0"/>
          </p:nvPr>
        </p:nvSpPr>
        <p:spPr bwMode="auto"/>
      </p:sp>
      <p:sp>
        <p:nvSpPr>
          <p:cNvPr id="272542247" name="Notes Placeholder 2"/>
          <p:cNvSpPr>
            <a:spLocks noGrp="1"/>
          </p:cNvSpPr>
          <p:nvPr>
            <p:ph type="body" idx="1"/>
          </p:nvPr>
        </p:nvSpPr>
        <p:spPr bwMode="auto"/>
        <p:txBody>
          <a:bodyPr/>
          <a:lstStyle/>
          <a:p>
            <a:pPr>
              <a:defRPr/>
            </a:pPr>
            <a:r>
              <a:rPr/>
              <a:t>Proposed representation-conversion control, separate from new receipt issuance or in-kind backing redemption. Conventional receipt balances must be immobilized or disabled before equivalent spendable receipt tokens circulate. To convert back, reserve tokens, confirm burn or permanent disablement, and only then restore conventional spendability through the registrar. A single economic claim must not support two independently spendable balances. The legal structure decides whether the DLT register is the authoritative holder record or another register remains authoritative. Until legal recognition and controls are accepted, any operational mirror must remain non-transferable. The legal register, custody backing and token supply require reconciliation throughout. The diagram is a design requirement rather than a claim that the recognized register, smart contracts or conversion mechanism already exist. S3 provides ownership and technology-risk context: https://apps.sfc.hk/edistributionWeb/api/circular/list-content?lang=EN&amp;refNo=23EC52.</a:t>
            </a:r>
            <a:endParaRPr/>
          </a:p>
        </p:txBody>
      </p:sp>
      <p:sp>
        <p:nvSpPr>
          <p:cNvPr id="76584574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0361219" name="Slide Image Placeholder 1"/>
          <p:cNvSpPr>
            <a:spLocks noGrp="1"/>
          </p:cNvSpPr>
          <p:nvPr>
            <p:ph type="sldImg" idx="0"/>
          </p:nvPr>
        </p:nvSpPr>
        <p:spPr bwMode="auto"/>
      </p:sp>
      <p:sp>
        <p:nvSpPr>
          <p:cNvPr id="1900977393" name="Notes Placeholder 2"/>
          <p:cNvSpPr>
            <a:spLocks noGrp="1"/>
          </p:cNvSpPr>
          <p:nvPr>
            <p:ph type="body" idx="1"/>
          </p:nvPr>
        </p:nvSpPr>
        <p:spPr bwMode="auto"/>
        <p:txBody>
          <a:bodyPr/>
          <a:lstStyle/>
          <a:p>
            <a:pPr>
              <a:defRPr/>
            </a:pPr>
            <a:r>
              <a:rPr/>
              <a:t>Simplified proposed business data model. Programme has multiple ReceiptSeries. Each ReceiptSeries references an underlying Security and an approved share-per-receipt ratio. CustodyLots reference SeriesID and record authenticated settled backing, location, quantity and relevant release restrictions. HolderPosition references HolderID and SeriesID, including settled, available and reserved units. Eligibility metadata references restricted identity records rather than publishing personal data. A Trade includes buyer/seller account references, series, units, execution price, valuation currency and cash choice. One trade may have multiple transfer/allocation events. ReceiptTransfer references TradeID and records state changes affecting source and destination positions. Settlement references TradeID and approved CashAssetID, with associated PaymentInstruction, FXQuote/Execution, authenticated CashFinalityEvidence, timestamps and policy version. Confirmed settlement gates release under the accepted operating model. JournalEntry, CorporateAction, Entitlement, DistributionPayment and ExceptionCase extend the model. Exact cardinality depends on allocations, netting and programme rules. Arrows indicate named relationships, not physical custody or a claimed atomic transaction.</a:t>
            </a:r>
            <a:endParaRPr/>
          </a:p>
        </p:txBody>
      </p:sp>
      <p:sp>
        <p:nvSpPr>
          <p:cNvPr id="3121503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2740670" name="Slide Image Placeholder 1"/>
          <p:cNvSpPr>
            <a:spLocks noGrp="1"/>
          </p:cNvSpPr>
          <p:nvPr>
            <p:ph type="sldImg" idx="0"/>
          </p:nvPr>
        </p:nvSpPr>
        <p:spPr bwMode="auto"/>
      </p:sp>
      <p:sp>
        <p:nvSpPr>
          <p:cNvPr id="1713536099" name="Notes Placeholder 2"/>
          <p:cNvSpPr>
            <a:spLocks noGrp="1"/>
          </p:cNvSpPr>
          <p:nvPr>
            <p:ph type="body" idx="1"/>
          </p:nvPr>
        </p:nvSpPr>
        <p:spPr bwMode="auto"/>
        <p:txBody>
          <a:bodyPr/>
          <a:lstStyle/>
          <a:p>
            <a:pPr>
              <a:defRPr/>
            </a:pPr>
            <a:r>
              <a:rPr/>
              <a:t>Complete illustrative annual model in USD millions. Average assets 0/100/300 multiplied by a 0.30% servicing fee give 0/.30/.90 recurring revenue. New sponsor count 0/1/1 multiplied by US$0.15m setup gives 0/.15/.15 revenue. Gross revenue 0/.45/1.05. Variable costs at 0.15% of assets are 0/.15/.45. Fixed spend 1.20/1.50/1.80 gives total cost 1.20/1.65/2.25. Operating cash result is -1.20 each year. Opening funding US$3m gives theoretical pre-additional-financing closing cash 1.80/.60/-.60. A negative theoretical balance represents a financing gap, not permission to continue spending without funding. The US$0.30m contingency is included in the cash balances and remains unspent. Cash timing, taxes, mandatory regulatory capital, financing fees, partner minimums and underlying/FX inventory are excluded. Average assets and sponsor revenue are uncontracted assumptions. A monthly series ramp and priced delivery scope are needed before relying on runway. No FX spread, stablecoin reserve yield, receipt trading gains, token premium or options revenue is included.</a:t>
            </a:r>
            <a:endParaRPr/>
          </a:p>
          <a:p>
            <a:pPr>
              <a:defRPr/>
            </a:pPr>
            <a:endParaRPr/>
          </a:p>
          <a:p>
            <a:pPr>
              <a:defRPr/>
            </a:pPr>
            <a:r>
              <a:rPr/>
              <a:t>The fixed spending aggregates now reconcile to the proposed itemized budget on slide 34 and the functional funding allocation on slide 35. No aggregate model assumption changes.</a:t>
            </a:r>
            <a:endParaRPr/>
          </a:p>
        </p:txBody>
      </p:sp>
      <p:sp>
        <p:nvSpPr>
          <p:cNvPr id="111986067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3012608" name="Slide Image Placeholder 1"/>
          <p:cNvSpPr>
            <a:spLocks noGrp="1"/>
          </p:cNvSpPr>
          <p:nvPr>
            <p:ph type="sldImg" idx="0"/>
          </p:nvPr>
        </p:nvSpPr>
        <p:spPr bwMode="auto"/>
      </p:sp>
      <p:sp>
        <p:nvSpPr>
          <p:cNvPr id="102601292" name="Notes Placeholder 2"/>
          <p:cNvSpPr>
            <a:spLocks noGrp="1"/>
          </p:cNvSpPr>
          <p:nvPr>
            <p:ph type="body" idx="1"/>
          </p:nvPr>
        </p:nvSpPr>
        <p:spPr bwMode="auto"/>
        <p:txBody>
          <a:bodyPr/>
          <a:lstStyle/>
          <a:p>
            <a:pPr>
              <a:defRPr/>
            </a:pPr>
            <a:r>
              <a:rPr/>
              <a:t>Recurring USD break-even sensitivity, excluding setup fees. Assumed annual fixed costs US$1.5m divided by contribution rate 0.003 minus 0.0015 equals US$1bn average serviced programme assets. Numeric x values US$0m / 100m / 300m / 500m / 1,000m / 1,500m give annual contribution US$0.00m / 0.15m / 0.45m / 0.75m / 1.50m / 2.25m. The fixed-cost reference is US$1.50m at every asset level. This is a proportional numeric scatter-line sensitivity, not a market-demand forecast. Cash-rail pricing, FX terms, partner minimums and implementation costs can change the intersection. Native chart uses a complete literal-data workbook snapshot, with data labels explicitly hidden for portable rendering.</a:t>
            </a:r>
            <a:endParaRPr/>
          </a:p>
        </p:txBody>
      </p:sp>
      <p:sp>
        <p:nvSpPr>
          <p:cNvPr id="196325331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8567127" name="Slide Image Placeholder 1"/>
          <p:cNvSpPr>
            <a:spLocks noGrp="1"/>
          </p:cNvSpPr>
          <p:nvPr>
            <p:ph type="sldImg" idx="0"/>
          </p:nvPr>
        </p:nvSpPr>
        <p:spPr bwMode="auto"/>
      </p:sp>
      <p:sp>
        <p:nvSpPr>
          <p:cNvPr id="26776216" name="Notes Placeholder 2"/>
          <p:cNvSpPr>
            <a:spLocks noGrp="1"/>
          </p:cNvSpPr>
          <p:nvPr>
            <p:ph type="body" idx="1"/>
          </p:nvPr>
        </p:nvSpPr>
        <p:spPr bwMode="auto"/>
        <p:txBody>
          <a:bodyPr/>
          <a:lstStyle/>
          <a:p>
            <a:pPr>
              <a:defRPr/>
            </a:pPr>
            <a:r>
              <a:rPr/>
              <a:t>Derived sensitivity in USD billions. Hold annual fixed operating cost at US$1.5m and gross annual fee at 30 basis points (0.30%). Variable service costs of 25/20/15/10 bps imply contribution margins of 5/10/15/20 bps. Divide 1.5m by .0005/.0010/.0015/.0020 to obtain US$3bn/1.5bn/1bn/.75bn average serviced assets for recurring break-even. The baseline 15-bps contribution case requires US$1bn. Raising variable costs from 15 to 20 bps leaves a 10-bps margin and raises required assets to US$1.5bn. Setup fees are excluded. Actual costs may include fixed minimums and cash/FX charges that are not linear in assets. Figures are sensitivities to planning assumptions, not market demand estimates or negotiated prices.</a:t>
            </a:r>
            <a:endParaRPr/>
          </a:p>
        </p:txBody>
      </p:sp>
      <p:sp>
        <p:nvSpPr>
          <p:cNvPr id="78086006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858640" name="Slide Image Placeholder 1"/>
          <p:cNvSpPr>
            <a:spLocks noGrp="1"/>
          </p:cNvSpPr>
          <p:nvPr>
            <p:ph type="sldImg" idx="0"/>
          </p:nvPr>
        </p:nvSpPr>
        <p:spPr bwMode="auto"/>
      </p:sp>
      <p:sp>
        <p:nvSpPr>
          <p:cNvPr id="1697851022" name="Notes Placeholder 2"/>
          <p:cNvSpPr>
            <a:spLocks noGrp="1"/>
          </p:cNvSpPr>
          <p:nvPr>
            <p:ph type="body" idx="1"/>
          </p:nvPr>
        </p:nvSpPr>
        <p:spPr bwMode="auto"/>
        <p:txBody>
          <a:bodyPr/>
          <a:lstStyle/>
          <a:p>
            <a:pPr>
              <a:defRPr/>
            </a:pPr>
            <a:r>
              <a:rPr/>
              <a:t>A1: Ticker-specific finance quote feed queries, snapshot 30 October 2026. Prices and UTC timestamps are documented on slide 3. These are indicative, not executable or designated official closes. A2: https://www.investor.gov/introduction-investing/general-resources/news-alerts/alerts-bulletins/investor-bulletins/fractional-share-investing-buying-slice-instead-whole-share. A3: https://www.interactivebrokers.com/en/accounts/individual.php and https://www.interactivebrokers.com/docs/web-api/account-management/client-registration/kyc-documents. A4: https://www.rbi.org.in/Scripts/BS_ViewMasDirections.aspx?id=10192. A5: https://www.worldbank.org/en/news/press-release/2025/07/16/mobile-phone-technology-powers-saving-surge-in-developing-economies. A6: https://www.chainalysis.com/blog/2026-global-crypto-adoption-index/. A7: https://www.hkma.gov.hk/eng/key-functions/money/linked-exchange-rate-system/. These references support separate claims with distinct populations and periods. Payments/crypto statistics are context rather than brokerage-access statistics, a securities market size or D-SHARE demand. The GlobalTech product and four-step example are founder-facing hypothetical illustrations. USDC/RedCoin par and FX values are assumed solely for the illustration. No reported investor performance or guaranteed return is presented. Sources for existing cash rails and securities structure remain on slide 54.</a:t>
            </a:r>
            <a:endParaRPr/>
          </a:p>
        </p:txBody>
      </p:sp>
      <p:sp>
        <p:nvSpPr>
          <p:cNvPr id="932770544"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
        <p:nvSpPr>
          <p:cNvPr id="1502131331" name="Title"/>
          <p:cNvSpPr>
            <a:spLocks noGrp="1"/>
          </p:cNvSpPr>
          <p:nvPr>
            <p:ph type="title" idx="0"/>
          </p:nvPr>
        </p:nvSpPr>
        <p:spPr bwMode="auto">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pPr>
              <a:defRPr/>
            </a:pPr>
            <a:endParaRPr/>
          </a:p>
        </p:txBody>
      </p:sp>
      <p:sp>
        <p:nvSpPr>
          <p:cNvPr id="1757455365" name="Subtitle"/>
          <p:cNvSpPr>
            <a:spLocks noGrp="1"/>
          </p:cNvSpPr>
          <p:nvPr>
            <p:ph type="subTitle" idx="1"/>
          </p:nvPr>
        </p:nvSpPr>
        <p:spPr bwMode="auto">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Section Header">
    <p:spTree>
      <p:nvGrpSpPr>
        <p:cNvPr id="1" name=""/>
        <p:cNvGrpSpPr/>
        <p:nvPr/>
      </p:nvGrpSpPr>
      <p:grpSpPr bwMode="auto">
        <a:xfrm>
          <a:off x="0" y="0"/>
          <a:ext cx="0" cy="0"/>
          <a:chOff x="0" y="0"/>
          <a:chExt cx="0" cy="0"/>
        </a:xfrm>
      </p:grpSpPr>
      <p:sp>
        <p:nvSpPr>
          <p:cNvPr id="248133676" name="Section title"/>
          <p:cNvSpPr>
            <a:spLocks noGrp="1"/>
          </p:cNvSpPr>
          <p:nvPr>
            <p:ph type="title" idx="0"/>
          </p:nvPr>
        </p:nvSpPr>
        <p:spPr bwMode="auto">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Body">
    <p:spTree>
      <p:nvGrpSpPr>
        <p:cNvPr id="1" name=""/>
        <p:cNvGrpSpPr/>
        <p:nvPr/>
      </p:nvGrpSpPr>
      <p:grpSpPr bwMode="auto">
        <a:xfrm>
          <a:off x="0" y="0"/>
          <a:ext cx="0" cy="0"/>
          <a:chOff x="0" y="0"/>
          <a:chExt cx="0" cy="0"/>
        </a:xfrm>
      </p:grpSpPr>
      <p:sp>
        <p:nvSpPr>
          <p:cNvPr id="449238548"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1323105900" name="Body"/>
          <p:cNvSpPr>
            <a:spLocks noGrp="1"/>
          </p:cNvSpPr>
          <p:nvPr>
            <p:ph type="body" idx="1"/>
          </p:nvPr>
        </p:nvSpPr>
        <p:spPr bwMode="auto">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Two Column">
    <p:spTree>
      <p:nvGrpSpPr>
        <p:cNvPr id="1" name=""/>
        <p:cNvGrpSpPr/>
        <p:nvPr/>
      </p:nvGrpSpPr>
      <p:grpSpPr bwMode="auto">
        <a:xfrm>
          <a:off x="0" y="0"/>
          <a:ext cx="0" cy="0"/>
          <a:chOff x="0" y="0"/>
          <a:chExt cx="0" cy="0"/>
        </a:xfrm>
      </p:grpSpPr>
      <p:sp>
        <p:nvSpPr>
          <p:cNvPr id="1005577788"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2142701703"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
        <p:nvSpPr>
          <p:cNvPr id="114699510" name="Right column"/>
          <p:cNvSpPr>
            <a:spLocks noGrp="1"/>
          </p:cNvSpPr>
          <p:nvPr>
            <p:ph type="body" idx="2"/>
          </p:nvPr>
        </p:nvSpPr>
        <p:spPr bwMode="auto">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599"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199"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Title and One Column">
    <p:spTree>
      <p:nvGrpSpPr>
        <p:cNvPr id="1" name=""/>
        <p:cNvGrpSpPr/>
        <p:nvPr/>
      </p:nvGrpSpPr>
      <p:grpSpPr bwMode="auto">
        <a:xfrm>
          <a:off x="0" y="0"/>
          <a:ext cx="0" cy="0"/>
          <a:chOff x="0" y="0"/>
          <a:chExt cx="0" cy="0"/>
        </a:xfrm>
      </p:grpSpPr>
      <p:sp>
        <p:nvSpPr>
          <p:cNvPr id="961316969" name="Title"/>
          <p:cNvSpPr>
            <a:spLocks noGrp="1"/>
          </p:cNvSpPr>
          <p:nvPr>
            <p:ph type="title" idx="0"/>
          </p:nvPr>
        </p:nvSpPr>
        <p:spPr bwMode="auto">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pPr>
              <a:defRPr/>
            </a:pPr>
            <a:endParaRPr/>
          </a:p>
        </p:txBody>
      </p:sp>
      <p:sp>
        <p:nvSpPr>
          <p:cNvPr id="749096585" name="Left column"/>
          <p:cNvSpPr>
            <a:spLocks noGrp="1"/>
          </p:cNvSpPr>
          <p:nvPr>
            <p:ph type="body" idx="1"/>
          </p:nvPr>
        </p:nvSpPr>
        <p:spPr bwMode="auto">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599"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199"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Relationships xmlns="http://schemas.openxmlformats.org/package/2006/relationships"><Relationship Id="rId2" Type="http://schemas.openxmlformats.org/officeDocument/2006/relationships/notesSlide" Target="../notesSlides/notesSlide1.xml"></Relationship><Relationship Id="rId3" Type="http://schemas.openxmlformats.org/officeDocument/2006/relationships/image" Target="../media/image1.png"></Relationship><Relationship Id="rId4" Type="http://schemas.openxmlformats.org/officeDocument/2006/relationships/slideLayout" Target="../slideLayouts/slideLayout6.xml"></Relationship></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xml"></Relationship></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xml"></Relationship></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4.xml"></Relationship></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5.xml"></Relationship></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6.xml"></Relationship></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7.xml"></Relationship></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8.xml"></Relationship></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9.xml"></Relationship></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0.xml"></Relationship></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1.xml"></Relationship><Relationship Id="rId3" Type="http://schemas.openxmlformats.org/officeDocument/2006/relationships/chart" Target="../charts/chart1.xml"></Relationship></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2.xml"></Relationship></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3.xml"></Relationship></Relationships>
</file>

<file path=ppt/slides/_rels/slide14.xml.rels><?xml version="1.0" encoding="UTF-8"?>
<Relationships xmlns="http://schemas.openxmlformats.org/package/2006/relationships"><Relationship Id="rId2" Type="http://schemas.openxmlformats.org/officeDocument/2006/relationships/notesSlide" Target="../notesSlides/notesSlide14.xml"></Relationship><Relationship Id="rId3" Type="http://schemas.openxmlformats.org/officeDocument/2006/relationships/slideLayout" Target="../slideLayouts/slideLayout6.xml"></Relationship></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5.xml"></Relationship><Relationship Id="rId3" Type="http://schemas.openxmlformats.org/officeDocument/2006/relationships/chart" Target="../charts/chart2.xml"></Relationship></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6.xml"></Relationship><Relationship Id="rId3" Type="http://schemas.openxmlformats.org/officeDocument/2006/relationships/chart" Target="../charts/chart3.xml"></Relationship></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7.xml"></Relationship></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8.xml"></Relationship></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19.xml"></Relationship></Relationships>
</file>

<file path=ppt/slides/_rels/slide20.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0.xml"></Relationship></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1.xml"></Relationship></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2.xml"></Relationship></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3.xml"></Relationship></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4.xml"></Relationship></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5.xml"></Relationship><Relationship Id="rId3" Type="http://schemas.openxmlformats.org/officeDocument/2006/relationships/chart" Target="../charts/chart4.xml"></Relationship></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6.xml"></Relationship></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7.xml"></Relationship></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8.xml"></Relationship></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29.xml"></Relationship><Relationship Id="rId3" Type="http://schemas.openxmlformats.org/officeDocument/2006/relationships/image" Target="../media/image2.png"></Relationship><Relationship Id="rId4" Type="http://schemas.openxmlformats.org/officeDocument/2006/relationships/hyperlink" Target="https://connextium.xyz/" TargetMode="External"></Relationship></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0.xml"></Relationship></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1.xml"></Relationship></Relationships>
</file>

<file path=ppt/slides/_rels/slide32.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2.xml"></Relationship></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3.xml"></Relationship><Relationship Id="rId3" Type="http://schemas.openxmlformats.org/officeDocument/2006/relationships/chart" Target="../charts/chart5.xml"></Relationship></Relationships>
</file>

<file path=ppt/slides/_rels/slide34.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4.xml"></Relationship><Relationship Id="rId3" Type="http://schemas.openxmlformats.org/officeDocument/2006/relationships/chart" Target="../charts/chart6.xml"></Relationship></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Relationship><Relationship Id="rId2" Type="http://schemas.openxmlformats.org/officeDocument/2006/relationships/notesSlide" Target="../notesSlides/notesSlide35.xml"></Relationship></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xmlns:p14="http://schemas.microsoft.com/office/powerpoint/2010/main" showMasterPhAnim="0">
  <p:cSld name="">
    <p:bg>
      <p:bgPr>
        <a:solidFill>
          <a:srgbClr val="F7F4EC"/>
        </a:solidFill>
      </p:bgPr>
    </p:bg>
    <p:spTree>
      <p:nvGrpSpPr>
        <p:cNvPr id="1" name=""/>
        <p:cNvGrpSpPr/>
        <p:nvPr/>
      </p:nvGrpSpPr>
      <p:grpSpPr bwMode="auto">
        <a:xfrm>
          <a:off x="0" y="0"/>
          <a:ext cx="0" cy="0"/>
          <a:chOff x="0" y="0"/>
          <a:chExt cx="0" cy="0"/>
        </a:xfrm>
      </p:grpSpPr>
      <p:pic>
        <p:nvPicPr>
          <p:cNvPr id="1525720202" name="Picture 1"/>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47895484" name="text-1"/>
          <p:cNvSpPr>
            <a:spLocks noGrp="1"/>
          </p:cNvSpPr>
          <p:nvPr/>
        </p:nvSpPr>
        <p:spPr bwMode="auto">
          <a:xfrm>
            <a:off x="609600" y="438150"/>
            <a:ext cx="6000750" cy="304800"/>
          </a:xfrm>
          <a:prstGeom prst="rect">
            <a:avLst/>
          </a:prstGeom>
          <a:noFill/>
          <a:ln w="0">
            <a:noFill/>
            <a:prstDash val="solid"/>
          </a:ln>
        </p:spPr>
        <p:txBody>
          <a:bodyPr wrap="square" lIns="0" tIns="0" rIns="0" bIns="0" anchor="t">
            <a:noAutofit/>
          </a:bodyPr>
          <a:lstStyle>
            <a:defPPr algn="l">
              <a:defRPr sz="1350" b="1">
                <a:solidFill>
                  <a:srgbClr val="176C6B"/>
                </a:solidFill>
                <a:latin typeface="Arial"/>
                <a:ea typeface="Arial"/>
                <a:cs typeface="Arial"/>
              </a:defRPr>
            </a:defPPr>
            <a:lvl1pPr algn="l">
              <a:buNone/>
              <a:defRPr sz="1350" b="1">
                <a:solidFill>
                  <a:srgbClr val="176C6B"/>
                </a:solidFill>
                <a:latin typeface="Arial"/>
                <a:ea typeface="Arial"/>
                <a:cs typeface="Arial"/>
              </a:defRPr>
            </a:lvl1pPr>
            <a:lvl2pPr algn="l">
              <a:buNone/>
              <a:defRPr sz="1350" b="1">
                <a:solidFill>
                  <a:srgbClr val="176C6B"/>
                </a:solidFill>
                <a:latin typeface="Arial"/>
                <a:ea typeface="Arial"/>
                <a:cs typeface="Arial"/>
              </a:defRPr>
            </a:lvl2pPr>
            <a:lvl3pPr algn="l">
              <a:buNone/>
              <a:defRPr sz="1350" b="1">
                <a:solidFill>
                  <a:srgbClr val="176C6B"/>
                </a:solidFill>
                <a:latin typeface="Arial"/>
                <a:ea typeface="Arial"/>
                <a:cs typeface="Arial"/>
              </a:defRPr>
            </a:lvl3pPr>
            <a:lvl4pPr algn="l">
              <a:buNone/>
              <a:defRPr sz="1350" b="1">
                <a:solidFill>
                  <a:srgbClr val="176C6B"/>
                </a:solidFill>
                <a:latin typeface="Arial"/>
                <a:ea typeface="Arial"/>
                <a:cs typeface="Arial"/>
              </a:defRPr>
            </a:lvl4pPr>
            <a:lvl5pPr algn="l">
              <a:buNone/>
              <a:defRPr sz="1350" b="1">
                <a:solidFill>
                  <a:srgbClr val="176C6B"/>
                </a:solidFill>
                <a:latin typeface="Arial"/>
                <a:ea typeface="Arial"/>
                <a:cs typeface="Arial"/>
              </a:defRPr>
            </a:lvl5pPr>
            <a:lvl6pPr algn="l">
              <a:buNone/>
              <a:defRPr sz="1350" b="1">
                <a:solidFill>
                  <a:srgbClr val="176C6B"/>
                </a:solidFill>
                <a:latin typeface="Arial"/>
                <a:ea typeface="Arial"/>
                <a:cs typeface="Arial"/>
              </a:defRPr>
            </a:lvl6pPr>
            <a:lvl7pPr algn="l">
              <a:buNone/>
              <a:defRPr sz="1350" b="1">
                <a:solidFill>
                  <a:srgbClr val="176C6B"/>
                </a:solidFill>
                <a:latin typeface="Arial"/>
                <a:ea typeface="Arial"/>
                <a:cs typeface="Arial"/>
              </a:defRPr>
            </a:lvl7pPr>
            <a:lvl8pPr algn="l">
              <a:buNone/>
              <a:defRPr sz="1350" b="1">
                <a:solidFill>
                  <a:srgbClr val="176C6B"/>
                </a:solidFill>
                <a:latin typeface="Arial"/>
                <a:ea typeface="Arial"/>
                <a:cs typeface="Arial"/>
              </a:defRPr>
            </a:lvl8pPr>
            <a:lvl9pPr algn="l">
              <a:buNone/>
              <a:defRPr sz="1350" b="1">
                <a:solidFill>
                  <a:srgbClr val="176C6B"/>
                </a:solidFill>
                <a:latin typeface="Arial"/>
                <a:ea typeface="Arial"/>
                <a:cs typeface="Arial"/>
              </a:defRPr>
            </a:lvl9pPr>
          </a:lstStyle>
          <a:p>
            <a:pPr algn="l">
              <a:buNone/>
              <a:defRPr sz="1350" b="1">
                <a:solidFill>
                  <a:srgbClr val="176C6B"/>
                </a:solidFill>
                <a:latin typeface="Arial"/>
                <a:ea typeface="Arial"/>
                <a:cs typeface="Arial"/>
              </a:defRPr>
            </a:pPr>
            <a:r>
              <a:rPr sz="1350" b="1">
                <a:solidFill>
                  <a:srgbClr val="176C6B"/>
                </a:solidFill>
                <a:latin typeface="Arial"/>
                <a:ea typeface="Arial"/>
                <a:cs typeface="Arial"/>
              </a:rPr>
              <a:t>CONNEXTIUM.XYZ / FINUX LABS</a:t>
            </a:r>
            <a:endParaRPr/>
          </a:p>
        </p:txBody>
      </p:sp>
      <p:sp>
        <p:nvSpPr>
          <p:cNvPr id="2037972534" name="text-2"/>
          <p:cNvSpPr>
            <a:spLocks noGrp="1"/>
          </p:cNvSpPr>
          <p:nvPr/>
        </p:nvSpPr>
        <p:spPr bwMode="auto">
          <a:xfrm>
            <a:off x="609600" y="1190625"/>
            <a:ext cx="4095750" cy="1047750"/>
          </a:xfrm>
          <a:prstGeom prst="rect">
            <a:avLst/>
          </a:prstGeom>
          <a:noFill/>
          <a:ln w="0">
            <a:noFill/>
            <a:prstDash val="solid"/>
          </a:ln>
        </p:spPr>
        <p:txBody>
          <a:bodyPr wrap="square" lIns="0" tIns="0" rIns="0" bIns="0" anchor="t">
            <a:noAutofit/>
          </a:bodyPr>
          <a:lstStyle>
            <a:defPPr algn="l">
              <a:defRPr sz="6600" b="1">
                <a:solidFill>
                  <a:srgbClr val="183440"/>
                </a:solidFill>
                <a:latin typeface="Arial"/>
                <a:ea typeface="Arial"/>
                <a:cs typeface="Arial"/>
              </a:defRPr>
            </a:defPPr>
            <a:lvl1pPr algn="l">
              <a:buNone/>
              <a:defRPr sz="6600" b="1">
                <a:solidFill>
                  <a:srgbClr val="183440"/>
                </a:solidFill>
                <a:latin typeface="Arial"/>
                <a:ea typeface="Arial"/>
                <a:cs typeface="Arial"/>
              </a:defRPr>
            </a:lvl1pPr>
            <a:lvl2pPr algn="l">
              <a:buNone/>
              <a:defRPr sz="6600" b="1">
                <a:solidFill>
                  <a:srgbClr val="183440"/>
                </a:solidFill>
                <a:latin typeface="Arial"/>
                <a:ea typeface="Arial"/>
                <a:cs typeface="Arial"/>
              </a:defRPr>
            </a:lvl2pPr>
            <a:lvl3pPr algn="l">
              <a:buNone/>
              <a:defRPr sz="6600" b="1">
                <a:solidFill>
                  <a:srgbClr val="183440"/>
                </a:solidFill>
                <a:latin typeface="Arial"/>
                <a:ea typeface="Arial"/>
                <a:cs typeface="Arial"/>
              </a:defRPr>
            </a:lvl3pPr>
            <a:lvl4pPr algn="l">
              <a:buNone/>
              <a:defRPr sz="6600" b="1">
                <a:solidFill>
                  <a:srgbClr val="183440"/>
                </a:solidFill>
                <a:latin typeface="Arial"/>
                <a:ea typeface="Arial"/>
                <a:cs typeface="Arial"/>
              </a:defRPr>
            </a:lvl4pPr>
            <a:lvl5pPr algn="l">
              <a:buNone/>
              <a:defRPr sz="6600" b="1">
                <a:solidFill>
                  <a:srgbClr val="183440"/>
                </a:solidFill>
                <a:latin typeface="Arial"/>
                <a:ea typeface="Arial"/>
                <a:cs typeface="Arial"/>
              </a:defRPr>
            </a:lvl5pPr>
            <a:lvl6pPr algn="l">
              <a:buNone/>
              <a:defRPr sz="6600" b="1">
                <a:solidFill>
                  <a:srgbClr val="183440"/>
                </a:solidFill>
                <a:latin typeface="Arial"/>
                <a:ea typeface="Arial"/>
                <a:cs typeface="Arial"/>
              </a:defRPr>
            </a:lvl6pPr>
            <a:lvl7pPr algn="l">
              <a:buNone/>
              <a:defRPr sz="6600" b="1">
                <a:solidFill>
                  <a:srgbClr val="183440"/>
                </a:solidFill>
                <a:latin typeface="Arial"/>
                <a:ea typeface="Arial"/>
                <a:cs typeface="Arial"/>
              </a:defRPr>
            </a:lvl7pPr>
            <a:lvl8pPr algn="l">
              <a:buNone/>
              <a:defRPr sz="6600" b="1">
                <a:solidFill>
                  <a:srgbClr val="183440"/>
                </a:solidFill>
                <a:latin typeface="Arial"/>
                <a:ea typeface="Arial"/>
                <a:cs typeface="Arial"/>
              </a:defRPr>
            </a:lvl8pPr>
            <a:lvl9pPr algn="l">
              <a:buNone/>
              <a:defRPr sz="6600" b="1">
                <a:solidFill>
                  <a:srgbClr val="183440"/>
                </a:solidFill>
                <a:latin typeface="Arial"/>
                <a:ea typeface="Arial"/>
                <a:cs typeface="Arial"/>
              </a:defRPr>
            </a:lvl9pPr>
          </a:lstStyle>
          <a:p>
            <a:pPr algn="l">
              <a:buNone/>
              <a:defRPr sz="6600" b="1">
                <a:solidFill>
                  <a:srgbClr val="183440"/>
                </a:solidFill>
                <a:latin typeface="Arial"/>
                <a:ea typeface="Arial"/>
                <a:cs typeface="Arial"/>
              </a:defRPr>
            </a:pPr>
            <a:r>
              <a:rPr sz="6600" b="1">
                <a:solidFill>
                  <a:srgbClr val="183440"/>
                </a:solidFill>
                <a:latin typeface="Arial"/>
                <a:ea typeface="Arial"/>
                <a:cs typeface="Arial"/>
              </a:rPr>
              <a:t>D-SHARE</a:t>
            </a:r>
            <a:endParaRPr/>
          </a:p>
        </p:txBody>
      </p:sp>
      <p:sp>
        <p:nvSpPr>
          <p:cNvPr id="1843553939" name="text-3"/>
          <p:cNvSpPr>
            <a:spLocks noGrp="1"/>
          </p:cNvSpPr>
          <p:nvPr/>
        </p:nvSpPr>
        <p:spPr bwMode="auto">
          <a:xfrm flipH="0" flipV="0">
            <a:off x="647700" y="2371725"/>
            <a:ext cx="6477000" cy="1066800"/>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Global equity.</a:t>
            </a:r>
            <a:r>
              <a:rPr sz="3250" b="1">
                <a:solidFill>
                  <a:srgbClr val="183440"/>
                </a:solidFill>
                <a:latin typeface="Arial"/>
                <a:ea typeface="Arial"/>
                <a:cs typeface="Arial"/>
              </a:rPr>
              <a:t>Stablecoin access.</a:t>
            </a:r>
            <a:endParaRPr/>
          </a:p>
        </p:txBody>
      </p:sp>
      <p:sp>
        <p:nvSpPr>
          <p:cNvPr id="2101630653" name="text-4"/>
          <p:cNvSpPr>
            <a:spLocks noGrp="1"/>
          </p:cNvSpPr>
          <p:nvPr/>
        </p:nvSpPr>
        <p:spPr bwMode="auto">
          <a:xfrm>
            <a:off x="647700" y="3724275"/>
            <a:ext cx="6477000" cy="809625"/>
          </a:xfrm>
          <a:prstGeom prst="rect">
            <a:avLst/>
          </a:prstGeom>
          <a:noFill/>
          <a:ln w="0">
            <a:noFill/>
            <a:prstDash val="solid"/>
          </a:ln>
        </p:spPr>
        <p:txBody>
          <a:bodyPr wrap="square" lIns="0" tIns="0" rIns="0" bIns="0" anchor="t">
            <a:noAutofit/>
          </a:bodyPr>
          <a:lstStyle>
            <a:defPPr algn="l">
              <a:defRPr sz="2100" b="0">
                <a:solidFill>
                  <a:srgbClr val="53676D"/>
                </a:solidFill>
                <a:latin typeface="Arial"/>
                <a:ea typeface="Arial"/>
                <a:cs typeface="Arial"/>
              </a:defRPr>
            </a:defPPr>
            <a:lvl1pPr algn="l">
              <a:buNone/>
              <a:defRPr sz="2050" b="0">
                <a:solidFill>
                  <a:srgbClr val="53676D"/>
                </a:solidFill>
                <a:latin typeface="Arial"/>
                <a:ea typeface="Arial"/>
                <a:cs typeface="Arial"/>
              </a:defRPr>
            </a:lvl1pPr>
            <a:lvl2pPr algn="l">
              <a:buNone/>
              <a:defRPr sz="2050" b="0">
                <a:solidFill>
                  <a:srgbClr val="53676D"/>
                </a:solidFill>
                <a:latin typeface="Arial"/>
                <a:ea typeface="Arial"/>
                <a:cs typeface="Arial"/>
              </a:defRPr>
            </a:lvl2pPr>
            <a:lvl3pPr algn="l">
              <a:buNone/>
              <a:defRPr sz="2050" b="0">
                <a:solidFill>
                  <a:srgbClr val="53676D"/>
                </a:solidFill>
                <a:latin typeface="Arial"/>
                <a:ea typeface="Arial"/>
                <a:cs typeface="Arial"/>
              </a:defRPr>
            </a:lvl3pPr>
            <a:lvl4pPr algn="l">
              <a:buNone/>
              <a:defRPr sz="2050" b="0">
                <a:solidFill>
                  <a:srgbClr val="53676D"/>
                </a:solidFill>
                <a:latin typeface="Arial"/>
                <a:ea typeface="Arial"/>
                <a:cs typeface="Arial"/>
              </a:defRPr>
            </a:lvl4pPr>
            <a:lvl5pPr algn="l">
              <a:buNone/>
              <a:defRPr sz="2050" b="0">
                <a:solidFill>
                  <a:srgbClr val="53676D"/>
                </a:solidFill>
                <a:latin typeface="Arial"/>
                <a:ea typeface="Arial"/>
                <a:cs typeface="Arial"/>
              </a:defRPr>
            </a:lvl5pPr>
            <a:lvl6pPr algn="l">
              <a:buNone/>
              <a:defRPr sz="2050" b="0">
                <a:solidFill>
                  <a:srgbClr val="53676D"/>
                </a:solidFill>
                <a:latin typeface="Arial"/>
                <a:ea typeface="Arial"/>
                <a:cs typeface="Arial"/>
              </a:defRPr>
            </a:lvl6pPr>
            <a:lvl7pPr algn="l">
              <a:buNone/>
              <a:defRPr sz="2050" b="0">
                <a:solidFill>
                  <a:srgbClr val="53676D"/>
                </a:solidFill>
                <a:latin typeface="Arial"/>
                <a:ea typeface="Arial"/>
                <a:cs typeface="Arial"/>
              </a:defRPr>
            </a:lvl7pPr>
            <a:lvl8pPr algn="l">
              <a:buNone/>
              <a:defRPr sz="2050" b="0">
                <a:solidFill>
                  <a:srgbClr val="53676D"/>
                </a:solidFill>
                <a:latin typeface="Arial"/>
                <a:ea typeface="Arial"/>
                <a:cs typeface="Arial"/>
              </a:defRPr>
            </a:lvl8pPr>
            <a:lvl9pPr algn="l">
              <a:buNone/>
              <a:defRPr sz="2050" b="0">
                <a:solidFill>
                  <a:srgbClr val="53676D"/>
                </a:solidFill>
                <a:latin typeface="Arial"/>
                <a:ea typeface="Arial"/>
                <a:cs typeface="Arial"/>
              </a:defRPr>
            </a:lvl9pPr>
          </a:lstStyle>
          <a:p>
            <a:pPr algn="l">
              <a:buNone/>
              <a:defRPr sz="2100" b="0">
                <a:solidFill>
                  <a:srgbClr val="53676D"/>
                </a:solidFill>
                <a:latin typeface="Arial"/>
                <a:ea typeface="Arial"/>
                <a:cs typeface="Arial"/>
              </a:defRPr>
            </a:pPr>
            <a:r>
              <a:rPr sz="2100" b="0">
                <a:solidFill>
                  <a:srgbClr val="53676D"/>
                </a:solidFill>
                <a:latin typeface="Arial"/>
                <a:ea typeface="Arial"/>
                <a:cs typeface="Arial"/>
              </a:rPr>
              <a:t>Tokenized depository receipts.</a:t>
            </a:r>
            <a:endParaRPr/>
          </a:p>
          <a:p>
            <a:pPr algn="l">
              <a:buNone/>
              <a:defRPr sz="2100" b="0">
                <a:solidFill>
                  <a:srgbClr val="53676D"/>
                </a:solidFill>
                <a:latin typeface="Arial"/>
                <a:ea typeface="Arial"/>
                <a:cs typeface="Arial"/>
              </a:defRPr>
            </a:pPr>
            <a:endParaRPr/>
          </a:p>
        </p:txBody>
      </p:sp>
      <p:sp>
        <p:nvSpPr>
          <p:cNvPr id="994025060" name="text-5"/>
          <p:cNvSpPr>
            <a:spLocks noGrp="1"/>
          </p:cNvSpPr>
          <p:nvPr/>
        </p:nvSpPr>
        <p:spPr bwMode="auto">
          <a:xfrm>
            <a:off x="647700" y="5267325"/>
            <a:ext cx="6000750" cy="466725"/>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buNone/>
              <a:defRPr sz="2650" b="1">
                <a:solidFill>
                  <a:srgbClr val="176C6B"/>
                </a:solidFill>
                <a:latin typeface="Arial"/>
                <a:ea typeface="Arial"/>
                <a:cs typeface="Arial"/>
              </a:defRPr>
            </a:lvl1pPr>
            <a:lvl2pPr algn="l">
              <a:buNone/>
              <a:defRPr sz="2650" b="1">
                <a:solidFill>
                  <a:srgbClr val="176C6B"/>
                </a:solidFill>
                <a:latin typeface="Arial"/>
                <a:ea typeface="Arial"/>
                <a:cs typeface="Arial"/>
              </a:defRPr>
            </a:lvl2pPr>
            <a:lvl3pPr algn="l">
              <a:buNone/>
              <a:defRPr sz="2650" b="1">
                <a:solidFill>
                  <a:srgbClr val="176C6B"/>
                </a:solidFill>
                <a:latin typeface="Arial"/>
                <a:ea typeface="Arial"/>
                <a:cs typeface="Arial"/>
              </a:defRPr>
            </a:lvl3pPr>
            <a:lvl4pPr algn="l">
              <a:buNone/>
              <a:defRPr sz="2650" b="1">
                <a:solidFill>
                  <a:srgbClr val="176C6B"/>
                </a:solidFill>
                <a:latin typeface="Arial"/>
                <a:ea typeface="Arial"/>
                <a:cs typeface="Arial"/>
              </a:defRPr>
            </a:lvl4pPr>
            <a:lvl5pPr algn="l">
              <a:buNone/>
              <a:defRPr sz="2650" b="1">
                <a:solidFill>
                  <a:srgbClr val="176C6B"/>
                </a:solidFill>
                <a:latin typeface="Arial"/>
                <a:ea typeface="Arial"/>
                <a:cs typeface="Arial"/>
              </a:defRPr>
            </a:lvl5pPr>
            <a:lvl6pPr algn="l">
              <a:buNone/>
              <a:defRPr sz="2650" b="1">
                <a:solidFill>
                  <a:srgbClr val="176C6B"/>
                </a:solidFill>
                <a:latin typeface="Arial"/>
                <a:ea typeface="Arial"/>
                <a:cs typeface="Arial"/>
              </a:defRPr>
            </a:lvl6pPr>
            <a:lvl7pPr algn="l">
              <a:buNone/>
              <a:defRPr sz="2650" b="1">
                <a:solidFill>
                  <a:srgbClr val="176C6B"/>
                </a:solidFill>
                <a:latin typeface="Arial"/>
                <a:ea typeface="Arial"/>
                <a:cs typeface="Arial"/>
              </a:defRPr>
            </a:lvl7pPr>
            <a:lvl8pPr algn="l">
              <a:buNone/>
              <a:defRPr sz="2650" b="1">
                <a:solidFill>
                  <a:srgbClr val="176C6B"/>
                </a:solidFill>
                <a:latin typeface="Arial"/>
                <a:ea typeface="Arial"/>
                <a:cs typeface="Arial"/>
              </a:defRPr>
            </a:lvl8pPr>
            <a:lvl9pPr algn="l">
              <a:buNone/>
              <a:defRPr sz="2650" b="1">
                <a:solidFill>
                  <a:srgbClr val="176C6B"/>
                </a:solidFill>
                <a:latin typeface="Arial"/>
                <a:ea typeface="Arial"/>
                <a:cs typeface="Arial"/>
              </a:defRPr>
            </a:lvl9pPr>
          </a:lstStyle>
          <a:p>
            <a:pPr algn="l">
              <a:buNone/>
              <a:defRPr sz="2650" b="1">
                <a:solidFill>
                  <a:srgbClr val="176C6B"/>
                </a:solidFill>
                <a:latin typeface="Arial"/>
                <a:ea typeface="Arial"/>
                <a:cs typeface="Arial"/>
              </a:defRPr>
            </a:pPr>
            <a:r>
              <a:rPr sz="2650" b="1">
                <a:solidFill>
                  <a:srgbClr val="176C6B"/>
                </a:solidFill>
                <a:latin typeface="Arial"/>
                <a:ea typeface="Arial"/>
                <a:cs typeface="Arial"/>
              </a:rPr>
              <a:t>Raising US$3 million</a:t>
            </a:r>
            <a:endParaRPr/>
          </a:p>
        </p:txBody>
      </p:sp>
      <p:sp>
        <p:nvSpPr>
          <p:cNvPr id="874149729" name="text-6"/>
          <p:cNvSpPr>
            <a:spLocks noGrp="1"/>
          </p:cNvSpPr>
          <p:nvPr/>
        </p:nvSpPr>
        <p:spPr bwMode="auto">
          <a:xfrm>
            <a:off x="647700" y="5791200"/>
            <a:ext cx="6191250" cy="3429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183440"/>
                </a:solidFill>
                <a:latin typeface="Arial"/>
                <a:ea typeface="Arial"/>
                <a:cs typeface="Arial"/>
              </a:rPr>
              <a:t>Connextium.xyz expansion programme</a:t>
            </a:r>
            <a:endParaRPr/>
          </a:p>
        </p:txBody>
      </p:sp>
      <p:sp>
        <p:nvSpPr>
          <p:cNvPr id="381190125" name="text-7"/>
          <p:cNvSpPr>
            <a:spLocks noGrp="1"/>
          </p:cNvSpPr>
          <p:nvPr/>
        </p:nvSpPr>
        <p:spPr bwMode="auto">
          <a:xfrm>
            <a:off x="647700" y="6410325"/>
            <a:ext cx="4762500" cy="25717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USDC / USD    HSBC RedCoin / HKD</a:t>
            </a:r>
            <a:endParaRPr/>
          </a:p>
        </p:txBody>
      </p:sp>
      <p:sp>
        <p:nvSpPr>
          <p:cNvPr id="911199300" name="budget-revision-text-1"/>
          <p:cNvSpPr>
            <a:spLocks noGrp="1"/>
          </p:cNvSpPr>
          <p:nvPr/>
        </p:nvSpPr>
        <p:spPr bwMode="auto">
          <a:xfrm>
            <a:off x="5029200" y="1647825"/>
            <a:ext cx="2095500" cy="476250"/>
          </a:xfrm>
          <a:prstGeom prst="rect">
            <a:avLst/>
          </a:prstGeom>
          <a:noFill/>
          <a:ln w="0">
            <a:noFill/>
            <a:prstDash val="solid"/>
          </a:ln>
        </p:spPr>
        <p:txBody>
          <a:bodyPr wrap="square" lIns="0" tIns="0" rIns="0" bIns="0" anchor="t">
            <a:noAutofit/>
          </a:bodyPr>
          <a:lstStyle>
            <a:defPPr algn="l">
              <a:defRPr sz="2400" b="1">
                <a:solidFill>
                  <a:srgbClr val="AC8743"/>
                </a:solidFill>
                <a:latin typeface="Arial"/>
                <a:ea typeface="Arial"/>
                <a:cs typeface="Arial"/>
              </a:defRPr>
            </a:defPPr>
            <a:lvl1pPr algn="l">
              <a:buNone/>
              <a:defRPr sz="2400" b="1">
                <a:solidFill>
                  <a:srgbClr val="AC8743"/>
                </a:solidFill>
                <a:latin typeface="Arial"/>
                <a:ea typeface="Arial"/>
                <a:cs typeface="Arial"/>
              </a:defRPr>
            </a:lvl1pPr>
            <a:lvl2pPr algn="l">
              <a:buNone/>
              <a:defRPr sz="2400" b="1">
                <a:solidFill>
                  <a:srgbClr val="AC8743"/>
                </a:solidFill>
                <a:latin typeface="Arial"/>
                <a:ea typeface="Arial"/>
                <a:cs typeface="Arial"/>
              </a:defRPr>
            </a:lvl2pPr>
            <a:lvl3pPr algn="l">
              <a:buNone/>
              <a:defRPr sz="2400" b="1">
                <a:solidFill>
                  <a:srgbClr val="AC8743"/>
                </a:solidFill>
                <a:latin typeface="Arial"/>
                <a:ea typeface="Arial"/>
                <a:cs typeface="Arial"/>
              </a:defRPr>
            </a:lvl3pPr>
            <a:lvl4pPr algn="l">
              <a:buNone/>
              <a:defRPr sz="2400" b="1">
                <a:solidFill>
                  <a:srgbClr val="AC8743"/>
                </a:solidFill>
                <a:latin typeface="Arial"/>
                <a:ea typeface="Arial"/>
                <a:cs typeface="Arial"/>
              </a:defRPr>
            </a:lvl4pPr>
            <a:lvl5pPr algn="l">
              <a:buNone/>
              <a:defRPr sz="2400" b="1">
                <a:solidFill>
                  <a:srgbClr val="AC8743"/>
                </a:solidFill>
                <a:latin typeface="Arial"/>
                <a:ea typeface="Arial"/>
                <a:cs typeface="Arial"/>
              </a:defRPr>
            </a:lvl5pPr>
            <a:lvl6pPr algn="l">
              <a:buNone/>
              <a:defRPr sz="2400" b="1">
                <a:solidFill>
                  <a:srgbClr val="AC8743"/>
                </a:solidFill>
                <a:latin typeface="Arial"/>
                <a:ea typeface="Arial"/>
                <a:cs typeface="Arial"/>
              </a:defRPr>
            </a:lvl6pPr>
            <a:lvl7pPr algn="l">
              <a:buNone/>
              <a:defRPr sz="2400" b="1">
                <a:solidFill>
                  <a:srgbClr val="AC8743"/>
                </a:solidFill>
                <a:latin typeface="Arial"/>
                <a:ea typeface="Arial"/>
                <a:cs typeface="Arial"/>
              </a:defRPr>
            </a:lvl7pPr>
            <a:lvl8pPr algn="l">
              <a:buNone/>
              <a:defRPr sz="2400" b="1">
                <a:solidFill>
                  <a:srgbClr val="AC8743"/>
                </a:solidFill>
                <a:latin typeface="Arial"/>
                <a:ea typeface="Arial"/>
                <a:cs typeface="Arial"/>
              </a:defRPr>
            </a:lvl8pPr>
            <a:lvl9pPr algn="l">
              <a:buNone/>
              <a:defRPr sz="2400" b="1">
                <a:solidFill>
                  <a:srgbClr val="AC8743"/>
                </a:solidFill>
                <a:latin typeface="Arial"/>
                <a:ea typeface="Arial"/>
                <a:cs typeface="Arial"/>
              </a:defRPr>
            </a:lvl9pPr>
          </a:lstStyle>
          <a:p>
            <a:pPr algn="l">
              <a:buNone/>
              <a:defRPr sz="2400" b="1">
                <a:solidFill>
                  <a:srgbClr val="AC8743"/>
                </a:solidFill>
                <a:latin typeface="Arial"/>
                <a:ea typeface="Arial"/>
                <a:cs typeface="Arial"/>
              </a:defRPr>
            </a:pPr>
            <a:r>
              <a:rPr sz="2400" b="1">
                <a:solidFill>
                  <a:srgbClr val="AC8743"/>
                </a:solidFill>
                <a:latin typeface="Arial"/>
                <a:ea typeface="Arial"/>
                <a:cs typeface="Arial"/>
              </a:rPr>
              <a:t>Concept</a:t>
            </a:r>
            <a:endParaRPr/>
          </a:p>
        </p:txBody>
      </p:sp>
      <p:sp>
        <p:nvSpPr>
          <p:cNvPr id="762648282" name="budget-revision-text-2"/>
          <p:cNvSpPr>
            <a:spLocks noGrp="1"/>
          </p:cNvSpPr>
          <p:nvPr/>
        </p:nvSpPr>
        <p:spPr bwMode="auto">
          <a:xfrm>
            <a:off x="8571230" y="1009650"/>
            <a:ext cx="4140200" cy="638810"/>
          </a:xfrm>
          <a:prstGeom prst="rect">
            <a:avLst/>
          </a:prstGeom>
          <a:noFill/>
          <a:ln w="0">
            <a:noFill/>
            <a:prstDash val="solid"/>
          </a:ln>
        </p:spPr>
        <p:txBody>
          <a:bodyPr wrap="square" lIns="0" tIns="0" rIns="0" bIns="0" numCol="1" vert="horz" anchor="t">
            <a:noAutofit/>
          </a:bodyPr>
          <a:lstStyle>
            <a:lvl1pPr marL="0" indent="0" algn="l">
              <a:buFontTx/>
              <a:buNone/>
              <a:defRPr lang="en-GB" altLang="en-US" sz="1750" b="0">
                <a:solidFill>
                  <a:srgbClr val="53676D"/>
                </a:solidFill>
                <a:latin typeface="Arial" charset="0"/>
                <a:ea typeface="Arial" charset="0"/>
                <a:cs typeface="Arial" charset="0"/>
              </a:defRPr>
            </a:lvl1pPr>
            <a:lvl2pPr marL="0" indent="0" algn="l" lvl="1">
              <a:buFontTx/>
              <a:buNone/>
              <a:defRPr lang="en-GB" altLang="en-US" sz="1750" b="0">
                <a:solidFill>
                  <a:srgbClr val="53676D"/>
                </a:solidFill>
                <a:latin typeface="Arial" charset="0"/>
                <a:ea typeface="Arial" charset="0"/>
                <a:cs typeface="Arial" charset="0"/>
              </a:defRPr>
            </a:lvl2pPr>
            <a:lvl3pPr marL="0" indent="0" algn="l" lvl="2">
              <a:buFontTx/>
              <a:buNone/>
              <a:defRPr lang="en-GB" altLang="en-US" sz="1750" b="0">
                <a:solidFill>
                  <a:srgbClr val="53676D"/>
                </a:solidFill>
                <a:latin typeface="Arial" charset="0"/>
                <a:ea typeface="Arial" charset="0"/>
                <a:cs typeface="Arial" charset="0"/>
              </a:defRPr>
            </a:lvl3pPr>
            <a:lvl4pPr marL="0" indent="0" algn="l" lvl="3">
              <a:buFontTx/>
              <a:buNone/>
              <a:defRPr lang="en-GB" altLang="en-US" sz="1750" b="0">
                <a:solidFill>
                  <a:srgbClr val="53676D"/>
                </a:solidFill>
                <a:latin typeface="Arial" charset="0"/>
                <a:ea typeface="Arial" charset="0"/>
                <a:cs typeface="Arial" charset="0"/>
              </a:defRPr>
            </a:lvl4pPr>
            <a:lvl5pPr marL="0" indent="0" algn="l" lvl="4">
              <a:buFontTx/>
              <a:buNone/>
              <a:defRPr lang="en-GB" altLang="en-US" sz="1750" b="0">
                <a:solidFill>
                  <a:srgbClr val="53676D"/>
                </a:solidFill>
                <a:latin typeface="Arial" charset="0"/>
                <a:ea typeface="Arial" charset="0"/>
                <a:cs typeface="Arial" charset="0"/>
              </a:defRPr>
            </a:lvl5pPr>
            <a:lvl6pPr marL="0" indent="0" algn="l" lvl="5">
              <a:buFontTx/>
              <a:buNone/>
              <a:defRPr lang="en-GB" altLang="en-US" sz="1750" b="0">
                <a:solidFill>
                  <a:srgbClr val="53676D"/>
                </a:solidFill>
                <a:latin typeface="Arial" charset="0"/>
                <a:ea typeface="Arial" charset="0"/>
                <a:cs typeface="Arial" charset="0"/>
              </a:defRPr>
            </a:lvl6pPr>
            <a:lvl7pPr marL="0" indent="0" algn="l" lvl="6">
              <a:buFontTx/>
              <a:buNone/>
              <a:defRPr lang="en-GB" altLang="en-US" sz="1750" b="0">
                <a:solidFill>
                  <a:srgbClr val="53676D"/>
                </a:solidFill>
                <a:latin typeface="Arial" charset="0"/>
                <a:ea typeface="Arial" charset="0"/>
                <a:cs typeface="Arial" charset="0"/>
              </a:defRPr>
            </a:lvl7pPr>
            <a:lvl8pPr marL="0" indent="0" algn="l" lvl="7">
              <a:buFontTx/>
              <a:buNone/>
              <a:defRPr lang="en-GB" altLang="en-US" sz="1750" b="0">
                <a:solidFill>
                  <a:srgbClr val="53676D"/>
                </a:solidFill>
                <a:latin typeface="Arial" charset="0"/>
                <a:ea typeface="Arial" charset="0"/>
                <a:cs typeface="Arial" charset="0"/>
              </a:defRPr>
            </a:lvl8pPr>
            <a:lvl9pPr marL="0" indent="0" algn="l" lvl="8">
              <a:buFontTx/>
              <a:buNone/>
              <a:defRPr lang="en-GB" altLang="en-US" sz="1750" b="0">
                <a:solidFill>
                  <a:srgbClr val="53676D"/>
                </a:solidFill>
                <a:latin typeface="Arial" charset="0"/>
                <a:ea typeface="Arial" charset="0"/>
                <a:cs typeface="Arial" charset="0"/>
              </a:defRPr>
            </a:lvl9pPr>
          </a:lstStyle>
          <a:p>
            <a:pPr marL="0" indent="0" algn="l">
              <a:buFontTx/>
              <a:buNone/>
              <a:defRPr sz="1750" b="0">
                <a:solidFill>
                  <a:srgbClr val="53676D"/>
                </a:solidFill>
                <a:latin typeface="Arial" charset="0"/>
                <a:ea typeface="Arial" charset="0"/>
                <a:cs typeface="Arial" charset="0"/>
              </a:defRPr>
            </a:pPr>
            <a:r>
              <a:rPr sz="3600" b="0">
                <a:solidFill>
                  <a:srgbClr val="53676D"/>
                </a:solidFill>
                <a:latin typeface="Arial" charset="0"/>
                <a:ea typeface="Arial" charset="0"/>
                <a:cs typeface="Arial" charset="0"/>
              </a:rPr>
              <a:t>D</a:t>
            </a:r>
            <a:r>
              <a:rPr sz="2600" b="0">
                <a:solidFill>
                  <a:srgbClr val="53676D"/>
                </a:solidFill>
                <a:latin typeface="Arial" charset="0"/>
                <a:ea typeface="Arial" charset="0"/>
                <a:cs typeface="Arial" charset="0"/>
              </a:rPr>
              <a:t>epository</a:t>
            </a:r>
            <a:r>
              <a:rPr sz="2600" b="0">
                <a:solidFill>
                  <a:srgbClr val="53676D"/>
                </a:solidFill>
                <a:latin typeface="Arial" charset="0"/>
                <a:ea typeface="Arial" charset="0"/>
                <a:cs typeface="Arial" charset="0"/>
              </a:rPr>
              <a:t> Framework</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2600" b="0">
                <a:solidFill>
                  <a:srgbClr val="53676D"/>
                </a:solidFill>
                <a:latin typeface="Arial" charset="0"/>
                <a:ea typeface="Arial" charset="0"/>
                <a:cs typeface="Arial" charset="0"/>
              </a:rPr>
              <a:t> </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chemeClr val="accent2"/>
                </a:solidFill>
                <a:latin typeface="Arial" charset="0"/>
                <a:ea typeface="Arial" charset="0"/>
                <a:cs typeface="Arial" charset="0"/>
              </a:rPr>
              <a:t>S</a:t>
            </a:r>
            <a:r>
              <a:rPr sz="2600" b="0">
                <a:solidFill>
                  <a:srgbClr val="53676D"/>
                </a:solidFill>
                <a:latin typeface="Arial" charset="0"/>
                <a:ea typeface="Arial" charset="0"/>
                <a:cs typeface="Arial" charset="0"/>
              </a:rPr>
              <a:t>ecurities </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chemeClr val="accent2"/>
                </a:solidFill>
                <a:latin typeface="Arial" charset="0"/>
                <a:ea typeface="Arial" charset="0"/>
                <a:cs typeface="Arial" charset="0"/>
              </a:rPr>
              <a:t>H</a:t>
            </a:r>
            <a:r>
              <a:rPr sz="2600" b="0">
                <a:solidFill>
                  <a:srgbClr val="53676D"/>
                </a:solidFill>
                <a:latin typeface="Arial" charset="0"/>
                <a:ea typeface="Arial" charset="0"/>
                <a:cs typeface="Arial" charset="0"/>
              </a:rPr>
              <a:t>oming </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600"/>
          </a:p>
          <a:p>
            <a:pPr marL="0" indent="0" algn="l">
              <a:buFontTx/>
              <a:buNone/>
              <a:defRPr sz="1750" b="0">
                <a:solidFill>
                  <a:srgbClr val="53676D"/>
                </a:solidFill>
                <a:latin typeface="Arial" charset="0"/>
                <a:ea typeface="Arial" charset="0"/>
                <a:cs typeface="Arial" charset="0"/>
              </a:defRPr>
            </a:pPr>
            <a:r>
              <a:rPr sz="3600" b="0">
                <a:solidFill>
                  <a:schemeClr val="accent2"/>
                </a:solidFill>
                <a:latin typeface="Arial" charset="0"/>
                <a:ea typeface="Arial" charset="0"/>
                <a:cs typeface="Arial" charset="0"/>
              </a:rPr>
              <a:t>A</a:t>
            </a:r>
            <a:r>
              <a:rPr sz="2600" b="0">
                <a:solidFill>
                  <a:srgbClr val="53676D"/>
                </a:solidFill>
                <a:latin typeface="Arial" charset="0"/>
                <a:ea typeface="Arial" charset="0"/>
                <a:cs typeface="Arial" charset="0"/>
              </a:rPr>
              <a:t>ccess to </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r>
              <a:rPr sz="3600" b="0">
                <a:solidFill>
                  <a:schemeClr val="accent2"/>
                </a:solidFill>
                <a:latin typeface="Arial" charset="0"/>
                <a:ea typeface="Arial" charset="0"/>
                <a:cs typeface="Arial" charset="0"/>
              </a:rPr>
              <a:t>R</a:t>
            </a:r>
            <a:r>
              <a:rPr sz="2600" b="0">
                <a:solidFill>
                  <a:srgbClr val="53676D"/>
                </a:solidFill>
                <a:latin typeface="Arial" charset="0"/>
                <a:ea typeface="Arial" charset="0"/>
                <a:cs typeface="Arial" charset="0"/>
              </a:rPr>
              <a:t>eceipted </a:t>
            </a:r>
            <a:endParaRPr lang="ko-KR" altLang="en-US" sz="2600" b="0">
              <a:solidFill>
                <a:srgbClr val="53676D"/>
              </a:solidFill>
              <a:latin typeface="Arial" charset="0"/>
              <a:ea typeface="Arial" charset="0"/>
              <a:cs typeface="Arial" charset="0"/>
            </a:endParaRPr>
          </a:p>
          <a:p>
            <a:pPr marL="0" indent="0" algn="l">
              <a:buFontTx/>
              <a:buNone/>
              <a:defRPr sz="1750" b="0">
                <a:solidFill>
                  <a:srgbClr val="53676D"/>
                </a:solidFill>
                <a:latin typeface="Arial" charset="0"/>
                <a:ea typeface="Arial" charset="0"/>
                <a:cs typeface="Arial" charset="0"/>
              </a:defRPr>
            </a:pPr>
            <a:endParaRPr lang="ko-KR" altLang="en-US" sz="2600"/>
          </a:p>
          <a:p>
            <a:pPr marL="0" indent="0" algn="l">
              <a:buFontTx/>
              <a:buNone/>
              <a:defRPr sz="1750" b="0">
                <a:solidFill>
                  <a:srgbClr val="53676D"/>
                </a:solidFill>
                <a:latin typeface="Arial" charset="0"/>
                <a:ea typeface="Arial" charset="0"/>
                <a:cs typeface="Arial" charset="0"/>
              </a:defRPr>
            </a:pPr>
            <a:r>
              <a:rPr sz="3600" b="0">
                <a:solidFill>
                  <a:schemeClr val="accent2"/>
                </a:solidFill>
                <a:latin typeface="Arial" charset="0"/>
                <a:ea typeface="Arial" charset="0"/>
                <a:cs typeface="Arial" charset="0"/>
              </a:rPr>
              <a:t>E</a:t>
            </a:r>
            <a:r>
              <a:rPr sz="2600" b="0">
                <a:solidFill>
                  <a:srgbClr val="53676D"/>
                </a:solidFill>
                <a:latin typeface="Arial" charset="0"/>
                <a:ea typeface="Arial" charset="0"/>
                <a:cs typeface="Arial" charset="0"/>
              </a:rPr>
              <a:t>quity</a:t>
            </a:r>
            <a:endParaRPr lang="ko-KR" altLang="en-US" sz="2600" b="0">
              <a:solidFill>
                <a:srgbClr val="53676D"/>
              </a:solidFill>
              <a:latin typeface="Arial" charset="0"/>
              <a:ea typeface="Arial" charset="0"/>
              <a:cs typeface="Arial"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70147544" name="access-revision-text-1"/>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Global equities remain hard to access</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for many small investors</a:t>
            </a:r>
            <a:endParaRPr/>
          </a:p>
        </p:txBody>
      </p:sp>
      <p:sp>
        <p:nvSpPr>
          <p:cNvPr id="696912661" name="access-revision-text-2"/>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A whole share can cost more than an individual’s available investment budget.</a:t>
            </a:r>
            <a:endParaRPr/>
          </a:p>
        </p:txBody>
      </p:sp>
      <p:sp>
        <p:nvSpPr>
          <p:cNvPr id="1826100422" name="access-revision-text-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77929313" name="access-revision-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02</a:t>
            </a:r>
            <a:endParaRPr/>
          </a:p>
        </p:txBody>
      </p:sp>
      <p:sp>
        <p:nvSpPr>
          <p:cNvPr id="312254330" name="access-revision-text-5"/>
          <p:cNvSpPr>
            <a:spLocks noGrp="1"/>
          </p:cNvSpPr>
          <p:nvPr/>
        </p:nvSpPr>
        <p:spPr bwMode="auto">
          <a:xfrm>
            <a:off x="609600" y="2676525"/>
            <a:ext cx="4667250" cy="828675"/>
          </a:xfrm>
          <a:prstGeom prst="rect">
            <a:avLst/>
          </a:prstGeom>
          <a:noFill/>
          <a:ln w="0">
            <a:noFill/>
            <a:prstDash val="solid"/>
          </a:ln>
        </p:spPr>
        <p:txBody>
          <a:bodyPr wrap="square" lIns="0" tIns="0" rIns="0" bIns="0" anchor="t">
            <a:noAutofit/>
          </a:bodyPr>
          <a:lstStyle>
            <a:defPPr algn="l">
              <a:defRPr sz="4800" b="1">
                <a:solidFill>
                  <a:srgbClr val="176C6B"/>
                </a:solidFill>
                <a:latin typeface="Arial"/>
                <a:ea typeface="Arial"/>
                <a:cs typeface="Arial"/>
              </a:defRPr>
            </a:defPPr>
            <a:lvl1pPr algn="l">
              <a:defRPr sz="4800" b="1">
                <a:solidFill>
                  <a:srgbClr val="176C6B"/>
                </a:solidFill>
                <a:latin typeface="Arial"/>
                <a:ea typeface="Arial"/>
                <a:cs typeface="Arial"/>
              </a:defRPr>
            </a:lvl1pPr>
            <a:lvl2pPr algn="l">
              <a:defRPr sz="4800" b="1">
                <a:solidFill>
                  <a:srgbClr val="176C6B"/>
                </a:solidFill>
                <a:latin typeface="Arial"/>
                <a:ea typeface="Arial"/>
                <a:cs typeface="Arial"/>
              </a:defRPr>
            </a:lvl2pPr>
            <a:lvl3pPr algn="l">
              <a:defRPr sz="4800" b="1">
                <a:solidFill>
                  <a:srgbClr val="176C6B"/>
                </a:solidFill>
                <a:latin typeface="Arial"/>
                <a:ea typeface="Arial"/>
                <a:cs typeface="Arial"/>
              </a:defRPr>
            </a:lvl3pPr>
            <a:lvl4pPr algn="l">
              <a:defRPr sz="4800" b="1">
                <a:solidFill>
                  <a:srgbClr val="176C6B"/>
                </a:solidFill>
                <a:latin typeface="Arial"/>
                <a:ea typeface="Arial"/>
                <a:cs typeface="Arial"/>
              </a:defRPr>
            </a:lvl4pPr>
            <a:lvl5pPr algn="l">
              <a:defRPr sz="4800" b="1">
                <a:solidFill>
                  <a:srgbClr val="176C6B"/>
                </a:solidFill>
                <a:latin typeface="Arial"/>
                <a:ea typeface="Arial"/>
                <a:cs typeface="Arial"/>
              </a:defRPr>
            </a:lvl5pPr>
            <a:lvl6pPr algn="l">
              <a:defRPr sz="4800" b="1">
                <a:solidFill>
                  <a:srgbClr val="176C6B"/>
                </a:solidFill>
                <a:latin typeface="Arial"/>
                <a:ea typeface="Arial"/>
                <a:cs typeface="Arial"/>
              </a:defRPr>
            </a:lvl6pPr>
            <a:lvl7pPr algn="l">
              <a:defRPr sz="4800" b="1">
                <a:solidFill>
                  <a:srgbClr val="176C6B"/>
                </a:solidFill>
                <a:latin typeface="Arial"/>
                <a:ea typeface="Arial"/>
                <a:cs typeface="Arial"/>
              </a:defRPr>
            </a:lvl7pPr>
            <a:lvl8pPr algn="l">
              <a:defRPr sz="4800" b="1">
                <a:solidFill>
                  <a:srgbClr val="176C6B"/>
                </a:solidFill>
                <a:latin typeface="Arial"/>
                <a:ea typeface="Arial"/>
                <a:cs typeface="Arial"/>
              </a:defRPr>
            </a:lvl8pPr>
            <a:lvl9pPr algn="l">
              <a:defRPr sz="4800" b="1">
                <a:solidFill>
                  <a:srgbClr val="176C6B"/>
                </a:solidFill>
                <a:latin typeface="Arial"/>
                <a:ea typeface="Arial"/>
                <a:cs typeface="Arial"/>
              </a:defRPr>
            </a:lvl9pPr>
          </a:lstStyle>
          <a:p>
            <a:pPr algn="l">
              <a:defRPr sz="4800" b="1">
                <a:solidFill>
                  <a:srgbClr val="176C6B"/>
                </a:solidFill>
                <a:latin typeface="Arial"/>
                <a:ea typeface="Arial"/>
                <a:cs typeface="Arial"/>
              </a:defRPr>
            </a:pPr>
            <a:r>
              <a:rPr sz="4800" b="1">
                <a:solidFill>
                  <a:srgbClr val="176C6B"/>
                </a:solidFill>
                <a:latin typeface="Arial"/>
                <a:ea typeface="Arial"/>
                <a:cs typeface="Arial"/>
              </a:rPr>
              <a:t>US$1,000+</a:t>
            </a:r>
            <a:endParaRPr/>
          </a:p>
        </p:txBody>
      </p:sp>
      <p:sp>
        <p:nvSpPr>
          <p:cNvPr id="1128927944" name="access-revision-text-6"/>
          <p:cNvSpPr>
            <a:spLocks noGrp="1"/>
          </p:cNvSpPr>
          <p:nvPr/>
        </p:nvSpPr>
        <p:spPr bwMode="auto">
          <a:xfrm>
            <a:off x="609600" y="3629025"/>
            <a:ext cx="4667250" cy="876299"/>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defRPr sz="2250" b="1">
                <a:solidFill>
                  <a:srgbClr val="183440"/>
                </a:solidFill>
                <a:latin typeface="Arial"/>
                <a:ea typeface="Arial"/>
                <a:cs typeface="Arial"/>
              </a:defRPr>
            </a:lvl1pPr>
            <a:lvl2pPr algn="l">
              <a:defRPr sz="2250" b="1">
                <a:solidFill>
                  <a:srgbClr val="183440"/>
                </a:solidFill>
                <a:latin typeface="Arial"/>
                <a:ea typeface="Arial"/>
                <a:cs typeface="Arial"/>
              </a:defRPr>
            </a:lvl2pPr>
            <a:lvl3pPr algn="l">
              <a:defRPr sz="2250" b="1">
                <a:solidFill>
                  <a:srgbClr val="183440"/>
                </a:solidFill>
                <a:latin typeface="Arial"/>
                <a:ea typeface="Arial"/>
                <a:cs typeface="Arial"/>
              </a:defRPr>
            </a:lvl3pPr>
            <a:lvl4pPr algn="l">
              <a:defRPr sz="2250" b="1">
                <a:solidFill>
                  <a:srgbClr val="183440"/>
                </a:solidFill>
                <a:latin typeface="Arial"/>
                <a:ea typeface="Arial"/>
                <a:cs typeface="Arial"/>
              </a:defRPr>
            </a:lvl4pPr>
            <a:lvl5pPr algn="l">
              <a:defRPr sz="2250" b="1">
                <a:solidFill>
                  <a:srgbClr val="183440"/>
                </a:solidFill>
                <a:latin typeface="Arial"/>
                <a:ea typeface="Arial"/>
                <a:cs typeface="Arial"/>
              </a:defRPr>
            </a:lvl5pPr>
            <a:lvl6pPr algn="l">
              <a:defRPr sz="2250" b="1">
                <a:solidFill>
                  <a:srgbClr val="183440"/>
                </a:solidFill>
                <a:latin typeface="Arial"/>
                <a:ea typeface="Arial"/>
                <a:cs typeface="Arial"/>
              </a:defRPr>
            </a:lvl6pPr>
            <a:lvl7pPr algn="l">
              <a:defRPr sz="2250" b="1">
                <a:solidFill>
                  <a:srgbClr val="183440"/>
                </a:solidFill>
                <a:latin typeface="Arial"/>
                <a:ea typeface="Arial"/>
                <a:cs typeface="Arial"/>
              </a:defRPr>
            </a:lvl7pPr>
            <a:lvl8pPr algn="l">
              <a:defRPr sz="2250" b="1">
                <a:solidFill>
                  <a:srgbClr val="183440"/>
                </a:solidFill>
                <a:latin typeface="Arial"/>
                <a:ea typeface="Arial"/>
                <a:cs typeface="Arial"/>
              </a:defRPr>
            </a:lvl8pPr>
            <a:lvl9pPr algn="l">
              <a:defRPr sz="2250" b="1">
                <a:solidFill>
                  <a:srgbClr val="183440"/>
                </a:solidFill>
                <a:latin typeface="Arial"/>
                <a:ea typeface="Arial"/>
                <a:cs typeface="Arial"/>
              </a:defRPr>
            </a:lvl9pPr>
          </a:lstStyle>
          <a:p>
            <a:pPr algn="l">
              <a:defRPr sz="2250" b="1">
                <a:solidFill>
                  <a:srgbClr val="183440"/>
                </a:solidFill>
                <a:latin typeface="Arial"/>
                <a:ea typeface="Arial"/>
                <a:cs typeface="Arial"/>
              </a:defRPr>
            </a:pPr>
            <a:r>
              <a:rPr sz="2250" b="1">
                <a:solidFill>
                  <a:srgbClr val="183440"/>
                </a:solidFill>
                <a:latin typeface="Arial"/>
                <a:ea typeface="Arial"/>
                <a:cs typeface="Arial"/>
              </a:rPr>
              <a:t>for one share in several</a:t>
            </a:r>
            <a:endParaRPr/>
          </a:p>
          <a:p>
            <a:pPr algn="l">
              <a:defRPr sz="2250" b="1">
                <a:solidFill>
                  <a:srgbClr val="183440"/>
                </a:solidFill>
                <a:latin typeface="Arial"/>
                <a:ea typeface="Arial"/>
                <a:cs typeface="Arial"/>
              </a:defRPr>
            </a:pPr>
            <a:r>
              <a:rPr sz="2250" b="1">
                <a:solidFill>
                  <a:srgbClr val="183440"/>
                </a:solidFill>
                <a:latin typeface="Arial"/>
                <a:ea typeface="Arial"/>
                <a:cs typeface="Arial"/>
              </a:rPr>
              <a:t>globally listed companies</a:t>
            </a:r>
            <a:endParaRPr/>
          </a:p>
        </p:txBody>
      </p:sp>
      <p:sp>
        <p:nvSpPr>
          <p:cNvPr id="1573811488" name="access-revision-text-7"/>
          <p:cNvSpPr>
            <a:spLocks noGrp="1"/>
          </p:cNvSpPr>
          <p:nvPr/>
        </p:nvSpPr>
        <p:spPr bwMode="auto">
          <a:xfrm>
            <a:off x="6496050" y="2647949"/>
            <a:ext cx="5086350" cy="457200"/>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defRPr sz="2250" b="1">
                <a:solidFill>
                  <a:srgbClr val="176C6B"/>
                </a:solidFill>
                <a:latin typeface="Arial"/>
                <a:ea typeface="Arial"/>
                <a:cs typeface="Arial"/>
              </a:defRPr>
            </a:lvl1pPr>
            <a:lvl2pPr algn="l">
              <a:defRPr sz="2250" b="1">
                <a:solidFill>
                  <a:srgbClr val="176C6B"/>
                </a:solidFill>
                <a:latin typeface="Arial"/>
                <a:ea typeface="Arial"/>
                <a:cs typeface="Arial"/>
              </a:defRPr>
            </a:lvl2pPr>
            <a:lvl3pPr algn="l">
              <a:defRPr sz="2250" b="1">
                <a:solidFill>
                  <a:srgbClr val="176C6B"/>
                </a:solidFill>
                <a:latin typeface="Arial"/>
                <a:ea typeface="Arial"/>
                <a:cs typeface="Arial"/>
              </a:defRPr>
            </a:lvl3pPr>
            <a:lvl4pPr algn="l">
              <a:defRPr sz="2250" b="1">
                <a:solidFill>
                  <a:srgbClr val="176C6B"/>
                </a:solidFill>
                <a:latin typeface="Arial"/>
                <a:ea typeface="Arial"/>
                <a:cs typeface="Arial"/>
              </a:defRPr>
            </a:lvl4pPr>
            <a:lvl5pPr algn="l">
              <a:defRPr sz="2250" b="1">
                <a:solidFill>
                  <a:srgbClr val="176C6B"/>
                </a:solidFill>
                <a:latin typeface="Arial"/>
                <a:ea typeface="Arial"/>
                <a:cs typeface="Arial"/>
              </a:defRPr>
            </a:lvl5pPr>
            <a:lvl6pPr algn="l">
              <a:defRPr sz="2250" b="1">
                <a:solidFill>
                  <a:srgbClr val="176C6B"/>
                </a:solidFill>
                <a:latin typeface="Arial"/>
                <a:ea typeface="Arial"/>
                <a:cs typeface="Arial"/>
              </a:defRPr>
            </a:lvl6pPr>
            <a:lvl7pPr algn="l">
              <a:defRPr sz="2250" b="1">
                <a:solidFill>
                  <a:srgbClr val="176C6B"/>
                </a:solidFill>
                <a:latin typeface="Arial"/>
                <a:ea typeface="Arial"/>
                <a:cs typeface="Arial"/>
              </a:defRPr>
            </a:lvl7pPr>
            <a:lvl8pPr algn="l">
              <a:defRPr sz="2250" b="1">
                <a:solidFill>
                  <a:srgbClr val="176C6B"/>
                </a:solidFill>
                <a:latin typeface="Arial"/>
                <a:ea typeface="Arial"/>
                <a:cs typeface="Arial"/>
              </a:defRPr>
            </a:lvl8pPr>
            <a:lvl9pPr algn="l">
              <a:defRPr sz="2250" b="1">
                <a:solidFill>
                  <a:srgbClr val="176C6B"/>
                </a:solidFill>
                <a:latin typeface="Arial"/>
                <a:ea typeface="Arial"/>
                <a:cs typeface="Arial"/>
              </a:defRPr>
            </a:lvl9pPr>
          </a:lstStyle>
          <a:p>
            <a:pPr algn="l">
              <a:defRPr sz="2250" b="1">
                <a:solidFill>
                  <a:srgbClr val="176C6B"/>
                </a:solidFill>
                <a:latin typeface="Arial"/>
                <a:ea typeface="Arial"/>
                <a:cs typeface="Arial"/>
              </a:defRPr>
            </a:pPr>
            <a:r>
              <a:rPr sz="2250" b="1">
                <a:solidFill>
                  <a:srgbClr val="176C6B"/>
                </a:solidFill>
                <a:latin typeface="Arial"/>
                <a:ea typeface="Arial"/>
                <a:cs typeface="Arial"/>
              </a:rPr>
              <a:t>An investor with US$300</a:t>
            </a:r>
            <a:endParaRPr/>
          </a:p>
        </p:txBody>
      </p:sp>
      <p:sp>
        <p:nvSpPr>
          <p:cNvPr id="444933075" name="access-revision-text-8"/>
          <p:cNvSpPr>
            <a:spLocks noGrp="1"/>
          </p:cNvSpPr>
          <p:nvPr/>
        </p:nvSpPr>
        <p:spPr bwMode="auto">
          <a:xfrm>
            <a:off x="6496050" y="3257550"/>
            <a:ext cx="5086350" cy="1257300"/>
          </a:xfrm>
          <a:prstGeom prst="rect">
            <a:avLst/>
          </a:prstGeom>
          <a:noFill/>
          <a:ln w="0">
            <a:noFill/>
            <a:prstDash val="solid"/>
          </a:ln>
        </p:spPr>
        <p:txBody>
          <a:bodyPr wrap="square" lIns="0" tIns="0" rIns="0" bIns="0" anchor="t">
            <a:noAutofit/>
          </a:bodyPr>
          <a:lstStyle>
            <a:defPPr algn="l">
              <a:defRPr sz="2250" b="0">
                <a:solidFill>
                  <a:srgbClr val="183440"/>
                </a:solidFill>
                <a:latin typeface="Arial"/>
                <a:ea typeface="Arial"/>
                <a:cs typeface="Arial"/>
              </a:defRPr>
            </a:defPPr>
            <a:lvl1pPr algn="l">
              <a:defRPr sz="2250" b="0">
                <a:solidFill>
                  <a:srgbClr val="183440"/>
                </a:solidFill>
                <a:latin typeface="Arial"/>
                <a:ea typeface="Arial"/>
                <a:cs typeface="Arial"/>
              </a:defRPr>
            </a:lvl1pPr>
            <a:lvl2pPr algn="l">
              <a:defRPr sz="2250" b="0">
                <a:solidFill>
                  <a:srgbClr val="183440"/>
                </a:solidFill>
                <a:latin typeface="Arial"/>
                <a:ea typeface="Arial"/>
                <a:cs typeface="Arial"/>
              </a:defRPr>
            </a:lvl2pPr>
            <a:lvl3pPr algn="l">
              <a:defRPr sz="2250" b="0">
                <a:solidFill>
                  <a:srgbClr val="183440"/>
                </a:solidFill>
                <a:latin typeface="Arial"/>
                <a:ea typeface="Arial"/>
                <a:cs typeface="Arial"/>
              </a:defRPr>
            </a:lvl3pPr>
            <a:lvl4pPr algn="l">
              <a:defRPr sz="2250" b="0">
                <a:solidFill>
                  <a:srgbClr val="183440"/>
                </a:solidFill>
                <a:latin typeface="Arial"/>
                <a:ea typeface="Arial"/>
                <a:cs typeface="Arial"/>
              </a:defRPr>
            </a:lvl4pPr>
            <a:lvl5pPr algn="l">
              <a:defRPr sz="2250" b="0">
                <a:solidFill>
                  <a:srgbClr val="183440"/>
                </a:solidFill>
                <a:latin typeface="Arial"/>
                <a:ea typeface="Arial"/>
                <a:cs typeface="Arial"/>
              </a:defRPr>
            </a:lvl5pPr>
            <a:lvl6pPr algn="l">
              <a:defRPr sz="2250" b="0">
                <a:solidFill>
                  <a:srgbClr val="183440"/>
                </a:solidFill>
                <a:latin typeface="Arial"/>
                <a:ea typeface="Arial"/>
                <a:cs typeface="Arial"/>
              </a:defRPr>
            </a:lvl6pPr>
            <a:lvl7pPr algn="l">
              <a:defRPr sz="2250" b="0">
                <a:solidFill>
                  <a:srgbClr val="183440"/>
                </a:solidFill>
                <a:latin typeface="Arial"/>
                <a:ea typeface="Arial"/>
                <a:cs typeface="Arial"/>
              </a:defRPr>
            </a:lvl7pPr>
            <a:lvl8pPr algn="l">
              <a:defRPr sz="2250" b="0">
                <a:solidFill>
                  <a:srgbClr val="183440"/>
                </a:solidFill>
                <a:latin typeface="Arial"/>
                <a:ea typeface="Arial"/>
                <a:cs typeface="Arial"/>
              </a:defRPr>
            </a:lvl8pPr>
            <a:lvl9pPr algn="l">
              <a:defRPr sz="2250" b="0">
                <a:solidFill>
                  <a:srgbClr val="183440"/>
                </a:solidFill>
                <a:latin typeface="Arial"/>
                <a:ea typeface="Arial"/>
                <a:cs typeface="Arial"/>
              </a:defRPr>
            </a:lvl9pPr>
          </a:lstStyle>
          <a:p>
            <a:pPr algn="l">
              <a:defRPr sz="2250" b="0">
                <a:solidFill>
                  <a:srgbClr val="183440"/>
                </a:solidFill>
                <a:latin typeface="Arial"/>
                <a:ea typeface="Arial"/>
                <a:cs typeface="Arial"/>
              </a:defRPr>
            </a:pPr>
            <a:r>
              <a:rPr sz="2250" b="0">
                <a:solidFill>
                  <a:srgbClr val="183440"/>
                </a:solidFill>
                <a:latin typeface="Arial"/>
                <a:ea typeface="Arial"/>
                <a:cs typeface="Arial"/>
              </a:rPr>
              <a:t>cannot buy one full share priced above US$1,000 through a whole-share-only service.</a:t>
            </a:r>
            <a:endParaRPr/>
          </a:p>
        </p:txBody>
      </p:sp>
      <p:sp>
        <p:nvSpPr>
          <p:cNvPr id="1417132589" name="access-revision-text-9"/>
          <p:cNvSpPr>
            <a:spLocks noGrp="1"/>
          </p:cNvSpPr>
          <p:nvPr/>
        </p:nvSpPr>
        <p:spPr bwMode="auto">
          <a:xfrm>
            <a:off x="609600" y="5010149"/>
            <a:ext cx="5000625" cy="40957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Access adds a second barrier</a:t>
            </a:r>
            <a:endParaRPr/>
          </a:p>
        </p:txBody>
      </p:sp>
      <p:sp>
        <p:nvSpPr>
          <p:cNvPr id="267552522" name="access-revision-text-10"/>
          <p:cNvSpPr>
            <a:spLocks noGrp="1"/>
          </p:cNvSpPr>
          <p:nvPr/>
        </p:nvSpPr>
        <p:spPr bwMode="auto">
          <a:xfrm>
            <a:off x="609600" y="5534025"/>
            <a:ext cx="10972800" cy="409575"/>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defRPr sz="1950" b="0">
                <a:solidFill>
                  <a:srgbClr val="183440"/>
                </a:solidFill>
                <a:latin typeface="Arial"/>
                <a:ea typeface="Arial"/>
                <a:cs typeface="Arial"/>
              </a:defRPr>
            </a:lvl1pPr>
            <a:lvl2pPr algn="l">
              <a:defRPr sz="1950" b="0">
                <a:solidFill>
                  <a:srgbClr val="183440"/>
                </a:solidFill>
                <a:latin typeface="Arial"/>
                <a:ea typeface="Arial"/>
                <a:cs typeface="Arial"/>
              </a:defRPr>
            </a:lvl2pPr>
            <a:lvl3pPr algn="l">
              <a:defRPr sz="1950" b="0">
                <a:solidFill>
                  <a:srgbClr val="183440"/>
                </a:solidFill>
                <a:latin typeface="Arial"/>
                <a:ea typeface="Arial"/>
                <a:cs typeface="Arial"/>
              </a:defRPr>
            </a:lvl3pPr>
            <a:lvl4pPr algn="l">
              <a:defRPr sz="1950" b="0">
                <a:solidFill>
                  <a:srgbClr val="183440"/>
                </a:solidFill>
                <a:latin typeface="Arial"/>
                <a:ea typeface="Arial"/>
                <a:cs typeface="Arial"/>
              </a:defRPr>
            </a:lvl4pPr>
            <a:lvl5pPr algn="l">
              <a:defRPr sz="1950" b="0">
                <a:solidFill>
                  <a:srgbClr val="183440"/>
                </a:solidFill>
                <a:latin typeface="Arial"/>
                <a:ea typeface="Arial"/>
                <a:cs typeface="Arial"/>
              </a:defRPr>
            </a:lvl5pPr>
            <a:lvl6pPr algn="l">
              <a:defRPr sz="1950" b="0">
                <a:solidFill>
                  <a:srgbClr val="183440"/>
                </a:solidFill>
                <a:latin typeface="Arial"/>
                <a:ea typeface="Arial"/>
                <a:cs typeface="Arial"/>
              </a:defRPr>
            </a:lvl6pPr>
            <a:lvl7pPr algn="l">
              <a:defRPr sz="1950" b="0">
                <a:solidFill>
                  <a:srgbClr val="183440"/>
                </a:solidFill>
                <a:latin typeface="Arial"/>
                <a:ea typeface="Arial"/>
                <a:cs typeface="Arial"/>
              </a:defRPr>
            </a:lvl7pPr>
            <a:lvl8pPr algn="l">
              <a:defRPr sz="1950" b="0">
                <a:solidFill>
                  <a:srgbClr val="183440"/>
                </a:solidFill>
                <a:latin typeface="Arial"/>
                <a:ea typeface="Arial"/>
                <a:cs typeface="Arial"/>
              </a:defRPr>
            </a:lvl8pPr>
            <a:lvl9pPr algn="l">
              <a:defRPr sz="1950" b="0">
                <a:solidFill>
                  <a:srgbClr val="183440"/>
                </a:solidFill>
                <a:latin typeface="Arial"/>
                <a:ea typeface="Arial"/>
                <a:cs typeface="Arial"/>
              </a:defRPr>
            </a:lvl9pPr>
          </a:lstStyle>
          <a:p>
            <a:pPr algn="l">
              <a:defRPr sz="1950" b="0">
                <a:solidFill>
                  <a:srgbClr val="183440"/>
                </a:solidFill>
                <a:latin typeface="Arial"/>
                <a:ea typeface="Arial"/>
                <a:cs typeface="Arial"/>
              </a:defRPr>
            </a:pPr>
            <a:r>
              <a:rPr sz="1950" b="0">
                <a:solidFill>
                  <a:srgbClr val="183440"/>
                </a:solidFill>
                <a:latin typeface="Arial"/>
                <a:ea typeface="Arial"/>
                <a:cs typeface="Arial"/>
              </a:rPr>
              <a:t>Eligible accounts, local distribution and funding routes vary by country and provider.</a:t>
            </a:r>
            <a:endParaRPr/>
          </a:p>
        </p:txBody>
      </p:sp>
      <p:sp>
        <p:nvSpPr>
          <p:cNvPr id="464952237" name="access-revision-text-1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Fractional-share services already help some investors. Availability varies across brokers, customers and securities.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559236602" name="access-revision-text-1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Six examples above US$1,000 per share</a:t>
            </a:r>
            <a:endParaRPr/>
          </a:p>
        </p:txBody>
      </p:sp>
      <p:sp>
        <p:nvSpPr>
          <p:cNvPr id="896151914" name="access-revision-text-1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Indicative US-dollar quote snapshot, 30 October 2026. Prices change.</a:t>
            </a:r>
            <a:endParaRPr/>
          </a:p>
        </p:txBody>
      </p:sp>
      <p:sp>
        <p:nvSpPr>
          <p:cNvPr id="1915058955" name="access-revision-text-1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61200463" name="access-revision-text-1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03</a:t>
            </a:r>
            <a:endParaRPr/>
          </a:p>
        </p:txBody>
      </p:sp>
      <p:graphicFrame>
        <p:nvGraphicFramePr>
          <p:cNvPr id="2024705559" name=""/>
          <p:cNvGraphicFramePr>
            <a:graphicFrameLocks xmlns:a="http://schemas.openxmlformats.org/drawingml/2006/main"/>
          </p:cNvGraphicFramePr>
          <p:nvPr/>
        </p:nvGraphicFramePr>
        <p:xfrm rot="0">
          <a:off x="609600" y="2209800"/>
          <a:ext cx="10972800" cy="3286125"/>
        </p:xfrm>
        <a:graphic>
          <a:graphicData uri="http://schemas.openxmlformats.org/drawingml/2006/table">
            <a:tbl>
              <a:tblPr firstRow="1" firstCol="0" lastRow="0" lastCol="0" bandRow="0" bandCol="0"/>
              <a:tblGrid>
                <a:gridCol w="6915150"/>
                <a:gridCol w="1619250"/>
                <a:gridCol w="2438400"/>
              </a:tblGrid>
              <a:tr h="469446">
                <a:tc>
                  <a:txBody>
                    <a:bodyPr/>
                    <a:p>
                      <a:pPr>
                        <a:defRPr/>
                      </a:pPr>
                      <a:r>
                        <a:rPr sz="1800" b="1">
                          <a:solidFill>
                            <a:srgbClr val="FFFFFF"/>
                          </a:solidFill>
                          <a:latin typeface="Arial"/>
                          <a:ea typeface="Arial"/>
                          <a:cs typeface="Arial"/>
                        </a:rPr>
                        <a:t>Company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Ticker</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US$ per share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69446">
                <a:tc>
                  <a:txBody>
                    <a:bodyPr/>
                    <a:p>
                      <a:pPr>
                        <a:defRPr/>
                      </a:pPr>
                      <a:r>
                        <a:rPr sz="1900" b="0">
                          <a:solidFill>
                            <a:srgbClr val="183440"/>
                          </a:solidFill>
                          <a:latin typeface="Arial"/>
                          <a:ea typeface="Arial"/>
                          <a:cs typeface="Arial"/>
                        </a:rPr>
                        <a:t>NVR Inc.</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NVR</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5,958.56</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AutoZone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AZO</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3,169.82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First Citizens BancShares Class A</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FCNCA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2,352.64</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a:solidFill>
                            <a:srgbClr val="183440"/>
                          </a:solidFill>
                          <a:latin typeface="Arial"/>
                          <a:ea typeface="Arial"/>
                          <a:cs typeface="Arial"/>
                        </a:rPr>
                        <a:t>Markel Group</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MKL</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1,869.82</a:t>
                      </a:r>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BlackRock</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BLK</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1,147.54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r h="469446">
                <a:tc>
                  <a:txBody>
                    <a:bodyPr/>
                    <a:p>
                      <a:pPr>
                        <a:defRPr/>
                      </a:pPr>
                      <a:r>
                        <a:rPr sz="1900" b="0" i="0" u="none">
                          <a:solidFill>
                            <a:srgbClr val="000000"/>
                          </a:solidFill>
                          <a:latin typeface="Arial"/>
                          <a:ea typeface="Arial"/>
                          <a:cs typeface="Arial"/>
                        </a:rPr>
                        <a:t>Costco Wholesale</a:t>
                      </a:r>
                      <a:endParaRPr sz="1900">
                        <a:latin typeface="Arial"/>
                        <a:cs typeface="Arial"/>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COST</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900" b="0" i="0" u="none">
                          <a:solidFill>
                            <a:srgbClr val="000000"/>
                          </a:solidFill>
                          <a:latin typeface="Arial"/>
                          <a:ea typeface="Arial"/>
                          <a:cs typeface="Arial"/>
                        </a:rPr>
                        <a:t>1,012.28 </a:t>
                      </a:r>
                      <a:endParaRPr sz="1900">
                        <a:latin typeface="Arial"/>
                        <a:cs typeface="Arial"/>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649338194" name="access-revision-text-16"/>
          <p:cNvSpPr>
            <a:spLocks noGrp="1"/>
          </p:cNvSpPr>
          <p:nvPr/>
        </p:nvSpPr>
        <p:spPr bwMode="auto">
          <a:xfrm>
            <a:off x="609600" y="5695950"/>
            <a:ext cx="10972800" cy="3619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Each costs more than a US$300 whole-share budget</a:t>
            </a:r>
            <a:endParaRPr/>
          </a:p>
        </p:txBody>
      </p:sp>
      <p:sp>
        <p:nvSpPr>
          <p:cNvPr id="1486912287" name="access-revision-text-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Examples illustrate unit prices. They are neither D-SHARE programmes nor investment recommendations.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172459599" name="access-revision-text-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Emerging-market access depends on local routes</a:t>
            </a:r>
            <a:endParaRPr/>
          </a:p>
        </p:txBody>
      </p:sp>
      <p:sp>
        <p:nvSpPr>
          <p:cNvPr id="1831143002" name="access-revision-text-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Local investment institutions do not always offer the desired foreign market or product.</a:t>
            </a:r>
            <a:endParaRPr/>
          </a:p>
        </p:txBody>
      </p:sp>
      <p:sp>
        <p:nvSpPr>
          <p:cNvPr id="24925512" name="access-revision-text-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26837150" name="access-revision-text-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04</a:t>
            </a:r>
            <a:endParaRPr/>
          </a:p>
        </p:txBody>
      </p:sp>
      <p:sp>
        <p:nvSpPr>
          <p:cNvPr id="1428190951" name="access-revision-text-22"/>
          <p:cNvSpPr>
            <a:spLocks noGrp="1"/>
          </p:cNvSpPr>
          <p:nvPr/>
        </p:nvSpPr>
        <p:spPr bwMode="auto">
          <a:xfrm>
            <a:off x="609600" y="22479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Account eligibility</a:t>
            </a:r>
            <a:endParaRPr/>
          </a:p>
        </p:txBody>
      </p:sp>
      <p:sp>
        <p:nvSpPr>
          <p:cNvPr id="1596041304" name="access-revision-text-23"/>
          <p:cNvSpPr>
            <a:spLocks noGrp="1"/>
          </p:cNvSpPr>
          <p:nvPr/>
        </p:nvSpPr>
        <p:spPr bwMode="auto">
          <a:xfrm>
            <a:off x="4686300" y="22479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Residency, identity checks and product permissions shape which accounts an investor can open.</a:t>
            </a:r>
            <a:endParaRPr/>
          </a:p>
        </p:txBody>
      </p:sp>
      <p:sp>
        <p:nvSpPr>
          <p:cNvPr id="119295267" name="access-diagram-line-24"/>
          <p:cNvSpPr>
            <a:spLocks noGrp="1"/>
          </p:cNvSpPr>
          <p:nvPr/>
        </p:nvSpPr>
        <p:spPr bwMode="auto">
          <a:xfrm>
            <a:off x="609600" y="3152775"/>
            <a:ext cx="10972800" cy="0"/>
          </a:xfrm>
          <a:prstGeom prst="line">
            <a:avLst/>
          </a:prstGeom>
          <a:noFill/>
          <a:ln w="12383">
            <a:solidFill>
              <a:srgbClr val="CFD7D1"/>
            </a:solidFill>
            <a:prstDash val="solid"/>
          </a:ln>
        </p:spPr>
      </p:sp>
      <p:sp>
        <p:nvSpPr>
          <p:cNvPr id="1819311964" name="access-revision-text-25"/>
          <p:cNvSpPr>
            <a:spLocks noGrp="1"/>
          </p:cNvSpPr>
          <p:nvPr/>
        </p:nvSpPr>
        <p:spPr bwMode="auto">
          <a:xfrm>
            <a:off x="609600" y="329565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International funding</a:t>
            </a:r>
            <a:endParaRPr/>
          </a:p>
        </p:txBody>
      </p:sp>
      <p:sp>
        <p:nvSpPr>
          <p:cNvPr id="356210799" name="access-revision-text-26"/>
          <p:cNvSpPr>
            <a:spLocks noGrp="1"/>
          </p:cNvSpPr>
          <p:nvPr/>
        </p:nvSpPr>
        <p:spPr bwMode="auto">
          <a:xfrm>
            <a:off x="4686300" y="329565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FX rules, permitted remittances and provider requirements shape how an account can be funded.</a:t>
            </a:r>
            <a:endParaRPr/>
          </a:p>
        </p:txBody>
      </p:sp>
      <p:sp>
        <p:nvSpPr>
          <p:cNvPr id="1898196833" name="access-diagram-line-27"/>
          <p:cNvSpPr>
            <a:spLocks noGrp="1"/>
          </p:cNvSpPr>
          <p:nvPr/>
        </p:nvSpPr>
        <p:spPr bwMode="auto">
          <a:xfrm>
            <a:off x="609600" y="4200525"/>
            <a:ext cx="10972800" cy="0"/>
          </a:xfrm>
          <a:prstGeom prst="line">
            <a:avLst/>
          </a:prstGeom>
          <a:noFill/>
          <a:ln w="12383">
            <a:solidFill>
              <a:srgbClr val="CFD7D1"/>
            </a:solidFill>
            <a:prstDash val="solid"/>
          </a:ln>
        </p:spPr>
      </p:sp>
      <p:sp>
        <p:nvSpPr>
          <p:cNvPr id="1486538771" name="access-revision-text-28"/>
          <p:cNvSpPr>
            <a:spLocks noGrp="1"/>
          </p:cNvSpPr>
          <p:nvPr/>
        </p:nvSpPr>
        <p:spPr bwMode="auto">
          <a:xfrm>
            <a:off x="609600" y="4343400"/>
            <a:ext cx="3667125" cy="4191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Local distribution</a:t>
            </a:r>
            <a:endParaRPr/>
          </a:p>
        </p:txBody>
      </p:sp>
      <p:sp>
        <p:nvSpPr>
          <p:cNvPr id="1756524463" name="access-revision-text-29"/>
          <p:cNvSpPr>
            <a:spLocks noGrp="1"/>
          </p:cNvSpPr>
          <p:nvPr/>
        </p:nvSpPr>
        <p:spPr bwMode="auto">
          <a:xfrm>
            <a:off x="4686300" y="4343400"/>
            <a:ext cx="6896100" cy="857250"/>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defRPr sz="2050" b="0">
                <a:solidFill>
                  <a:srgbClr val="183440"/>
                </a:solidFill>
                <a:latin typeface="Arial"/>
                <a:ea typeface="Arial"/>
                <a:cs typeface="Arial"/>
              </a:defRPr>
            </a:lvl1pPr>
            <a:lvl2pPr algn="l">
              <a:defRPr sz="2050" b="0">
                <a:solidFill>
                  <a:srgbClr val="183440"/>
                </a:solidFill>
                <a:latin typeface="Arial"/>
                <a:ea typeface="Arial"/>
                <a:cs typeface="Arial"/>
              </a:defRPr>
            </a:lvl2pPr>
            <a:lvl3pPr algn="l">
              <a:defRPr sz="2050" b="0">
                <a:solidFill>
                  <a:srgbClr val="183440"/>
                </a:solidFill>
                <a:latin typeface="Arial"/>
                <a:ea typeface="Arial"/>
                <a:cs typeface="Arial"/>
              </a:defRPr>
            </a:lvl3pPr>
            <a:lvl4pPr algn="l">
              <a:defRPr sz="2050" b="0">
                <a:solidFill>
                  <a:srgbClr val="183440"/>
                </a:solidFill>
                <a:latin typeface="Arial"/>
                <a:ea typeface="Arial"/>
                <a:cs typeface="Arial"/>
              </a:defRPr>
            </a:lvl4pPr>
            <a:lvl5pPr algn="l">
              <a:defRPr sz="2050" b="0">
                <a:solidFill>
                  <a:srgbClr val="183440"/>
                </a:solidFill>
                <a:latin typeface="Arial"/>
                <a:ea typeface="Arial"/>
                <a:cs typeface="Arial"/>
              </a:defRPr>
            </a:lvl5pPr>
            <a:lvl6pPr algn="l">
              <a:defRPr sz="2050" b="0">
                <a:solidFill>
                  <a:srgbClr val="183440"/>
                </a:solidFill>
                <a:latin typeface="Arial"/>
                <a:ea typeface="Arial"/>
                <a:cs typeface="Arial"/>
              </a:defRPr>
            </a:lvl6pPr>
            <a:lvl7pPr algn="l">
              <a:defRPr sz="2050" b="0">
                <a:solidFill>
                  <a:srgbClr val="183440"/>
                </a:solidFill>
                <a:latin typeface="Arial"/>
                <a:ea typeface="Arial"/>
                <a:cs typeface="Arial"/>
              </a:defRPr>
            </a:lvl7pPr>
            <a:lvl8pPr algn="l">
              <a:defRPr sz="2050" b="0">
                <a:solidFill>
                  <a:srgbClr val="183440"/>
                </a:solidFill>
                <a:latin typeface="Arial"/>
                <a:ea typeface="Arial"/>
                <a:cs typeface="Arial"/>
              </a:defRPr>
            </a:lvl8pPr>
            <a:lvl9pPr algn="l">
              <a:defRPr sz="2050" b="0">
                <a:solidFill>
                  <a:srgbClr val="183440"/>
                </a:solidFill>
                <a:latin typeface="Arial"/>
                <a:ea typeface="Arial"/>
                <a:cs typeface="Arial"/>
              </a:defRPr>
            </a:lvl9pPr>
          </a:lstStyle>
          <a:p>
            <a:pPr algn="l">
              <a:defRPr sz="2050" b="0">
                <a:solidFill>
                  <a:srgbClr val="183440"/>
                </a:solidFill>
                <a:latin typeface="Arial"/>
                <a:ea typeface="Arial"/>
                <a:cs typeface="Arial"/>
              </a:defRPr>
            </a:pPr>
            <a:r>
              <a:rPr sz="2050" b="0">
                <a:solidFill>
                  <a:srgbClr val="183440"/>
                </a:solidFill>
                <a:latin typeface="Arial"/>
                <a:ea typeface="Arial"/>
                <a:cs typeface="Arial"/>
              </a:rPr>
              <a:t>An approved local partner must offer the receipt, explain rights and service the holding.</a:t>
            </a:r>
            <a:endParaRPr/>
          </a:p>
        </p:txBody>
      </p:sp>
      <p:sp>
        <p:nvSpPr>
          <p:cNvPr id="1924689811" name="access-revision-text-30"/>
          <p:cNvSpPr>
            <a:spLocks noGrp="1"/>
          </p:cNvSpPr>
          <p:nvPr/>
        </p:nvSpPr>
        <p:spPr bwMode="auto">
          <a:xfrm>
            <a:off x="609600" y="5524500"/>
            <a:ext cx="10972800" cy="40957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Example: India permits overseas portfolio investment under LRS, subject to its rules.</a:t>
            </a:r>
            <a:endParaRPr/>
          </a:p>
        </p:txBody>
      </p:sp>
      <p:sp>
        <p:nvSpPr>
          <p:cNvPr id="1553155483" name="access-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The launch plan selects permitted markets and distribution partners. Local securities and FX rules still apply.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80125418" name="access-revision-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Digital finance creates a distribution opportunity</a:t>
            </a:r>
            <a:endParaRPr/>
          </a:p>
        </p:txBody>
      </p:sp>
      <p:sp>
        <p:nvSpPr>
          <p:cNvPr id="1565222537" name="access-revision-text-3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Wallet and DeFi infrastructure supports a market thesis that needs local commercial validation.</a:t>
            </a:r>
            <a:endParaRPr/>
          </a:p>
        </p:txBody>
      </p:sp>
      <p:sp>
        <p:nvSpPr>
          <p:cNvPr id="1288062719" name="access-revision-text-3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357990069" name="access-revision-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05</a:t>
            </a:r>
            <a:endParaRPr/>
          </a:p>
        </p:txBody>
      </p:sp>
      <p:sp>
        <p:nvSpPr>
          <p:cNvPr id="1914847144" name="access-revision-text-36"/>
          <p:cNvSpPr>
            <a:spLocks noGrp="1"/>
          </p:cNvSpPr>
          <p:nvPr/>
        </p:nvSpPr>
        <p:spPr bwMode="auto">
          <a:xfrm>
            <a:off x="609600" y="2276475"/>
            <a:ext cx="5191125"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35% to 42%</a:t>
            </a:r>
            <a:endParaRPr/>
          </a:p>
        </p:txBody>
      </p:sp>
      <p:sp>
        <p:nvSpPr>
          <p:cNvPr id="1843145295" name="access-revision-text-37"/>
          <p:cNvSpPr>
            <a:spLocks noGrp="1"/>
          </p:cNvSpPr>
          <p:nvPr/>
        </p:nvSpPr>
        <p:spPr bwMode="auto">
          <a:xfrm>
            <a:off x="609600" y="3171825"/>
            <a:ext cx="5191125"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Digital merchant payments among adults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in low- and middle-income countries,</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2021 to 2024</a:t>
            </a:r>
            <a:endParaRPr/>
          </a:p>
        </p:txBody>
      </p:sp>
      <p:sp>
        <p:nvSpPr>
          <p:cNvPr id="186950215" name="access-revision-text-38"/>
          <p:cNvSpPr>
            <a:spLocks noGrp="1"/>
          </p:cNvSpPr>
          <p:nvPr/>
        </p:nvSpPr>
        <p:spPr bwMode="auto">
          <a:xfrm>
            <a:off x="609600" y="4562475"/>
            <a:ext cx="5191125"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World Bank Global Findex 2025</a:t>
            </a:r>
            <a:endParaRPr/>
          </a:p>
        </p:txBody>
      </p:sp>
      <p:sp>
        <p:nvSpPr>
          <p:cNvPr id="2086994091" name="access-revision-text-39"/>
          <p:cNvSpPr>
            <a:spLocks noGrp="1"/>
          </p:cNvSpPr>
          <p:nvPr/>
        </p:nvSpPr>
        <p:spPr bwMode="auto">
          <a:xfrm>
            <a:off x="6496050" y="2276475"/>
            <a:ext cx="5086350" cy="704850"/>
          </a:xfrm>
          <a:prstGeom prst="rect">
            <a:avLst/>
          </a:prstGeom>
          <a:noFill/>
          <a:ln w="0">
            <a:noFill/>
            <a:prstDash val="solid"/>
          </a:ln>
        </p:spPr>
        <p:txBody>
          <a:bodyPr wrap="square" lIns="0" tIns="0" rIns="0" bIns="0" anchor="t">
            <a:noAutofit/>
          </a:bodyPr>
          <a:lstStyle>
            <a:defPPr algn="l">
              <a:defRPr sz="3850" b="1">
                <a:solidFill>
                  <a:srgbClr val="176C6B"/>
                </a:solidFill>
                <a:latin typeface="Arial"/>
                <a:ea typeface="Arial"/>
                <a:cs typeface="Arial"/>
              </a:defRPr>
            </a:defPPr>
            <a:lvl1pPr algn="l">
              <a:defRPr sz="3850" b="1">
                <a:solidFill>
                  <a:srgbClr val="176C6B"/>
                </a:solidFill>
                <a:latin typeface="Arial"/>
                <a:ea typeface="Arial"/>
                <a:cs typeface="Arial"/>
              </a:defRPr>
            </a:lvl1pPr>
            <a:lvl2pPr algn="l">
              <a:defRPr sz="3850" b="1">
                <a:solidFill>
                  <a:srgbClr val="176C6B"/>
                </a:solidFill>
                <a:latin typeface="Arial"/>
                <a:ea typeface="Arial"/>
                <a:cs typeface="Arial"/>
              </a:defRPr>
            </a:lvl2pPr>
            <a:lvl3pPr algn="l">
              <a:defRPr sz="3850" b="1">
                <a:solidFill>
                  <a:srgbClr val="176C6B"/>
                </a:solidFill>
                <a:latin typeface="Arial"/>
                <a:ea typeface="Arial"/>
                <a:cs typeface="Arial"/>
              </a:defRPr>
            </a:lvl3pPr>
            <a:lvl4pPr algn="l">
              <a:defRPr sz="3850" b="1">
                <a:solidFill>
                  <a:srgbClr val="176C6B"/>
                </a:solidFill>
                <a:latin typeface="Arial"/>
                <a:ea typeface="Arial"/>
                <a:cs typeface="Arial"/>
              </a:defRPr>
            </a:lvl4pPr>
            <a:lvl5pPr algn="l">
              <a:defRPr sz="3850" b="1">
                <a:solidFill>
                  <a:srgbClr val="176C6B"/>
                </a:solidFill>
                <a:latin typeface="Arial"/>
                <a:ea typeface="Arial"/>
                <a:cs typeface="Arial"/>
              </a:defRPr>
            </a:lvl5pPr>
            <a:lvl6pPr algn="l">
              <a:defRPr sz="3850" b="1">
                <a:solidFill>
                  <a:srgbClr val="176C6B"/>
                </a:solidFill>
                <a:latin typeface="Arial"/>
                <a:ea typeface="Arial"/>
                <a:cs typeface="Arial"/>
              </a:defRPr>
            </a:lvl6pPr>
            <a:lvl7pPr algn="l">
              <a:defRPr sz="3850" b="1">
                <a:solidFill>
                  <a:srgbClr val="176C6B"/>
                </a:solidFill>
                <a:latin typeface="Arial"/>
                <a:ea typeface="Arial"/>
                <a:cs typeface="Arial"/>
              </a:defRPr>
            </a:lvl7pPr>
            <a:lvl8pPr algn="l">
              <a:defRPr sz="3850" b="1">
                <a:solidFill>
                  <a:srgbClr val="176C6B"/>
                </a:solidFill>
                <a:latin typeface="Arial"/>
                <a:ea typeface="Arial"/>
                <a:cs typeface="Arial"/>
              </a:defRPr>
            </a:lvl8pPr>
            <a:lvl9pPr algn="l">
              <a:defRPr sz="3850" b="1">
                <a:solidFill>
                  <a:srgbClr val="176C6B"/>
                </a:solidFill>
                <a:latin typeface="Arial"/>
                <a:ea typeface="Arial"/>
                <a:cs typeface="Arial"/>
              </a:defRPr>
            </a:lvl9pPr>
          </a:lstStyle>
          <a:p>
            <a:pPr algn="l">
              <a:defRPr sz="3850" b="1">
                <a:solidFill>
                  <a:srgbClr val="176C6B"/>
                </a:solidFill>
                <a:latin typeface="Arial"/>
                <a:ea typeface="Arial"/>
                <a:cs typeface="Arial"/>
              </a:defRPr>
            </a:pPr>
            <a:r>
              <a:rPr sz="3850" b="1">
                <a:solidFill>
                  <a:srgbClr val="176C6B"/>
                </a:solidFill>
                <a:latin typeface="Arial"/>
                <a:ea typeface="Arial"/>
                <a:cs typeface="Arial"/>
              </a:rPr>
              <a:t>+9.8%</a:t>
            </a:r>
            <a:endParaRPr/>
          </a:p>
        </p:txBody>
      </p:sp>
      <p:sp>
        <p:nvSpPr>
          <p:cNvPr id="1051154042" name="access-revision-text-40"/>
          <p:cNvSpPr>
            <a:spLocks noGrp="1"/>
          </p:cNvSpPr>
          <p:nvPr/>
        </p:nvSpPr>
        <p:spPr bwMode="auto">
          <a:xfrm>
            <a:off x="6496050" y="3171825"/>
            <a:ext cx="5086350" cy="111442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Latin America crypto economic activity,</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12 months to June 2026 versus the</a:t>
            </a:r>
            <a:endParaRPr/>
          </a:p>
          <a:p>
            <a:pPr algn="l">
              <a:defRPr sz="2100" b="0">
                <a:solidFill>
                  <a:srgbClr val="183440"/>
                </a:solidFill>
                <a:latin typeface="Arial"/>
                <a:ea typeface="Arial"/>
                <a:cs typeface="Arial"/>
              </a:defRPr>
            </a:pPr>
            <a:r>
              <a:rPr sz="2100" b="0">
                <a:solidFill>
                  <a:srgbClr val="183440"/>
                </a:solidFill>
                <a:latin typeface="Arial"/>
                <a:ea typeface="Arial"/>
                <a:cs typeface="Arial"/>
              </a:rPr>
              <a:t>previous 12 months</a:t>
            </a:r>
            <a:endParaRPr/>
          </a:p>
        </p:txBody>
      </p:sp>
      <p:sp>
        <p:nvSpPr>
          <p:cNvPr id="1210127702" name="access-revision-text-41"/>
          <p:cNvSpPr>
            <a:spLocks noGrp="1"/>
          </p:cNvSpPr>
          <p:nvPr/>
        </p:nvSpPr>
        <p:spPr bwMode="auto">
          <a:xfrm>
            <a:off x="6496050" y="4562475"/>
            <a:ext cx="5086350" cy="352425"/>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defRPr sz="1650" b="0">
                <a:solidFill>
                  <a:srgbClr val="53676D"/>
                </a:solidFill>
                <a:latin typeface="Arial"/>
                <a:ea typeface="Arial"/>
                <a:cs typeface="Arial"/>
              </a:defRPr>
            </a:lvl1pPr>
            <a:lvl2pPr algn="l">
              <a:defRPr sz="1650" b="0">
                <a:solidFill>
                  <a:srgbClr val="53676D"/>
                </a:solidFill>
                <a:latin typeface="Arial"/>
                <a:ea typeface="Arial"/>
                <a:cs typeface="Arial"/>
              </a:defRPr>
            </a:lvl2pPr>
            <a:lvl3pPr algn="l">
              <a:defRPr sz="1650" b="0">
                <a:solidFill>
                  <a:srgbClr val="53676D"/>
                </a:solidFill>
                <a:latin typeface="Arial"/>
                <a:ea typeface="Arial"/>
                <a:cs typeface="Arial"/>
              </a:defRPr>
            </a:lvl3pPr>
            <a:lvl4pPr algn="l">
              <a:defRPr sz="1650" b="0">
                <a:solidFill>
                  <a:srgbClr val="53676D"/>
                </a:solidFill>
                <a:latin typeface="Arial"/>
                <a:ea typeface="Arial"/>
                <a:cs typeface="Arial"/>
              </a:defRPr>
            </a:lvl4pPr>
            <a:lvl5pPr algn="l">
              <a:defRPr sz="1650" b="0">
                <a:solidFill>
                  <a:srgbClr val="53676D"/>
                </a:solidFill>
                <a:latin typeface="Arial"/>
                <a:ea typeface="Arial"/>
                <a:cs typeface="Arial"/>
              </a:defRPr>
            </a:lvl5pPr>
            <a:lvl6pPr algn="l">
              <a:defRPr sz="1650" b="0">
                <a:solidFill>
                  <a:srgbClr val="53676D"/>
                </a:solidFill>
                <a:latin typeface="Arial"/>
                <a:ea typeface="Arial"/>
                <a:cs typeface="Arial"/>
              </a:defRPr>
            </a:lvl6pPr>
            <a:lvl7pPr algn="l">
              <a:defRPr sz="1650" b="0">
                <a:solidFill>
                  <a:srgbClr val="53676D"/>
                </a:solidFill>
                <a:latin typeface="Arial"/>
                <a:ea typeface="Arial"/>
                <a:cs typeface="Arial"/>
              </a:defRPr>
            </a:lvl7pPr>
            <a:lvl8pPr algn="l">
              <a:defRPr sz="1650" b="0">
                <a:solidFill>
                  <a:srgbClr val="53676D"/>
                </a:solidFill>
                <a:latin typeface="Arial"/>
                <a:ea typeface="Arial"/>
                <a:cs typeface="Arial"/>
              </a:defRPr>
            </a:lvl8pPr>
            <a:lvl9pPr algn="l">
              <a:defRPr sz="1650" b="0">
                <a:solidFill>
                  <a:srgbClr val="53676D"/>
                </a:solidFill>
                <a:latin typeface="Arial"/>
                <a:ea typeface="Arial"/>
                <a:cs typeface="Arial"/>
              </a:defRPr>
            </a:lvl9pPr>
          </a:lstStyle>
          <a:p>
            <a:pPr algn="l">
              <a:defRPr sz="1650" b="0">
                <a:solidFill>
                  <a:srgbClr val="53676D"/>
                </a:solidFill>
                <a:latin typeface="Arial"/>
                <a:ea typeface="Arial"/>
                <a:cs typeface="Arial"/>
              </a:defRPr>
            </a:pPr>
            <a:r>
              <a:rPr sz="1650" b="0">
                <a:solidFill>
                  <a:srgbClr val="53676D"/>
                </a:solidFill>
                <a:latin typeface="Arial"/>
                <a:ea typeface="Arial"/>
                <a:cs typeface="Arial"/>
              </a:rPr>
              <a:t>Chainalysis 2026 adoption report</a:t>
            </a:r>
            <a:endParaRPr/>
          </a:p>
        </p:txBody>
      </p:sp>
      <p:sp>
        <p:nvSpPr>
          <p:cNvPr id="1433977316" name="access-revision-text-42"/>
          <p:cNvSpPr>
            <a:spLocks noGrp="1"/>
          </p:cNvSpPr>
          <p:nvPr/>
        </p:nvSpPr>
        <p:spPr bwMode="auto">
          <a:xfrm>
            <a:off x="609600" y="5314950"/>
            <a:ext cx="3238500"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defRPr sz="2200" b="1">
                <a:solidFill>
                  <a:srgbClr val="AC8743"/>
                </a:solidFill>
                <a:latin typeface="Arial"/>
                <a:ea typeface="Arial"/>
                <a:cs typeface="Arial"/>
              </a:defRPr>
            </a:lvl1pPr>
            <a:lvl2pPr algn="l">
              <a:defRPr sz="2200" b="1">
                <a:solidFill>
                  <a:srgbClr val="AC8743"/>
                </a:solidFill>
                <a:latin typeface="Arial"/>
                <a:ea typeface="Arial"/>
                <a:cs typeface="Arial"/>
              </a:defRPr>
            </a:lvl2pPr>
            <a:lvl3pPr algn="l">
              <a:defRPr sz="2200" b="1">
                <a:solidFill>
                  <a:srgbClr val="AC8743"/>
                </a:solidFill>
                <a:latin typeface="Arial"/>
                <a:ea typeface="Arial"/>
                <a:cs typeface="Arial"/>
              </a:defRPr>
            </a:lvl3pPr>
            <a:lvl4pPr algn="l">
              <a:defRPr sz="2200" b="1">
                <a:solidFill>
                  <a:srgbClr val="AC8743"/>
                </a:solidFill>
                <a:latin typeface="Arial"/>
                <a:ea typeface="Arial"/>
                <a:cs typeface="Arial"/>
              </a:defRPr>
            </a:lvl4pPr>
            <a:lvl5pPr algn="l">
              <a:defRPr sz="2200" b="1">
                <a:solidFill>
                  <a:srgbClr val="AC8743"/>
                </a:solidFill>
                <a:latin typeface="Arial"/>
                <a:ea typeface="Arial"/>
                <a:cs typeface="Arial"/>
              </a:defRPr>
            </a:lvl5pPr>
            <a:lvl6pPr algn="l">
              <a:defRPr sz="2200" b="1">
                <a:solidFill>
                  <a:srgbClr val="AC8743"/>
                </a:solidFill>
                <a:latin typeface="Arial"/>
                <a:ea typeface="Arial"/>
                <a:cs typeface="Arial"/>
              </a:defRPr>
            </a:lvl6pPr>
            <a:lvl7pPr algn="l">
              <a:defRPr sz="2200" b="1">
                <a:solidFill>
                  <a:srgbClr val="AC8743"/>
                </a:solidFill>
                <a:latin typeface="Arial"/>
                <a:ea typeface="Arial"/>
                <a:cs typeface="Arial"/>
              </a:defRPr>
            </a:lvl7pPr>
            <a:lvl8pPr algn="l">
              <a:defRPr sz="2200" b="1">
                <a:solidFill>
                  <a:srgbClr val="AC8743"/>
                </a:solidFill>
                <a:latin typeface="Arial"/>
                <a:ea typeface="Arial"/>
                <a:cs typeface="Arial"/>
              </a:defRPr>
            </a:lvl8pPr>
            <a:lvl9pPr algn="l">
              <a:defRPr sz="2200" b="1">
                <a:solidFill>
                  <a:srgbClr val="AC8743"/>
                </a:solidFill>
                <a:latin typeface="Arial"/>
                <a:ea typeface="Arial"/>
                <a:cs typeface="Arial"/>
              </a:defRPr>
            </a:lvl9pPr>
          </a:lstStyle>
          <a:p>
            <a:pPr algn="l">
              <a:defRPr sz="2200" b="1">
                <a:solidFill>
                  <a:srgbClr val="AC8743"/>
                </a:solidFill>
                <a:latin typeface="Arial"/>
                <a:ea typeface="Arial"/>
                <a:cs typeface="Arial"/>
              </a:defRPr>
            </a:pPr>
            <a:r>
              <a:rPr sz="2200" b="1">
                <a:solidFill>
                  <a:srgbClr val="AC8743"/>
                </a:solidFill>
                <a:latin typeface="Arial"/>
                <a:ea typeface="Arial"/>
                <a:cs typeface="Arial"/>
              </a:rPr>
              <a:t>D-SHARE opportunity</a:t>
            </a:r>
            <a:endParaRPr/>
          </a:p>
        </p:txBody>
      </p:sp>
      <p:sp>
        <p:nvSpPr>
          <p:cNvPr id="1026848263" name="access-revision-text-43"/>
          <p:cNvSpPr>
            <a:spLocks noGrp="1"/>
          </p:cNvSpPr>
          <p:nvPr/>
        </p:nvSpPr>
        <p:spPr bwMode="auto">
          <a:xfrm>
            <a:off x="4095750" y="5314950"/>
            <a:ext cx="7486650" cy="6858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Connect eligible wallet users to approved equity receipts through accountable partners.</a:t>
            </a:r>
            <a:endParaRPr/>
          </a:p>
        </p:txBody>
      </p:sp>
      <p:sp>
        <p:nvSpPr>
          <p:cNvPr id="872729980" name="access-revision-text-44"/>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These indicators cover payments and crypto activity. DeFi use and D-SHARE demand require separate validation.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08503153" name="access-revision-text-45"/>
          <p:cNvSpPr>
            <a:spLocks noGrp="1"/>
          </p:cNvSpPr>
          <p:nvPr/>
        </p:nvSpPr>
        <p:spPr bwMode="auto">
          <a:xfrm>
            <a:off x="609600" y="504825"/>
            <a:ext cx="10972800" cy="10763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Leading payments engineering</a:t>
            </a:r>
            <a:endParaRPr/>
          </a:p>
          <a:p>
            <a:pPr algn="l">
              <a:defRPr sz="3300" b="1">
                <a:solidFill>
                  <a:srgbClr val="183440"/>
                </a:solidFill>
                <a:latin typeface="Arial"/>
                <a:ea typeface="Arial"/>
                <a:cs typeface="Arial"/>
              </a:defRPr>
            </a:pPr>
            <a:r>
              <a:rPr sz="3300" b="1">
                <a:solidFill>
                  <a:srgbClr val="183440"/>
                </a:solidFill>
                <a:latin typeface="Arial"/>
                <a:ea typeface="Arial"/>
                <a:cs typeface="Arial"/>
              </a:rPr>
              <a:t>to capital markets</a:t>
            </a:r>
            <a:endParaRPr/>
          </a:p>
        </p:txBody>
      </p:sp>
      <p:sp>
        <p:nvSpPr>
          <p:cNvPr id="866941751" name="access-revision-text-46"/>
          <p:cNvSpPr>
            <a:spLocks noGrp="1"/>
          </p:cNvSpPr>
          <p:nvPr/>
        </p:nvSpPr>
        <p:spPr bwMode="auto">
          <a:xfrm>
            <a:off x="609600" y="1695450"/>
            <a:ext cx="10972800" cy="6286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Connextium.xyz / Finux Labs product expansion vision</a:t>
            </a:r>
            <a:endParaRPr/>
          </a:p>
        </p:txBody>
      </p:sp>
      <p:sp>
        <p:nvSpPr>
          <p:cNvPr id="441162180" name="access-revision-text-4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424813775" name="access-revision-text-4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06</a:t>
            </a:r>
            <a:endParaRPr/>
          </a:p>
        </p:txBody>
      </p:sp>
      <p:sp>
        <p:nvSpPr>
          <p:cNvPr id="926995750" name="access-revision-text-49"/>
          <p:cNvSpPr>
            <a:spLocks noGrp="1"/>
          </p:cNvSpPr>
          <p:nvPr/>
        </p:nvSpPr>
        <p:spPr bwMode="auto">
          <a:xfrm>
            <a:off x="60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01</a:t>
            </a:r>
            <a:endParaRPr/>
          </a:p>
        </p:txBody>
      </p:sp>
      <p:sp>
        <p:nvSpPr>
          <p:cNvPr id="1838451812" name="access-revision-text-50"/>
          <p:cNvSpPr>
            <a:spLocks noGrp="1"/>
          </p:cNvSpPr>
          <p:nvPr/>
        </p:nvSpPr>
        <p:spPr bwMode="auto">
          <a:xfrm>
            <a:off x="60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Payments foundation</a:t>
            </a:r>
            <a:endParaRPr/>
          </a:p>
        </p:txBody>
      </p:sp>
      <p:sp>
        <p:nvSpPr>
          <p:cNvPr id="1322718732" name="access-revision-text-51"/>
          <p:cNvSpPr>
            <a:spLocks noGrp="1"/>
          </p:cNvSpPr>
          <p:nvPr/>
        </p:nvSpPr>
        <p:spPr bwMode="auto">
          <a:xfrm>
            <a:off x="60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Accounting and reconciliation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Partner payment integration</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Cash and FX orchestration</a:t>
            </a:r>
            <a:endParaRPr/>
          </a:p>
        </p:txBody>
      </p:sp>
      <p:sp>
        <p:nvSpPr>
          <p:cNvPr id="1726865206" name="access-revision-text-52"/>
          <p:cNvSpPr>
            <a:spLocks noGrp="1"/>
          </p:cNvSpPr>
          <p:nvPr/>
        </p:nvSpPr>
        <p:spPr bwMode="auto">
          <a:xfrm>
            <a:off x="441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02</a:t>
            </a:r>
            <a:endParaRPr/>
          </a:p>
        </p:txBody>
      </p:sp>
      <p:sp>
        <p:nvSpPr>
          <p:cNvPr id="1137384959" name="access-revision-text-53"/>
          <p:cNvSpPr>
            <a:spLocks noGrp="1"/>
          </p:cNvSpPr>
          <p:nvPr/>
        </p:nvSpPr>
        <p:spPr bwMode="auto">
          <a:xfrm>
            <a:off x="441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D-SHARE expansion</a:t>
            </a:r>
            <a:endParaRPr/>
          </a:p>
        </p:txBody>
      </p:sp>
      <p:sp>
        <p:nvSpPr>
          <p:cNvPr id="547694742" name="access-revision-text-54"/>
          <p:cNvSpPr>
            <a:spLocks noGrp="1"/>
          </p:cNvSpPr>
          <p:nvPr/>
        </p:nvSpPr>
        <p:spPr bwMode="auto">
          <a:xfrm>
            <a:off x="441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Share-backed receipt programmes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Approved stablecoin funding</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Custody-linked DLT records</a:t>
            </a:r>
            <a:endParaRPr/>
          </a:p>
        </p:txBody>
      </p:sp>
      <p:sp>
        <p:nvSpPr>
          <p:cNvPr id="401358345" name="access-revision-text-55"/>
          <p:cNvSpPr>
            <a:spLocks noGrp="1"/>
          </p:cNvSpPr>
          <p:nvPr/>
        </p:nvSpPr>
        <p:spPr bwMode="auto">
          <a:xfrm>
            <a:off x="8229600" y="2609850"/>
            <a:ext cx="3333750" cy="657225"/>
          </a:xfrm>
          <a:prstGeom prst="rect">
            <a:avLst/>
          </a:prstGeom>
          <a:noFill/>
          <a:ln w="0">
            <a:noFill/>
            <a:prstDash val="solid"/>
          </a:ln>
        </p:spPr>
        <p:txBody>
          <a:bodyPr wrap="square" lIns="0" tIns="0" rIns="0" bIns="0" anchor="t">
            <a:noAutofit/>
          </a:bodyPr>
          <a:lstStyle>
            <a:defPPr algn="l">
              <a:defRPr sz="3600" b="1">
                <a:solidFill>
                  <a:srgbClr val="AC8743"/>
                </a:solidFill>
                <a:latin typeface="Arial"/>
                <a:ea typeface="Arial"/>
                <a:cs typeface="Arial"/>
              </a:defRPr>
            </a:defPPr>
            <a:lvl1pPr algn="l">
              <a:defRPr sz="3600" b="1">
                <a:solidFill>
                  <a:srgbClr val="AC8743"/>
                </a:solidFill>
                <a:latin typeface="Arial"/>
                <a:ea typeface="Arial"/>
                <a:cs typeface="Arial"/>
              </a:defRPr>
            </a:lvl1pPr>
            <a:lvl2pPr algn="l">
              <a:defRPr sz="3600" b="1">
                <a:solidFill>
                  <a:srgbClr val="AC8743"/>
                </a:solidFill>
                <a:latin typeface="Arial"/>
                <a:ea typeface="Arial"/>
                <a:cs typeface="Arial"/>
              </a:defRPr>
            </a:lvl2pPr>
            <a:lvl3pPr algn="l">
              <a:defRPr sz="3600" b="1">
                <a:solidFill>
                  <a:srgbClr val="AC8743"/>
                </a:solidFill>
                <a:latin typeface="Arial"/>
                <a:ea typeface="Arial"/>
                <a:cs typeface="Arial"/>
              </a:defRPr>
            </a:lvl3pPr>
            <a:lvl4pPr algn="l">
              <a:defRPr sz="3600" b="1">
                <a:solidFill>
                  <a:srgbClr val="AC8743"/>
                </a:solidFill>
                <a:latin typeface="Arial"/>
                <a:ea typeface="Arial"/>
                <a:cs typeface="Arial"/>
              </a:defRPr>
            </a:lvl4pPr>
            <a:lvl5pPr algn="l">
              <a:defRPr sz="3600" b="1">
                <a:solidFill>
                  <a:srgbClr val="AC8743"/>
                </a:solidFill>
                <a:latin typeface="Arial"/>
                <a:ea typeface="Arial"/>
                <a:cs typeface="Arial"/>
              </a:defRPr>
            </a:lvl5pPr>
            <a:lvl6pPr algn="l">
              <a:defRPr sz="3600" b="1">
                <a:solidFill>
                  <a:srgbClr val="AC8743"/>
                </a:solidFill>
                <a:latin typeface="Arial"/>
                <a:ea typeface="Arial"/>
                <a:cs typeface="Arial"/>
              </a:defRPr>
            </a:lvl6pPr>
            <a:lvl7pPr algn="l">
              <a:defRPr sz="3600" b="1">
                <a:solidFill>
                  <a:srgbClr val="AC8743"/>
                </a:solidFill>
                <a:latin typeface="Arial"/>
                <a:ea typeface="Arial"/>
                <a:cs typeface="Arial"/>
              </a:defRPr>
            </a:lvl7pPr>
            <a:lvl8pPr algn="l">
              <a:defRPr sz="3600" b="1">
                <a:solidFill>
                  <a:srgbClr val="AC8743"/>
                </a:solidFill>
                <a:latin typeface="Arial"/>
                <a:ea typeface="Arial"/>
                <a:cs typeface="Arial"/>
              </a:defRPr>
            </a:lvl8pPr>
            <a:lvl9pPr algn="l">
              <a:defRPr sz="3600" b="1">
                <a:solidFill>
                  <a:srgbClr val="AC8743"/>
                </a:solidFill>
                <a:latin typeface="Arial"/>
                <a:ea typeface="Arial"/>
                <a:cs typeface="Arial"/>
              </a:defRPr>
            </a:lvl9pPr>
          </a:lstStyle>
          <a:p>
            <a:pPr algn="l">
              <a:defRPr sz="3600" b="1">
                <a:solidFill>
                  <a:srgbClr val="AC8743"/>
                </a:solidFill>
                <a:latin typeface="Arial"/>
                <a:ea typeface="Arial"/>
                <a:cs typeface="Arial"/>
              </a:defRPr>
            </a:pPr>
            <a:r>
              <a:rPr sz="3600" b="1">
                <a:solidFill>
                  <a:srgbClr val="AC8743"/>
                </a:solidFill>
                <a:latin typeface="Arial"/>
                <a:ea typeface="Arial"/>
                <a:cs typeface="Arial"/>
              </a:rPr>
              <a:t>03</a:t>
            </a:r>
            <a:endParaRPr/>
          </a:p>
        </p:txBody>
      </p:sp>
      <p:sp>
        <p:nvSpPr>
          <p:cNvPr id="837888669" name="access-revision-text-56"/>
          <p:cNvSpPr>
            <a:spLocks noGrp="1"/>
          </p:cNvSpPr>
          <p:nvPr/>
        </p:nvSpPr>
        <p:spPr bwMode="auto">
          <a:xfrm>
            <a:off x="8229600" y="3476625"/>
            <a:ext cx="3333750" cy="733424"/>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defRPr sz="2200" b="1">
                <a:solidFill>
                  <a:srgbClr val="176C6B"/>
                </a:solidFill>
                <a:latin typeface="Arial"/>
                <a:ea typeface="Arial"/>
                <a:cs typeface="Arial"/>
              </a:defRPr>
            </a:lvl1pPr>
            <a:lvl2pPr algn="l">
              <a:defRPr sz="2200" b="1">
                <a:solidFill>
                  <a:srgbClr val="176C6B"/>
                </a:solidFill>
                <a:latin typeface="Arial"/>
                <a:ea typeface="Arial"/>
                <a:cs typeface="Arial"/>
              </a:defRPr>
            </a:lvl2pPr>
            <a:lvl3pPr algn="l">
              <a:defRPr sz="2200" b="1">
                <a:solidFill>
                  <a:srgbClr val="176C6B"/>
                </a:solidFill>
                <a:latin typeface="Arial"/>
                <a:ea typeface="Arial"/>
                <a:cs typeface="Arial"/>
              </a:defRPr>
            </a:lvl3pPr>
            <a:lvl4pPr algn="l">
              <a:defRPr sz="2200" b="1">
                <a:solidFill>
                  <a:srgbClr val="176C6B"/>
                </a:solidFill>
                <a:latin typeface="Arial"/>
                <a:ea typeface="Arial"/>
                <a:cs typeface="Arial"/>
              </a:defRPr>
            </a:lvl4pPr>
            <a:lvl5pPr algn="l">
              <a:defRPr sz="2200" b="1">
                <a:solidFill>
                  <a:srgbClr val="176C6B"/>
                </a:solidFill>
                <a:latin typeface="Arial"/>
                <a:ea typeface="Arial"/>
                <a:cs typeface="Arial"/>
              </a:defRPr>
            </a:lvl5pPr>
            <a:lvl6pPr algn="l">
              <a:defRPr sz="2200" b="1">
                <a:solidFill>
                  <a:srgbClr val="176C6B"/>
                </a:solidFill>
                <a:latin typeface="Arial"/>
                <a:ea typeface="Arial"/>
                <a:cs typeface="Arial"/>
              </a:defRPr>
            </a:lvl6pPr>
            <a:lvl7pPr algn="l">
              <a:defRPr sz="2200" b="1">
                <a:solidFill>
                  <a:srgbClr val="176C6B"/>
                </a:solidFill>
                <a:latin typeface="Arial"/>
                <a:ea typeface="Arial"/>
                <a:cs typeface="Arial"/>
              </a:defRPr>
            </a:lvl7pPr>
            <a:lvl8pPr algn="l">
              <a:defRPr sz="2200" b="1">
                <a:solidFill>
                  <a:srgbClr val="176C6B"/>
                </a:solidFill>
                <a:latin typeface="Arial"/>
                <a:ea typeface="Arial"/>
                <a:cs typeface="Arial"/>
              </a:defRPr>
            </a:lvl8pPr>
            <a:lvl9pPr algn="l">
              <a:defRPr sz="2200" b="1">
                <a:solidFill>
                  <a:srgbClr val="176C6B"/>
                </a:solidFill>
                <a:latin typeface="Arial"/>
                <a:ea typeface="Arial"/>
                <a:cs typeface="Arial"/>
              </a:defRPr>
            </a:lvl9pPr>
          </a:lstStyle>
          <a:p>
            <a:pPr algn="l">
              <a:defRPr sz="2200" b="1">
                <a:solidFill>
                  <a:srgbClr val="176C6B"/>
                </a:solidFill>
                <a:latin typeface="Arial"/>
                <a:ea typeface="Arial"/>
                <a:cs typeface="Arial"/>
              </a:defRPr>
            </a:pPr>
            <a:r>
              <a:rPr sz="2200" b="1">
                <a:solidFill>
                  <a:srgbClr val="176C6B"/>
                </a:solidFill>
                <a:latin typeface="Arial"/>
                <a:ea typeface="Arial"/>
                <a:cs typeface="Arial"/>
              </a:rPr>
              <a:t>Product growth</a:t>
            </a:r>
            <a:endParaRPr/>
          </a:p>
        </p:txBody>
      </p:sp>
      <p:sp>
        <p:nvSpPr>
          <p:cNvPr id="511392278" name="access-revision-text-57"/>
          <p:cNvSpPr>
            <a:spLocks noGrp="1"/>
          </p:cNvSpPr>
          <p:nvPr/>
        </p:nvSpPr>
        <p:spPr bwMode="auto">
          <a:xfrm>
            <a:off x="8229600" y="4438650"/>
            <a:ext cx="3333750" cy="1209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defRPr sz="1900" b="0">
                <a:solidFill>
                  <a:srgbClr val="183440"/>
                </a:solidFill>
                <a:latin typeface="Arial"/>
                <a:ea typeface="Arial"/>
                <a:cs typeface="Arial"/>
              </a:defRPr>
            </a:lvl1pPr>
            <a:lvl2pPr algn="l">
              <a:defRPr sz="1900" b="0">
                <a:solidFill>
                  <a:srgbClr val="183440"/>
                </a:solidFill>
                <a:latin typeface="Arial"/>
                <a:ea typeface="Arial"/>
                <a:cs typeface="Arial"/>
              </a:defRPr>
            </a:lvl2pPr>
            <a:lvl3pPr algn="l">
              <a:defRPr sz="1900" b="0">
                <a:solidFill>
                  <a:srgbClr val="183440"/>
                </a:solidFill>
                <a:latin typeface="Arial"/>
                <a:ea typeface="Arial"/>
                <a:cs typeface="Arial"/>
              </a:defRPr>
            </a:lvl3pPr>
            <a:lvl4pPr algn="l">
              <a:defRPr sz="1900" b="0">
                <a:solidFill>
                  <a:srgbClr val="183440"/>
                </a:solidFill>
                <a:latin typeface="Arial"/>
                <a:ea typeface="Arial"/>
                <a:cs typeface="Arial"/>
              </a:defRPr>
            </a:lvl4pPr>
            <a:lvl5pPr algn="l">
              <a:defRPr sz="1900" b="0">
                <a:solidFill>
                  <a:srgbClr val="183440"/>
                </a:solidFill>
                <a:latin typeface="Arial"/>
                <a:ea typeface="Arial"/>
                <a:cs typeface="Arial"/>
              </a:defRPr>
            </a:lvl5pPr>
            <a:lvl6pPr algn="l">
              <a:defRPr sz="1900" b="0">
                <a:solidFill>
                  <a:srgbClr val="183440"/>
                </a:solidFill>
                <a:latin typeface="Arial"/>
                <a:ea typeface="Arial"/>
                <a:cs typeface="Arial"/>
              </a:defRPr>
            </a:lvl6pPr>
            <a:lvl7pPr algn="l">
              <a:defRPr sz="1900" b="0">
                <a:solidFill>
                  <a:srgbClr val="183440"/>
                </a:solidFill>
                <a:latin typeface="Arial"/>
                <a:ea typeface="Arial"/>
                <a:cs typeface="Arial"/>
              </a:defRPr>
            </a:lvl7pPr>
            <a:lvl8pPr algn="l">
              <a:defRPr sz="1900" b="0">
                <a:solidFill>
                  <a:srgbClr val="183440"/>
                </a:solidFill>
                <a:latin typeface="Arial"/>
                <a:ea typeface="Arial"/>
                <a:cs typeface="Arial"/>
              </a:defRPr>
            </a:lvl8pPr>
            <a:lvl9pPr algn="l">
              <a:defRPr sz="1900" b="0">
                <a:solidFill>
                  <a:srgbClr val="183440"/>
                </a:solidFill>
                <a:latin typeface="Arial"/>
                <a:ea typeface="Arial"/>
                <a:cs typeface="Arial"/>
              </a:defRPr>
            </a:lvl9pPr>
          </a:lstStyle>
          <a:p>
            <a:pPr algn="l">
              <a:defRPr sz="1900" b="0">
                <a:solidFill>
                  <a:srgbClr val="183440"/>
                </a:solidFill>
                <a:latin typeface="Arial"/>
                <a:ea typeface="Arial"/>
                <a:cs typeface="Arial"/>
              </a:defRPr>
            </a:pPr>
            <a:r>
              <a:rPr sz="1900" b="0">
                <a:solidFill>
                  <a:srgbClr val="183440"/>
                </a:solidFill>
                <a:latin typeface="Arial"/>
                <a:ea typeface="Arial"/>
                <a:cs typeface="Arial"/>
              </a:rPr>
              <a:t>More equity receipt series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Additional permitted markets</a:t>
            </a:r>
            <a:endParaRPr/>
          </a:p>
          <a:p>
            <a:pPr algn="l">
              <a:defRPr sz="1900" b="0">
                <a:solidFill>
                  <a:srgbClr val="183440"/>
                </a:solidFill>
                <a:latin typeface="Arial"/>
                <a:ea typeface="Arial"/>
                <a:cs typeface="Arial"/>
              </a:defRPr>
            </a:pPr>
            <a:r>
              <a:rPr sz="1900" b="0">
                <a:solidFill>
                  <a:srgbClr val="183440"/>
                </a:solidFill>
                <a:latin typeface="Arial"/>
                <a:ea typeface="Arial"/>
                <a:cs typeface="Arial"/>
              </a:rPr>
              <a:t>Broader partner distribution</a:t>
            </a:r>
            <a:endParaRPr/>
          </a:p>
        </p:txBody>
      </p:sp>
      <p:sp>
        <p:nvSpPr>
          <p:cNvPr id="890843733" name="access-revision-text-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Phase A builds the first market-ready receipt programme. Additional markets and derivatives require separate readiness.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511890434" name="full-text-200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Global equity access for stablecoin adoption</a:t>
            </a:r>
            <a:endParaRPr/>
          </a:p>
        </p:txBody>
      </p:sp>
      <p:sp>
        <p:nvSpPr>
          <p:cNvPr id="783635323" name="full-text-2002"/>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822043869" name="full-text-2003"/>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07</a:t>
            </a:r>
            <a:endParaRPr/>
          </a:p>
        </p:txBody>
      </p:sp>
      <p:sp>
        <p:nvSpPr>
          <p:cNvPr id="144741086" name="full-text-2004"/>
          <p:cNvSpPr>
            <a:spLocks noGrp="1"/>
          </p:cNvSpPr>
          <p:nvPr/>
        </p:nvSpPr>
        <p:spPr bwMode="auto">
          <a:xfrm>
            <a:off x="609600" y="1809750"/>
            <a:ext cx="10972800" cy="138112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Market adoption of stablecoin to invest in global equity</a:t>
            </a:r>
            <a:endParaRPr/>
          </a:p>
          <a:p>
            <a:pPr algn="l">
              <a:buNone/>
              <a:defRPr sz="3300" b="1">
                <a:solidFill>
                  <a:srgbClr val="183440"/>
                </a:solidFill>
                <a:latin typeface="Arial"/>
                <a:ea typeface="Arial"/>
                <a:cs typeface="Arial"/>
              </a:defRPr>
            </a:pPr>
            <a:r>
              <a:rPr sz="3300" b="1">
                <a:solidFill>
                  <a:srgbClr val="183440"/>
                </a:solidFill>
                <a:latin typeface="Arial"/>
                <a:ea typeface="Arial"/>
                <a:cs typeface="Arial"/>
              </a:rPr>
              <a:t>through accountable financial structure.</a:t>
            </a:r>
            <a:endParaRPr/>
          </a:p>
        </p:txBody>
      </p:sp>
      <p:sp>
        <p:nvSpPr>
          <p:cNvPr id="1956060087" name="full-text-2005"/>
          <p:cNvSpPr>
            <a:spLocks noGrp="1"/>
          </p:cNvSpPr>
          <p:nvPr/>
        </p:nvSpPr>
        <p:spPr bwMode="auto">
          <a:xfrm>
            <a:off x="609600" y="3629025"/>
            <a:ext cx="10953750" cy="1028700"/>
          </a:xfrm>
          <a:prstGeom prst="rect">
            <a:avLst/>
          </a:prstGeom>
          <a:noFill/>
          <a:ln w="0">
            <a:noFill/>
            <a:prstDash val="solid"/>
          </a:ln>
        </p:spPr>
        <p:txBody>
          <a:bodyPr wrap="square" lIns="0" tIns="0" rIns="0" bIns="0" anchor="t">
            <a:noAutofit/>
          </a:bodyPr>
          <a:lstStyle>
            <a:defPPr algn="l">
              <a:defRPr sz="2200" b="0">
                <a:solidFill>
                  <a:srgbClr val="53676D"/>
                </a:solidFill>
                <a:latin typeface="Arial"/>
                <a:ea typeface="Arial"/>
                <a:cs typeface="Arial"/>
              </a:defRPr>
            </a:defPPr>
            <a:lvl1pPr algn="l">
              <a:buNone/>
              <a:defRPr sz="2200" b="0">
                <a:solidFill>
                  <a:srgbClr val="53676D"/>
                </a:solidFill>
                <a:latin typeface="Arial"/>
                <a:ea typeface="Arial"/>
                <a:cs typeface="Arial"/>
              </a:defRPr>
            </a:lvl1pPr>
            <a:lvl2pPr algn="l">
              <a:buNone/>
              <a:defRPr sz="2200" b="0">
                <a:solidFill>
                  <a:srgbClr val="53676D"/>
                </a:solidFill>
                <a:latin typeface="Arial"/>
                <a:ea typeface="Arial"/>
                <a:cs typeface="Arial"/>
              </a:defRPr>
            </a:lvl2pPr>
            <a:lvl3pPr algn="l">
              <a:buNone/>
              <a:defRPr sz="2200" b="0">
                <a:solidFill>
                  <a:srgbClr val="53676D"/>
                </a:solidFill>
                <a:latin typeface="Arial"/>
                <a:ea typeface="Arial"/>
                <a:cs typeface="Arial"/>
              </a:defRPr>
            </a:lvl3pPr>
            <a:lvl4pPr algn="l">
              <a:buNone/>
              <a:defRPr sz="2200" b="0">
                <a:solidFill>
                  <a:srgbClr val="53676D"/>
                </a:solidFill>
                <a:latin typeface="Arial"/>
                <a:ea typeface="Arial"/>
                <a:cs typeface="Arial"/>
              </a:defRPr>
            </a:lvl4pPr>
            <a:lvl5pPr algn="l">
              <a:buNone/>
              <a:defRPr sz="2200" b="0">
                <a:solidFill>
                  <a:srgbClr val="53676D"/>
                </a:solidFill>
                <a:latin typeface="Arial"/>
                <a:ea typeface="Arial"/>
                <a:cs typeface="Arial"/>
              </a:defRPr>
            </a:lvl5pPr>
            <a:lvl6pPr algn="l">
              <a:buNone/>
              <a:defRPr sz="2200" b="0">
                <a:solidFill>
                  <a:srgbClr val="53676D"/>
                </a:solidFill>
                <a:latin typeface="Arial"/>
                <a:ea typeface="Arial"/>
                <a:cs typeface="Arial"/>
              </a:defRPr>
            </a:lvl6pPr>
            <a:lvl7pPr algn="l">
              <a:buNone/>
              <a:defRPr sz="2200" b="0">
                <a:solidFill>
                  <a:srgbClr val="53676D"/>
                </a:solidFill>
                <a:latin typeface="Arial"/>
                <a:ea typeface="Arial"/>
                <a:cs typeface="Arial"/>
              </a:defRPr>
            </a:lvl7pPr>
            <a:lvl8pPr algn="l">
              <a:buNone/>
              <a:defRPr sz="2200" b="0">
                <a:solidFill>
                  <a:srgbClr val="53676D"/>
                </a:solidFill>
                <a:latin typeface="Arial"/>
                <a:ea typeface="Arial"/>
                <a:cs typeface="Arial"/>
              </a:defRPr>
            </a:lvl8pPr>
            <a:lvl9pPr algn="l">
              <a:buNone/>
              <a:defRPr sz="2200" b="0">
                <a:solidFill>
                  <a:srgbClr val="53676D"/>
                </a:solidFill>
                <a:latin typeface="Arial"/>
                <a:ea typeface="Arial"/>
                <a:cs typeface="Arial"/>
              </a:defRPr>
            </a:lvl9pPr>
          </a:lstStyle>
          <a:p>
            <a:pPr algn="l">
              <a:buNone/>
              <a:defRPr sz="2200" b="0">
                <a:solidFill>
                  <a:srgbClr val="53676D"/>
                </a:solidFill>
                <a:latin typeface="Arial"/>
                <a:ea typeface="Arial"/>
                <a:cs typeface="Arial"/>
              </a:defRPr>
            </a:pPr>
            <a:r>
              <a:rPr sz="2200" b="0">
                <a:solidFill>
                  <a:srgbClr val="53676D"/>
                </a:solidFill>
                <a:latin typeface="Arial"/>
                <a:ea typeface="Arial"/>
                <a:cs typeface="Arial"/>
              </a:rPr>
              <a:t>D-SHARE aims to give ordinary investors smaller equity receipt units,</a:t>
            </a:r>
            <a:endParaRPr/>
          </a:p>
          <a:p>
            <a:pPr algn="l">
              <a:buNone/>
              <a:defRPr sz="2200" b="0">
                <a:solidFill>
                  <a:srgbClr val="53676D"/>
                </a:solidFill>
                <a:latin typeface="Arial"/>
                <a:ea typeface="Arial"/>
                <a:cs typeface="Arial"/>
              </a:defRPr>
            </a:pPr>
            <a:r>
              <a:rPr sz="2200" b="0">
                <a:solidFill>
                  <a:srgbClr val="53676D"/>
                </a:solidFill>
                <a:latin typeface="Arial"/>
                <a:ea typeface="Arial"/>
                <a:cs typeface="Arial"/>
              </a:rPr>
              <a:t>with global share exposure through approved local partners and cash rails.</a:t>
            </a:r>
            <a:endParaRPr/>
          </a:p>
        </p:txBody>
      </p:sp>
      <p:sp>
        <p:nvSpPr>
          <p:cNvPr id="551596950" name="full-rule-2006"/>
          <p:cNvSpPr>
            <a:spLocks noGrp="1"/>
          </p:cNvSpPr>
          <p:nvPr/>
        </p:nvSpPr>
        <p:spPr bwMode="auto">
          <a:xfrm>
            <a:off x="609600" y="5067300"/>
            <a:ext cx="10972800" cy="0"/>
          </a:xfrm>
          <a:prstGeom prst="line">
            <a:avLst/>
          </a:prstGeom>
          <a:noFill/>
          <a:ln w="11430">
            <a:solidFill>
              <a:srgbClr val="CFD7D1"/>
            </a:solidFill>
            <a:prstDash val="solid"/>
          </a:ln>
        </p:spPr>
      </p:sp>
      <p:sp>
        <p:nvSpPr>
          <p:cNvPr id="133533591" name="full-text-2007"/>
          <p:cNvSpPr>
            <a:spLocks noGrp="1"/>
          </p:cNvSpPr>
          <p:nvPr/>
        </p:nvSpPr>
        <p:spPr bwMode="auto">
          <a:xfrm>
            <a:off x="609600" y="5400675"/>
            <a:ext cx="2952750" cy="400050"/>
          </a:xfrm>
          <a:prstGeom prst="rect">
            <a:avLst/>
          </a:prstGeom>
          <a:noFill/>
          <a:ln w="0">
            <a:noFill/>
            <a:prstDash val="solid"/>
          </a:ln>
        </p:spPr>
        <p:txBody>
          <a:bodyPr wrap="square" lIns="0" tIns="0" rIns="0" bIns="0" anchor="t">
            <a:noAutofit/>
          </a:bodyPr>
          <a:lstStyle>
            <a:defPPr algn="l">
              <a:defRPr sz="2050" b="1">
                <a:solidFill>
                  <a:srgbClr val="AC8743"/>
                </a:solidFill>
                <a:latin typeface="Arial"/>
                <a:ea typeface="Arial"/>
                <a:cs typeface="Arial"/>
              </a:defRPr>
            </a:defPPr>
            <a:lvl1pPr algn="l">
              <a:buNone/>
              <a:defRPr sz="2050" b="1">
                <a:solidFill>
                  <a:srgbClr val="AC8743"/>
                </a:solidFill>
                <a:latin typeface="Arial"/>
                <a:ea typeface="Arial"/>
                <a:cs typeface="Arial"/>
              </a:defRPr>
            </a:lvl1pPr>
            <a:lvl2pPr algn="l">
              <a:buNone/>
              <a:defRPr sz="2050" b="1">
                <a:solidFill>
                  <a:srgbClr val="AC8743"/>
                </a:solidFill>
                <a:latin typeface="Arial"/>
                <a:ea typeface="Arial"/>
                <a:cs typeface="Arial"/>
              </a:defRPr>
            </a:lvl2pPr>
            <a:lvl3pPr algn="l">
              <a:buNone/>
              <a:defRPr sz="2050" b="1">
                <a:solidFill>
                  <a:srgbClr val="AC8743"/>
                </a:solidFill>
                <a:latin typeface="Arial"/>
                <a:ea typeface="Arial"/>
                <a:cs typeface="Arial"/>
              </a:defRPr>
            </a:lvl3pPr>
            <a:lvl4pPr algn="l">
              <a:buNone/>
              <a:defRPr sz="2050" b="1">
                <a:solidFill>
                  <a:srgbClr val="AC8743"/>
                </a:solidFill>
                <a:latin typeface="Arial"/>
                <a:ea typeface="Arial"/>
                <a:cs typeface="Arial"/>
              </a:defRPr>
            </a:lvl4pPr>
            <a:lvl5pPr algn="l">
              <a:buNone/>
              <a:defRPr sz="2050" b="1">
                <a:solidFill>
                  <a:srgbClr val="AC8743"/>
                </a:solidFill>
                <a:latin typeface="Arial"/>
                <a:ea typeface="Arial"/>
                <a:cs typeface="Arial"/>
              </a:defRPr>
            </a:lvl5pPr>
            <a:lvl6pPr algn="l">
              <a:buNone/>
              <a:defRPr sz="2050" b="1">
                <a:solidFill>
                  <a:srgbClr val="AC8743"/>
                </a:solidFill>
                <a:latin typeface="Arial"/>
                <a:ea typeface="Arial"/>
                <a:cs typeface="Arial"/>
              </a:defRPr>
            </a:lvl6pPr>
            <a:lvl7pPr algn="l">
              <a:buNone/>
              <a:defRPr sz="2050" b="1">
                <a:solidFill>
                  <a:srgbClr val="AC8743"/>
                </a:solidFill>
                <a:latin typeface="Arial"/>
                <a:ea typeface="Arial"/>
                <a:cs typeface="Arial"/>
              </a:defRPr>
            </a:lvl7pPr>
            <a:lvl8pPr algn="l">
              <a:buNone/>
              <a:defRPr sz="2050" b="1">
                <a:solidFill>
                  <a:srgbClr val="AC8743"/>
                </a:solidFill>
                <a:latin typeface="Arial"/>
                <a:ea typeface="Arial"/>
                <a:cs typeface="Arial"/>
              </a:defRPr>
            </a:lvl8pPr>
            <a:lvl9pPr algn="l">
              <a:buNone/>
              <a:defRPr sz="2050" b="1">
                <a:solidFill>
                  <a:srgbClr val="AC8743"/>
                </a:solidFill>
                <a:latin typeface="Arial"/>
                <a:ea typeface="Arial"/>
                <a:cs typeface="Arial"/>
              </a:defRPr>
            </a:lvl9pPr>
          </a:lstStyle>
          <a:p>
            <a:pPr algn="l">
              <a:buNone/>
              <a:defRPr sz="2050" b="1">
                <a:solidFill>
                  <a:srgbClr val="AC8743"/>
                </a:solidFill>
                <a:latin typeface="Arial"/>
                <a:ea typeface="Arial"/>
                <a:cs typeface="Arial"/>
              </a:defRPr>
            </a:pPr>
            <a:r>
              <a:rPr sz="2050" b="1">
                <a:solidFill>
                  <a:srgbClr val="AC8743"/>
                </a:solidFill>
                <a:latin typeface="Arial"/>
                <a:ea typeface="Arial"/>
                <a:cs typeface="Arial"/>
              </a:rPr>
              <a:t>First milestone</a:t>
            </a:r>
            <a:endParaRPr/>
          </a:p>
        </p:txBody>
      </p:sp>
      <p:sp>
        <p:nvSpPr>
          <p:cNvPr id="332688408" name="full-text-2008"/>
          <p:cNvSpPr>
            <a:spLocks noGrp="1"/>
          </p:cNvSpPr>
          <p:nvPr/>
        </p:nvSpPr>
        <p:spPr bwMode="auto">
          <a:xfrm>
            <a:off x="3429000" y="5400675"/>
            <a:ext cx="8048625" cy="714375"/>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One issuer-sponsored programme, with an approved USDC route and gated RedCoin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90800975" name="access-revision-text-5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1. Create the product</a:t>
            </a:r>
            <a:endParaRPr/>
          </a:p>
        </p:txBody>
      </p:sp>
      <p:sp>
        <p:nvSpPr>
          <p:cNvPr id="1563885517" name="access-revision-text-6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Fictional GlobalTech series GT-01. One token records one programme receipt unit.</a:t>
            </a:r>
            <a:endParaRPr/>
          </a:p>
        </p:txBody>
      </p:sp>
      <p:sp>
        <p:nvSpPr>
          <p:cNvPr id="9539649" name="access-revision-text-6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762948351" name="access-revision-text-6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09</a:t>
            </a:r>
            <a:endParaRPr/>
          </a:p>
        </p:txBody>
      </p:sp>
      <p:sp>
        <p:nvSpPr>
          <p:cNvPr id="1466381151" name="access-revision-text-63"/>
          <p:cNvSpPr>
            <a:spLocks noGrp="1"/>
          </p:cNvSpPr>
          <p:nvPr/>
        </p:nvSpPr>
        <p:spPr bwMode="auto">
          <a:xfrm>
            <a:off x="609600" y="2247900"/>
            <a:ext cx="33337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US$1,200</a:t>
            </a:r>
            <a:endParaRPr/>
          </a:p>
        </p:txBody>
      </p:sp>
      <p:sp>
        <p:nvSpPr>
          <p:cNvPr id="1786776738" name="access-revision-text-64"/>
          <p:cNvSpPr>
            <a:spLocks noGrp="1"/>
          </p:cNvSpPr>
          <p:nvPr/>
        </p:nvSpPr>
        <p:spPr bwMode="auto">
          <a:xfrm>
            <a:off x="609600" y="3114675"/>
            <a:ext cx="33337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Underlying share price</a:t>
            </a:r>
            <a:endParaRPr/>
          </a:p>
        </p:txBody>
      </p:sp>
      <p:sp>
        <p:nvSpPr>
          <p:cNvPr id="844241908" name="access-revision-text-65"/>
          <p:cNvSpPr>
            <a:spLocks noGrp="1"/>
          </p:cNvSpPr>
          <p:nvPr/>
        </p:nvSpPr>
        <p:spPr bwMode="auto">
          <a:xfrm>
            <a:off x="4638675" y="2247900"/>
            <a:ext cx="2857500" cy="762000"/>
          </a:xfrm>
          <a:prstGeom prst="rect">
            <a:avLst/>
          </a:prstGeom>
          <a:noFill/>
          <a:ln w="0">
            <a:noFill/>
            <a:prstDash val="solid"/>
          </a:ln>
        </p:spPr>
        <p:txBody>
          <a:bodyPr wrap="square" lIns="0" tIns="0" rIns="0" bIns="0" anchor="t">
            <a:noAutofit/>
          </a:bodyPr>
          <a:lstStyle>
            <a:defPPr algn="l">
              <a:defRPr sz="4150" b="1">
                <a:solidFill>
                  <a:srgbClr val="176C6B"/>
                </a:solidFill>
                <a:latin typeface="Arial"/>
                <a:ea typeface="Arial"/>
                <a:cs typeface="Arial"/>
              </a:defRPr>
            </a:defPPr>
            <a:lvl1pPr algn="l">
              <a:defRPr sz="4150" b="1">
                <a:solidFill>
                  <a:srgbClr val="176C6B"/>
                </a:solidFill>
                <a:latin typeface="Arial"/>
                <a:ea typeface="Arial"/>
                <a:cs typeface="Arial"/>
              </a:defRPr>
            </a:lvl1pPr>
            <a:lvl2pPr algn="l">
              <a:defRPr sz="4150" b="1">
                <a:solidFill>
                  <a:srgbClr val="176C6B"/>
                </a:solidFill>
                <a:latin typeface="Arial"/>
                <a:ea typeface="Arial"/>
                <a:cs typeface="Arial"/>
              </a:defRPr>
            </a:lvl2pPr>
            <a:lvl3pPr algn="l">
              <a:defRPr sz="4150" b="1">
                <a:solidFill>
                  <a:srgbClr val="176C6B"/>
                </a:solidFill>
                <a:latin typeface="Arial"/>
                <a:ea typeface="Arial"/>
                <a:cs typeface="Arial"/>
              </a:defRPr>
            </a:lvl3pPr>
            <a:lvl4pPr algn="l">
              <a:defRPr sz="4150" b="1">
                <a:solidFill>
                  <a:srgbClr val="176C6B"/>
                </a:solidFill>
                <a:latin typeface="Arial"/>
                <a:ea typeface="Arial"/>
                <a:cs typeface="Arial"/>
              </a:defRPr>
            </a:lvl4pPr>
            <a:lvl5pPr algn="l">
              <a:defRPr sz="4150" b="1">
                <a:solidFill>
                  <a:srgbClr val="176C6B"/>
                </a:solidFill>
                <a:latin typeface="Arial"/>
                <a:ea typeface="Arial"/>
                <a:cs typeface="Arial"/>
              </a:defRPr>
            </a:lvl5pPr>
            <a:lvl6pPr algn="l">
              <a:defRPr sz="4150" b="1">
                <a:solidFill>
                  <a:srgbClr val="176C6B"/>
                </a:solidFill>
                <a:latin typeface="Arial"/>
                <a:ea typeface="Arial"/>
                <a:cs typeface="Arial"/>
              </a:defRPr>
            </a:lvl6pPr>
            <a:lvl7pPr algn="l">
              <a:defRPr sz="4150" b="1">
                <a:solidFill>
                  <a:srgbClr val="176C6B"/>
                </a:solidFill>
                <a:latin typeface="Arial"/>
                <a:ea typeface="Arial"/>
                <a:cs typeface="Arial"/>
              </a:defRPr>
            </a:lvl7pPr>
            <a:lvl8pPr algn="l">
              <a:defRPr sz="4150" b="1">
                <a:solidFill>
                  <a:srgbClr val="176C6B"/>
                </a:solidFill>
                <a:latin typeface="Arial"/>
                <a:ea typeface="Arial"/>
                <a:cs typeface="Arial"/>
              </a:defRPr>
            </a:lvl8pPr>
            <a:lvl9pPr algn="l">
              <a:defRPr sz="4150" b="1">
                <a:solidFill>
                  <a:srgbClr val="176C6B"/>
                </a:solidFill>
                <a:latin typeface="Arial"/>
                <a:ea typeface="Arial"/>
                <a:cs typeface="Arial"/>
              </a:defRPr>
            </a:lvl9pPr>
          </a:lstStyle>
          <a:p>
            <a:pPr algn="l">
              <a:defRPr sz="4150" b="1">
                <a:solidFill>
                  <a:srgbClr val="176C6B"/>
                </a:solidFill>
                <a:latin typeface="Arial"/>
                <a:ea typeface="Arial"/>
                <a:cs typeface="Arial"/>
              </a:defRPr>
            </a:pPr>
            <a:r>
              <a:rPr sz="4150" b="1">
                <a:solidFill>
                  <a:srgbClr val="176C6B"/>
                </a:solidFill>
                <a:latin typeface="Arial"/>
                <a:ea typeface="Arial"/>
                <a:cs typeface="Arial"/>
              </a:rPr>
              <a:t>0.01</a:t>
            </a:r>
            <a:endParaRPr/>
          </a:p>
        </p:txBody>
      </p:sp>
      <p:sp>
        <p:nvSpPr>
          <p:cNvPr id="1665834835" name="access-revision-text-66"/>
          <p:cNvSpPr>
            <a:spLocks noGrp="1"/>
          </p:cNvSpPr>
          <p:nvPr/>
        </p:nvSpPr>
        <p:spPr bwMode="auto">
          <a:xfrm>
            <a:off x="4638675" y="3114675"/>
            <a:ext cx="285750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Share per receipt</a:t>
            </a:r>
            <a:endParaRPr/>
          </a:p>
        </p:txBody>
      </p:sp>
      <p:sp>
        <p:nvSpPr>
          <p:cNvPr id="1965039437" name="access-revision-text-67"/>
          <p:cNvSpPr>
            <a:spLocks noGrp="1"/>
          </p:cNvSpPr>
          <p:nvPr/>
        </p:nvSpPr>
        <p:spPr bwMode="auto">
          <a:xfrm>
            <a:off x="8477250" y="2247900"/>
            <a:ext cx="3105150" cy="762000"/>
          </a:xfrm>
          <a:prstGeom prst="rect">
            <a:avLst/>
          </a:prstGeom>
          <a:noFill/>
          <a:ln w="0">
            <a:noFill/>
            <a:prstDash val="solid"/>
          </a:ln>
        </p:spPr>
        <p:txBody>
          <a:bodyPr wrap="square" lIns="0" tIns="0" rIns="0" bIns="0" anchor="t">
            <a:noAutofit/>
          </a:bodyPr>
          <a:lstStyle>
            <a:defPPr algn="l">
              <a:defRPr sz="4150" b="1">
                <a:solidFill>
                  <a:srgbClr val="183440"/>
                </a:solidFill>
                <a:latin typeface="Arial"/>
                <a:ea typeface="Arial"/>
                <a:cs typeface="Arial"/>
              </a:defRPr>
            </a:defPPr>
            <a:lvl1pPr algn="l">
              <a:defRPr sz="4150" b="1">
                <a:solidFill>
                  <a:srgbClr val="183440"/>
                </a:solidFill>
                <a:latin typeface="Arial"/>
                <a:ea typeface="Arial"/>
                <a:cs typeface="Arial"/>
              </a:defRPr>
            </a:lvl1pPr>
            <a:lvl2pPr algn="l">
              <a:defRPr sz="4150" b="1">
                <a:solidFill>
                  <a:srgbClr val="183440"/>
                </a:solidFill>
                <a:latin typeface="Arial"/>
                <a:ea typeface="Arial"/>
                <a:cs typeface="Arial"/>
              </a:defRPr>
            </a:lvl2pPr>
            <a:lvl3pPr algn="l">
              <a:defRPr sz="4150" b="1">
                <a:solidFill>
                  <a:srgbClr val="183440"/>
                </a:solidFill>
                <a:latin typeface="Arial"/>
                <a:ea typeface="Arial"/>
                <a:cs typeface="Arial"/>
              </a:defRPr>
            </a:lvl3pPr>
            <a:lvl4pPr algn="l">
              <a:defRPr sz="4150" b="1">
                <a:solidFill>
                  <a:srgbClr val="183440"/>
                </a:solidFill>
                <a:latin typeface="Arial"/>
                <a:ea typeface="Arial"/>
                <a:cs typeface="Arial"/>
              </a:defRPr>
            </a:lvl4pPr>
            <a:lvl5pPr algn="l">
              <a:defRPr sz="4150" b="1">
                <a:solidFill>
                  <a:srgbClr val="183440"/>
                </a:solidFill>
                <a:latin typeface="Arial"/>
                <a:ea typeface="Arial"/>
                <a:cs typeface="Arial"/>
              </a:defRPr>
            </a:lvl5pPr>
            <a:lvl6pPr algn="l">
              <a:defRPr sz="4150" b="1">
                <a:solidFill>
                  <a:srgbClr val="183440"/>
                </a:solidFill>
                <a:latin typeface="Arial"/>
                <a:ea typeface="Arial"/>
                <a:cs typeface="Arial"/>
              </a:defRPr>
            </a:lvl6pPr>
            <a:lvl7pPr algn="l">
              <a:defRPr sz="4150" b="1">
                <a:solidFill>
                  <a:srgbClr val="183440"/>
                </a:solidFill>
                <a:latin typeface="Arial"/>
                <a:ea typeface="Arial"/>
                <a:cs typeface="Arial"/>
              </a:defRPr>
            </a:lvl7pPr>
            <a:lvl8pPr algn="l">
              <a:defRPr sz="4150" b="1">
                <a:solidFill>
                  <a:srgbClr val="183440"/>
                </a:solidFill>
                <a:latin typeface="Arial"/>
                <a:ea typeface="Arial"/>
                <a:cs typeface="Arial"/>
              </a:defRPr>
            </a:lvl8pPr>
            <a:lvl9pPr algn="l">
              <a:defRPr sz="4150" b="1">
                <a:solidFill>
                  <a:srgbClr val="183440"/>
                </a:solidFill>
                <a:latin typeface="Arial"/>
                <a:ea typeface="Arial"/>
                <a:cs typeface="Arial"/>
              </a:defRPr>
            </a:lvl9pPr>
          </a:lstStyle>
          <a:p>
            <a:pPr algn="l">
              <a:defRPr sz="4150" b="1">
                <a:solidFill>
                  <a:srgbClr val="183440"/>
                </a:solidFill>
                <a:latin typeface="Arial"/>
                <a:ea typeface="Arial"/>
                <a:cs typeface="Arial"/>
              </a:defRPr>
            </a:pPr>
            <a:r>
              <a:rPr sz="4150" b="1">
                <a:solidFill>
                  <a:srgbClr val="183440"/>
                </a:solidFill>
                <a:latin typeface="Arial"/>
                <a:ea typeface="Arial"/>
                <a:cs typeface="Arial"/>
              </a:rPr>
              <a:t>US$12</a:t>
            </a:r>
            <a:endParaRPr/>
          </a:p>
        </p:txBody>
      </p:sp>
      <p:sp>
        <p:nvSpPr>
          <p:cNvPr id="1777196411" name="access-revision-text-68"/>
          <p:cNvSpPr>
            <a:spLocks noGrp="1"/>
          </p:cNvSpPr>
          <p:nvPr/>
        </p:nvSpPr>
        <p:spPr bwMode="auto">
          <a:xfrm>
            <a:off x="8477250" y="3114675"/>
            <a:ext cx="3105150" cy="447675"/>
          </a:xfrm>
          <a:prstGeom prst="rect">
            <a:avLst/>
          </a:prstGeom>
          <a:noFill/>
          <a:ln w="0">
            <a:noFill/>
            <a:prstDash val="solid"/>
          </a:ln>
        </p:spPr>
        <p:txBody>
          <a:bodyPr wrap="square" lIns="0" tIns="0" rIns="0" bIns="0" anchor="t">
            <a:noAutofit/>
          </a:bodyPr>
          <a:lstStyle>
            <a:defPPr algn="l">
              <a:defRPr sz="2050" b="0">
                <a:solidFill>
                  <a:srgbClr val="53676D"/>
                </a:solidFill>
                <a:latin typeface="Arial"/>
                <a:ea typeface="Arial"/>
                <a:cs typeface="Arial"/>
              </a:defRPr>
            </a:defPPr>
            <a:lvl1pPr algn="l">
              <a:defRPr sz="2050" b="0">
                <a:solidFill>
                  <a:srgbClr val="53676D"/>
                </a:solidFill>
                <a:latin typeface="Arial"/>
                <a:ea typeface="Arial"/>
                <a:cs typeface="Arial"/>
              </a:defRPr>
            </a:lvl1pPr>
            <a:lvl2pPr algn="l">
              <a:defRPr sz="2050" b="0">
                <a:solidFill>
                  <a:srgbClr val="53676D"/>
                </a:solidFill>
                <a:latin typeface="Arial"/>
                <a:ea typeface="Arial"/>
                <a:cs typeface="Arial"/>
              </a:defRPr>
            </a:lvl2pPr>
            <a:lvl3pPr algn="l">
              <a:defRPr sz="2050" b="0">
                <a:solidFill>
                  <a:srgbClr val="53676D"/>
                </a:solidFill>
                <a:latin typeface="Arial"/>
                <a:ea typeface="Arial"/>
                <a:cs typeface="Arial"/>
              </a:defRPr>
            </a:lvl3pPr>
            <a:lvl4pPr algn="l">
              <a:defRPr sz="2050" b="0">
                <a:solidFill>
                  <a:srgbClr val="53676D"/>
                </a:solidFill>
                <a:latin typeface="Arial"/>
                <a:ea typeface="Arial"/>
                <a:cs typeface="Arial"/>
              </a:defRPr>
            </a:lvl4pPr>
            <a:lvl5pPr algn="l">
              <a:defRPr sz="2050" b="0">
                <a:solidFill>
                  <a:srgbClr val="53676D"/>
                </a:solidFill>
                <a:latin typeface="Arial"/>
                <a:ea typeface="Arial"/>
                <a:cs typeface="Arial"/>
              </a:defRPr>
            </a:lvl5pPr>
            <a:lvl6pPr algn="l">
              <a:defRPr sz="2050" b="0">
                <a:solidFill>
                  <a:srgbClr val="53676D"/>
                </a:solidFill>
                <a:latin typeface="Arial"/>
                <a:ea typeface="Arial"/>
                <a:cs typeface="Arial"/>
              </a:defRPr>
            </a:lvl6pPr>
            <a:lvl7pPr algn="l">
              <a:defRPr sz="2050" b="0">
                <a:solidFill>
                  <a:srgbClr val="53676D"/>
                </a:solidFill>
                <a:latin typeface="Arial"/>
                <a:ea typeface="Arial"/>
                <a:cs typeface="Arial"/>
              </a:defRPr>
            </a:lvl7pPr>
            <a:lvl8pPr algn="l">
              <a:defRPr sz="2050" b="0">
                <a:solidFill>
                  <a:srgbClr val="53676D"/>
                </a:solidFill>
                <a:latin typeface="Arial"/>
                <a:ea typeface="Arial"/>
                <a:cs typeface="Arial"/>
              </a:defRPr>
            </a:lvl8pPr>
            <a:lvl9pPr algn="l">
              <a:defRPr sz="2050" b="0">
                <a:solidFill>
                  <a:srgbClr val="53676D"/>
                </a:solidFill>
                <a:latin typeface="Arial"/>
                <a:ea typeface="Arial"/>
                <a:cs typeface="Arial"/>
              </a:defRPr>
            </a:lvl9pPr>
          </a:lstStyle>
          <a:p>
            <a:pPr algn="l">
              <a:defRPr sz="2050" b="0">
                <a:solidFill>
                  <a:srgbClr val="53676D"/>
                </a:solidFill>
                <a:latin typeface="Arial"/>
                <a:ea typeface="Arial"/>
                <a:cs typeface="Arial"/>
              </a:defRPr>
            </a:pPr>
            <a:r>
              <a:rPr sz="2050" b="0">
                <a:solidFill>
                  <a:srgbClr val="53676D"/>
                </a:solidFill>
                <a:latin typeface="Arial"/>
                <a:ea typeface="Arial"/>
                <a:cs typeface="Arial"/>
              </a:rPr>
              <a:t>Indicative receipt value</a:t>
            </a:r>
            <a:endParaRPr/>
          </a:p>
        </p:txBody>
      </p:sp>
      <p:sp>
        <p:nvSpPr>
          <p:cNvPr id="1281610374" name="access-diagram-line-69"/>
          <p:cNvSpPr>
            <a:spLocks noGrp="1"/>
          </p:cNvSpPr>
          <p:nvPr/>
        </p:nvSpPr>
        <p:spPr bwMode="auto">
          <a:xfrm>
            <a:off x="609600" y="3714750"/>
            <a:ext cx="10972800" cy="0"/>
          </a:xfrm>
          <a:prstGeom prst="line">
            <a:avLst/>
          </a:prstGeom>
          <a:noFill/>
          <a:ln w="12383">
            <a:solidFill>
              <a:srgbClr val="CFD7D1"/>
            </a:solidFill>
            <a:prstDash val="solid"/>
          </a:ln>
        </p:spPr>
      </p:sp>
      <p:sp>
        <p:nvSpPr>
          <p:cNvPr id="1961752405" name="access-revision-text-70"/>
          <p:cNvSpPr>
            <a:spLocks noGrp="1"/>
          </p:cNvSpPr>
          <p:nvPr/>
        </p:nvSpPr>
        <p:spPr bwMode="auto">
          <a:xfrm>
            <a:off x="609600" y="3952875"/>
            <a:ext cx="10972800" cy="495300"/>
          </a:xfrm>
          <a:prstGeom prst="rect">
            <a:avLst/>
          </a:prstGeom>
          <a:noFill/>
          <a:ln w="0">
            <a:noFill/>
            <a:prstDash val="solid"/>
          </a:ln>
        </p:spPr>
        <p:txBody>
          <a:bodyPr wrap="square" lIns="0" tIns="0" rIns="0" bIns="0" anchor="t">
            <a:noAutofit/>
          </a:bodyPr>
          <a:lstStyle>
            <a:defPPr algn="l">
              <a:defRPr sz="2500" b="1">
                <a:solidFill>
                  <a:srgbClr val="176C6B"/>
                </a:solidFill>
                <a:latin typeface="Arial"/>
                <a:ea typeface="Arial"/>
                <a:cs typeface="Arial"/>
              </a:defRPr>
            </a:defPPr>
            <a:lvl1pPr algn="l">
              <a:defRPr sz="2500" b="1">
                <a:solidFill>
                  <a:srgbClr val="176C6B"/>
                </a:solidFill>
                <a:latin typeface="Arial"/>
                <a:ea typeface="Arial"/>
                <a:cs typeface="Arial"/>
              </a:defRPr>
            </a:lvl1pPr>
            <a:lvl2pPr algn="l">
              <a:defRPr sz="2500" b="1">
                <a:solidFill>
                  <a:srgbClr val="176C6B"/>
                </a:solidFill>
                <a:latin typeface="Arial"/>
                <a:ea typeface="Arial"/>
                <a:cs typeface="Arial"/>
              </a:defRPr>
            </a:lvl2pPr>
            <a:lvl3pPr algn="l">
              <a:defRPr sz="2500" b="1">
                <a:solidFill>
                  <a:srgbClr val="176C6B"/>
                </a:solidFill>
                <a:latin typeface="Arial"/>
                <a:ea typeface="Arial"/>
                <a:cs typeface="Arial"/>
              </a:defRPr>
            </a:lvl3pPr>
            <a:lvl4pPr algn="l">
              <a:defRPr sz="2500" b="1">
                <a:solidFill>
                  <a:srgbClr val="176C6B"/>
                </a:solidFill>
                <a:latin typeface="Arial"/>
                <a:ea typeface="Arial"/>
                <a:cs typeface="Arial"/>
              </a:defRPr>
            </a:lvl4pPr>
            <a:lvl5pPr algn="l">
              <a:defRPr sz="2500" b="1">
                <a:solidFill>
                  <a:srgbClr val="176C6B"/>
                </a:solidFill>
                <a:latin typeface="Arial"/>
                <a:ea typeface="Arial"/>
                <a:cs typeface="Arial"/>
              </a:defRPr>
            </a:lvl5pPr>
            <a:lvl6pPr algn="l">
              <a:defRPr sz="2500" b="1">
                <a:solidFill>
                  <a:srgbClr val="176C6B"/>
                </a:solidFill>
                <a:latin typeface="Arial"/>
                <a:ea typeface="Arial"/>
                <a:cs typeface="Arial"/>
              </a:defRPr>
            </a:lvl6pPr>
            <a:lvl7pPr algn="l">
              <a:defRPr sz="2500" b="1">
                <a:solidFill>
                  <a:srgbClr val="176C6B"/>
                </a:solidFill>
                <a:latin typeface="Arial"/>
                <a:ea typeface="Arial"/>
                <a:cs typeface="Arial"/>
              </a:defRPr>
            </a:lvl7pPr>
            <a:lvl8pPr algn="l">
              <a:defRPr sz="2500" b="1">
                <a:solidFill>
                  <a:srgbClr val="176C6B"/>
                </a:solidFill>
                <a:latin typeface="Arial"/>
                <a:ea typeface="Arial"/>
                <a:cs typeface="Arial"/>
              </a:defRPr>
            </a:lvl8pPr>
            <a:lvl9pPr algn="l">
              <a:defRPr sz="2500" b="1">
                <a:solidFill>
                  <a:srgbClr val="176C6B"/>
                </a:solidFill>
                <a:latin typeface="Arial"/>
                <a:ea typeface="Arial"/>
                <a:cs typeface="Arial"/>
              </a:defRPr>
            </a:lvl9pPr>
          </a:lstStyle>
          <a:p>
            <a:pPr algn="l">
              <a:defRPr sz="2500" b="1">
                <a:solidFill>
                  <a:srgbClr val="176C6B"/>
                </a:solidFill>
                <a:latin typeface="Arial"/>
                <a:ea typeface="Arial"/>
                <a:cs typeface="Arial"/>
              </a:defRPr>
            </a:pPr>
            <a:r>
              <a:rPr sz="2500" b="1">
                <a:solidFill>
                  <a:srgbClr val="176C6B"/>
                </a:solidFill>
                <a:latin typeface="Arial"/>
                <a:ea typeface="Arial"/>
                <a:cs typeface="Arial"/>
              </a:rPr>
              <a:t>100 receipts represent one underlying share</a:t>
            </a:r>
            <a:endParaRPr/>
          </a:p>
        </p:txBody>
      </p:sp>
      <p:sp>
        <p:nvSpPr>
          <p:cNvPr id="105011291" name="access-revision-text-71"/>
          <p:cNvSpPr>
            <a:spLocks noGrp="1"/>
          </p:cNvSpPr>
          <p:nvPr/>
        </p:nvSpPr>
        <p:spPr bwMode="auto">
          <a:xfrm>
            <a:off x="609600" y="4791075"/>
            <a:ext cx="3333750" cy="40957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defRPr sz="2100" b="1">
                <a:solidFill>
                  <a:srgbClr val="AC8743"/>
                </a:solidFill>
                <a:latin typeface="Arial"/>
                <a:ea typeface="Arial"/>
                <a:cs typeface="Arial"/>
              </a:defRPr>
            </a:lvl1pPr>
            <a:lvl2pPr algn="l">
              <a:defRPr sz="2100" b="1">
                <a:solidFill>
                  <a:srgbClr val="AC8743"/>
                </a:solidFill>
                <a:latin typeface="Arial"/>
                <a:ea typeface="Arial"/>
                <a:cs typeface="Arial"/>
              </a:defRPr>
            </a:lvl2pPr>
            <a:lvl3pPr algn="l">
              <a:defRPr sz="2100" b="1">
                <a:solidFill>
                  <a:srgbClr val="AC8743"/>
                </a:solidFill>
                <a:latin typeface="Arial"/>
                <a:ea typeface="Arial"/>
                <a:cs typeface="Arial"/>
              </a:defRPr>
            </a:lvl3pPr>
            <a:lvl4pPr algn="l">
              <a:defRPr sz="2100" b="1">
                <a:solidFill>
                  <a:srgbClr val="AC8743"/>
                </a:solidFill>
                <a:latin typeface="Arial"/>
                <a:ea typeface="Arial"/>
                <a:cs typeface="Arial"/>
              </a:defRPr>
            </a:lvl4pPr>
            <a:lvl5pPr algn="l">
              <a:defRPr sz="2100" b="1">
                <a:solidFill>
                  <a:srgbClr val="AC8743"/>
                </a:solidFill>
                <a:latin typeface="Arial"/>
                <a:ea typeface="Arial"/>
                <a:cs typeface="Arial"/>
              </a:defRPr>
            </a:lvl5pPr>
            <a:lvl6pPr algn="l">
              <a:defRPr sz="2100" b="1">
                <a:solidFill>
                  <a:srgbClr val="AC8743"/>
                </a:solidFill>
                <a:latin typeface="Arial"/>
                <a:ea typeface="Arial"/>
                <a:cs typeface="Arial"/>
              </a:defRPr>
            </a:lvl6pPr>
            <a:lvl7pPr algn="l">
              <a:defRPr sz="2100" b="1">
                <a:solidFill>
                  <a:srgbClr val="AC8743"/>
                </a:solidFill>
                <a:latin typeface="Arial"/>
                <a:ea typeface="Arial"/>
                <a:cs typeface="Arial"/>
              </a:defRPr>
            </a:lvl7pPr>
            <a:lvl8pPr algn="l">
              <a:defRPr sz="2100" b="1">
                <a:solidFill>
                  <a:srgbClr val="AC8743"/>
                </a:solidFill>
                <a:latin typeface="Arial"/>
                <a:ea typeface="Arial"/>
                <a:cs typeface="Arial"/>
              </a:defRPr>
            </a:lvl8pPr>
            <a:lvl9pPr algn="l">
              <a:defRPr sz="2100" b="1">
                <a:solidFill>
                  <a:srgbClr val="AC8743"/>
                </a:solidFill>
                <a:latin typeface="Arial"/>
                <a:ea typeface="Arial"/>
                <a:cs typeface="Arial"/>
              </a:defRPr>
            </a:lvl9pPr>
          </a:lstStyle>
          <a:p>
            <a:pPr algn="l">
              <a:defRPr sz="2100" b="1">
                <a:solidFill>
                  <a:srgbClr val="AC8743"/>
                </a:solidFill>
                <a:latin typeface="Arial"/>
                <a:ea typeface="Arial"/>
                <a:cs typeface="Arial"/>
              </a:defRPr>
            </a:pPr>
            <a:r>
              <a:rPr sz="2100" b="1">
                <a:solidFill>
                  <a:srgbClr val="AC8743"/>
                </a:solidFill>
                <a:latin typeface="Arial"/>
                <a:ea typeface="Arial"/>
                <a:cs typeface="Arial"/>
              </a:rPr>
              <a:t>Programme design</a:t>
            </a:r>
            <a:endParaRPr/>
          </a:p>
        </p:txBody>
      </p:sp>
      <p:sp>
        <p:nvSpPr>
          <p:cNvPr id="5400341" name="access-revision-text-72"/>
          <p:cNvSpPr>
            <a:spLocks noGrp="1"/>
          </p:cNvSpPr>
          <p:nvPr/>
        </p:nvSpPr>
        <p:spPr bwMode="auto">
          <a:xfrm>
            <a:off x="4638675" y="4762500"/>
            <a:ext cx="6943725" cy="102870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defRPr sz="2100" b="0">
                <a:solidFill>
                  <a:srgbClr val="183440"/>
                </a:solidFill>
                <a:latin typeface="Arial"/>
                <a:ea typeface="Arial"/>
                <a:cs typeface="Arial"/>
              </a:defRPr>
            </a:lvl1pPr>
            <a:lvl2pPr algn="l">
              <a:defRPr sz="2100" b="0">
                <a:solidFill>
                  <a:srgbClr val="183440"/>
                </a:solidFill>
                <a:latin typeface="Arial"/>
                <a:ea typeface="Arial"/>
                <a:cs typeface="Arial"/>
              </a:defRPr>
            </a:lvl2pPr>
            <a:lvl3pPr algn="l">
              <a:defRPr sz="2100" b="0">
                <a:solidFill>
                  <a:srgbClr val="183440"/>
                </a:solidFill>
                <a:latin typeface="Arial"/>
                <a:ea typeface="Arial"/>
                <a:cs typeface="Arial"/>
              </a:defRPr>
            </a:lvl3pPr>
            <a:lvl4pPr algn="l">
              <a:defRPr sz="2100" b="0">
                <a:solidFill>
                  <a:srgbClr val="183440"/>
                </a:solidFill>
                <a:latin typeface="Arial"/>
                <a:ea typeface="Arial"/>
                <a:cs typeface="Arial"/>
              </a:defRPr>
            </a:lvl4pPr>
            <a:lvl5pPr algn="l">
              <a:defRPr sz="2100" b="0">
                <a:solidFill>
                  <a:srgbClr val="183440"/>
                </a:solidFill>
                <a:latin typeface="Arial"/>
                <a:ea typeface="Arial"/>
                <a:cs typeface="Arial"/>
              </a:defRPr>
            </a:lvl5pPr>
            <a:lvl6pPr algn="l">
              <a:defRPr sz="2100" b="0">
                <a:solidFill>
                  <a:srgbClr val="183440"/>
                </a:solidFill>
                <a:latin typeface="Arial"/>
                <a:ea typeface="Arial"/>
                <a:cs typeface="Arial"/>
              </a:defRPr>
            </a:lvl6pPr>
            <a:lvl7pPr algn="l">
              <a:defRPr sz="2100" b="0">
                <a:solidFill>
                  <a:srgbClr val="183440"/>
                </a:solidFill>
                <a:latin typeface="Arial"/>
                <a:ea typeface="Arial"/>
                <a:cs typeface="Arial"/>
              </a:defRPr>
            </a:lvl7pPr>
            <a:lvl8pPr algn="l">
              <a:defRPr sz="2100" b="0">
                <a:solidFill>
                  <a:srgbClr val="183440"/>
                </a:solidFill>
                <a:latin typeface="Arial"/>
                <a:ea typeface="Arial"/>
                <a:cs typeface="Arial"/>
              </a:defRPr>
            </a:lvl8pPr>
            <a:lvl9pPr algn="l">
              <a:defRPr sz="2100" b="0">
                <a:solidFill>
                  <a:srgbClr val="183440"/>
                </a:solidFill>
                <a:latin typeface="Arial"/>
                <a:ea typeface="Arial"/>
                <a:cs typeface="Arial"/>
              </a:defRPr>
            </a:lvl9pPr>
          </a:lstStyle>
          <a:p>
            <a:pPr algn="l">
              <a:defRPr sz="2100" b="0">
                <a:solidFill>
                  <a:srgbClr val="183440"/>
                </a:solidFill>
                <a:latin typeface="Arial"/>
                <a:ea typeface="Arial"/>
                <a:cs typeface="Arial"/>
              </a:defRPr>
            </a:pPr>
            <a:r>
              <a:rPr sz="2100" b="0">
                <a:solidFill>
                  <a:srgbClr val="183440"/>
                </a:solidFill>
                <a:latin typeface="Arial"/>
                <a:ea typeface="Arial"/>
                <a:cs typeface="Arial"/>
              </a:rPr>
              <a:t>The sponsor sets the ratio and holder rights. Custody evidence supports issuance. Brokers distribute to eligible investors.</a:t>
            </a:r>
            <a:endParaRPr/>
          </a:p>
        </p:txBody>
      </p:sp>
      <p:sp>
        <p:nvSpPr>
          <p:cNvPr id="1186317031" name="access-revision-text-73"/>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Illustrative value = share price × receipt ratio. Market quotes, fees, taxes and FX can change the actual price.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59319054" name="dlt-text-3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2. Issue receipts backed by shares</a:t>
            </a:r>
            <a:endParaRPr/>
          </a:p>
        </p:txBody>
      </p:sp>
      <p:sp>
        <p:nvSpPr>
          <p:cNvPr id="2009880323" name="dlt-text-3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1,000 shares / 0.01 share per receipt = 100,000 receipt tokens.</a:t>
            </a:r>
            <a:endParaRPr/>
          </a:p>
        </p:txBody>
      </p:sp>
      <p:sp>
        <p:nvSpPr>
          <p:cNvPr id="1541580466" name="dlt-text-35"/>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330726431" name="dlt-text-3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10</a:t>
            </a:r>
            <a:endParaRPr/>
          </a:p>
        </p:txBody>
      </p:sp>
      <p:sp>
        <p:nvSpPr>
          <p:cNvPr id="275595645" name="dlt-text-37"/>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2031819933" name="dlt-text-38"/>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99650590" name="dlt-text-39"/>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1795863282" name="participant-head-40"/>
          <p:cNvSpPr>
            <a:spLocks noGrp="1"/>
          </p:cNvSpPr>
          <p:nvPr/>
        </p:nvSpPr>
        <p:spPr bwMode="auto">
          <a:xfrm>
            <a:off x="1885950" y="2143125"/>
            <a:ext cx="190500" cy="190500"/>
          </a:xfrm>
          <a:prstGeom prst="ellipse">
            <a:avLst/>
          </a:prstGeom>
          <a:solidFill>
            <a:srgbClr val="183440"/>
          </a:solidFill>
          <a:ln w="0">
            <a:noFill/>
            <a:prstDash val="solid"/>
          </a:ln>
        </p:spPr>
      </p:sp>
      <p:sp>
        <p:nvSpPr>
          <p:cNvPr id="100275612" name="participant-body-41"/>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886666719" name="dlt-text-42"/>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468983098" name="diagram-line-43"/>
          <p:cNvSpPr>
            <a:spLocks noGrp="1"/>
          </p:cNvSpPr>
          <p:nvPr/>
        </p:nvSpPr>
        <p:spPr bwMode="auto">
          <a:xfrm>
            <a:off x="1981200" y="3171825"/>
            <a:ext cx="0" cy="2686050"/>
          </a:xfrm>
          <a:prstGeom prst="line">
            <a:avLst/>
          </a:prstGeom>
          <a:noFill/>
          <a:ln w="10478">
            <a:solidFill>
              <a:srgbClr val="CFD7D1"/>
            </a:solidFill>
            <a:prstDash val="dash"/>
          </a:ln>
        </p:spPr>
      </p:sp>
      <p:sp>
        <p:nvSpPr>
          <p:cNvPr id="1282328685" name="participant-head-44"/>
          <p:cNvSpPr>
            <a:spLocks noGrp="1"/>
          </p:cNvSpPr>
          <p:nvPr/>
        </p:nvSpPr>
        <p:spPr bwMode="auto">
          <a:xfrm>
            <a:off x="4629150" y="2143125"/>
            <a:ext cx="190500" cy="190500"/>
          </a:xfrm>
          <a:prstGeom prst="ellipse">
            <a:avLst/>
          </a:prstGeom>
          <a:solidFill>
            <a:srgbClr val="183440"/>
          </a:solidFill>
          <a:ln w="0">
            <a:noFill/>
            <a:prstDash val="solid"/>
          </a:ln>
        </p:spPr>
      </p:sp>
      <p:sp>
        <p:nvSpPr>
          <p:cNvPr id="157155099" name="participant-body-45"/>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1405086326" name="dlt-text-46"/>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992018411" name="diagram-line-47"/>
          <p:cNvSpPr>
            <a:spLocks noGrp="1"/>
          </p:cNvSpPr>
          <p:nvPr/>
        </p:nvSpPr>
        <p:spPr bwMode="auto">
          <a:xfrm>
            <a:off x="4724399" y="3171825"/>
            <a:ext cx="0" cy="2686050"/>
          </a:xfrm>
          <a:prstGeom prst="line">
            <a:avLst/>
          </a:prstGeom>
          <a:noFill/>
          <a:ln w="10478">
            <a:solidFill>
              <a:srgbClr val="CFD7D1"/>
            </a:solidFill>
            <a:prstDash val="dash"/>
          </a:ln>
        </p:spPr>
      </p:sp>
      <p:sp>
        <p:nvSpPr>
          <p:cNvPr id="1140381797" name="participant-head-48"/>
          <p:cNvSpPr>
            <a:spLocks noGrp="1"/>
          </p:cNvSpPr>
          <p:nvPr/>
        </p:nvSpPr>
        <p:spPr bwMode="auto">
          <a:xfrm>
            <a:off x="7372350" y="2143125"/>
            <a:ext cx="190500" cy="190500"/>
          </a:xfrm>
          <a:prstGeom prst="ellipse">
            <a:avLst/>
          </a:prstGeom>
          <a:solidFill>
            <a:srgbClr val="183440"/>
          </a:solidFill>
          <a:ln w="0">
            <a:noFill/>
            <a:prstDash val="solid"/>
          </a:ln>
        </p:spPr>
      </p:sp>
      <p:sp>
        <p:nvSpPr>
          <p:cNvPr id="1859767679" name="participant-body-49"/>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786371312" name="dlt-text-50"/>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369870074" name="diagram-line-51"/>
          <p:cNvSpPr>
            <a:spLocks noGrp="1"/>
          </p:cNvSpPr>
          <p:nvPr/>
        </p:nvSpPr>
        <p:spPr bwMode="auto">
          <a:xfrm>
            <a:off x="7467600" y="3171825"/>
            <a:ext cx="0" cy="2686050"/>
          </a:xfrm>
          <a:prstGeom prst="line">
            <a:avLst/>
          </a:prstGeom>
          <a:noFill/>
          <a:ln w="10478">
            <a:solidFill>
              <a:srgbClr val="CFD7D1"/>
            </a:solidFill>
            <a:prstDash val="dash"/>
          </a:ln>
        </p:spPr>
      </p:sp>
      <p:sp>
        <p:nvSpPr>
          <p:cNvPr id="1593466072" name="ledger-node-52"/>
          <p:cNvSpPr>
            <a:spLocks noGrp="1"/>
          </p:cNvSpPr>
          <p:nvPr/>
        </p:nvSpPr>
        <p:spPr bwMode="auto">
          <a:xfrm>
            <a:off x="9972675" y="2200275"/>
            <a:ext cx="190500" cy="238125"/>
          </a:xfrm>
          <a:prstGeom prst="rect">
            <a:avLst/>
          </a:prstGeom>
          <a:solidFill>
            <a:srgbClr val="EEF3F7"/>
          </a:solidFill>
          <a:ln w="13335">
            <a:solidFill>
              <a:srgbClr val="537DA1"/>
            </a:solidFill>
            <a:prstDash val="solid"/>
          </a:ln>
        </p:spPr>
      </p:sp>
      <p:sp>
        <p:nvSpPr>
          <p:cNvPr id="1025905621" name="ledger-node-53"/>
          <p:cNvSpPr>
            <a:spLocks noGrp="1"/>
          </p:cNvSpPr>
          <p:nvPr/>
        </p:nvSpPr>
        <p:spPr bwMode="auto">
          <a:xfrm>
            <a:off x="10267950" y="2200275"/>
            <a:ext cx="190500" cy="238125"/>
          </a:xfrm>
          <a:prstGeom prst="rect">
            <a:avLst/>
          </a:prstGeom>
          <a:solidFill>
            <a:srgbClr val="EEF3F7"/>
          </a:solidFill>
          <a:ln w="13335">
            <a:solidFill>
              <a:srgbClr val="537DA1"/>
            </a:solidFill>
            <a:prstDash val="solid"/>
          </a:ln>
        </p:spPr>
      </p:sp>
      <p:sp>
        <p:nvSpPr>
          <p:cNvPr id="1803663091" name="diagram-line-54"/>
          <p:cNvSpPr>
            <a:spLocks noGrp="1"/>
          </p:cNvSpPr>
          <p:nvPr/>
        </p:nvSpPr>
        <p:spPr bwMode="auto">
          <a:xfrm>
            <a:off x="10172700" y="2314575"/>
            <a:ext cx="85725" cy="0"/>
          </a:xfrm>
          <a:prstGeom prst="line">
            <a:avLst/>
          </a:prstGeom>
          <a:noFill/>
          <a:ln w="14288">
            <a:solidFill>
              <a:srgbClr val="537DA1"/>
            </a:solidFill>
            <a:prstDash val="solid"/>
          </a:ln>
        </p:spPr>
      </p:sp>
      <p:sp>
        <p:nvSpPr>
          <p:cNvPr id="279663369" name="dlt-text-55"/>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54707753" name="diagram-line-56"/>
          <p:cNvSpPr>
            <a:spLocks noGrp="1"/>
          </p:cNvSpPr>
          <p:nvPr/>
        </p:nvSpPr>
        <p:spPr bwMode="auto">
          <a:xfrm>
            <a:off x="10210800" y="3171825"/>
            <a:ext cx="0" cy="2686050"/>
          </a:xfrm>
          <a:prstGeom prst="line">
            <a:avLst/>
          </a:prstGeom>
          <a:noFill/>
          <a:ln w="10478">
            <a:solidFill>
              <a:srgbClr val="CFD7D1"/>
            </a:solidFill>
            <a:prstDash val="dash"/>
          </a:ln>
        </p:spPr>
      </p:sp>
      <p:cxnSp>
        <p:nvCxnSpPr>
          <p:cNvPr id="803727158" name="diagram-line-57"/>
          <p:cNvCxnSpPr/>
          <p:nvPr/>
        </p:nvCxnSpPr>
        <p:spPr bwMode="auto">
          <a:xfrm>
            <a:off x="1981200" y="3429000"/>
            <a:ext cx="2743200" cy="0"/>
          </a:xfrm>
          <a:prstGeom prst="straightConnector1">
            <a:avLst/>
          </a:prstGeom>
          <a:ln w="22860">
            <a:solidFill>
              <a:srgbClr val="537DA1"/>
            </a:solidFill>
            <a:prstDash val="solid"/>
            <a:tailEnd type="triangle" w="sm" len="sm"/>
          </a:ln>
        </p:spPr>
      </p:cxnSp>
      <p:sp>
        <p:nvSpPr>
          <p:cNvPr id="1814434195" name="data-object-58"/>
          <p:cNvSpPr>
            <a:spLocks noGrp="1"/>
          </p:cNvSpPr>
          <p:nvPr/>
        </p:nvSpPr>
        <p:spPr bwMode="auto">
          <a:xfrm>
            <a:off x="2143125" y="3248025"/>
            <a:ext cx="24193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1,000 foreign shares</a:t>
            </a:r>
            <a:endParaRPr/>
          </a:p>
        </p:txBody>
      </p:sp>
      <p:cxnSp>
        <p:nvCxnSpPr>
          <p:cNvPr id="1254336871" name="diagram-line-59"/>
          <p:cNvCxnSpPr/>
          <p:nvPr/>
        </p:nvCxnSpPr>
        <p:spPr bwMode="auto">
          <a:xfrm>
            <a:off x="4724399" y="4191000"/>
            <a:ext cx="2743200" cy="0"/>
          </a:xfrm>
          <a:prstGeom prst="straightConnector1">
            <a:avLst/>
          </a:prstGeom>
          <a:ln w="22860">
            <a:solidFill>
              <a:srgbClr val="83739D"/>
            </a:solidFill>
            <a:prstDash val="solid"/>
            <a:tailEnd type="triangle" w="sm" len="sm"/>
          </a:ln>
        </p:spPr>
      </p:cxnSp>
      <p:sp>
        <p:nvSpPr>
          <p:cNvPr id="128642829" name="data-object-60"/>
          <p:cNvSpPr>
            <a:spLocks noGrp="1"/>
          </p:cNvSpPr>
          <p:nvPr/>
        </p:nvSpPr>
        <p:spPr bwMode="auto">
          <a:xfrm>
            <a:off x="4848225" y="4010025"/>
            <a:ext cx="24955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Settled backing proof</a:t>
            </a:r>
            <a:endParaRPr/>
          </a:p>
        </p:txBody>
      </p:sp>
      <p:cxnSp>
        <p:nvCxnSpPr>
          <p:cNvPr id="1053547988" name="diagram-line-61"/>
          <p:cNvCxnSpPr/>
          <p:nvPr/>
        </p:nvCxnSpPr>
        <p:spPr bwMode="auto">
          <a:xfrm>
            <a:off x="7467600" y="4953000"/>
            <a:ext cx="2743200" cy="0"/>
          </a:xfrm>
          <a:prstGeom prst="straightConnector1">
            <a:avLst/>
          </a:prstGeom>
          <a:ln w="22860">
            <a:solidFill>
              <a:srgbClr val="83739D"/>
            </a:solidFill>
            <a:prstDash val="solid"/>
            <a:tailEnd type="triangle" w="sm" len="sm"/>
          </a:ln>
        </p:spPr>
      </p:cxnSp>
      <p:sp>
        <p:nvSpPr>
          <p:cNvPr id="1357915570" name="data-object-62"/>
          <p:cNvSpPr>
            <a:spLocks noGrp="1"/>
          </p:cNvSpPr>
          <p:nvPr/>
        </p:nvSpPr>
        <p:spPr bwMode="auto">
          <a:xfrm>
            <a:off x="7629525" y="4772025"/>
            <a:ext cx="24193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Signed mint approval</a:t>
            </a:r>
            <a:endParaRPr/>
          </a:p>
        </p:txBody>
      </p:sp>
      <p:cxnSp>
        <p:nvCxnSpPr>
          <p:cNvPr id="1281685621" name="diagram-line-63"/>
          <p:cNvCxnSpPr/>
          <p:nvPr/>
        </p:nvCxnSpPr>
        <p:spPr bwMode="auto">
          <a:xfrm>
            <a:off x="1981200" y="5715000"/>
            <a:ext cx="8229600" cy="0"/>
          </a:xfrm>
          <a:prstGeom prst="straightConnector1">
            <a:avLst/>
          </a:prstGeom>
          <a:ln w="22860">
            <a:solidFill>
              <a:srgbClr val="537DA1"/>
            </a:solidFill>
            <a:prstDash val="solid"/>
            <a:headEnd type="triangle" w="sm" len="sm"/>
          </a:ln>
        </p:spPr>
      </p:cxnSp>
      <p:sp>
        <p:nvSpPr>
          <p:cNvPr id="844223356" name="data-object-64"/>
          <p:cNvSpPr>
            <a:spLocks noGrp="1"/>
          </p:cNvSpPr>
          <p:nvPr/>
        </p:nvSpPr>
        <p:spPr bwMode="auto">
          <a:xfrm>
            <a:off x="3309937" y="5534025"/>
            <a:ext cx="5572125"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45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450" b="0">
                <a:solidFill>
                  <a:srgbClr val="183440"/>
                </a:solidFill>
                <a:latin typeface="Arial"/>
                <a:ea typeface="Arial"/>
                <a:cs typeface="Arial"/>
              </a:rPr>
              <a:t>4. 100,000 receipt tokens to the AP’s eligible account</a:t>
            </a:r>
            <a:endParaRPr/>
          </a:p>
        </p:txBody>
      </p:sp>
      <p:sp>
        <p:nvSpPr>
          <p:cNvPr id="1800756366" name="dlt-text-65"/>
          <p:cNvSpPr>
            <a:spLocks noGrp="1"/>
          </p:cNvSpPr>
          <p:nvPr/>
        </p:nvSpPr>
        <p:spPr bwMode="auto">
          <a:xfrm>
            <a:off x="609600" y="6057900"/>
            <a:ext cx="10972800" cy="3048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Redemption: lock and cancel receipt units, burn tokens, then release the backing.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81772692" name="access-revision-text-7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3. An investor buys HSDRs</a:t>
            </a:r>
            <a:endParaRPr/>
          </a:p>
        </p:txBody>
      </p:sp>
      <p:sp>
        <p:nvSpPr>
          <p:cNvPr id="2019362982" name="access-revision-text-75"/>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HSDR is the earlier working name for a D-SHARE receipt unit in this illustration.</a:t>
            </a:r>
            <a:endParaRPr/>
          </a:p>
        </p:txBody>
      </p:sp>
      <p:sp>
        <p:nvSpPr>
          <p:cNvPr id="486004422" name="access-revision-text-7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741913411" name="access-revision-text-7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11</a:t>
            </a:r>
            <a:endParaRPr/>
          </a:p>
        </p:txBody>
      </p:sp>
      <p:sp>
        <p:nvSpPr>
          <p:cNvPr id="604852633" name="access-revision-text-78"/>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defRPr sz="1500" b="0">
                <a:solidFill>
                  <a:srgbClr val="537DA1"/>
                </a:solidFill>
                <a:latin typeface="Arial"/>
                <a:ea typeface="Arial"/>
                <a:cs typeface="Arial"/>
              </a:defRPr>
            </a:lvl1pPr>
            <a:lvl2pPr algn="l">
              <a:defRPr sz="1500" b="0">
                <a:solidFill>
                  <a:srgbClr val="537DA1"/>
                </a:solidFill>
                <a:latin typeface="Arial"/>
                <a:ea typeface="Arial"/>
                <a:cs typeface="Arial"/>
              </a:defRPr>
            </a:lvl2pPr>
            <a:lvl3pPr algn="l">
              <a:defRPr sz="1500" b="0">
                <a:solidFill>
                  <a:srgbClr val="537DA1"/>
                </a:solidFill>
                <a:latin typeface="Arial"/>
                <a:ea typeface="Arial"/>
                <a:cs typeface="Arial"/>
              </a:defRPr>
            </a:lvl3pPr>
            <a:lvl4pPr algn="l">
              <a:defRPr sz="1500" b="0">
                <a:solidFill>
                  <a:srgbClr val="537DA1"/>
                </a:solidFill>
                <a:latin typeface="Arial"/>
                <a:ea typeface="Arial"/>
                <a:cs typeface="Arial"/>
              </a:defRPr>
            </a:lvl4pPr>
            <a:lvl5pPr algn="l">
              <a:defRPr sz="1500" b="0">
                <a:solidFill>
                  <a:srgbClr val="537DA1"/>
                </a:solidFill>
                <a:latin typeface="Arial"/>
                <a:ea typeface="Arial"/>
                <a:cs typeface="Arial"/>
              </a:defRPr>
            </a:lvl5pPr>
            <a:lvl6pPr algn="l">
              <a:defRPr sz="1500" b="0">
                <a:solidFill>
                  <a:srgbClr val="537DA1"/>
                </a:solidFill>
                <a:latin typeface="Arial"/>
                <a:ea typeface="Arial"/>
                <a:cs typeface="Arial"/>
              </a:defRPr>
            </a:lvl6pPr>
            <a:lvl7pPr algn="l">
              <a:defRPr sz="1500" b="0">
                <a:solidFill>
                  <a:srgbClr val="537DA1"/>
                </a:solidFill>
                <a:latin typeface="Arial"/>
                <a:ea typeface="Arial"/>
                <a:cs typeface="Arial"/>
              </a:defRPr>
            </a:lvl7pPr>
            <a:lvl8pPr algn="l">
              <a:defRPr sz="1500" b="0">
                <a:solidFill>
                  <a:srgbClr val="537DA1"/>
                </a:solidFill>
                <a:latin typeface="Arial"/>
                <a:ea typeface="Arial"/>
                <a:cs typeface="Arial"/>
              </a:defRPr>
            </a:lvl8pPr>
            <a:lvl9pPr algn="l">
              <a:defRPr sz="1500" b="0">
                <a:solidFill>
                  <a:srgbClr val="537DA1"/>
                </a:solidFill>
                <a:latin typeface="Arial"/>
                <a:ea typeface="Arial"/>
                <a:cs typeface="Arial"/>
              </a:defRPr>
            </a:lvl9pPr>
          </a:lstStyle>
          <a:p>
            <a:pPr algn="l">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128334921" name="access-revision-text-79"/>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defRPr sz="1500" b="0">
                <a:solidFill>
                  <a:srgbClr val="83739D"/>
                </a:solidFill>
                <a:latin typeface="Arial"/>
                <a:ea typeface="Arial"/>
                <a:cs typeface="Arial"/>
              </a:defRPr>
            </a:lvl1pPr>
            <a:lvl2pPr algn="l">
              <a:defRPr sz="1500" b="0">
                <a:solidFill>
                  <a:srgbClr val="83739D"/>
                </a:solidFill>
                <a:latin typeface="Arial"/>
                <a:ea typeface="Arial"/>
                <a:cs typeface="Arial"/>
              </a:defRPr>
            </a:lvl2pPr>
            <a:lvl3pPr algn="l">
              <a:defRPr sz="1500" b="0">
                <a:solidFill>
                  <a:srgbClr val="83739D"/>
                </a:solidFill>
                <a:latin typeface="Arial"/>
                <a:ea typeface="Arial"/>
                <a:cs typeface="Arial"/>
              </a:defRPr>
            </a:lvl3pPr>
            <a:lvl4pPr algn="l">
              <a:defRPr sz="1500" b="0">
                <a:solidFill>
                  <a:srgbClr val="83739D"/>
                </a:solidFill>
                <a:latin typeface="Arial"/>
                <a:ea typeface="Arial"/>
                <a:cs typeface="Arial"/>
              </a:defRPr>
            </a:lvl4pPr>
            <a:lvl5pPr algn="l">
              <a:defRPr sz="1500" b="0">
                <a:solidFill>
                  <a:srgbClr val="83739D"/>
                </a:solidFill>
                <a:latin typeface="Arial"/>
                <a:ea typeface="Arial"/>
                <a:cs typeface="Arial"/>
              </a:defRPr>
            </a:lvl5pPr>
            <a:lvl6pPr algn="l">
              <a:defRPr sz="1500" b="0">
                <a:solidFill>
                  <a:srgbClr val="83739D"/>
                </a:solidFill>
                <a:latin typeface="Arial"/>
                <a:ea typeface="Arial"/>
                <a:cs typeface="Arial"/>
              </a:defRPr>
            </a:lvl6pPr>
            <a:lvl7pPr algn="l">
              <a:defRPr sz="1500" b="0">
                <a:solidFill>
                  <a:srgbClr val="83739D"/>
                </a:solidFill>
                <a:latin typeface="Arial"/>
                <a:ea typeface="Arial"/>
                <a:cs typeface="Arial"/>
              </a:defRPr>
            </a:lvl7pPr>
            <a:lvl8pPr algn="l">
              <a:defRPr sz="1500" b="0">
                <a:solidFill>
                  <a:srgbClr val="83739D"/>
                </a:solidFill>
                <a:latin typeface="Arial"/>
                <a:ea typeface="Arial"/>
                <a:cs typeface="Arial"/>
              </a:defRPr>
            </a:lvl8pPr>
            <a:lvl9pPr algn="l">
              <a:defRPr sz="1500" b="0">
                <a:solidFill>
                  <a:srgbClr val="83739D"/>
                </a:solidFill>
                <a:latin typeface="Arial"/>
                <a:ea typeface="Arial"/>
                <a:cs typeface="Arial"/>
              </a:defRPr>
            </a:lvl9pPr>
          </a:lstStyle>
          <a:p>
            <a:pPr algn="l">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793000428" name="access-revision-text-80"/>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defRPr sz="1500" b="0">
                <a:solidFill>
                  <a:srgbClr val="41826F"/>
                </a:solidFill>
                <a:latin typeface="Arial"/>
                <a:ea typeface="Arial"/>
                <a:cs typeface="Arial"/>
              </a:defRPr>
            </a:lvl1pPr>
            <a:lvl2pPr algn="l">
              <a:defRPr sz="1500" b="0">
                <a:solidFill>
                  <a:srgbClr val="41826F"/>
                </a:solidFill>
                <a:latin typeface="Arial"/>
                <a:ea typeface="Arial"/>
                <a:cs typeface="Arial"/>
              </a:defRPr>
            </a:lvl2pPr>
            <a:lvl3pPr algn="l">
              <a:defRPr sz="1500" b="0">
                <a:solidFill>
                  <a:srgbClr val="41826F"/>
                </a:solidFill>
                <a:latin typeface="Arial"/>
                <a:ea typeface="Arial"/>
                <a:cs typeface="Arial"/>
              </a:defRPr>
            </a:lvl3pPr>
            <a:lvl4pPr algn="l">
              <a:defRPr sz="1500" b="0">
                <a:solidFill>
                  <a:srgbClr val="41826F"/>
                </a:solidFill>
                <a:latin typeface="Arial"/>
                <a:ea typeface="Arial"/>
                <a:cs typeface="Arial"/>
              </a:defRPr>
            </a:lvl4pPr>
            <a:lvl5pPr algn="l">
              <a:defRPr sz="1500" b="0">
                <a:solidFill>
                  <a:srgbClr val="41826F"/>
                </a:solidFill>
                <a:latin typeface="Arial"/>
                <a:ea typeface="Arial"/>
                <a:cs typeface="Arial"/>
              </a:defRPr>
            </a:lvl5pPr>
            <a:lvl6pPr algn="l">
              <a:defRPr sz="1500" b="0">
                <a:solidFill>
                  <a:srgbClr val="41826F"/>
                </a:solidFill>
                <a:latin typeface="Arial"/>
                <a:ea typeface="Arial"/>
                <a:cs typeface="Arial"/>
              </a:defRPr>
            </a:lvl6pPr>
            <a:lvl7pPr algn="l">
              <a:defRPr sz="1500" b="0">
                <a:solidFill>
                  <a:srgbClr val="41826F"/>
                </a:solidFill>
                <a:latin typeface="Arial"/>
                <a:ea typeface="Arial"/>
                <a:cs typeface="Arial"/>
              </a:defRPr>
            </a:lvl7pPr>
            <a:lvl8pPr algn="l">
              <a:defRPr sz="1500" b="0">
                <a:solidFill>
                  <a:srgbClr val="41826F"/>
                </a:solidFill>
                <a:latin typeface="Arial"/>
                <a:ea typeface="Arial"/>
                <a:cs typeface="Arial"/>
              </a:defRPr>
            </a:lvl8pPr>
            <a:lvl9pPr algn="l">
              <a:defRPr sz="1500" b="0">
                <a:solidFill>
                  <a:srgbClr val="41826F"/>
                </a:solidFill>
                <a:latin typeface="Arial"/>
                <a:ea typeface="Arial"/>
                <a:cs typeface="Arial"/>
              </a:defRPr>
            </a:lvl9pPr>
          </a:lstStyle>
          <a:p>
            <a:pPr algn="l">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1328152463" name="access-participant-head-81"/>
          <p:cNvSpPr>
            <a:spLocks noGrp="1"/>
          </p:cNvSpPr>
          <p:nvPr/>
        </p:nvSpPr>
        <p:spPr bwMode="auto">
          <a:xfrm>
            <a:off x="1885950" y="2133600"/>
            <a:ext cx="190500" cy="190500"/>
          </a:xfrm>
          <a:prstGeom prst="ellipse">
            <a:avLst/>
          </a:prstGeom>
          <a:solidFill>
            <a:srgbClr val="183440"/>
          </a:solidFill>
          <a:ln w="0">
            <a:noFill/>
            <a:prstDash val="solid"/>
          </a:ln>
        </p:spPr>
      </p:sp>
      <p:sp>
        <p:nvSpPr>
          <p:cNvPr id="1611867392" name="access-participant-body-82"/>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403170590" name="access-revision-text-83"/>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Eligible</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investor</a:t>
            </a:r>
            <a:endParaRPr/>
          </a:p>
        </p:txBody>
      </p:sp>
      <p:sp>
        <p:nvSpPr>
          <p:cNvPr id="1266524703" name="access-diagram-line-84"/>
          <p:cNvSpPr>
            <a:spLocks noGrp="1"/>
          </p:cNvSpPr>
          <p:nvPr/>
        </p:nvSpPr>
        <p:spPr bwMode="auto">
          <a:xfrm>
            <a:off x="1981200" y="3162300"/>
            <a:ext cx="0" cy="2695575"/>
          </a:xfrm>
          <a:prstGeom prst="line">
            <a:avLst/>
          </a:prstGeom>
          <a:noFill/>
          <a:ln w="10478">
            <a:solidFill>
              <a:srgbClr val="CFD7D1"/>
            </a:solidFill>
            <a:prstDash val="dash"/>
          </a:ln>
        </p:spPr>
      </p:sp>
      <p:sp>
        <p:nvSpPr>
          <p:cNvPr id="2012271720" name="access-participant-head-85"/>
          <p:cNvSpPr>
            <a:spLocks noGrp="1"/>
          </p:cNvSpPr>
          <p:nvPr/>
        </p:nvSpPr>
        <p:spPr bwMode="auto">
          <a:xfrm>
            <a:off x="4629150" y="2133600"/>
            <a:ext cx="190500" cy="190500"/>
          </a:xfrm>
          <a:prstGeom prst="ellipse">
            <a:avLst/>
          </a:prstGeom>
          <a:solidFill>
            <a:srgbClr val="183440"/>
          </a:solidFill>
          <a:ln w="0">
            <a:noFill/>
            <a:prstDash val="solid"/>
          </a:ln>
        </p:spPr>
      </p:sp>
      <p:sp>
        <p:nvSpPr>
          <p:cNvPr id="1759620963" name="access-participant-body-86"/>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631710226" name="access-revision-text-87"/>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liquidity partner</a:t>
            </a:r>
            <a:endParaRPr/>
          </a:p>
        </p:txBody>
      </p:sp>
      <p:sp>
        <p:nvSpPr>
          <p:cNvPr id="1247434134" name="access-diagram-line-88"/>
          <p:cNvSpPr>
            <a:spLocks noGrp="1"/>
          </p:cNvSpPr>
          <p:nvPr/>
        </p:nvSpPr>
        <p:spPr bwMode="auto">
          <a:xfrm>
            <a:off x="4724399" y="3162300"/>
            <a:ext cx="0" cy="2695575"/>
          </a:xfrm>
          <a:prstGeom prst="line">
            <a:avLst/>
          </a:prstGeom>
          <a:noFill/>
          <a:ln w="10478">
            <a:solidFill>
              <a:srgbClr val="CFD7D1"/>
            </a:solidFill>
            <a:prstDash val="dash"/>
          </a:ln>
        </p:spPr>
      </p:sp>
      <p:sp>
        <p:nvSpPr>
          <p:cNvPr id="495224495" name="access-participant-head-89"/>
          <p:cNvSpPr>
            <a:spLocks noGrp="1"/>
          </p:cNvSpPr>
          <p:nvPr/>
        </p:nvSpPr>
        <p:spPr bwMode="auto">
          <a:xfrm>
            <a:off x="7372350" y="2133600"/>
            <a:ext cx="190500" cy="190500"/>
          </a:xfrm>
          <a:prstGeom prst="ellipse">
            <a:avLst/>
          </a:prstGeom>
          <a:solidFill>
            <a:srgbClr val="183440"/>
          </a:solidFill>
          <a:ln w="0">
            <a:noFill/>
            <a:prstDash val="solid"/>
          </a:ln>
        </p:spPr>
      </p:sp>
      <p:sp>
        <p:nvSpPr>
          <p:cNvPr id="1229558231" name="access-participant-body-90"/>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475639879" name="access-revision-text-91"/>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457131778" name="access-diagram-line-92"/>
          <p:cNvSpPr>
            <a:spLocks noGrp="1"/>
          </p:cNvSpPr>
          <p:nvPr/>
        </p:nvSpPr>
        <p:spPr bwMode="auto">
          <a:xfrm>
            <a:off x="7467600" y="3162300"/>
            <a:ext cx="0" cy="2695575"/>
          </a:xfrm>
          <a:prstGeom prst="line">
            <a:avLst/>
          </a:prstGeom>
          <a:noFill/>
          <a:ln w="10478">
            <a:solidFill>
              <a:srgbClr val="CFD7D1"/>
            </a:solidFill>
            <a:prstDash val="dash"/>
          </a:ln>
        </p:spPr>
      </p:sp>
      <p:sp>
        <p:nvSpPr>
          <p:cNvPr id="1038672047" name="access-system-93"/>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909826916" name="access-system-94"/>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2075655765" name="access-diagram-line-95"/>
          <p:cNvSpPr>
            <a:spLocks noGrp="1"/>
          </p:cNvSpPr>
          <p:nvPr/>
        </p:nvSpPr>
        <p:spPr bwMode="auto">
          <a:xfrm>
            <a:off x="10172700" y="2305050"/>
            <a:ext cx="85725" cy="0"/>
          </a:xfrm>
          <a:prstGeom prst="line">
            <a:avLst/>
          </a:prstGeom>
          <a:noFill/>
          <a:ln w="14288">
            <a:solidFill>
              <a:srgbClr val="537DA1"/>
            </a:solidFill>
            <a:prstDash val="solid"/>
          </a:ln>
        </p:spPr>
      </p:sp>
      <p:sp>
        <p:nvSpPr>
          <p:cNvPr id="1137546220" name="access-revision-text-96"/>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defRPr sz="1800" b="1">
                <a:solidFill>
                  <a:srgbClr val="183440"/>
                </a:solidFill>
                <a:latin typeface="Arial"/>
                <a:ea typeface="Arial"/>
                <a:cs typeface="Arial"/>
              </a:defRPr>
            </a:lvl1pPr>
            <a:lvl2pPr algn="ctr">
              <a:defRPr sz="1800" b="1">
                <a:solidFill>
                  <a:srgbClr val="183440"/>
                </a:solidFill>
                <a:latin typeface="Arial"/>
                <a:ea typeface="Arial"/>
                <a:cs typeface="Arial"/>
              </a:defRPr>
            </a:lvl2pPr>
            <a:lvl3pPr algn="ctr">
              <a:defRPr sz="1800" b="1">
                <a:solidFill>
                  <a:srgbClr val="183440"/>
                </a:solidFill>
                <a:latin typeface="Arial"/>
                <a:ea typeface="Arial"/>
                <a:cs typeface="Arial"/>
              </a:defRPr>
            </a:lvl3pPr>
            <a:lvl4pPr algn="ctr">
              <a:defRPr sz="1800" b="1">
                <a:solidFill>
                  <a:srgbClr val="183440"/>
                </a:solidFill>
                <a:latin typeface="Arial"/>
                <a:ea typeface="Arial"/>
                <a:cs typeface="Arial"/>
              </a:defRPr>
            </a:lvl4pPr>
            <a:lvl5pPr algn="ctr">
              <a:defRPr sz="1800" b="1">
                <a:solidFill>
                  <a:srgbClr val="183440"/>
                </a:solidFill>
                <a:latin typeface="Arial"/>
                <a:ea typeface="Arial"/>
                <a:cs typeface="Arial"/>
              </a:defRPr>
            </a:lvl5pPr>
            <a:lvl6pPr algn="ctr">
              <a:defRPr sz="1800" b="1">
                <a:solidFill>
                  <a:srgbClr val="183440"/>
                </a:solidFill>
                <a:latin typeface="Arial"/>
                <a:ea typeface="Arial"/>
                <a:cs typeface="Arial"/>
              </a:defRPr>
            </a:lvl6pPr>
            <a:lvl7pPr algn="ctr">
              <a:defRPr sz="1800" b="1">
                <a:solidFill>
                  <a:srgbClr val="183440"/>
                </a:solidFill>
                <a:latin typeface="Arial"/>
                <a:ea typeface="Arial"/>
                <a:cs typeface="Arial"/>
              </a:defRPr>
            </a:lvl7pPr>
            <a:lvl8pPr algn="ctr">
              <a:defRPr sz="1800" b="1">
                <a:solidFill>
                  <a:srgbClr val="183440"/>
                </a:solidFill>
                <a:latin typeface="Arial"/>
                <a:ea typeface="Arial"/>
                <a:cs typeface="Arial"/>
              </a:defRPr>
            </a:lvl8pPr>
            <a:lvl9pPr algn="ctr">
              <a:defRPr sz="1800" b="1">
                <a:solidFill>
                  <a:srgbClr val="183440"/>
                </a:solidFill>
                <a:latin typeface="Arial"/>
                <a:ea typeface="Arial"/>
                <a:cs typeface="Arial"/>
              </a:defRPr>
            </a:lvl9pPr>
          </a:lstStyle>
          <a:p>
            <a:pPr algn="ctr">
              <a:defRPr sz="1800" b="1">
                <a:solidFill>
                  <a:srgbClr val="183440"/>
                </a:solidFill>
                <a:latin typeface="Arial"/>
                <a:ea typeface="Arial"/>
                <a:cs typeface="Arial"/>
              </a:defRPr>
            </a:pPr>
            <a:r>
              <a:rPr sz="1800" b="1">
                <a:solidFill>
                  <a:srgbClr val="183440"/>
                </a:solidFill>
                <a:latin typeface="Arial"/>
                <a:ea typeface="Arial"/>
                <a:cs typeface="Arial"/>
              </a:rPr>
              <a:t>Receipt</a:t>
            </a:r>
            <a:endParaRPr/>
          </a:p>
          <a:p>
            <a:pPr algn="ctr">
              <a:defRPr sz="1800" b="1">
                <a:solidFill>
                  <a:srgbClr val="183440"/>
                </a:solidFill>
                <a:latin typeface="Arial"/>
                <a:ea typeface="Arial"/>
                <a:cs typeface="Arial"/>
              </a:defRPr>
            </a:pPr>
            <a:r>
              <a:rPr sz="1800" b="1">
                <a:solidFill>
                  <a:srgbClr val="183440"/>
                </a:solidFill>
                <a:latin typeface="Arial"/>
                <a:ea typeface="Arial"/>
                <a:cs typeface="Arial"/>
              </a:rPr>
              <a:t>register</a:t>
            </a:r>
            <a:endParaRPr/>
          </a:p>
        </p:txBody>
      </p:sp>
      <p:sp>
        <p:nvSpPr>
          <p:cNvPr id="61700510" name="access-diagram-line-97"/>
          <p:cNvSpPr>
            <a:spLocks noGrp="1"/>
          </p:cNvSpPr>
          <p:nvPr/>
        </p:nvSpPr>
        <p:spPr bwMode="auto">
          <a:xfrm>
            <a:off x="10210800" y="3162300"/>
            <a:ext cx="0" cy="2695575"/>
          </a:xfrm>
          <a:prstGeom prst="line">
            <a:avLst/>
          </a:prstGeom>
          <a:noFill/>
          <a:ln w="10478">
            <a:solidFill>
              <a:srgbClr val="CFD7D1"/>
            </a:solidFill>
            <a:prstDash val="dash"/>
          </a:ln>
        </p:spPr>
      </p:sp>
      <p:cxnSp>
        <p:nvCxnSpPr>
          <p:cNvPr id="85400331" name="access-diagram-line-98"/>
          <p:cNvCxnSpPr/>
          <p:nvPr/>
        </p:nvCxnSpPr>
        <p:spPr bwMode="auto">
          <a:xfrm>
            <a:off x="1981200" y="3362324"/>
            <a:ext cx="2743200" cy="0"/>
          </a:xfrm>
          <a:prstGeom prst="straightConnector1">
            <a:avLst/>
          </a:prstGeom>
          <a:ln w="20955">
            <a:solidFill>
              <a:srgbClr val="83739D"/>
            </a:solidFill>
            <a:prstDash val="solid"/>
            <a:tailEnd type="triangle" w="sm" len="sm"/>
          </a:ln>
        </p:spPr>
      </p:cxnSp>
      <p:sp>
        <p:nvSpPr>
          <p:cNvPr id="1850962728" name="access-data-object-99"/>
          <p:cNvSpPr>
            <a:spLocks noGrp="1"/>
          </p:cNvSpPr>
          <p:nvPr/>
        </p:nvSpPr>
        <p:spPr bwMode="auto">
          <a:xfrm>
            <a:off x="2057400" y="318135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1. Buy 25 units at US$12</a:t>
            </a:r>
            <a:endParaRPr/>
          </a:p>
        </p:txBody>
      </p:sp>
      <p:cxnSp>
        <p:nvCxnSpPr>
          <p:cNvPr id="549988992" name="access-diagram-line-100"/>
          <p:cNvCxnSpPr/>
          <p:nvPr/>
        </p:nvCxnSpPr>
        <p:spPr bwMode="auto">
          <a:xfrm>
            <a:off x="1981200" y="3886200"/>
            <a:ext cx="5486400" cy="0"/>
          </a:xfrm>
          <a:prstGeom prst="straightConnector1">
            <a:avLst/>
          </a:prstGeom>
          <a:ln w="20955">
            <a:solidFill>
              <a:srgbClr val="41826F"/>
            </a:solidFill>
            <a:prstDash val="solid"/>
            <a:tailEnd type="triangle" w="sm" len="sm"/>
          </a:ln>
        </p:spPr>
      </p:cxnSp>
      <p:sp>
        <p:nvSpPr>
          <p:cNvPr id="256657053" name="access-data-object-101"/>
          <p:cNvSpPr>
            <a:spLocks noGrp="1"/>
          </p:cNvSpPr>
          <p:nvPr/>
        </p:nvSpPr>
        <p:spPr bwMode="auto">
          <a:xfrm>
            <a:off x="2876550" y="3705225"/>
            <a:ext cx="36957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2. 300 USDC or 2,340 RedCoin</a:t>
            </a:r>
            <a:endParaRPr/>
          </a:p>
        </p:txBody>
      </p:sp>
      <p:cxnSp>
        <p:nvCxnSpPr>
          <p:cNvPr id="151669122" name="access-diagram-line-102"/>
          <p:cNvCxnSpPr/>
          <p:nvPr/>
        </p:nvCxnSpPr>
        <p:spPr bwMode="auto">
          <a:xfrm>
            <a:off x="4724399" y="4410075"/>
            <a:ext cx="2743200" cy="0"/>
          </a:xfrm>
          <a:prstGeom prst="straightConnector1">
            <a:avLst/>
          </a:prstGeom>
          <a:ln w="20955">
            <a:solidFill>
              <a:srgbClr val="83739D"/>
            </a:solidFill>
            <a:prstDash val="solid"/>
            <a:headEnd type="triangle" w="sm" len="sm"/>
          </a:ln>
        </p:spPr>
      </p:cxnSp>
      <p:sp>
        <p:nvSpPr>
          <p:cNvPr id="2096160155" name="access-data-object-103"/>
          <p:cNvSpPr>
            <a:spLocks noGrp="1"/>
          </p:cNvSpPr>
          <p:nvPr/>
        </p:nvSpPr>
        <p:spPr bwMode="auto">
          <a:xfrm>
            <a:off x="4752975" y="4229100"/>
            <a:ext cx="26860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3. Final cash + FX evidence</a:t>
            </a:r>
            <a:endParaRPr/>
          </a:p>
        </p:txBody>
      </p:sp>
      <p:cxnSp>
        <p:nvCxnSpPr>
          <p:cNvPr id="1124709836" name="access-diagram-line-104"/>
          <p:cNvCxnSpPr/>
          <p:nvPr/>
        </p:nvCxnSpPr>
        <p:spPr bwMode="auto">
          <a:xfrm>
            <a:off x="4724399" y="4933950"/>
            <a:ext cx="5486400" cy="0"/>
          </a:xfrm>
          <a:prstGeom prst="straightConnector1">
            <a:avLst/>
          </a:prstGeom>
          <a:ln w="20955">
            <a:solidFill>
              <a:srgbClr val="537DA1"/>
            </a:solidFill>
            <a:prstDash val="solid"/>
            <a:tailEnd type="triangle" w="sm" len="sm"/>
          </a:ln>
        </p:spPr>
      </p:cxnSp>
      <p:sp>
        <p:nvSpPr>
          <p:cNvPr id="1639237450" name="access-data-object-105"/>
          <p:cNvSpPr>
            <a:spLocks noGrp="1"/>
          </p:cNvSpPr>
          <p:nvPr/>
        </p:nvSpPr>
        <p:spPr bwMode="auto">
          <a:xfrm>
            <a:off x="5895975" y="4752975"/>
            <a:ext cx="31432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4. Transfer 25 receipt units</a:t>
            </a:r>
            <a:endParaRPr/>
          </a:p>
        </p:txBody>
      </p:sp>
      <p:cxnSp>
        <p:nvCxnSpPr>
          <p:cNvPr id="1292852632" name="access-diagram-line-106"/>
          <p:cNvCxnSpPr/>
          <p:nvPr/>
        </p:nvCxnSpPr>
        <p:spPr bwMode="auto">
          <a:xfrm>
            <a:off x="1981200" y="5457825"/>
            <a:ext cx="8229600" cy="0"/>
          </a:xfrm>
          <a:prstGeom prst="straightConnector1">
            <a:avLst/>
          </a:prstGeom>
          <a:ln w="20955">
            <a:solidFill>
              <a:srgbClr val="83739D"/>
            </a:solidFill>
            <a:prstDash val="solid"/>
            <a:headEnd type="triangle" w="sm" len="sm"/>
          </a:ln>
        </p:spPr>
      </p:cxnSp>
      <p:sp>
        <p:nvSpPr>
          <p:cNvPr id="1876761929" name="access-data-object-107"/>
          <p:cNvSpPr>
            <a:spLocks noGrp="1"/>
          </p:cNvSpPr>
          <p:nvPr/>
        </p:nvSpPr>
        <p:spPr bwMode="auto">
          <a:xfrm>
            <a:off x="3286125" y="5276850"/>
            <a:ext cx="5619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defRPr sz="1500">
                <a:solidFill>
                  <a:srgbClr val="183440"/>
                </a:solidFill>
                <a:latin typeface="Arial"/>
                <a:ea typeface="Arial"/>
                <a:cs typeface="Arial"/>
              </a:defRPr>
            </a:lvl1pPr>
            <a:lvl2pPr algn="ctr">
              <a:defRPr sz="1500">
                <a:solidFill>
                  <a:srgbClr val="183440"/>
                </a:solidFill>
                <a:latin typeface="Arial"/>
                <a:ea typeface="Arial"/>
                <a:cs typeface="Arial"/>
              </a:defRPr>
            </a:lvl2pPr>
            <a:lvl3pPr algn="ctr">
              <a:defRPr sz="1500">
                <a:solidFill>
                  <a:srgbClr val="183440"/>
                </a:solidFill>
                <a:latin typeface="Arial"/>
                <a:ea typeface="Arial"/>
                <a:cs typeface="Arial"/>
              </a:defRPr>
            </a:lvl3pPr>
            <a:lvl4pPr algn="ctr">
              <a:defRPr sz="1500">
                <a:solidFill>
                  <a:srgbClr val="183440"/>
                </a:solidFill>
                <a:latin typeface="Arial"/>
                <a:ea typeface="Arial"/>
                <a:cs typeface="Arial"/>
              </a:defRPr>
            </a:lvl4pPr>
            <a:lvl5pPr algn="ctr">
              <a:defRPr sz="1500">
                <a:solidFill>
                  <a:srgbClr val="183440"/>
                </a:solidFill>
                <a:latin typeface="Arial"/>
                <a:ea typeface="Arial"/>
                <a:cs typeface="Arial"/>
              </a:defRPr>
            </a:lvl5pPr>
            <a:lvl6pPr algn="ctr">
              <a:defRPr sz="1500">
                <a:solidFill>
                  <a:srgbClr val="183440"/>
                </a:solidFill>
                <a:latin typeface="Arial"/>
                <a:ea typeface="Arial"/>
                <a:cs typeface="Arial"/>
              </a:defRPr>
            </a:lvl6pPr>
            <a:lvl7pPr algn="ctr">
              <a:defRPr sz="1500">
                <a:solidFill>
                  <a:srgbClr val="183440"/>
                </a:solidFill>
                <a:latin typeface="Arial"/>
                <a:ea typeface="Arial"/>
                <a:cs typeface="Arial"/>
              </a:defRPr>
            </a:lvl7pPr>
            <a:lvl8pPr algn="ctr">
              <a:defRPr sz="1500">
                <a:solidFill>
                  <a:srgbClr val="183440"/>
                </a:solidFill>
                <a:latin typeface="Arial"/>
                <a:ea typeface="Arial"/>
                <a:cs typeface="Arial"/>
              </a:defRPr>
            </a:lvl8pPr>
            <a:lvl9pPr algn="ctr">
              <a:defRPr sz="1500">
                <a:solidFill>
                  <a:srgbClr val="183440"/>
                </a:solidFill>
                <a:latin typeface="Arial"/>
                <a:ea typeface="Arial"/>
                <a:cs typeface="Arial"/>
              </a:defRPr>
            </a:lvl9pPr>
          </a:lstStyle>
          <a:p>
            <a:pPr algn="ctr">
              <a:defRPr sz="1500">
                <a:solidFill>
                  <a:srgbClr val="183440"/>
                </a:solidFill>
                <a:latin typeface="Arial"/>
                <a:ea typeface="Arial"/>
                <a:cs typeface="Arial"/>
              </a:defRPr>
            </a:pPr>
            <a:r>
              <a:rPr sz="1500">
                <a:solidFill>
                  <a:srgbClr val="183440"/>
                </a:solidFill>
                <a:latin typeface="Arial"/>
                <a:ea typeface="Arial"/>
                <a:cs typeface="Arial"/>
              </a:rPr>
              <a:t>5. Confirm holding: 25 units = 0.25 share interest</a:t>
            </a:r>
            <a:endParaRPr/>
          </a:p>
        </p:txBody>
      </p:sp>
      <p:sp>
        <p:nvSpPr>
          <p:cNvPr id="244287098" name="access-revision-text-10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defRPr sz="1450" b="0">
                <a:solidFill>
                  <a:srgbClr val="53676D"/>
                </a:solidFill>
                <a:latin typeface="Arial"/>
                <a:ea typeface="Arial"/>
                <a:cs typeface="Arial"/>
              </a:defRPr>
            </a:lvl1pPr>
            <a:lvl2pPr algn="l">
              <a:defRPr sz="1450" b="0">
                <a:solidFill>
                  <a:srgbClr val="53676D"/>
                </a:solidFill>
                <a:latin typeface="Arial"/>
                <a:ea typeface="Arial"/>
                <a:cs typeface="Arial"/>
              </a:defRPr>
            </a:lvl2pPr>
            <a:lvl3pPr algn="l">
              <a:defRPr sz="1450" b="0">
                <a:solidFill>
                  <a:srgbClr val="53676D"/>
                </a:solidFill>
                <a:latin typeface="Arial"/>
                <a:ea typeface="Arial"/>
                <a:cs typeface="Arial"/>
              </a:defRPr>
            </a:lvl3pPr>
            <a:lvl4pPr algn="l">
              <a:defRPr sz="1450" b="0">
                <a:solidFill>
                  <a:srgbClr val="53676D"/>
                </a:solidFill>
                <a:latin typeface="Arial"/>
                <a:ea typeface="Arial"/>
                <a:cs typeface="Arial"/>
              </a:defRPr>
            </a:lvl4pPr>
            <a:lvl5pPr algn="l">
              <a:defRPr sz="1450" b="0">
                <a:solidFill>
                  <a:srgbClr val="53676D"/>
                </a:solidFill>
                <a:latin typeface="Arial"/>
                <a:ea typeface="Arial"/>
                <a:cs typeface="Arial"/>
              </a:defRPr>
            </a:lvl5pPr>
            <a:lvl6pPr algn="l">
              <a:defRPr sz="1450" b="0">
                <a:solidFill>
                  <a:srgbClr val="53676D"/>
                </a:solidFill>
                <a:latin typeface="Arial"/>
                <a:ea typeface="Arial"/>
                <a:cs typeface="Arial"/>
              </a:defRPr>
            </a:lvl6pPr>
            <a:lvl7pPr algn="l">
              <a:defRPr sz="1450" b="0">
                <a:solidFill>
                  <a:srgbClr val="53676D"/>
                </a:solidFill>
                <a:latin typeface="Arial"/>
                <a:ea typeface="Arial"/>
                <a:cs typeface="Arial"/>
              </a:defRPr>
            </a:lvl7pPr>
            <a:lvl8pPr algn="l">
              <a:defRPr sz="1450" b="0">
                <a:solidFill>
                  <a:srgbClr val="53676D"/>
                </a:solidFill>
                <a:latin typeface="Arial"/>
                <a:ea typeface="Arial"/>
                <a:cs typeface="Arial"/>
              </a:defRPr>
            </a:lvl8pPr>
            <a:lvl9pPr algn="l">
              <a:defRPr sz="1450" b="0">
                <a:solidFill>
                  <a:srgbClr val="53676D"/>
                </a:solidFill>
                <a:latin typeface="Arial"/>
                <a:ea typeface="Arial"/>
                <a:cs typeface="Arial"/>
              </a:defRPr>
            </a:lvl9pPr>
          </a:lstStyle>
          <a:p>
            <a:pPr algn="l">
              <a:defRPr sz="1450" b="0">
                <a:solidFill>
                  <a:srgbClr val="53676D"/>
                </a:solidFill>
                <a:latin typeface="Arial"/>
                <a:ea typeface="Arial"/>
                <a:cs typeface="Arial"/>
              </a:defRPr>
            </a:pPr>
            <a:r>
              <a:rPr sz="1450" b="0">
                <a:solidFill>
                  <a:srgbClr val="53676D"/>
                </a:solidFill>
                <a:latin typeface="Arial"/>
                <a:ea typeface="Arial"/>
                <a:cs typeface="Arial"/>
              </a:rPr>
              <a:t>US$300 before fees. Assumes USDC/USD 1, RedCoin/HKD 1 and 7.80 HKD/USD. Rail access remains proposed.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21683040" name="access-revision-text-10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4. The holding value rises in this example</a:t>
            </a:r>
            <a:endParaRPr/>
          </a:p>
        </p:txBody>
      </p:sp>
      <p:sp>
        <p:nvSpPr>
          <p:cNvPr id="1264922527" name="access-revision-text-110"/>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Hypothetical positive scenario. Share price increases 10%, while 25 receipt units remain unchanged.</a:t>
            </a:r>
            <a:endParaRPr/>
          </a:p>
        </p:txBody>
      </p:sp>
      <p:sp>
        <p:nvSpPr>
          <p:cNvPr id="1038311450" name="access-revision-text-11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74224964" name="access-revision-text-11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12</a:t>
            </a:r>
            <a:endParaRPr/>
          </a:p>
        </p:txBody>
      </p:sp>
      <p:graphicFrame>
        <p:nvGraphicFramePr>
          <p:cNvPr id="781784067" name="Chart"/>
          <p:cNvGraphicFramePr>
            <a:graphicFrameLocks xmlns:a="http://schemas.openxmlformats.org/drawingml/2006/main"/>
          </p:cNvGraphicFramePr>
          <p:nvPr/>
        </p:nvGraphicFramePr>
        <p:xfrm rot="0">
          <a:off x="609600" y="2209800"/>
          <a:ext cx="5429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1558129761" name="access-revision-text-113"/>
          <p:cNvSpPr>
            <a:spLocks noGrp="1"/>
          </p:cNvSpPr>
          <p:nvPr/>
        </p:nvSpPr>
        <p:spPr bwMode="auto">
          <a:xfrm>
            <a:off x="6496050" y="2200275"/>
            <a:ext cx="508635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US$1,200 to US$1,320 per share</a:t>
            </a:r>
            <a:endParaRPr/>
          </a:p>
        </p:txBody>
      </p:sp>
      <p:sp>
        <p:nvSpPr>
          <p:cNvPr id="60112825" name="access-revision-text-114"/>
          <p:cNvSpPr>
            <a:spLocks noGrp="1"/>
          </p:cNvSpPr>
          <p:nvPr/>
        </p:nvSpPr>
        <p:spPr bwMode="auto">
          <a:xfrm>
            <a:off x="6496050" y="2762250"/>
            <a:ext cx="5086350" cy="40005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defRPr sz="2100" b="1">
                <a:solidFill>
                  <a:srgbClr val="183440"/>
                </a:solidFill>
                <a:latin typeface="Arial"/>
                <a:ea typeface="Arial"/>
                <a:cs typeface="Arial"/>
              </a:defRPr>
            </a:lvl1pPr>
            <a:lvl2pPr algn="l">
              <a:defRPr sz="2100" b="1">
                <a:solidFill>
                  <a:srgbClr val="183440"/>
                </a:solidFill>
                <a:latin typeface="Arial"/>
                <a:ea typeface="Arial"/>
                <a:cs typeface="Arial"/>
              </a:defRPr>
            </a:lvl2pPr>
            <a:lvl3pPr algn="l">
              <a:defRPr sz="2100" b="1">
                <a:solidFill>
                  <a:srgbClr val="183440"/>
                </a:solidFill>
                <a:latin typeface="Arial"/>
                <a:ea typeface="Arial"/>
                <a:cs typeface="Arial"/>
              </a:defRPr>
            </a:lvl3pPr>
            <a:lvl4pPr algn="l">
              <a:defRPr sz="2100" b="1">
                <a:solidFill>
                  <a:srgbClr val="183440"/>
                </a:solidFill>
                <a:latin typeface="Arial"/>
                <a:ea typeface="Arial"/>
                <a:cs typeface="Arial"/>
              </a:defRPr>
            </a:lvl4pPr>
            <a:lvl5pPr algn="l">
              <a:defRPr sz="2100" b="1">
                <a:solidFill>
                  <a:srgbClr val="183440"/>
                </a:solidFill>
                <a:latin typeface="Arial"/>
                <a:ea typeface="Arial"/>
                <a:cs typeface="Arial"/>
              </a:defRPr>
            </a:lvl5pPr>
            <a:lvl6pPr algn="l">
              <a:defRPr sz="2100" b="1">
                <a:solidFill>
                  <a:srgbClr val="183440"/>
                </a:solidFill>
                <a:latin typeface="Arial"/>
                <a:ea typeface="Arial"/>
                <a:cs typeface="Arial"/>
              </a:defRPr>
            </a:lvl6pPr>
            <a:lvl7pPr algn="l">
              <a:defRPr sz="2100" b="1">
                <a:solidFill>
                  <a:srgbClr val="183440"/>
                </a:solidFill>
                <a:latin typeface="Arial"/>
                <a:ea typeface="Arial"/>
                <a:cs typeface="Arial"/>
              </a:defRPr>
            </a:lvl7pPr>
            <a:lvl8pPr algn="l">
              <a:defRPr sz="2100" b="1">
                <a:solidFill>
                  <a:srgbClr val="183440"/>
                </a:solidFill>
                <a:latin typeface="Arial"/>
                <a:ea typeface="Arial"/>
                <a:cs typeface="Arial"/>
              </a:defRPr>
            </a:lvl8pPr>
            <a:lvl9pPr algn="l">
              <a:defRPr sz="2100" b="1">
                <a:solidFill>
                  <a:srgbClr val="183440"/>
                </a:solidFill>
                <a:latin typeface="Arial"/>
                <a:ea typeface="Arial"/>
                <a:cs typeface="Arial"/>
              </a:defRPr>
            </a:lvl9pPr>
          </a:lstStyle>
          <a:p>
            <a:pPr algn="l">
              <a:defRPr sz="2100" b="1">
                <a:solidFill>
                  <a:srgbClr val="183440"/>
                </a:solidFill>
                <a:latin typeface="Arial"/>
                <a:ea typeface="Arial"/>
                <a:cs typeface="Arial"/>
              </a:defRPr>
            </a:pPr>
            <a:r>
              <a:rPr sz="2100" b="1">
                <a:solidFill>
                  <a:srgbClr val="183440"/>
                </a:solidFill>
                <a:latin typeface="Arial"/>
                <a:ea typeface="Arial"/>
                <a:cs typeface="Arial"/>
              </a:rPr>
              <a:t>25 × 0.01 × US$1,320 = US$330</a:t>
            </a:r>
            <a:endParaRPr/>
          </a:p>
        </p:txBody>
      </p:sp>
      <p:sp>
        <p:nvSpPr>
          <p:cNvPr id="683171292" name="access-revision-text-115"/>
          <p:cNvSpPr>
            <a:spLocks noGrp="1"/>
          </p:cNvSpPr>
          <p:nvPr/>
        </p:nvSpPr>
        <p:spPr bwMode="auto">
          <a:xfrm>
            <a:off x="6496050" y="3295650"/>
            <a:ext cx="5086350" cy="40005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defRPr sz="2100" b="1">
                <a:solidFill>
                  <a:srgbClr val="176C6B"/>
                </a:solidFill>
                <a:latin typeface="Arial"/>
                <a:ea typeface="Arial"/>
                <a:cs typeface="Arial"/>
              </a:defRPr>
            </a:lvl1pPr>
            <a:lvl2pPr algn="l">
              <a:defRPr sz="2100" b="1">
                <a:solidFill>
                  <a:srgbClr val="176C6B"/>
                </a:solidFill>
                <a:latin typeface="Arial"/>
                <a:ea typeface="Arial"/>
                <a:cs typeface="Arial"/>
              </a:defRPr>
            </a:lvl2pPr>
            <a:lvl3pPr algn="l">
              <a:defRPr sz="2100" b="1">
                <a:solidFill>
                  <a:srgbClr val="176C6B"/>
                </a:solidFill>
                <a:latin typeface="Arial"/>
                <a:ea typeface="Arial"/>
                <a:cs typeface="Arial"/>
              </a:defRPr>
            </a:lvl3pPr>
            <a:lvl4pPr algn="l">
              <a:defRPr sz="2100" b="1">
                <a:solidFill>
                  <a:srgbClr val="176C6B"/>
                </a:solidFill>
                <a:latin typeface="Arial"/>
                <a:ea typeface="Arial"/>
                <a:cs typeface="Arial"/>
              </a:defRPr>
            </a:lvl4pPr>
            <a:lvl5pPr algn="l">
              <a:defRPr sz="2100" b="1">
                <a:solidFill>
                  <a:srgbClr val="176C6B"/>
                </a:solidFill>
                <a:latin typeface="Arial"/>
                <a:ea typeface="Arial"/>
                <a:cs typeface="Arial"/>
              </a:defRPr>
            </a:lvl5pPr>
            <a:lvl6pPr algn="l">
              <a:defRPr sz="2100" b="1">
                <a:solidFill>
                  <a:srgbClr val="176C6B"/>
                </a:solidFill>
                <a:latin typeface="Arial"/>
                <a:ea typeface="Arial"/>
                <a:cs typeface="Arial"/>
              </a:defRPr>
            </a:lvl6pPr>
            <a:lvl7pPr algn="l">
              <a:defRPr sz="2100" b="1">
                <a:solidFill>
                  <a:srgbClr val="176C6B"/>
                </a:solidFill>
                <a:latin typeface="Arial"/>
                <a:ea typeface="Arial"/>
                <a:cs typeface="Arial"/>
              </a:defRPr>
            </a:lvl7pPr>
            <a:lvl8pPr algn="l">
              <a:defRPr sz="2100" b="1">
                <a:solidFill>
                  <a:srgbClr val="176C6B"/>
                </a:solidFill>
                <a:latin typeface="Arial"/>
                <a:ea typeface="Arial"/>
                <a:cs typeface="Arial"/>
              </a:defRPr>
            </a:lvl8pPr>
            <a:lvl9pPr algn="l">
              <a:defRPr sz="2100" b="1">
                <a:solidFill>
                  <a:srgbClr val="176C6B"/>
                </a:solidFill>
                <a:latin typeface="Arial"/>
                <a:ea typeface="Arial"/>
                <a:cs typeface="Arial"/>
              </a:defRPr>
            </a:lvl9pPr>
          </a:lstStyle>
          <a:p>
            <a:pPr algn="l">
              <a:defRPr sz="2100" b="1">
                <a:solidFill>
                  <a:srgbClr val="176C6B"/>
                </a:solidFill>
                <a:latin typeface="Arial"/>
                <a:ea typeface="Arial"/>
                <a:cs typeface="Arial"/>
              </a:defRPr>
            </a:pPr>
            <a:r>
              <a:rPr sz="2100" b="1">
                <a:solidFill>
                  <a:srgbClr val="176C6B"/>
                </a:solidFill>
                <a:latin typeface="Arial"/>
                <a:ea typeface="Arial"/>
                <a:cs typeface="Arial"/>
              </a:rPr>
              <a:t>US$30 unrealized gain (+10%)</a:t>
            </a:r>
            <a:endParaRPr/>
          </a:p>
        </p:txBody>
      </p:sp>
      <p:graphicFrame>
        <p:nvGraphicFramePr>
          <p:cNvPr id="67846253" name=""/>
          <p:cNvGraphicFramePr>
            <a:graphicFrameLocks xmlns:a="http://schemas.openxmlformats.org/drawingml/2006/main"/>
          </p:cNvGraphicFramePr>
          <p:nvPr/>
        </p:nvGraphicFramePr>
        <p:xfrm rot="0">
          <a:off x="6496050" y="3952875"/>
          <a:ext cx="5086350" cy="1600200"/>
        </p:xfrm>
        <a:graphic>
          <a:graphicData uri="http://schemas.openxmlformats.org/drawingml/2006/table">
            <a:tbl>
              <a:tblPr firstRow="1" firstCol="0" lastRow="0" lastCol="0" bandRow="0" bandCol="0"/>
              <a:tblGrid>
                <a:gridCol w="3267075"/>
                <a:gridCol w="1819275"/>
              </a:tblGrid>
              <a:tr h="400050">
                <a:tc>
                  <a:txBody>
                    <a:bodyPr/>
                    <a:p>
                      <a:pPr>
                        <a:defRPr/>
                      </a:pPr>
                      <a:r>
                        <a:rPr sz="1500" b="1">
                          <a:solidFill>
                            <a:srgbClr val="FFFFFF"/>
                          </a:solidFill>
                          <a:latin typeface="Arial"/>
                          <a:ea typeface="Arial"/>
                          <a:cs typeface="Arial"/>
                        </a:rPr>
                        <a:t>HKD reporting illustration</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500" b="1">
                          <a:solidFill>
                            <a:srgbClr val="FFFFFF"/>
                          </a:solidFill>
                          <a:latin typeface="Arial"/>
                          <a:ea typeface="Arial"/>
                          <a:cs typeface="Arial"/>
                        </a:rPr>
                        <a:t>Value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00050">
                <a:tc>
                  <a:txBody>
                    <a:bodyPr/>
                    <a:p>
                      <a:pPr>
                        <a:defRPr/>
                      </a:pPr>
                      <a:r>
                        <a:rPr sz="1600" b="0">
                          <a:solidFill>
                            <a:srgbClr val="183440"/>
                          </a:solidFill>
                          <a:latin typeface="Arial"/>
                          <a:ea typeface="Arial"/>
                          <a:cs typeface="Arial"/>
                        </a:rPr>
                        <a:t>Initial at 7.80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2,340.00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Later at 7.82 HKD/USD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2,580.60</a:t>
                      </a:r>
                      <a:endParaRPr/>
                    </a:p>
                  </a:txBody>
                  <a:tcPr marL="91440" marR="91440" marT="45720" marB="45720" anchor="ctr">
                    <a:lnR w="9525" algn="ctr">
                      <a:solidFill>
                        <a:srgbClr val="CFD7D1"/>
                      </a:solidFill>
                    </a:lnR>
                    <a:lnB w="9525" algn="ctr">
                      <a:solidFill>
                        <a:srgbClr val="CFD7D1"/>
                      </a:solidFill>
                    </a:lnB>
                    <a:solidFill>
                      <a:srgbClr val="F7F4EC"/>
                    </a:solidFill>
                  </a:tcPr>
                </a:tc>
              </a:tr>
              <a:tr h="400050">
                <a:tc>
                  <a:txBody>
                    <a:bodyPr/>
                    <a:p>
                      <a:pPr>
                        <a:defRPr/>
                      </a:pPr>
                      <a:r>
                        <a:rPr sz="1600" b="0">
                          <a:solidFill>
                            <a:srgbClr val="183440"/>
                          </a:solidFill>
                          <a:latin typeface="Arial"/>
                          <a:ea typeface="Arial"/>
                          <a:cs typeface="Arial"/>
                        </a:rPr>
                        <a:t>Change in HKD value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00" b="0">
                          <a:solidFill>
                            <a:srgbClr val="183440"/>
                          </a:solidFill>
                          <a:latin typeface="Arial"/>
                          <a:ea typeface="Arial"/>
                          <a:cs typeface="Arial"/>
                        </a:rPr>
                        <a:t>+10.28%</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645097528" name="access-revision-text-116"/>
          <p:cNvSpPr>
            <a:spLocks noGrp="1"/>
          </p:cNvSpPr>
          <p:nvPr/>
        </p:nvSpPr>
        <p:spPr bwMode="auto">
          <a:xfrm>
            <a:off x="6496050" y="5695950"/>
            <a:ext cx="5086350" cy="3048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defRPr sz="1600" b="0">
                <a:solidFill>
                  <a:srgbClr val="53676D"/>
                </a:solidFill>
                <a:latin typeface="Arial"/>
                <a:ea typeface="Arial"/>
                <a:cs typeface="Arial"/>
              </a:defRPr>
            </a:lvl1pPr>
            <a:lvl2pPr algn="l">
              <a:defRPr sz="1600" b="0">
                <a:solidFill>
                  <a:srgbClr val="53676D"/>
                </a:solidFill>
                <a:latin typeface="Arial"/>
                <a:ea typeface="Arial"/>
                <a:cs typeface="Arial"/>
              </a:defRPr>
            </a:lvl2pPr>
            <a:lvl3pPr algn="l">
              <a:defRPr sz="1600" b="0">
                <a:solidFill>
                  <a:srgbClr val="53676D"/>
                </a:solidFill>
                <a:latin typeface="Arial"/>
                <a:ea typeface="Arial"/>
                <a:cs typeface="Arial"/>
              </a:defRPr>
            </a:lvl3pPr>
            <a:lvl4pPr algn="l">
              <a:defRPr sz="1600" b="0">
                <a:solidFill>
                  <a:srgbClr val="53676D"/>
                </a:solidFill>
                <a:latin typeface="Arial"/>
                <a:ea typeface="Arial"/>
                <a:cs typeface="Arial"/>
              </a:defRPr>
            </a:lvl4pPr>
            <a:lvl5pPr algn="l">
              <a:defRPr sz="1600" b="0">
                <a:solidFill>
                  <a:srgbClr val="53676D"/>
                </a:solidFill>
                <a:latin typeface="Arial"/>
                <a:ea typeface="Arial"/>
                <a:cs typeface="Arial"/>
              </a:defRPr>
            </a:lvl5pPr>
            <a:lvl6pPr algn="l">
              <a:defRPr sz="1600" b="0">
                <a:solidFill>
                  <a:srgbClr val="53676D"/>
                </a:solidFill>
                <a:latin typeface="Arial"/>
                <a:ea typeface="Arial"/>
                <a:cs typeface="Arial"/>
              </a:defRPr>
            </a:lvl6pPr>
            <a:lvl7pPr algn="l">
              <a:defRPr sz="1600" b="0">
                <a:solidFill>
                  <a:srgbClr val="53676D"/>
                </a:solidFill>
                <a:latin typeface="Arial"/>
                <a:ea typeface="Arial"/>
                <a:cs typeface="Arial"/>
              </a:defRPr>
            </a:lvl7pPr>
            <a:lvl8pPr algn="l">
              <a:defRPr sz="1600" b="0">
                <a:solidFill>
                  <a:srgbClr val="53676D"/>
                </a:solidFill>
                <a:latin typeface="Arial"/>
                <a:ea typeface="Arial"/>
                <a:cs typeface="Arial"/>
              </a:defRPr>
            </a:lvl8pPr>
            <a:lvl9pPr algn="l">
              <a:defRPr sz="1600" b="0">
                <a:solidFill>
                  <a:srgbClr val="53676D"/>
                </a:solidFill>
                <a:latin typeface="Arial"/>
                <a:ea typeface="Arial"/>
                <a:cs typeface="Arial"/>
              </a:defRPr>
            </a:lvl9pPr>
          </a:lstStyle>
          <a:p>
            <a:pPr algn="l">
              <a:defRPr sz="1600" b="0">
                <a:solidFill>
                  <a:srgbClr val="53676D"/>
                </a:solidFill>
                <a:latin typeface="Arial"/>
                <a:ea typeface="Arial"/>
                <a:cs typeface="Arial"/>
              </a:defRPr>
            </a:pPr>
            <a:r>
              <a:rPr sz="1600" b="0">
                <a:solidFill>
                  <a:srgbClr val="53676D"/>
                </a:solidFill>
                <a:latin typeface="Arial"/>
                <a:ea typeface="Arial"/>
                <a:cs typeface="Arial"/>
              </a:rPr>
              <a:t>FX adds HK$6.60 versus an unchanged 7.80 rate.</a:t>
            </a:r>
            <a:endParaRPr/>
          </a:p>
        </p:txBody>
      </p:sp>
      <p:sp>
        <p:nvSpPr>
          <p:cNvPr id="27017997" name="access-revision-text-11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Before fees and tax. A sale realizes cash proceeds. Equity and FX changes can also reduce value.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894868823" name="cash-marke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Two cash ecosystems, one investment use case</a:t>
            </a:r>
            <a:endParaRPr/>
          </a:p>
        </p:txBody>
      </p:sp>
      <p:sp>
        <p:nvSpPr>
          <p:cNvPr id="1115423634" name="cash-marke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External ecosystem scale supports discovery. Distribution and integration agreements remain ahead.</a:t>
            </a:r>
            <a:endParaRPr/>
          </a:p>
        </p:txBody>
      </p:sp>
      <p:sp>
        <p:nvSpPr>
          <p:cNvPr id="1584805393" name="cash-marke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608487008" name="cash-marke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14</a:t>
            </a:r>
            <a:endParaRPr/>
          </a:p>
        </p:txBody>
      </p:sp>
      <p:sp>
        <p:nvSpPr>
          <p:cNvPr id="312355262" name="cash-market-text-5"/>
          <p:cNvSpPr>
            <a:spLocks noGrp="1"/>
          </p:cNvSpPr>
          <p:nvPr/>
        </p:nvSpPr>
        <p:spPr bwMode="auto">
          <a:xfrm>
            <a:off x="609600" y="2276475"/>
            <a:ext cx="5191125"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USDC / USD</a:t>
            </a:r>
            <a:endParaRPr/>
          </a:p>
        </p:txBody>
      </p:sp>
      <p:sp>
        <p:nvSpPr>
          <p:cNvPr id="1046283471" name="cash-market-text-6"/>
          <p:cNvSpPr>
            <a:spLocks noGrp="1"/>
          </p:cNvSpPr>
          <p:nvPr/>
        </p:nvSpPr>
        <p:spPr bwMode="auto">
          <a:xfrm>
            <a:off x="609600" y="2924175"/>
            <a:ext cx="5191125"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38</a:t>
            </a:r>
            <a:endParaRPr/>
          </a:p>
        </p:txBody>
      </p:sp>
      <p:sp>
        <p:nvSpPr>
          <p:cNvPr id="893943756" name="cash-market-text-7"/>
          <p:cNvSpPr>
            <a:spLocks noGrp="1"/>
          </p:cNvSpPr>
          <p:nvPr/>
        </p:nvSpPr>
        <p:spPr bwMode="auto">
          <a:xfrm>
            <a:off x="609600" y="3914775"/>
            <a:ext cx="5191125"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Native USDC blockchain networks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Network and issuer availability vary</a:t>
            </a:r>
            <a:endParaRPr/>
          </a:p>
        </p:txBody>
      </p:sp>
      <p:sp>
        <p:nvSpPr>
          <p:cNvPr id="2042276042" name="cash-market-text-8"/>
          <p:cNvSpPr>
            <a:spLocks noGrp="1"/>
          </p:cNvSpPr>
          <p:nvPr/>
        </p:nvSpPr>
        <p:spPr bwMode="auto">
          <a:xfrm>
            <a:off x="609600" y="5153024"/>
            <a:ext cx="5191125"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Circle, 16 September 2026</a:t>
            </a:r>
            <a:endParaRPr/>
          </a:p>
        </p:txBody>
      </p:sp>
      <p:sp>
        <p:nvSpPr>
          <p:cNvPr id="1056597989" name="cash-market-text-9"/>
          <p:cNvSpPr>
            <a:spLocks noGrp="1"/>
          </p:cNvSpPr>
          <p:nvPr/>
        </p:nvSpPr>
        <p:spPr bwMode="auto">
          <a:xfrm>
            <a:off x="6496050" y="2276475"/>
            <a:ext cx="5086350" cy="438149"/>
          </a:xfrm>
          <a:prstGeom prst="rect">
            <a:avLst/>
          </a:prstGeom>
          <a:noFill/>
          <a:ln w="0">
            <a:noFill/>
            <a:prstDash val="solid"/>
          </a:ln>
        </p:spPr>
        <p:txBody>
          <a:bodyPr wrap="square" lIns="0" tIns="0" rIns="0" bIns="0" anchor="t">
            <a:noAutofit/>
          </a:bodyPr>
          <a:lstStyle>
            <a:defPPr algn="l">
              <a:defRPr sz="2350" b="1">
                <a:solidFill>
                  <a:srgbClr val="176C6B"/>
                </a:solidFill>
                <a:latin typeface="Arial"/>
                <a:ea typeface="Arial"/>
                <a:cs typeface="Arial"/>
              </a:defRPr>
            </a:defPPr>
            <a:lvl1pPr algn="l">
              <a:buNone/>
              <a:defRPr sz="2350" b="1">
                <a:solidFill>
                  <a:srgbClr val="176C6B"/>
                </a:solidFill>
                <a:latin typeface="Arial"/>
                <a:ea typeface="Arial"/>
                <a:cs typeface="Arial"/>
              </a:defRPr>
            </a:lvl1pPr>
            <a:lvl2pPr algn="l">
              <a:buNone/>
              <a:defRPr sz="2350" b="1">
                <a:solidFill>
                  <a:srgbClr val="176C6B"/>
                </a:solidFill>
                <a:latin typeface="Arial"/>
                <a:ea typeface="Arial"/>
                <a:cs typeface="Arial"/>
              </a:defRPr>
            </a:lvl2pPr>
            <a:lvl3pPr algn="l">
              <a:buNone/>
              <a:defRPr sz="2350" b="1">
                <a:solidFill>
                  <a:srgbClr val="176C6B"/>
                </a:solidFill>
                <a:latin typeface="Arial"/>
                <a:ea typeface="Arial"/>
                <a:cs typeface="Arial"/>
              </a:defRPr>
            </a:lvl3pPr>
            <a:lvl4pPr algn="l">
              <a:buNone/>
              <a:defRPr sz="2350" b="1">
                <a:solidFill>
                  <a:srgbClr val="176C6B"/>
                </a:solidFill>
                <a:latin typeface="Arial"/>
                <a:ea typeface="Arial"/>
                <a:cs typeface="Arial"/>
              </a:defRPr>
            </a:lvl4pPr>
            <a:lvl5pPr algn="l">
              <a:buNone/>
              <a:defRPr sz="2350" b="1">
                <a:solidFill>
                  <a:srgbClr val="176C6B"/>
                </a:solidFill>
                <a:latin typeface="Arial"/>
                <a:ea typeface="Arial"/>
                <a:cs typeface="Arial"/>
              </a:defRPr>
            </a:lvl5pPr>
            <a:lvl6pPr algn="l">
              <a:buNone/>
              <a:defRPr sz="2350" b="1">
                <a:solidFill>
                  <a:srgbClr val="176C6B"/>
                </a:solidFill>
                <a:latin typeface="Arial"/>
                <a:ea typeface="Arial"/>
                <a:cs typeface="Arial"/>
              </a:defRPr>
            </a:lvl6pPr>
            <a:lvl7pPr algn="l">
              <a:buNone/>
              <a:defRPr sz="2350" b="1">
                <a:solidFill>
                  <a:srgbClr val="176C6B"/>
                </a:solidFill>
                <a:latin typeface="Arial"/>
                <a:ea typeface="Arial"/>
                <a:cs typeface="Arial"/>
              </a:defRPr>
            </a:lvl7pPr>
            <a:lvl8pPr algn="l">
              <a:buNone/>
              <a:defRPr sz="2350" b="1">
                <a:solidFill>
                  <a:srgbClr val="176C6B"/>
                </a:solidFill>
                <a:latin typeface="Arial"/>
                <a:ea typeface="Arial"/>
                <a:cs typeface="Arial"/>
              </a:defRPr>
            </a:lvl8pPr>
            <a:lvl9pPr algn="l">
              <a:buNone/>
              <a:defRPr sz="2350" b="1">
                <a:solidFill>
                  <a:srgbClr val="176C6B"/>
                </a:solidFill>
                <a:latin typeface="Arial"/>
                <a:ea typeface="Arial"/>
                <a:cs typeface="Arial"/>
              </a:defRPr>
            </a:lvl9pPr>
          </a:lstStyle>
          <a:p>
            <a:pPr algn="l">
              <a:buNone/>
              <a:defRPr sz="2350" b="1">
                <a:solidFill>
                  <a:srgbClr val="176C6B"/>
                </a:solidFill>
                <a:latin typeface="Arial"/>
                <a:ea typeface="Arial"/>
                <a:cs typeface="Arial"/>
              </a:defRPr>
            </a:pPr>
            <a:r>
              <a:rPr sz="2350" b="1">
                <a:solidFill>
                  <a:srgbClr val="176C6B"/>
                </a:solidFill>
                <a:latin typeface="Arial"/>
                <a:ea typeface="Arial"/>
                <a:cs typeface="Arial"/>
              </a:rPr>
              <a:t>HSBC RedCoin / HKD</a:t>
            </a:r>
            <a:endParaRPr/>
          </a:p>
        </p:txBody>
      </p:sp>
      <p:sp>
        <p:nvSpPr>
          <p:cNvPr id="1267796978" name="cash-market-text-10"/>
          <p:cNvSpPr>
            <a:spLocks noGrp="1"/>
          </p:cNvSpPr>
          <p:nvPr/>
        </p:nvSpPr>
        <p:spPr bwMode="auto">
          <a:xfrm>
            <a:off x="6496050" y="2924175"/>
            <a:ext cx="5086350" cy="800100"/>
          </a:xfrm>
          <a:prstGeom prst="rect">
            <a:avLst/>
          </a:prstGeom>
          <a:noFill/>
          <a:ln w="0">
            <a:noFill/>
            <a:prstDash val="solid"/>
          </a:ln>
        </p:spPr>
        <p:txBody>
          <a:bodyPr wrap="square" lIns="0" tIns="0" rIns="0" bIns="0" anchor="t">
            <a:noAutofit/>
          </a:bodyPr>
          <a:lstStyle>
            <a:defPPr algn="l">
              <a:defRPr sz="4650" b="1">
                <a:solidFill>
                  <a:srgbClr val="183440"/>
                </a:solidFill>
                <a:latin typeface="Arial"/>
                <a:ea typeface="Arial"/>
                <a:cs typeface="Arial"/>
              </a:defRPr>
            </a:defPPr>
            <a:lvl1pPr algn="l">
              <a:buNone/>
              <a:defRPr sz="4650" b="1">
                <a:solidFill>
                  <a:srgbClr val="183440"/>
                </a:solidFill>
                <a:latin typeface="Arial"/>
                <a:ea typeface="Arial"/>
                <a:cs typeface="Arial"/>
              </a:defRPr>
            </a:lvl1pPr>
            <a:lvl2pPr algn="l">
              <a:buNone/>
              <a:defRPr sz="4650" b="1">
                <a:solidFill>
                  <a:srgbClr val="183440"/>
                </a:solidFill>
                <a:latin typeface="Arial"/>
                <a:ea typeface="Arial"/>
                <a:cs typeface="Arial"/>
              </a:defRPr>
            </a:lvl2pPr>
            <a:lvl3pPr algn="l">
              <a:buNone/>
              <a:defRPr sz="4650" b="1">
                <a:solidFill>
                  <a:srgbClr val="183440"/>
                </a:solidFill>
                <a:latin typeface="Arial"/>
                <a:ea typeface="Arial"/>
                <a:cs typeface="Arial"/>
              </a:defRPr>
            </a:lvl3pPr>
            <a:lvl4pPr algn="l">
              <a:buNone/>
              <a:defRPr sz="4650" b="1">
                <a:solidFill>
                  <a:srgbClr val="183440"/>
                </a:solidFill>
                <a:latin typeface="Arial"/>
                <a:ea typeface="Arial"/>
                <a:cs typeface="Arial"/>
              </a:defRPr>
            </a:lvl4pPr>
            <a:lvl5pPr algn="l">
              <a:buNone/>
              <a:defRPr sz="4650" b="1">
                <a:solidFill>
                  <a:srgbClr val="183440"/>
                </a:solidFill>
                <a:latin typeface="Arial"/>
                <a:ea typeface="Arial"/>
                <a:cs typeface="Arial"/>
              </a:defRPr>
            </a:lvl5pPr>
            <a:lvl6pPr algn="l">
              <a:buNone/>
              <a:defRPr sz="4650" b="1">
                <a:solidFill>
                  <a:srgbClr val="183440"/>
                </a:solidFill>
                <a:latin typeface="Arial"/>
                <a:ea typeface="Arial"/>
                <a:cs typeface="Arial"/>
              </a:defRPr>
            </a:lvl6pPr>
            <a:lvl7pPr algn="l">
              <a:buNone/>
              <a:defRPr sz="4650" b="1">
                <a:solidFill>
                  <a:srgbClr val="183440"/>
                </a:solidFill>
                <a:latin typeface="Arial"/>
                <a:ea typeface="Arial"/>
                <a:cs typeface="Arial"/>
              </a:defRPr>
            </a:lvl7pPr>
            <a:lvl8pPr algn="l">
              <a:buNone/>
              <a:defRPr sz="4650" b="1">
                <a:solidFill>
                  <a:srgbClr val="183440"/>
                </a:solidFill>
                <a:latin typeface="Arial"/>
                <a:ea typeface="Arial"/>
                <a:cs typeface="Arial"/>
              </a:defRPr>
            </a:lvl8pPr>
            <a:lvl9pPr algn="l">
              <a:buNone/>
              <a:defRPr sz="4650" b="1">
                <a:solidFill>
                  <a:srgbClr val="183440"/>
                </a:solidFill>
                <a:latin typeface="Arial"/>
                <a:ea typeface="Arial"/>
                <a:cs typeface="Arial"/>
              </a:defRPr>
            </a:lvl9pPr>
          </a:lstStyle>
          <a:p>
            <a:pPr algn="l">
              <a:buNone/>
              <a:defRPr sz="4650" b="1">
                <a:solidFill>
                  <a:srgbClr val="183440"/>
                </a:solidFill>
                <a:latin typeface="Arial"/>
                <a:ea typeface="Arial"/>
                <a:cs typeface="Arial"/>
              </a:defRPr>
            </a:pPr>
            <a:r>
              <a:rPr sz="4650" b="1">
                <a:solidFill>
                  <a:srgbClr val="183440"/>
                </a:solidFill>
                <a:latin typeface="Arial"/>
                <a:ea typeface="Arial"/>
                <a:cs typeface="Arial"/>
              </a:rPr>
              <a:t>3.3M+</a:t>
            </a:r>
            <a:endParaRPr/>
          </a:p>
        </p:txBody>
      </p:sp>
      <p:sp>
        <p:nvSpPr>
          <p:cNvPr id="1740683678" name="cash-market-text-11"/>
          <p:cNvSpPr>
            <a:spLocks noGrp="1"/>
          </p:cNvSpPr>
          <p:nvPr/>
        </p:nvSpPr>
        <p:spPr bwMode="auto">
          <a:xfrm>
            <a:off x="6496050" y="3914775"/>
            <a:ext cx="5086350" cy="1057275"/>
          </a:xfrm>
          <a:prstGeom prst="rect">
            <a:avLst/>
          </a:prstGeom>
          <a:noFill/>
          <a:ln w="0">
            <a:noFill/>
            <a:prstDash val="solid"/>
          </a:ln>
        </p:spPr>
        <p:txBody>
          <a:bodyPr wrap="square" lIns="0" tIns="0" rIns="0" bIns="0" anchor="t">
            <a:noAutofit/>
          </a:bodyPr>
          <a:lstStyle>
            <a:defPPr algn="l">
              <a:defRPr sz="2050" b="0">
                <a:solidFill>
                  <a:srgbClr val="183440"/>
                </a:solidFill>
                <a:latin typeface="Arial"/>
                <a:ea typeface="Arial"/>
                <a:cs typeface="Arial"/>
              </a:defRPr>
            </a:defPPr>
            <a:lvl1pPr algn="l">
              <a:buNone/>
              <a:defRPr sz="2050" b="0">
                <a:solidFill>
                  <a:srgbClr val="183440"/>
                </a:solidFill>
                <a:latin typeface="Arial"/>
                <a:ea typeface="Arial"/>
                <a:cs typeface="Arial"/>
              </a:defRPr>
            </a:lvl1pPr>
            <a:lvl2pPr algn="l">
              <a:buNone/>
              <a:defRPr sz="2050" b="0">
                <a:solidFill>
                  <a:srgbClr val="183440"/>
                </a:solidFill>
                <a:latin typeface="Arial"/>
                <a:ea typeface="Arial"/>
                <a:cs typeface="Arial"/>
              </a:defRPr>
            </a:lvl2pPr>
            <a:lvl3pPr algn="l">
              <a:buNone/>
              <a:defRPr sz="2050" b="0">
                <a:solidFill>
                  <a:srgbClr val="183440"/>
                </a:solidFill>
                <a:latin typeface="Arial"/>
                <a:ea typeface="Arial"/>
                <a:cs typeface="Arial"/>
              </a:defRPr>
            </a:lvl3pPr>
            <a:lvl4pPr algn="l">
              <a:buNone/>
              <a:defRPr sz="2050" b="0">
                <a:solidFill>
                  <a:srgbClr val="183440"/>
                </a:solidFill>
                <a:latin typeface="Arial"/>
                <a:ea typeface="Arial"/>
                <a:cs typeface="Arial"/>
              </a:defRPr>
            </a:lvl4pPr>
            <a:lvl5pPr algn="l">
              <a:buNone/>
              <a:defRPr sz="2050" b="0">
                <a:solidFill>
                  <a:srgbClr val="183440"/>
                </a:solidFill>
                <a:latin typeface="Arial"/>
                <a:ea typeface="Arial"/>
                <a:cs typeface="Arial"/>
              </a:defRPr>
            </a:lvl5pPr>
            <a:lvl6pPr algn="l">
              <a:buNone/>
              <a:defRPr sz="2050" b="0">
                <a:solidFill>
                  <a:srgbClr val="183440"/>
                </a:solidFill>
                <a:latin typeface="Arial"/>
                <a:ea typeface="Arial"/>
                <a:cs typeface="Arial"/>
              </a:defRPr>
            </a:lvl6pPr>
            <a:lvl7pPr algn="l">
              <a:buNone/>
              <a:defRPr sz="2050" b="0">
                <a:solidFill>
                  <a:srgbClr val="183440"/>
                </a:solidFill>
                <a:latin typeface="Arial"/>
                <a:ea typeface="Arial"/>
                <a:cs typeface="Arial"/>
              </a:defRPr>
            </a:lvl7pPr>
            <a:lvl8pPr algn="l">
              <a:buNone/>
              <a:defRPr sz="2050" b="0">
                <a:solidFill>
                  <a:srgbClr val="183440"/>
                </a:solidFill>
                <a:latin typeface="Arial"/>
                <a:ea typeface="Arial"/>
                <a:cs typeface="Arial"/>
              </a:defRPr>
            </a:lvl8pPr>
            <a:lvl9pPr algn="l">
              <a:buNone/>
              <a:defRPr sz="2050" b="0">
                <a:solidFill>
                  <a:srgbClr val="183440"/>
                </a:solidFill>
                <a:latin typeface="Arial"/>
                <a:ea typeface="Arial"/>
                <a:cs typeface="Arial"/>
              </a:defRPr>
            </a:lvl9pPr>
          </a:lstStyle>
          <a:p>
            <a:pPr algn="l">
              <a:buNone/>
              <a:defRPr sz="2050" b="0">
                <a:solidFill>
                  <a:srgbClr val="183440"/>
                </a:solidFill>
                <a:latin typeface="Arial"/>
                <a:ea typeface="Arial"/>
                <a:cs typeface="Arial"/>
              </a:defRPr>
            </a:pPr>
            <a:r>
              <a:rPr sz="2050" b="0">
                <a:solidFill>
                  <a:srgbClr val="183440"/>
                </a:solidFill>
                <a:latin typeface="Arial"/>
                <a:ea typeface="Arial"/>
                <a:cs typeface="Arial"/>
              </a:rPr>
              <a:t>PayMe user base at RedCoin launch</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Investment eligibility requires</a:t>
            </a:r>
            <a:endParaRPr/>
          </a:p>
          <a:p>
            <a:pPr algn="l">
              <a:buNone/>
              <a:defRPr sz="2050" b="0">
                <a:solidFill>
                  <a:srgbClr val="183440"/>
                </a:solidFill>
                <a:latin typeface="Arial"/>
                <a:ea typeface="Arial"/>
                <a:cs typeface="Arial"/>
              </a:defRPr>
            </a:pPr>
            <a:r>
              <a:rPr sz="2050" b="0">
                <a:solidFill>
                  <a:srgbClr val="183440"/>
                </a:solidFill>
                <a:latin typeface="Arial"/>
                <a:ea typeface="Arial"/>
                <a:cs typeface="Arial"/>
              </a:rPr>
              <a:t>separate product access</a:t>
            </a:r>
            <a:endParaRPr/>
          </a:p>
        </p:txBody>
      </p:sp>
      <p:sp>
        <p:nvSpPr>
          <p:cNvPr id="1904528296" name="cash-market-text-12"/>
          <p:cNvSpPr>
            <a:spLocks noGrp="1"/>
          </p:cNvSpPr>
          <p:nvPr/>
        </p:nvSpPr>
        <p:spPr bwMode="auto">
          <a:xfrm>
            <a:off x="6496050" y="5153024"/>
            <a:ext cx="5086350" cy="34290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HSBC, 23 October 2026</a:t>
            </a:r>
            <a:endParaRPr/>
          </a:p>
        </p:txBody>
      </p:sp>
      <p:sp>
        <p:nvSpPr>
          <p:cNvPr id="815345898" name="cash-market-text-13"/>
          <p:cNvSpPr>
            <a:spLocks noGrp="1"/>
          </p:cNvSpPr>
          <p:nvPr/>
        </p:nvSpPr>
        <p:spPr bwMode="auto">
          <a:xfrm>
            <a:off x="609600" y="5686425"/>
            <a:ext cx="10972800" cy="352425"/>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Our thesis: approved equity receipts can add an investment use case for stablecoin holders.</a:t>
            </a:r>
            <a:endParaRPr/>
          </a:p>
        </p:txBody>
      </p:sp>
      <p:sp>
        <p:nvSpPr>
          <p:cNvPr id="233667634" name="cash-market-text-14"/>
          <p:cNvSpPr>
            <a:spLocks noGrp="1"/>
          </p:cNvSpPr>
          <p:nvPr/>
        </p:nvSpPr>
        <p:spPr bwMode="auto">
          <a:xfrm>
            <a:off x="609600" y="6105525"/>
            <a:ext cx="10972800" cy="295274"/>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Ecosystem indicators only. Network reach and app users do not establish D-SHARE demand or serviced assets.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23822384" name="expanded-text-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Investor and programme interfaces</a:t>
            </a:r>
            <a:endParaRPr/>
          </a:p>
        </p:txBody>
      </p:sp>
      <p:sp>
        <p:nvSpPr>
          <p:cNvPr id="2016194101" name="expanded-text-3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Concept screens. Fictional GlobalTech data illustrates the information each user needs.</a:t>
            </a:r>
            <a:endParaRPr/>
          </a:p>
        </p:txBody>
      </p:sp>
      <p:sp>
        <p:nvSpPr>
          <p:cNvPr id="1194551080" name="expanded-text-3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0847578" name="expanded-text-3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16</a:t>
            </a:r>
            <a:endParaRPr/>
          </a:p>
        </p:txBody>
      </p:sp>
      <p:sp>
        <p:nvSpPr>
          <p:cNvPr id="774662011" name="expanded-text-39"/>
          <p:cNvSpPr>
            <a:spLocks noGrp="1"/>
          </p:cNvSpPr>
          <p:nvPr/>
        </p:nvSpPr>
        <p:spPr bwMode="auto">
          <a:xfrm>
            <a:off x="6096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Broker order review</a:t>
            </a:r>
            <a:endParaRPr/>
          </a:p>
        </p:txBody>
      </p:sp>
      <p:sp>
        <p:nvSpPr>
          <p:cNvPr id="1154901627" name="expanded-text-40"/>
          <p:cNvSpPr>
            <a:spLocks noGrp="1"/>
          </p:cNvSpPr>
          <p:nvPr/>
        </p:nvSpPr>
        <p:spPr bwMode="auto">
          <a:xfrm>
            <a:off x="6477000" y="2181225"/>
            <a:ext cx="5105400" cy="40005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Programme operations</a:t>
            </a:r>
            <a:endParaRPr/>
          </a:p>
        </p:txBody>
      </p:sp>
      <p:sp>
        <p:nvSpPr>
          <p:cNvPr id="1886334271" name="interface-frame-41"/>
          <p:cNvSpPr>
            <a:spLocks noGrp="1"/>
          </p:cNvSpPr>
          <p:nvPr/>
        </p:nvSpPr>
        <p:spPr bwMode="auto">
          <a:xfrm>
            <a:off x="609600" y="2705100"/>
            <a:ext cx="5105400" cy="3057525"/>
          </a:xfrm>
          <a:prstGeom prst="rect">
            <a:avLst/>
          </a:prstGeom>
          <a:solidFill>
            <a:srgbClr val="FFFFFF"/>
          </a:solidFill>
          <a:ln w="12383">
            <a:solidFill>
              <a:srgbClr val="CFD7D1"/>
            </a:solidFill>
            <a:prstDash val="solid"/>
          </a:ln>
        </p:spPr>
      </p:sp>
      <p:sp>
        <p:nvSpPr>
          <p:cNvPr id="2071728635" name="interface-frame-42"/>
          <p:cNvSpPr>
            <a:spLocks noGrp="1"/>
          </p:cNvSpPr>
          <p:nvPr/>
        </p:nvSpPr>
        <p:spPr bwMode="auto">
          <a:xfrm>
            <a:off x="6477000" y="2705100"/>
            <a:ext cx="5105400" cy="3057525"/>
          </a:xfrm>
          <a:prstGeom prst="rect">
            <a:avLst/>
          </a:prstGeom>
          <a:solidFill>
            <a:srgbClr val="FFFFFF"/>
          </a:solidFill>
          <a:ln w="12383">
            <a:solidFill>
              <a:srgbClr val="CFD7D1"/>
            </a:solidFill>
            <a:prstDash val="solid"/>
          </a:ln>
        </p:spPr>
      </p:sp>
      <p:sp>
        <p:nvSpPr>
          <p:cNvPr id="1359779079" name="expanded-text-43"/>
          <p:cNvSpPr>
            <a:spLocks noGrp="1"/>
          </p:cNvSpPr>
          <p:nvPr/>
        </p:nvSpPr>
        <p:spPr bwMode="auto">
          <a:xfrm>
            <a:off x="819150" y="2905125"/>
            <a:ext cx="466725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GlobalTech D-SHARE</a:t>
            </a:r>
            <a:endParaRPr/>
          </a:p>
        </p:txBody>
      </p:sp>
      <p:sp>
        <p:nvSpPr>
          <p:cNvPr id="167824752" name="diagram-line-44"/>
          <p:cNvSpPr>
            <a:spLocks noGrp="1"/>
          </p:cNvSpPr>
          <p:nvPr/>
        </p:nvSpPr>
        <p:spPr bwMode="auto">
          <a:xfrm>
            <a:off x="819150" y="3333750"/>
            <a:ext cx="4686300" cy="0"/>
          </a:xfrm>
          <a:prstGeom prst="line">
            <a:avLst/>
          </a:prstGeom>
          <a:noFill/>
          <a:ln w="12383">
            <a:solidFill>
              <a:srgbClr val="CFD7D1"/>
            </a:solidFill>
            <a:prstDash val="solid"/>
          </a:ln>
        </p:spPr>
      </p:sp>
      <p:sp>
        <p:nvSpPr>
          <p:cNvPr id="615482920" name="expanded-text-45"/>
          <p:cNvSpPr>
            <a:spLocks noGrp="1"/>
          </p:cNvSpPr>
          <p:nvPr/>
        </p:nvSpPr>
        <p:spPr bwMode="auto">
          <a:xfrm>
            <a:off x="819150" y="348615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a:t>
            </a:r>
            <a:endParaRPr/>
          </a:p>
        </p:txBody>
      </p:sp>
      <p:sp>
        <p:nvSpPr>
          <p:cNvPr id="537781845" name="expanded-text-46"/>
          <p:cNvSpPr>
            <a:spLocks noGrp="1"/>
          </p:cNvSpPr>
          <p:nvPr/>
        </p:nvSpPr>
        <p:spPr bwMode="auto">
          <a:xfrm>
            <a:off x="3790949" y="348615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25</a:t>
            </a:r>
            <a:endParaRPr/>
          </a:p>
        </p:txBody>
      </p:sp>
      <p:sp>
        <p:nvSpPr>
          <p:cNvPr id="818062058" name="expanded-text-47"/>
          <p:cNvSpPr>
            <a:spLocks noGrp="1"/>
          </p:cNvSpPr>
          <p:nvPr/>
        </p:nvSpPr>
        <p:spPr bwMode="auto">
          <a:xfrm>
            <a:off x="819150" y="389572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Indicative unit value</a:t>
            </a:r>
            <a:endParaRPr/>
          </a:p>
        </p:txBody>
      </p:sp>
      <p:sp>
        <p:nvSpPr>
          <p:cNvPr id="1201069568" name="expanded-text-48"/>
          <p:cNvSpPr>
            <a:spLocks noGrp="1"/>
          </p:cNvSpPr>
          <p:nvPr/>
        </p:nvSpPr>
        <p:spPr bwMode="auto">
          <a:xfrm>
            <a:off x="3790949" y="389572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US$12.00</a:t>
            </a:r>
            <a:endParaRPr/>
          </a:p>
        </p:txBody>
      </p:sp>
      <p:sp>
        <p:nvSpPr>
          <p:cNvPr id="133507172" name="expanded-text-49"/>
          <p:cNvSpPr>
            <a:spLocks noGrp="1"/>
          </p:cNvSpPr>
          <p:nvPr/>
        </p:nvSpPr>
        <p:spPr bwMode="auto">
          <a:xfrm>
            <a:off x="819150" y="4305300"/>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Equity value</a:t>
            </a:r>
            <a:endParaRPr/>
          </a:p>
        </p:txBody>
      </p:sp>
      <p:sp>
        <p:nvSpPr>
          <p:cNvPr id="707662657" name="expanded-text-50"/>
          <p:cNvSpPr>
            <a:spLocks noGrp="1"/>
          </p:cNvSpPr>
          <p:nvPr/>
        </p:nvSpPr>
        <p:spPr bwMode="auto">
          <a:xfrm>
            <a:off x="3790949" y="4305300"/>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US$300.00</a:t>
            </a:r>
            <a:endParaRPr/>
          </a:p>
        </p:txBody>
      </p:sp>
      <p:sp>
        <p:nvSpPr>
          <p:cNvPr id="1068905857" name="expanded-text-51"/>
          <p:cNvSpPr>
            <a:spLocks noGrp="1"/>
          </p:cNvSpPr>
          <p:nvPr/>
        </p:nvSpPr>
        <p:spPr bwMode="auto">
          <a:xfrm>
            <a:off x="819150" y="4714875"/>
            <a:ext cx="3095625"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Funding asset / amount</a:t>
            </a:r>
            <a:endParaRPr/>
          </a:p>
        </p:txBody>
      </p:sp>
      <p:sp>
        <p:nvSpPr>
          <p:cNvPr id="1237140753" name="expanded-text-52"/>
          <p:cNvSpPr>
            <a:spLocks noGrp="1"/>
          </p:cNvSpPr>
          <p:nvPr/>
        </p:nvSpPr>
        <p:spPr bwMode="auto">
          <a:xfrm>
            <a:off x="3790949" y="4714875"/>
            <a:ext cx="17145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USDC / 300.00</a:t>
            </a:r>
            <a:endParaRPr/>
          </a:p>
        </p:txBody>
      </p:sp>
      <p:sp>
        <p:nvSpPr>
          <p:cNvPr id="1752862040" name="expanded-text-53"/>
          <p:cNvSpPr>
            <a:spLocks noGrp="1"/>
          </p:cNvSpPr>
          <p:nvPr/>
        </p:nvSpPr>
        <p:spPr bwMode="auto">
          <a:xfrm>
            <a:off x="819150" y="5267325"/>
            <a:ext cx="4667250" cy="4572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Charges and final execution quote appear</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the investor confirms an order.</a:t>
            </a:r>
            <a:endParaRPr/>
          </a:p>
        </p:txBody>
      </p:sp>
      <p:sp>
        <p:nvSpPr>
          <p:cNvPr id="1499385122" name="expanded-text-54"/>
          <p:cNvSpPr>
            <a:spLocks noGrp="1"/>
          </p:cNvSpPr>
          <p:nvPr/>
        </p:nvSpPr>
        <p:spPr bwMode="auto">
          <a:xfrm>
            <a:off x="6686550" y="2905125"/>
            <a:ext cx="4686300" cy="34290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Receipt series GT-01</a:t>
            </a:r>
            <a:endParaRPr/>
          </a:p>
        </p:txBody>
      </p:sp>
      <p:sp>
        <p:nvSpPr>
          <p:cNvPr id="8839579" name="diagram-line-55"/>
          <p:cNvSpPr>
            <a:spLocks noGrp="1"/>
          </p:cNvSpPr>
          <p:nvPr/>
        </p:nvSpPr>
        <p:spPr bwMode="auto">
          <a:xfrm>
            <a:off x="6686550" y="3333750"/>
            <a:ext cx="4686300" cy="0"/>
          </a:xfrm>
          <a:prstGeom prst="line">
            <a:avLst/>
          </a:prstGeom>
          <a:noFill/>
          <a:ln w="12383">
            <a:solidFill>
              <a:srgbClr val="CFD7D1"/>
            </a:solidFill>
            <a:prstDash val="solid"/>
          </a:ln>
        </p:spPr>
      </p:sp>
      <p:sp>
        <p:nvSpPr>
          <p:cNvPr id="731707795" name="expanded-text-56"/>
          <p:cNvSpPr>
            <a:spLocks noGrp="1"/>
          </p:cNvSpPr>
          <p:nvPr/>
        </p:nvSpPr>
        <p:spPr bwMode="auto">
          <a:xfrm>
            <a:off x="6686550" y="3486150"/>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Issuance request</a:t>
            </a:r>
            <a:endParaRPr/>
          </a:p>
        </p:txBody>
      </p:sp>
      <p:sp>
        <p:nvSpPr>
          <p:cNvPr id="414629475" name="expanded-text-57"/>
          <p:cNvSpPr>
            <a:spLocks noGrp="1"/>
          </p:cNvSpPr>
          <p:nvPr/>
        </p:nvSpPr>
        <p:spPr bwMode="auto">
          <a:xfrm>
            <a:off x="9353550" y="3486150"/>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100,000 units</a:t>
            </a:r>
            <a:endParaRPr/>
          </a:p>
        </p:txBody>
      </p:sp>
      <p:sp>
        <p:nvSpPr>
          <p:cNvPr id="1418496558" name="expanded-text-58"/>
          <p:cNvSpPr>
            <a:spLocks noGrp="1"/>
          </p:cNvSpPr>
          <p:nvPr/>
        </p:nvSpPr>
        <p:spPr bwMode="auto">
          <a:xfrm>
            <a:off x="6686550" y="3895725"/>
            <a:ext cx="2571750" cy="333375"/>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Settled backing</a:t>
            </a:r>
            <a:endParaRPr/>
          </a:p>
        </p:txBody>
      </p:sp>
      <p:sp>
        <p:nvSpPr>
          <p:cNvPr id="841635289" name="expanded-text-59"/>
          <p:cNvSpPr>
            <a:spLocks noGrp="1"/>
          </p:cNvSpPr>
          <p:nvPr/>
        </p:nvSpPr>
        <p:spPr bwMode="auto">
          <a:xfrm>
            <a:off x="9353550" y="3895725"/>
            <a:ext cx="2019300" cy="333375"/>
          </a:xfrm>
          <a:prstGeom prst="rect">
            <a:avLst/>
          </a:prstGeom>
          <a:noFill/>
          <a:ln w="0">
            <a:noFill/>
            <a:prstDash val="solid"/>
          </a:ln>
        </p:spPr>
        <p:txBody>
          <a:bodyPr wrap="square" lIns="0" tIns="0" rIns="0" bIns="0" anchor="t">
            <a:noAutofit/>
          </a:bodyPr>
          <a:lstStyle>
            <a:defPPr algn="r">
              <a:defRPr sz="1750" b="1">
                <a:solidFill>
                  <a:srgbClr val="183440"/>
                </a:solidFill>
                <a:latin typeface="Arial"/>
                <a:ea typeface="Arial"/>
                <a:cs typeface="Arial"/>
              </a:defRPr>
            </a:defPPr>
            <a:lvl1pPr algn="r">
              <a:buNone/>
              <a:defRPr sz="1750" b="1">
                <a:solidFill>
                  <a:srgbClr val="183440"/>
                </a:solidFill>
                <a:latin typeface="Arial"/>
                <a:ea typeface="Arial"/>
                <a:cs typeface="Arial"/>
              </a:defRPr>
            </a:lvl1pPr>
            <a:lvl2pPr algn="r">
              <a:buNone/>
              <a:defRPr sz="1750" b="1">
                <a:solidFill>
                  <a:srgbClr val="183440"/>
                </a:solidFill>
                <a:latin typeface="Arial"/>
                <a:ea typeface="Arial"/>
                <a:cs typeface="Arial"/>
              </a:defRPr>
            </a:lvl2pPr>
            <a:lvl3pPr algn="r">
              <a:buNone/>
              <a:defRPr sz="1750" b="1">
                <a:solidFill>
                  <a:srgbClr val="183440"/>
                </a:solidFill>
                <a:latin typeface="Arial"/>
                <a:ea typeface="Arial"/>
                <a:cs typeface="Arial"/>
              </a:defRPr>
            </a:lvl3pPr>
            <a:lvl4pPr algn="r">
              <a:buNone/>
              <a:defRPr sz="1750" b="1">
                <a:solidFill>
                  <a:srgbClr val="183440"/>
                </a:solidFill>
                <a:latin typeface="Arial"/>
                <a:ea typeface="Arial"/>
                <a:cs typeface="Arial"/>
              </a:defRPr>
            </a:lvl4pPr>
            <a:lvl5pPr algn="r">
              <a:buNone/>
              <a:defRPr sz="1750" b="1">
                <a:solidFill>
                  <a:srgbClr val="183440"/>
                </a:solidFill>
                <a:latin typeface="Arial"/>
                <a:ea typeface="Arial"/>
                <a:cs typeface="Arial"/>
              </a:defRPr>
            </a:lvl5pPr>
            <a:lvl6pPr algn="r">
              <a:buNone/>
              <a:defRPr sz="1750" b="1">
                <a:solidFill>
                  <a:srgbClr val="183440"/>
                </a:solidFill>
                <a:latin typeface="Arial"/>
                <a:ea typeface="Arial"/>
                <a:cs typeface="Arial"/>
              </a:defRPr>
            </a:lvl6pPr>
            <a:lvl7pPr algn="r">
              <a:buNone/>
              <a:defRPr sz="1750" b="1">
                <a:solidFill>
                  <a:srgbClr val="183440"/>
                </a:solidFill>
                <a:latin typeface="Arial"/>
                <a:ea typeface="Arial"/>
                <a:cs typeface="Arial"/>
              </a:defRPr>
            </a:lvl7pPr>
            <a:lvl8pPr algn="r">
              <a:buNone/>
              <a:defRPr sz="1750" b="1">
                <a:solidFill>
                  <a:srgbClr val="183440"/>
                </a:solidFill>
                <a:latin typeface="Arial"/>
                <a:ea typeface="Arial"/>
                <a:cs typeface="Arial"/>
              </a:defRPr>
            </a:lvl8pPr>
            <a:lvl9pPr algn="r">
              <a:buNone/>
              <a:defRPr sz="1750" b="1">
                <a:solidFill>
                  <a:srgbClr val="183440"/>
                </a:solidFill>
                <a:latin typeface="Arial"/>
                <a:ea typeface="Arial"/>
                <a:cs typeface="Arial"/>
              </a:defRPr>
            </a:lvl9pPr>
          </a:lstStyle>
          <a:p>
            <a:pPr algn="r">
              <a:buNone/>
              <a:defRPr sz="1750" b="1">
                <a:solidFill>
                  <a:srgbClr val="183440"/>
                </a:solidFill>
                <a:latin typeface="Arial"/>
                <a:ea typeface="Arial"/>
                <a:cs typeface="Arial"/>
              </a:defRPr>
            </a:pPr>
            <a:r>
              <a:rPr sz="1750" b="1">
                <a:solidFill>
                  <a:srgbClr val="183440"/>
                </a:solidFill>
                <a:latin typeface="Arial"/>
                <a:ea typeface="Arial"/>
                <a:cs typeface="Arial"/>
              </a:rPr>
              <a:t>1,000 shares</a:t>
            </a:r>
            <a:endParaRPr/>
          </a:p>
        </p:txBody>
      </p:sp>
      <p:sp>
        <p:nvSpPr>
          <p:cNvPr id="1311378503" name="expanded-text-60"/>
          <p:cNvSpPr>
            <a:spLocks noGrp="1"/>
          </p:cNvSpPr>
          <p:nvPr/>
        </p:nvSpPr>
        <p:spPr bwMode="auto">
          <a:xfrm>
            <a:off x="6686550" y="4438650"/>
            <a:ext cx="4686300" cy="333375"/>
          </a:xfrm>
          <a:prstGeom prst="rect">
            <a:avLst/>
          </a:prstGeom>
          <a:noFill/>
          <a:ln w="0">
            <a:noFill/>
            <a:prstDash val="solid"/>
          </a:ln>
        </p:spPr>
        <p:txBody>
          <a:bodyPr wrap="square" lIns="0" tIns="0" rIns="0" bIns="0" anchor="t">
            <a:noAutofit/>
          </a:bodyPr>
          <a:lstStyle>
            <a:defPPr algn="l">
              <a:defRPr sz="1800" b="1">
                <a:solidFill>
                  <a:srgbClr val="176C6B"/>
                </a:solidFill>
                <a:latin typeface="Arial"/>
                <a:ea typeface="Arial"/>
                <a:cs typeface="Arial"/>
              </a:defRPr>
            </a:defPPr>
            <a:lvl1pPr algn="l">
              <a:buNone/>
              <a:defRPr sz="1800" b="1">
                <a:solidFill>
                  <a:srgbClr val="176C6B"/>
                </a:solidFill>
                <a:latin typeface="Arial"/>
                <a:ea typeface="Arial"/>
                <a:cs typeface="Arial"/>
              </a:defRPr>
            </a:lvl1pPr>
            <a:lvl2pPr algn="l">
              <a:buNone/>
              <a:defRPr sz="1800" b="1">
                <a:solidFill>
                  <a:srgbClr val="176C6B"/>
                </a:solidFill>
                <a:latin typeface="Arial"/>
                <a:ea typeface="Arial"/>
                <a:cs typeface="Arial"/>
              </a:defRPr>
            </a:lvl2pPr>
            <a:lvl3pPr algn="l">
              <a:buNone/>
              <a:defRPr sz="1800" b="1">
                <a:solidFill>
                  <a:srgbClr val="176C6B"/>
                </a:solidFill>
                <a:latin typeface="Arial"/>
                <a:ea typeface="Arial"/>
                <a:cs typeface="Arial"/>
              </a:defRPr>
            </a:lvl3pPr>
            <a:lvl4pPr algn="l">
              <a:buNone/>
              <a:defRPr sz="1800" b="1">
                <a:solidFill>
                  <a:srgbClr val="176C6B"/>
                </a:solidFill>
                <a:latin typeface="Arial"/>
                <a:ea typeface="Arial"/>
                <a:cs typeface="Arial"/>
              </a:defRPr>
            </a:lvl4pPr>
            <a:lvl5pPr algn="l">
              <a:buNone/>
              <a:defRPr sz="1800" b="1">
                <a:solidFill>
                  <a:srgbClr val="176C6B"/>
                </a:solidFill>
                <a:latin typeface="Arial"/>
                <a:ea typeface="Arial"/>
                <a:cs typeface="Arial"/>
              </a:defRPr>
            </a:lvl5pPr>
            <a:lvl6pPr algn="l">
              <a:buNone/>
              <a:defRPr sz="1800" b="1">
                <a:solidFill>
                  <a:srgbClr val="176C6B"/>
                </a:solidFill>
                <a:latin typeface="Arial"/>
                <a:ea typeface="Arial"/>
                <a:cs typeface="Arial"/>
              </a:defRPr>
            </a:lvl6pPr>
            <a:lvl7pPr algn="l">
              <a:buNone/>
              <a:defRPr sz="1800" b="1">
                <a:solidFill>
                  <a:srgbClr val="176C6B"/>
                </a:solidFill>
                <a:latin typeface="Arial"/>
                <a:ea typeface="Arial"/>
                <a:cs typeface="Arial"/>
              </a:defRPr>
            </a:lvl7pPr>
            <a:lvl8pPr algn="l">
              <a:buNone/>
              <a:defRPr sz="1800" b="1">
                <a:solidFill>
                  <a:srgbClr val="176C6B"/>
                </a:solidFill>
                <a:latin typeface="Arial"/>
                <a:ea typeface="Arial"/>
                <a:cs typeface="Arial"/>
              </a:defRPr>
            </a:lvl8pPr>
            <a:lvl9pPr algn="l">
              <a:buNone/>
              <a:defRPr sz="1800" b="1">
                <a:solidFill>
                  <a:srgbClr val="176C6B"/>
                </a:solidFill>
                <a:latin typeface="Arial"/>
                <a:ea typeface="Arial"/>
                <a:cs typeface="Arial"/>
              </a:defRPr>
            </a:lvl9pPr>
          </a:lstStyle>
          <a:p>
            <a:pPr algn="l">
              <a:buNone/>
              <a:defRPr sz="1800" b="1">
                <a:solidFill>
                  <a:srgbClr val="176C6B"/>
                </a:solidFill>
                <a:latin typeface="Arial"/>
                <a:ea typeface="Arial"/>
                <a:cs typeface="Arial"/>
              </a:defRPr>
            </a:pPr>
            <a:r>
              <a:rPr sz="1800" b="1">
                <a:solidFill>
                  <a:srgbClr val="176C6B"/>
                </a:solidFill>
                <a:latin typeface="Arial"/>
                <a:ea typeface="Arial"/>
                <a:cs typeface="Arial"/>
              </a:rPr>
              <a:t>Review queue</a:t>
            </a:r>
            <a:endParaRPr/>
          </a:p>
        </p:txBody>
      </p:sp>
      <p:sp>
        <p:nvSpPr>
          <p:cNvPr id="2016903787" name="expanded-text-61"/>
          <p:cNvSpPr>
            <a:spLocks noGrp="1"/>
          </p:cNvSpPr>
          <p:nvPr/>
        </p:nvSpPr>
        <p:spPr bwMode="auto">
          <a:xfrm>
            <a:off x="6686550" y="4848225"/>
            <a:ext cx="4686300" cy="809625"/>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Backing confirmation received</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Registrar approval pending</a:t>
            </a:r>
            <a:endParaRPr/>
          </a:p>
          <a:p>
            <a:pPr algn="l">
              <a:buNone/>
              <a:defRPr sz="1750" b="0">
                <a:solidFill>
                  <a:srgbClr val="183440"/>
                </a:solidFill>
                <a:latin typeface="Arial"/>
                <a:ea typeface="Arial"/>
                <a:cs typeface="Arial"/>
              </a:defRPr>
            </a:pPr>
            <a:r>
              <a:rPr sz="1750" b="0">
                <a:solidFill>
                  <a:srgbClr val="183440"/>
                </a:solidFill>
                <a:latin typeface="Arial"/>
                <a:ea typeface="Arial"/>
                <a:cs typeface="Arial"/>
              </a:rPr>
              <a:t>Mint action awaits dual authorization</a:t>
            </a:r>
            <a:endParaRPr/>
          </a:p>
        </p:txBody>
      </p:sp>
      <p:sp>
        <p:nvSpPr>
          <p:cNvPr id="972702962" name="expanded-text-6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Illustrative USDC/USD execution value 1.00. Fees excluded. These are proposed interfaces, with no live connectivity.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xmlns:p14="http://schemas.microsoft.com/office/powerpoint/2010/main" showMasterPhAnim="0">
  <p:cSld name="">
    <p:bg>
      <p:bgPr>
        <a:solidFill>
          <a:srgbClr val="F7F4EC"/>
        </a:solidFill>
      </p:bgPr>
    </p:bg>
    <p:spTree>
      <p:nvGrpSpPr>
        <p:cNvPr id="1" name=""/>
        <p:cNvGrpSpPr/>
        <p:nvPr/>
      </p:nvGrpSpPr>
      <p:grpSpPr bwMode="auto">
        <a:xfrm>
          <a:off x="0" y="0"/>
          <a:ext cx="0" cy="0"/>
          <a:chOff x="0" y="0"/>
          <a:chExt cx="0" cy="0"/>
        </a:xfrm>
      </p:grpSpPr>
      <p:sp>
        <p:nvSpPr>
          <p:cNvPr id="1152296519" name="full-text-205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Institutional customers and distribution partners</a:t>
            </a:r>
            <a:endParaRPr/>
          </a:p>
        </p:txBody>
      </p:sp>
      <p:sp>
        <p:nvSpPr>
          <p:cNvPr id="1820555280" name="full-text-2059"/>
          <p:cNvSpPr>
            <a:spLocks noGrp="1"/>
          </p:cNvSpPr>
          <p:nvPr/>
        </p:nvSpPr>
        <p:spPr bwMode="auto">
          <a:xfrm>
            <a:off x="609600" y="6438900"/>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93847231" name="full-text-2060"/>
          <p:cNvSpPr>
            <a:spLocks noGrp="1"/>
          </p:cNvSpPr>
          <p:nvPr/>
        </p:nvSpPr>
        <p:spPr bwMode="auto">
          <a:xfrm>
            <a:off x="11020425" y="6438900"/>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17</a:t>
            </a:r>
            <a:endParaRPr/>
          </a:p>
        </p:txBody>
      </p:sp>
      <p:graphicFrame>
        <p:nvGraphicFramePr>
          <p:cNvPr id="699070579" name="Table 4"/>
          <p:cNvGraphicFramePr>
            <a:graphicFrameLocks xmlns:a="http://schemas.openxmlformats.org/drawingml/2006/main"/>
          </p:cNvGraphicFramePr>
          <p:nvPr/>
        </p:nvGraphicFramePr>
        <p:xfrm rot="0">
          <a:off x="609600" y="1847850"/>
          <a:ext cx="10972800" cy="3190875"/>
        </p:xfrm>
        <a:graphic>
          <a:graphicData uri="http://schemas.openxmlformats.org/drawingml/2006/table">
            <a:tbl>
              <a:tblPr firstRow="1" firstCol="0" lastRow="0" lastCol="0" bandRow="0" bandCol="0"/>
              <a:tblGrid>
                <a:gridCol w="2695575"/>
                <a:gridCol w="5324475"/>
                <a:gridCol w="2952750"/>
              </a:tblGrid>
              <a:tr h="638175">
                <a:tc>
                  <a:txBody>
                    <a:bodyPr/>
                    <a:p>
                      <a:pPr>
                        <a:defRPr/>
                      </a:pPr>
                      <a:r>
                        <a:rPr sz="1750" b="1">
                          <a:solidFill>
                            <a:srgbClr val="FFFFFF"/>
                          </a:solidFill>
                          <a:latin typeface="Arial"/>
                          <a:ea typeface="Arial"/>
                          <a:cs typeface="Arial"/>
                        </a:rPr>
                        <a:t>Party</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Value proposition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750" b="1">
                          <a:solidFill>
                            <a:srgbClr val="FFFFFF"/>
                          </a:solidFill>
                          <a:latin typeface="Arial"/>
                          <a:ea typeface="Arial"/>
                          <a:cs typeface="Arial"/>
                        </a:rPr>
                        <a:t>Commercial role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38175">
                <a:tc>
                  <a:txBody>
                    <a:bodyPr/>
                    <a:p>
                      <a:pPr>
                        <a:defRPr/>
                      </a:pPr>
                      <a:r>
                        <a:rPr sz="1800" b="0">
                          <a:solidFill>
                            <a:srgbClr val="183440"/>
                          </a:solidFill>
                          <a:latin typeface="Arial"/>
                          <a:ea typeface="Arial"/>
                          <a:cs typeface="Arial"/>
                        </a:rPr>
                        <a:t>Issuer / depository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Launch stablecoin-funded receipt programmes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Target contracting customer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Broker / distributor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Wallet access and eligible investment distribution</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Distribution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AP / liquidity provider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Create, redeem and quote receipts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Inventory and liquidity partner</a:t>
                      </a:r>
                      <a:endParaRPr/>
                    </a:p>
                  </a:txBody>
                  <a:tcPr marL="91440" marR="91440" marT="45720" marB="45720" anchor="ctr">
                    <a:lnR w="9525" algn="ctr">
                      <a:solidFill>
                        <a:srgbClr val="CFD7D1"/>
                      </a:solidFill>
                    </a:lnR>
                    <a:lnB w="9525" algn="ctr">
                      <a:solidFill>
                        <a:srgbClr val="CFD7D1"/>
                      </a:solidFill>
                    </a:lnB>
                    <a:solidFill>
                      <a:srgbClr val="F7F4EC"/>
                    </a:solidFill>
                  </a:tcPr>
                </a:tc>
              </a:tr>
              <a:tr h="638175">
                <a:tc>
                  <a:txBody>
                    <a:bodyPr/>
                    <a:p>
                      <a:pPr>
                        <a:defRPr/>
                      </a:pPr>
                      <a:r>
                        <a:rPr sz="1800" b="0">
                          <a:solidFill>
                            <a:srgbClr val="183440"/>
                          </a:solidFill>
                          <a:latin typeface="Arial"/>
                          <a:ea typeface="Arial"/>
                          <a:cs typeface="Arial"/>
                        </a:rPr>
                        <a:t>Investor</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Invest through approved USDC or RedCoin routes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800" b="0">
                          <a:solidFill>
                            <a:srgbClr val="183440"/>
                          </a:solidFill>
                          <a:latin typeface="Arial"/>
                          <a:ea typeface="Arial"/>
                          <a:cs typeface="Arial"/>
                        </a:rPr>
                        <a:t>End user through a broker</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551664089" name="full-text-2061"/>
          <p:cNvSpPr>
            <a:spLocks noGrp="1"/>
          </p:cNvSpPr>
          <p:nvPr/>
        </p:nvSpPr>
        <p:spPr bwMode="auto">
          <a:xfrm>
            <a:off x="609600" y="5476875"/>
            <a:ext cx="10953750" cy="60960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Illustrative first programme: 5 series × US$20M = US$100M serviced assets.</a:t>
            </a:r>
            <a:endParaRPr/>
          </a:p>
        </p:txBody>
      </p:sp>
      <p:sp>
        <p:nvSpPr>
          <p:cNvPr id="460555988" name="full-text-2062"/>
          <p:cNvSpPr>
            <a:spLocks noGrp="1"/>
          </p:cNvSpPr>
          <p:nvPr/>
        </p:nvSpPr>
        <p:spPr bwMode="auto">
          <a:xfrm>
            <a:off x="609600" y="6124575"/>
            <a:ext cx="10953750" cy="247650"/>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Asset adoption scenario only. Partner commitments and investor demand remain to be validated.</a:t>
            </a:r>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15988316" name="expanded-text-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programme-level adoption case</a:t>
            </a:r>
            <a:endParaRPr/>
          </a:p>
        </p:txBody>
      </p:sp>
      <p:sp>
        <p:nvSpPr>
          <p:cNvPr id="1161309523" name="expanded-text-64"/>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sensitivity. Each series averages US$20M of serviced assets for a full measurement period.</a:t>
            </a:r>
            <a:endParaRPr/>
          </a:p>
        </p:txBody>
      </p:sp>
      <p:sp>
        <p:nvSpPr>
          <p:cNvPr id="494314723" name="expanded-text-65"/>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565919618" name="expanded-text-66"/>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19</a:t>
            </a:r>
            <a:endParaRPr/>
          </a:p>
        </p:txBody>
      </p:sp>
      <p:sp>
        <p:nvSpPr>
          <p:cNvPr id="1283002589" name="expanded-text-67"/>
          <p:cNvSpPr>
            <a:spLocks noGrp="1"/>
          </p:cNvSpPr>
          <p:nvPr/>
        </p:nvSpPr>
        <p:spPr bwMode="auto">
          <a:xfrm>
            <a:off x="609600" y="2419350"/>
            <a:ext cx="3333750" cy="714375"/>
          </a:xfrm>
          <a:prstGeom prst="rect">
            <a:avLst/>
          </a:prstGeom>
          <a:noFill/>
          <a:ln w="0">
            <a:noFill/>
            <a:prstDash val="solid"/>
          </a:ln>
        </p:spPr>
        <p:txBody>
          <a:bodyPr wrap="square" lIns="0" tIns="0" rIns="0" bIns="0" anchor="t">
            <a:noAutofit/>
          </a:bodyPr>
          <a:lstStyle>
            <a:defPPr algn="l">
              <a:defRPr sz="4050" b="1">
                <a:solidFill>
                  <a:srgbClr val="176C6B"/>
                </a:solidFill>
                <a:latin typeface="Arial"/>
                <a:ea typeface="Arial"/>
                <a:cs typeface="Arial"/>
              </a:defRPr>
            </a:defPPr>
            <a:lvl1pPr algn="l">
              <a:buNone/>
              <a:defRPr sz="4050" b="1">
                <a:solidFill>
                  <a:srgbClr val="176C6B"/>
                </a:solidFill>
                <a:latin typeface="Arial"/>
                <a:ea typeface="Arial"/>
                <a:cs typeface="Arial"/>
              </a:defRPr>
            </a:lvl1pPr>
            <a:lvl2pPr algn="l">
              <a:buNone/>
              <a:defRPr sz="4050" b="1">
                <a:solidFill>
                  <a:srgbClr val="176C6B"/>
                </a:solidFill>
                <a:latin typeface="Arial"/>
                <a:ea typeface="Arial"/>
                <a:cs typeface="Arial"/>
              </a:defRPr>
            </a:lvl2pPr>
            <a:lvl3pPr algn="l">
              <a:buNone/>
              <a:defRPr sz="4050" b="1">
                <a:solidFill>
                  <a:srgbClr val="176C6B"/>
                </a:solidFill>
                <a:latin typeface="Arial"/>
                <a:ea typeface="Arial"/>
                <a:cs typeface="Arial"/>
              </a:defRPr>
            </a:lvl3pPr>
            <a:lvl4pPr algn="l">
              <a:buNone/>
              <a:defRPr sz="4050" b="1">
                <a:solidFill>
                  <a:srgbClr val="176C6B"/>
                </a:solidFill>
                <a:latin typeface="Arial"/>
                <a:ea typeface="Arial"/>
                <a:cs typeface="Arial"/>
              </a:defRPr>
            </a:lvl4pPr>
            <a:lvl5pPr algn="l">
              <a:buNone/>
              <a:defRPr sz="4050" b="1">
                <a:solidFill>
                  <a:srgbClr val="176C6B"/>
                </a:solidFill>
                <a:latin typeface="Arial"/>
                <a:ea typeface="Arial"/>
                <a:cs typeface="Arial"/>
              </a:defRPr>
            </a:lvl5pPr>
            <a:lvl6pPr algn="l">
              <a:buNone/>
              <a:defRPr sz="4050" b="1">
                <a:solidFill>
                  <a:srgbClr val="176C6B"/>
                </a:solidFill>
                <a:latin typeface="Arial"/>
                <a:ea typeface="Arial"/>
                <a:cs typeface="Arial"/>
              </a:defRPr>
            </a:lvl6pPr>
            <a:lvl7pPr algn="l">
              <a:buNone/>
              <a:defRPr sz="4050" b="1">
                <a:solidFill>
                  <a:srgbClr val="176C6B"/>
                </a:solidFill>
                <a:latin typeface="Arial"/>
                <a:ea typeface="Arial"/>
                <a:cs typeface="Arial"/>
              </a:defRPr>
            </a:lvl7pPr>
            <a:lvl8pPr algn="l">
              <a:buNone/>
              <a:defRPr sz="4050" b="1">
                <a:solidFill>
                  <a:srgbClr val="176C6B"/>
                </a:solidFill>
                <a:latin typeface="Arial"/>
                <a:ea typeface="Arial"/>
                <a:cs typeface="Arial"/>
              </a:defRPr>
            </a:lvl8pPr>
            <a:lvl9pPr algn="l">
              <a:buNone/>
              <a:defRPr sz="4050" b="1">
                <a:solidFill>
                  <a:srgbClr val="176C6B"/>
                </a:solidFill>
                <a:latin typeface="Arial"/>
                <a:ea typeface="Arial"/>
                <a:cs typeface="Arial"/>
              </a:defRPr>
            </a:lvl9pPr>
          </a:lstStyle>
          <a:p>
            <a:pPr algn="l">
              <a:buNone/>
              <a:defRPr sz="4050" b="1">
                <a:solidFill>
                  <a:srgbClr val="176C6B"/>
                </a:solidFill>
                <a:latin typeface="Arial"/>
                <a:ea typeface="Arial"/>
                <a:cs typeface="Arial"/>
              </a:defRPr>
            </a:pPr>
            <a:r>
              <a:rPr sz="4050" b="1">
                <a:solidFill>
                  <a:srgbClr val="176C6B"/>
                </a:solidFill>
                <a:latin typeface="Arial"/>
                <a:ea typeface="Arial"/>
                <a:cs typeface="Arial"/>
              </a:rPr>
              <a:t>5 series</a:t>
            </a:r>
            <a:endParaRPr/>
          </a:p>
        </p:txBody>
      </p:sp>
      <p:sp>
        <p:nvSpPr>
          <p:cNvPr id="470403275" name="expanded-text-68"/>
          <p:cNvSpPr>
            <a:spLocks noGrp="1"/>
          </p:cNvSpPr>
          <p:nvPr/>
        </p:nvSpPr>
        <p:spPr bwMode="auto">
          <a:xfrm>
            <a:off x="609600" y="3276600"/>
            <a:ext cx="3333750" cy="8382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183440"/>
                </a:solidFill>
                <a:latin typeface="Arial"/>
                <a:ea typeface="Arial"/>
                <a:cs typeface="Arial"/>
              </a:defRPr>
            </a:lvl1pPr>
            <a:lvl2pPr algn="l">
              <a:buNone/>
              <a:defRPr sz="2100" b="1">
                <a:solidFill>
                  <a:srgbClr val="183440"/>
                </a:solidFill>
                <a:latin typeface="Arial"/>
                <a:ea typeface="Arial"/>
                <a:cs typeface="Arial"/>
              </a:defRPr>
            </a:lvl2pPr>
            <a:lvl3pPr algn="l">
              <a:buNone/>
              <a:defRPr sz="2100" b="1">
                <a:solidFill>
                  <a:srgbClr val="183440"/>
                </a:solidFill>
                <a:latin typeface="Arial"/>
                <a:ea typeface="Arial"/>
                <a:cs typeface="Arial"/>
              </a:defRPr>
            </a:lvl3pPr>
            <a:lvl4pPr algn="l">
              <a:buNone/>
              <a:defRPr sz="2100" b="1">
                <a:solidFill>
                  <a:srgbClr val="183440"/>
                </a:solidFill>
                <a:latin typeface="Arial"/>
                <a:ea typeface="Arial"/>
                <a:cs typeface="Arial"/>
              </a:defRPr>
            </a:lvl4pPr>
            <a:lvl5pPr algn="l">
              <a:buNone/>
              <a:defRPr sz="2100" b="1">
                <a:solidFill>
                  <a:srgbClr val="183440"/>
                </a:solidFill>
                <a:latin typeface="Arial"/>
                <a:ea typeface="Arial"/>
                <a:cs typeface="Arial"/>
              </a:defRPr>
            </a:lvl5pPr>
            <a:lvl6pPr algn="l">
              <a:buNone/>
              <a:defRPr sz="2100" b="1">
                <a:solidFill>
                  <a:srgbClr val="183440"/>
                </a:solidFill>
                <a:latin typeface="Arial"/>
                <a:ea typeface="Arial"/>
                <a:cs typeface="Arial"/>
              </a:defRPr>
            </a:lvl6pPr>
            <a:lvl7pPr algn="l">
              <a:buNone/>
              <a:defRPr sz="2100" b="1">
                <a:solidFill>
                  <a:srgbClr val="183440"/>
                </a:solidFill>
                <a:latin typeface="Arial"/>
                <a:ea typeface="Arial"/>
                <a:cs typeface="Arial"/>
              </a:defRPr>
            </a:lvl7pPr>
            <a:lvl8pPr algn="l">
              <a:buNone/>
              <a:defRPr sz="2100" b="1">
                <a:solidFill>
                  <a:srgbClr val="183440"/>
                </a:solidFill>
                <a:latin typeface="Arial"/>
                <a:ea typeface="Arial"/>
                <a:cs typeface="Arial"/>
              </a:defRPr>
            </a:lvl8pPr>
            <a:lvl9pPr algn="l">
              <a:buNone/>
              <a:defRPr sz="2100" b="1">
                <a:solidFill>
                  <a:srgbClr val="183440"/>
                </a:solidFill>
                <a:latin typeface="Arial"/>
                <a:ea typeface="Arial"/>
                <a:cs typeface="Arial"/>
              </a:defRPr>
            </a:lvl9pPr>
          </a:lstStyle>
          <a:p>
            <a:pPr algn="l">
              <a:buNone/>
              <a:defRPr sz="2100" b="1">
                <a:solidFill>
                  <a:srgbClr val="183440"/>
                </a:solidFill>
                <a:latin typeface="Arial"/>
                <a:ea typeface="Arial"/>
                <a:cs typeface="Arial"/>
              </a:defRPr>
            </a:pPr>
            <a:r>
              <a:rPr sz="2100" b="1">
                <a:solidFill>
                  <a:srgbClr val="183440"/>
                </a:solidFill>
                <a:latin typeface="Arial"/>
                <a:ea typeface="Arial"/>
                <a:cs typeface="Arial"/>
              </a:rPr>
              <a:t>US$100M average assets</a:t>
            </a:r>
            <a:endParaRPr/>
          </a:p>
          <a:p>
            <a:pPr algn="l">
              <a:buNone/>
              <a:defRPr sz="2100" b="1">
                <a:solidFill>
                  <a:srgbClr val="183440"/>
                </a:solidFill>
                <a:latin typeface="Arial"/>
                <a:ea typeface="Arial"/>
                <a:cs typeface="Arial"/>
              </a:defRPr>
            </a:pPr>
            <a:r>
              <a:rPr sz="2100" b="1">
                <a:solidFill>
                  <a:srgbClr val="183440"/>
                </a:solidFill>
                <a:latin typeface="Arial"/>
                <a:ea typeface="Arial"/>
                <a:cs typeface="Arial"/>
              </a:rPr>
              <a:t>at US$20M per series</a:t>
            </a:r>
            <a:endParaRPr/>
          </a:p>
        </p:txBody>
      </p:sp>
      <p:sp>
        <p:nvSpPr>
          <p:cNvPr id="1789187151" name="expanded-text-69"/>
          <p:cNvSpPr>
            <a:spLocks noGrp="1"/>
          </p:cNvSpPr>
          <p:nvPr/>
        </p:nvSpPr>
        <p:spPr bwMode="auto">
          <a:xfrm>
            <a:off x="609600" y="4486275"/>
            <a:ext cx="3333750" cy="552450"/>
          </a:xfrm>
          <a:prstGeom prst="rect">
            <a:avLst/>
          </a:prstGeom>
          <a:noFill/>
          <a:ln w="0">
            <a:noFill/>
            <a:prstDash val="solid"/>
          </a:ln>
        </p:spPr>
        <p:txBody>
          <a:bodyPr wrap="square" lIns="0" tIns="0" rIns="0" bIns="0" anchor="t">
            <a:noAutofit/>
          </a:bodyPr>
          <a:lstStyle>
            <a:defPPr algn="l">
              <a:defRPr sz="2700" b="1">
                <a:solidFill>
                  <a:srgbClr val="183440"/>
                </a:solidFill>
                <a:latin typeface="Arial"/>
                <a:ea typeface="Arial"/>
                <a:cs typeface="Arial"/>
              </a:defRPr>
            </a:defPPr>
            <a:lvl1pPr algn="l">
              <a:buNone/>
              <a:defRPr sz="2700" b="1">
                <a:solidFill>
                  <a:srgbClr val="183440"/>
                </a:solidFill>
                <a:latin typeface="Arial"/>
                <a:ea typeface="Arial"/>
                <a:cs typeface="Arial"/>
              </a:defRPr>
            </a:lvl1pPr>
            <a:lvl2pPr algn="l">
              <a:buNone/>
              <a:defRPr sz="2700" b="1">
                <a:solidFill>
                  <a:srgbClr val="183440"/>
                </a:solidFill>
                <a:latin typeface="Arial"/>
                <a:ea typeface="Arial"/>
                <a:cs typeface="Arial"/>
              </a:defRPr>
            </a:lvl2pPr>
            <a:lvl3pPr algn="l">
              <a:buNone/>
              <a:defRPr sz="2700" b="1">
                <a:solidFill>
                  <a:srgbClr val="183440"/>
                </a:solidFill>
                <a:latin typeface="Arial"/>
                <a:ea typeface="Arial"/>
                <a:cs typeface="Arial"/>
              </a:defRPr>
            </a:lvl3pPr>
            <a:lvl4pPr algn="l">
              <a:buNone/>
              <a:defRPr sz="2700" b="1">
                <a:solidFill>
                  <a:srgbClr val="183440"/>
                </a:solidFill>
                <a:latin typeface="Arial"/>
                <a:ea typeface="Arial"/>
                <a:cs typeface="Arial"/>
              </a:defRPr>
            </a:lvl4pPr>
            <a:lvl5pPr algn="l">
              <a:buNone/>
              <a:defRPr sz="2700" b="1">
                <a:solidFill>
                  <a:srgbClr val="183440"/>
                </a:solidFill>
                <a:latin typeface="Arial"/>
                <a:ea typeface="Arial"/>
                <a:cs typeface="Arial"/>
              </a:defRPr>
            </a:lvl5pPr>
            <a:lvl6pPr algn="l">
              <a:buNone/>
              <a:defRPr sz="2700" b="1">
                <a:solidFill>
                  <a:srgbClr val="183440"/>
                </a:solidFill>
                <a:latin typeface="Arial"/>
                <a:ea typeface="Arial"/>
                <a:cs typeface="Arial"/>
              </a:defRPr>
            </a:lvl6pPr>
            <a:lvl7pPr algn="l">
              <a:buNone/>
              <a:defRPr sz="2700" b="1">
                <a:solidFill>
                  <a:srgbClr val="183440"/>
                </a:solidFill>
                <a:latin typeface="Arial"/>
                <a:ea typeface="Arial"/>
                <a:cs typeface="Arial"/>
              </a:defRPr>
            </a:lvl7pPr>
            <a:lvl8pPr algn="l">
              <a:buNone/>
              <a:defRPr sz="2700" b="1">
                <a:solidFill>
                  <a:srgbClr val="183440"/>
                </a:solidFill>
                <a:latin typeface="Arial"/>
                <a:ea typeface="Arial"/>
                <a:cs typeface="Arial"/>
              </a:defRPr>
            </a:lvl8pPr>
            <a:lvl9pPr algn="l">
              <a:buNone/>
              <a:defRPr sz="2700" b="1">
                <a:solidFill>
                  <a:srgbClr val="183440"/>
                </a:solidFill>
                <a:latin typeface="Arial"/>
                <a:ea typeface="Arial"/>
                <a:cs typeface="Arial"/>
              </a:defRPr>
            </a:lvl9pPr>
          </a:lstStyle>
          <a:p>
            <a:pPr algn="l">
              <a:buNone/>
              <a:defRPr sz="2700" b="1">
                <a:solidFill>
                  <a:srgbClr val="183440"/>
                </a:solidFill>
                <a:latin typeface="Arial"/>
                <a:ea typeface="Arial"/>
                <a:cs typeface="Arial"/>
              </a:defRPr>
            </a:pPr>
            <a:r>
              <a:rPr sz="2700" b="1">
                <a:solidFill>
                  <a:srgbClr val="183440"/>
                </a:solidFill>
                <a:latin typeface="Arial"/>
                <a:ea typeface="Arial"/>
                <a:cs typeface="Arial"/>
              </a:rPr>
              <a:t>US$300,000</a:t>
            </a:r>
            <a:endParaRPr/>
          </a:p>
        </p:txBody>
      </p:sp>
      <p:sp>
        <p:nvSpPr>
          <p:cNvPr id="1850026863" name="expanded-text-70"/>
          <p:cNvSpPr>
            <a:spLocks noGrp="1"/>
          </p:cNvSpPr>
          <p:nvPr/>
        </p:nvSpPr>
        <p:spPr bwMode="auto">
          <a:xfrm>
            <a:off x="609600" y="5143500"/>
            <a:ext cx="3333750" cy="7429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Annual gross servicing fees</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at the proposed 0.30% rate</a:t>
            </a:r>
            <a:endParaRPr/>
          </a:p>
        </p:txBody>
      </p:sp>
      <p:sp>
        <p:nvSpPr>
          <p:cNvPr id="1955582031" name="expanded-text-7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Adoption scenario only. A launch-year ramp can produce much lower average assets than its ending balance.</a:t>
            </a:r>
            <a:endParaRPr/>
          </a:p>
        </p:txBody>
      </p:sp>
      <p:graphicFrame>
        <p:nvGraphicFramePr>
          <p:cNvPr id="1456434822"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82511922" name="cash-market-text-3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Servicing economics at different asset levels</a:t>
            </a:r>
            <a:endParaRPr/>
          </a:p>
        </p:txBody>
      </p:sp>
      <p:sp>
        <p:nvSpPr>
          <p:cNvPr id="333702075" name="cash-market-text-33"/>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annual economics in USD. Fees and partner costs remain uncontracted.</a:t>
            </a:r>
            <a:endParaRPr/>
          </a:p>
        </p:txBody>
      </p:sp>
      <p:sp>
        <p:nvSpPr>
          <p:cNvPr id="903852723" name="cash-market-text-3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695567504" name="cash-market-text-3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20</a:t>
            </a:r>
            <a:endParaRPr/>
          </a:p>
        </p:txBody>
      </p:sp>
      <p:sp>
        <p:nvSpPr>
          <p:cNvPr id="594554106" name="cash-market-text-36"/>
          <p:cNvSpPr>
            <a:spLocks noGrp="1"/>
          </p:cNvSpPr>
          <p:nvPr/>
        </p:nvSpPr>
        <p:spPr bwMode="auto">
          <a:xfrm>
            <a:off x="609600" y="2371725"/>
            <a:ext cx="3429000" cy="438149"/>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One sponsor contract</a:t>
            </a:r>
            <a:endParaRPr/>
          </a:p>
        </p:txBody>
      </p:sp>
      <p:sp>
        <p:nvSpPr>
          <p:cNvPr id="1056761944" name="cash-market-text-37"/>
          <p:cNvSpPr>
            <a:spLocks noGrp="1"/>
          </p:cNvSpPr>
          <p:nvPr/>
        </p:nvSpPr>
        <p:spPr bwMode="auto">
          <a:xfrm>
            <a:off x="609600" y="2962275"/>
            <a:ext cx="3429000" cy="7429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US$150,000 setup</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per new sponsor</a:t>
            </a:r>
            <a:endParaRPr/>
          </a:p>
        </p:txBody>
      </p:sp>
      <p:sp>
        <p:nvSpPr>
          <p:cNvPr id="1385880381" name="cash-market-text-38"/>
          <p:cNvSpPr>
            <a:spLocks noGrp="1"/>
          </p:cNvSpPr>
          <p:nvPr/>
        </p:nvSpPr>
        <p:spPr bwMode="auto">
          <a:xfrm>
            <a:off x="609600" y="4048125"/>
            <a:ext cx="3429000" cy="828675"/>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0.30% annual servicing fee</a:t>
            </a:r>
            <a:endParaRPr/>
          </a:p>
          <a:p>
            <a:pPr algn="l">
              <a:buNone/>
              <a:defRPr sz="1900" b="0">
                <a:solidFill>
                  <a:srgbClr val="183440"/>
                </a:solidFill>
                <a:latin typeface="Arial"/>
                <a:ea typeface="Arial"/>
                <a:cs typeface="Arial"/>
              </a:defRPr>
            </a:pPr>
            <a:r>
              <a:rPr sz="1900" b="0">
                <a:solidFill>
                  <a:srgbClr val="183440"/>
                </a:solidFill>
                <a:latin typeface="Arial"/>
                <a:ea typeface="Arial"/>
                <a:cs typeface="Arial"/>
              </a:rPr>
              <a:t>0.15% variable service costs</a:t>
            </a:r>
            <a:endParaRPr/>
          </a:p>
        </p:txBody>
      </p:sp>
      <p:sp>
        <p:nvSpPr>
          <p:cNvPr id="1848360291" name="cash-market-text-39"/>
          <p:cNvSpPr>
            <a:spLocks noGrp="1"/>
          </p:cNvSpPr>
          <p:nvPr/>
        </p:nvSpPr>
        <p:spPr bwMode="auto">
          <a:xfrm>
            <a:off x="609600" y="5172075"/>
            <a:ext cx="3429000" cy="876299"/>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Contribution covers fixed costs.</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Setup fees are excluded</a:t>
            </a:r>
            <a:endParaRPr/>
          </a:p>
          <a:p>
            <a:pPr algn="l">
              <a:buNone/>
              <a:defRPr sz="1750" b="0">
                <a:solidFill>
                  <a:srgbClr val="53676D"/>
                </a:solidFill>
                <a:latin typeface="Arial"/>
                <a:ea typeface="Arial"/>
                <a:cs typeface="Arial"/>
              </a:defRPr>
            </a:pPr>
            <a:r>
              <a:rPr sz="1750" b="0">
                <a:solidFill>
                  <a:srgbClr val="53676D"/>
                </a:solidFill>
                <a:latin typeface="Arial"/>
                <a:ea typeface="Arial"/>
                <a:cs typeface="Arial"/>
              </a:rPr>
              <a:t>from this chart.</a:t>
            </a:r>
            <a:endParaRPr/>
          </a:p>
        </p:txBody>
      </p:sp>
      <p:sp>
        <p:nvSpPr>
          <p:cNvPr id="246728036" name="cash-market-text-40"/>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Before fixed costs. Stablecoin and FX charges require agreed partner and pass-through terms.</a:t>
            </a:r>
            <a:endParaRPr/>
          </a:p>
        </p:txBody>
      </p:sp>
      <p:graphicFrame>
        <p:nvGraphicFramePr>
          <p:cNvPr id="1260037294"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452751855" name="dlt-text-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DLT architecture for the receipt lifecycle</a:t>
            </a:r>
            <a:endParaRPr/>
          </a:p>
        </p:txBody>
      </p:sp>
      <p:sp>
        <p:nvSpPr>
          <p:cNvPr id="335380860" name="dlt-text-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and RedCoin adapters are proposed. Register rights and rail access remain launch gates.</a:t>
            </a:r>
            <a:endParaRPr/>
          </a:p>
        </p:txBody>
      </p:sp>
      <p:sp>
        <p:nvSpPr>
          <p:cNvPr id="1430225215" name="dlt-text-3"/>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21013465" name="dlt-text-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22</a:t>
            </a:r>
            <a:endParaRPr/>
          </a:p>
        </p:txBody>
      </p:sp>
      <p:sp>
        <p:nvSpPr>
          <p:cNvPr id="412422600" name="participant-head-5"/>
          <p:cNvSpPr>
            <a:spLocks noGrp="1"/>
          </p:cNvSpPr>
          <p:nvPr/>
        </p:nvSpPr>
        <p:spPr bwMode="auto">
          <a:xfrm>
            <a:off x="1885950" y="2143125"/>
            <a:ext cx="190500" cy="190500"/>
          </a:xfrm>
          <a:prstGeom prst="ellipse">
            <a:avLst/>
          </a:prstGeom>
          <a:solidFill>
            <a:srgbClr val="183440"/>
          </a:solidFill>
          <a:ln w="0">
            <a:noFill/>
            <a:prstDash val="solid"/>
          </a:ln>
        </p:spPr>
      </p:sp>
      <p:sp>
        <p:nvSpPr>
          <p:cNvPr id="427726724" name="participant-body-6"/>
          <p:cNvSpPr>
            <a:spLocks noGrp="1"/>
          </p:cNvSpPr>
          <p:nvPr/>
        </p:nvSpPr>
        <p:spPr bwMode="auto">
          <a:xfrm>
            <a:off x="1809750" y="2362199"/>
            <a:ext cx="342900" cy="180975"/>
          </a:xfrm>
          <a:prstGeom prst="roundRect">
            <a:avLst>
              <a:gd name="adj" fmla="val 42105"/>
            </a:avLst>
          </a:prstGeom>
          <a:solidFill>
            <a:srgbClr val="183440"/>
          </a:solidFill>
          <a:ln w="0">
            <a:noFill/>
            <a:prstDash val="solid"/>
          </a:ln>
        </p:spPr>
      </p:sp>
      <p:sp>
        <p:nvSpPr>
          <p:cNvPr id="1466644225" name="dlt-text-7"/>
          <p:cNvSpPr>
            <a:spLocks noGrp="1"/>
          </p:cNvSpPr>
          <p:nvPr/>
        </p:nvSpPr>
        <p:spPr bwMode="auto">
          <a:xfrm>
            <a:off x="7810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Investors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brokers</a:t>
            </a:r>
            <a:endParaRPr/>
          </a:p>
        </p:txBody>
      </p:sp>
      <p:cxnSp>
        <p:nvCxnSpPr>
          <p:cNvPr id="1479218293" name="diagram-line-8"/>
          <p:cNvCxnSpPr/>
          <p:nvPr/>
        </p:nvCxnSpPr>
        <p:spPr bwMode="auto">
          <a:xfrm>
            <a:off x="1981200" y="3190875"/>
            <a:ext cx="0" cy="457200"/>
          </a:xfrm>
          <a:prstGeom prst="straightConnector1">
            <a:avLst/>
          </a:prstGeom>
          <a:ln w="19050">
            <a:solidFill>
              <a:srgbClr val="83739D"/>
            </a:solidFill>
            <a:prstDash val="solid"/>
            <a:tailEnd type="triangle" w="sm" len="sm"/>
          </a:ln>
        </p:spPr>
      </p:cxnSp>
      <p:sp>
        <p:nvSpPr>
          <p:cNvPr id="586032392" name="participant-head-9"/>
          <p:cNvSpPr>
            <a:spLocks noGrp="1"/>
          </p:cNvSpPr>
          <p:nvPr/>
        </p:nvSpPr>
        <p:spPr bwMode="auto">
          <a:xfrm>
            <a:off x="4629150" y="2143125"/>
            <a:ext cx="190500" cy="190500"/>
          </a:xfrm>
          <a:prstGeom prst="ellipse">
            <a:avLst/>
          </a:prstGeom>
          <a:solidFill>
            <a:srgbClr val="183440"/>
          </a:solidFill>
          <a:ln w="0">
            <a:noFill/>
            <a:prstDash val="solid"/>
          </a:ln>
        </p:spPr>
      </p:sp>
      <p:sp>
        <p:nvSpPr>
          <p:cNvPr id="547322668" name="participant-body-10"/>
          <p:cNvSpPr>
            <a:spLocks noGrp="1"/>
          </p:cNvSpPr>
          <p:nvPr/>
        </p:nvSpPr>
        <p:spPr bwMode="auto">
          <a:xfrm>
            <a:off x="4552950" y="2362199"/>
            <a:ext cx="342900" cy="180975"/>
          </a:xfrm>
          <a:prstGeom prst="roundRect">
            <a:avLst>
              <a:gd name="adj" fmla="val 42105"/>
            </a:avLst>
          </a:prstGeom>
          <a:solidFill>
            <a:srgbClr val="183440"/>
          </a:solidFill>
          <a:ln w="0">
            <a:noFill/>
            <a:prstDash val="solid"/>
          </a:ln>
        </p:spPr>
      </p:sp>
      <p:sp>
        <p:nvSpPr>
          <p:cNvPr id="361880080" name="dlt-text-11"/>
          <p:cNvSpPr>
            <a:spLocks noGrp="1"/>
          </p:cNvSpPr>
          <p:nvPr/>
        </p:nvSpPr>
        <p:spPr bwMode="auto">
          <a:xfrm>
            <a:off x="35242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APs / liquidity</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providers</a:t>
            </a:r>
            <a:endParaRPr/>
          </a:p>
        </p:txBody>
      </p:sp>
      <p:cxnSp>
        <p:nvCxnSpPr>
          <p:cNvPr id="1761674813" name="diagram-line-12"/>
          <p:cNvCxnSpPr/>
          <p:nvPr/>
        </p:nvCxnSpPr>
        <p:spPr bwMode="auto">
          <a:xfrm>
            <a:off x="4724399" y="3190875"/>
            <a:ext cx="0" cy="457200"/>
          </a:xfrm>
          <a:prstGeom prst="straightConnector1">
            <a:avLst/>
          </a:prstGeom>
          <a:ln w="19050">
            <a:solidFill>
              <a:srgbClr val="83739D"/>
            </a:solidFill>
            <a:prstDash val="solid"/>
            <a:tailEnd type="triangle" w="sm" len="sm"/>
          </a:ln>
        </p:spPr>
      </p:cxnSp>
      <p:sp>
        <p:nvSpPr>
          <p:cNvPr id="190236147" name="participant-head-13"/>
          <p:cNvSpPr>
            <a:spLocks noGrp="1"/>
          </p:cNvSpPr>
          <p:nvPr/>
        </p:nvSpPr>
        <p:spPr bwMode="auto">
          <a:xfrm>
            <a:off x="7372350" y="2143125"/>
            <a:ext cx="190500" cy="190500"/>
          </a:xfrm>
          <a:prstGeom prst="ellipse">
            <a:avLst/>
          </a:prstGeom>
          <a:solidFill>
            <a:srgbClr val="183440"/>
          </a:solidFill>
          <a:ln w="0">
            <a:noFill/>
            <a:prstDash val="solid"/>
          </a:ln>
        </p:spPr>
      </p:sp>
      <p:sp>
        <p:nvSpPr>
          <p:cNvPr id="1520907225" name="participant-body-14"/>
          <p:cNvSpPr>
            <a:spLocks noGrp="1"/>
          </p:cNvSpPr>
          <p:nvPr/>
        </p:nvSpPr>
        <p:spPr bwMode="auto">
          <a:xfrm>
            <a:off x="7296149" y="2362199"/>
            <a:ext cx="342900" cy="180975"/>
          </a:xfrm>
          <a:prstGeom prst="roundRect">
            <a:avLst>
              <a:gd name="adj" fmla="val 42105"/>
            </a:avLst>
          </a:prstGeom>
          <a:solidFill>
            <a:srgbClr val="183440"/>
          </a:solidFill>
          <a:ln w="0">
            <a:noFill/>
            <a:prstDash val="solid"/>
          </a:ln>
        </p:spPr>
      </p:sp>
      <p:sp>
        <p:nvSpPr>
          <p:cNvPr id="1769676546" name="dlt-text-15"/>
          <p:cNvSpPr>
            <a:spLocks noGrp="1"/>
          </p:cNvSpPr>
          <p:nvPr/>
        </p:nvSpPr>
        <p:spPr bwMode="auto">
          <a:xfrm>
            <a:off x="62674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cxnSp>
        <p:nvCxnSpPr>
          <p:cNvPr id="196615955" name="diagram-line-16"/>
          <p:cNvCxnSpPr/>
          <p:nvPr/>
        </p:nvCxnSpPr>
        <p:spPr bwMode="auto">
          <a:xfrm>
            <a:off x="7467600" y="3190875"/>
            <a:ext cx="0" cy="457200"/>
          </a:xfrm>
          <a:prstGeom prst="straightConnector1">
            <a:avLst/>
          </a:prstGeom>
          <a:ln w="19050">
            <a:solidFill>
              <a:srgbClr val="83739D"/>
            </a:solidFill>
            <a:prstDash val="solid"/>
            <a:tailEnd type="triangle" w="sm" len="sm"/>
          </a:ln>
        </p:spPr>
      </p:cxnSp>
      <p:sp>
        <p:nvSpPr>
          <p:cNvPr id="1994438458" name="participant-head-17"/>
          <p:cNvSpPr>
            <a:spLocks noGrp="1"/>
          </p:cNvSpPr>
          <p:nvPr/>
        </p:nvSpPr>
        <p:spPr bwMode="auto">
          <a:xfrm>
            <a:off x="10115550" y="2143125"/>
            <a:ext cx="190500" cy="190500"/>
          </a:xfrm>
          <a:prstGeom prst="ellipse">
            <a:avLst/>
          </a:prstGeom>
          <a:solidFill>
            <a:srgbClr val="183440"/>
          </a:solidFill>
          <a:ln w="0">
            <a:noFill/>
            <a:prstDash val="solid"/>
          </a:ln>
        </p:spPr>
      </p:sp>
      <p:sp>
        <p:nvSpPr>
          <p:cNvPr id="570998362" name="participant-body-18"/>
          <p:cNvSpPr>
            <a:spLocks noGrp="1"/>
          </p:cNvSpPr>
          <p:nvPr/>
        </p:nvSpPr>
        <p:spPr bwMode="auto">
          <a:xfrm>
            <a:off x="10039350" y="2362199"/>
            <a:ext cx="342900" cy="180975"/>
          </a:xfrm>
          <a:prstGeom prst="roundRect">
            <a:avLst>
              <a:gd name="adj" fmla="val 42105"/>
            </a:avLst>
          </a:prstGeom>
          <a:solidFill>
            <a:srgbClr val="183440"/>
          </a:solidFill>
          <a:ln w="0">
            <a:noFill/>
            <a:prstDash val="solid"/>
          </a:ln>
        </p:spPr>
      </p:sp>
      <p:sp>
        <p:nvSpPr>
          <p:cNvPr id="408286374" name="dlt-text-19"/>
          <p:cNvSpPr>
            <a:spLocks noGrp="1"/>
          </p:cNvSpPr>
          <p:nvPr/>
        </p:nvSpPr>
        <p:spPr bwMode="auto">
          <a:xfrm>
            <a:off x="9010650" y="2600325"/>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partners</a:t>
            </a:r>
            <a:endParaRPr/>
          </a:p>
        </p:txBody>
      </p:sp>
      <p:cxnSp>
        <p:nvCxnSpPr>
          <p:cNvPr id="735527529" name="diagram-line-20"/>
          <p:cNvCxnSpPr/>
          <p:nvPr/>
        </p:nvCxnSpPr>
        <p:spPr bwMode="auto">
          <a:xfrm>
            <a:off x="10210800" y="3190875"/>
            <a:ext cx="0" cy="457200"/>
          </a:xfrm>
          <a:prstGeom prst="straightConnector1">
            <a:avLst/>
          </a:prstGeom>
          <a:ln w="19050">
            <a:solidFill>
              <a:srgbClr val="83739D"/>
            </a:solidFill>
            <a:prstDash val="solid"/>
            <a:tailEnd type="triangle" w="sm" len="sm"/>
          </a:ln>
        </p:spPr>
      </p:cxnSp>
      <p:sp>
        <p:nvSpPr>
          <p:cNvPr id="1367364299" name="orchestration-21"/>
          <p:cNvSpPr>
            <a:spLocks noGrp="1"/>
          </p:cNvSpPr>
          <p:nvPr/>
        </p:nvSpPr>
        <p:spPr bwMode="auto">
          <a:xfrm>
            <a:off x="609600" y="3695700"/>
            <a:ext cx="10972800" cy="971550"/>
          </a:xfrm>
          <a:prstGeom prst="rect">
            <a:avLst/>
          </a:prstGeom>
          <a:solidFill>
            <a:srgbClr val="FFFFFF"/>
          </a:solidFill>
          <a:ln w="13335">
            <a:solidFill>
              <a:srgbClr val="CFD7D1"/>
            </a:solidFill>
            <a:prstDash val="solid"/>
          </a:ln>
        </p:spPr>
      </p:sp>
      <p:sp>
        <p:nvSpPr>
          <p:cNvPr id="183975353" name="dlt-text-22"/>
          <p:cNvSpPr>
            <a:spLocks noGrp="1"/>
          </p:cNvSpPr>
          <p:nvPr/>
        </p:nvSpPr>
        <p:spPr bwMode="auto">
          <a:xfrm>
            <a:off x="800100" y="3810000"/>
            <a:ext cx="10382250" cy="381000"/>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D-SHARE receipt and cash orchestration</a:t>
            </a:r>
            <a:endParaRPr/>
          </a:p>
        </p:txBody>
      </p:sp>
      <p:sp>
        <p:nvSpPr>
          <p:cNvPr id="1613166764" name="dlt-text-23"/>
          <p:cNvSpPr>
            <a:spLocks noGrp="1"/>
          </p:cNvSpPr>
          <p:nvPr/>
        </p:nvSpPr>
        <p:spPr bwMode="auto">
          <a:xfrm>
            <a:off x="800100" y="4229100"/>
            <a:ext cx="10382250" cy="333375"/>
          </a:xfrm>
          <a:prstGeom prst="rect">
            <a:avLst/>
          </a:prstGeom>
          <a:noFill/>
          <a:ln w="0">
            <a:noFill/>
            <a:prstDash val="solid"/>
          </a:ln>
        </p:spPr>
        <p:txBody>
          <a:bodyPr wrap="square" lIns="0" tIns="0" rIns="0" bIns="0" anchor="t">
            <a:noAutofit/>
          </a:bodyPr>
          <a:lstStyle>
            <a:defPPr algn="l">
              <a:defRPr sz="1800" b="0">
                <a:solidFill>
                  <a:srgbClr val="183440"/>
                </a:solidFill>
                <a:latin typeface="Arial"/>
                <a:ea typeface="Arial"/>
                <a:cs typeface="Arial"/>
              </a:defRPr>
            </a:defPPr>
            <a:lvl1pPr algn="l">
              <a:buNone/>
              <a:defRPr sz="1800" b="0">
                <a:solidFill>
                  <a:srgbClr val="183440"/>
                </a:solidFill>
                <a:latin typeface="Arial"/>
                <a:ea typeface="Arial"/>
                <a:cs typeface="Arial"/>
              </a:defRPr>
            </a:lvl1pPr>
            <a:lvl2pPr algn="l">
              <a:buNone/>
              <a:defRPr sz="1800" b="0">
                <a:solidFill>
                  <a:srgbClr val="183440"/>
                </a:solidFill>
                <a:latin typeface="Arial"/>
                <a:ea typeface="Arial"/>
                <a:cs typeface="Arial"/>
              </a:defRPr>
            </a:lvl2pPr>
            <a:lvl3pPr algn="l">
              <a:buNone/>
              <a:defRPr sz="1800" b="0">
                <a:solidFill>
                  <a:srgbClr val="183440"/>
                </a:solidFill>
                <a:latin typeface="Arial"/>
                <a:ea typeface="Arial"/>
                <a:cs typeface="Arial"/>
              </a:defRPr>
            </a:lvl3pPr>
            <a:lvl4pPr algn="l">
              <a:buNone/>
              <a:defRPr sz="1800" b="0">
                <a:solidFill>
                  <a:srgbClr val="183440"/>
                </a:solidFill>
                <a:latin typeface="Arial"/>
                <a:ea typeface="Arial"/>
                <a:cs typeface="Arial"/>
              </a:defRPr>
            </a:lvl4pPr>
            <a:lvl5pPr algn="l">
              <a:buNone/>
              <a:defRPr sz="1800" b="0">
                <a:solidFill>
                  <a:srgbClr val="183440"/>
                </a:solidFill>
                <a:latin typeface="Arial"/>
                <a:ea typeface="Arial"/>
                <a:cs typeface="Arial"/>
              </a:defRPr>
            </a:lvl5pPr>
            <a:lvl6pPr algn="l">
              <a:buNone/>
              <a:defRPr sz="1800" b="0">
                <a:solidFill>
                  <a:srgbClr val="183440"/>
                </a:solidFill>
                <a:latin typeface="Arial"/>
                <a:ea typeface="Arial"/>
                <a:cs typeface="Arial"/>
              </a:defRPr>
            </a:lvl6pPr>
            <a:lvl7pPr algn="l">
              <a:buNone/>
              <a:defRPr sz="1800" b="0">
                <a:solidFill>
                  <a:srgbClr val="183440"/>
                </a:solidFill>
                <a:latin typeface="Arial"/>
                <a:ea typeface="Arial"/>
                <a:cs typeface="Arial"/>
              </a:defRPr>
            </a:lvl7pPr>
            <a:lvl8pPr algn="l">
              <a:buNone/>
              <a:defRPr sz="1800" b="0">
                <a:solidFill>
                  <a:srgbClr val="183440"/>
                </a:solidFill>
                <a:latin typeface="Arial"/>
                <a:ea typeface="Arial"/>
                <a:cs typeface="Arial"/>
              </a:defRPr>
            </a:lvl8pPr>
            <a:lvl9pPr algn="l">
              <a:buNone/>
              <a:defRPr sz="1800" b="0">
                <a:solidFill>
                  <a:srgbClr val="183440"/>
                </a:solidFill>
                <a:latin typeface="Arial"/>
                <a:ea typeface="Arial"/>
                <a:cs typeface="Arial"/>
              </a:defRPr>
            </a:lvl9pPr>
          </a:lstStyle>
          <a:p>
            <a:pPr algn="l">
              <a:buNone/>
              <a:defRPr sz="1800" b="0">
                <a:solidFill>
                  <a:srgbClr val="183440"/>
                </a:solidFill>
                <a:latin typeface="Arial"/>
                <a:ea typeface="Arial"/>
                <a:cs typeface="Arial"/>
              </a:defRPr>
            </a:pPr>
            <a:r>
              <a:rPr sz="1800" b="0">
                <a:solidFill>
                  <a:srgbClr val="183440"/>
                </a:solidFill>
                <a:latin typeface="Arial"/>
                <a:ea typeface="Arial"/>
                <a:cs typeface="Arial"/>
              </a:rPr>
              <a:t>Eligibility and rights     Receipt approvals     Cash-asset / FX controls</a:t>
            </a:r>
            <a:endParaRPr/>
          </a:p>
        </p:txBody>
      </p:sp>
      <p:cxnSp>
        <p:nvCxnSpPr>
          <p:cNvPr id="539539964" name="diagram-line-24"/>
          <p:cNvCxnSpPr/>
          <p:nvPr/>
        </p:nvCxnSpPr>
        <p:spPr bwMode="auto">
          <a:xfrm>
            <a:off x="4181475" y="4667250"/>
            <a:ext cx="0" cy="581025"/>
          </a:xfrm>
          <a:prstGeom prst="straightConnector1">
            <a:avLst/>
          </a:prstGeom>
          <a:ln w="19050">
            <a:solidFill>
              <a:srgbClr val="83739D"/>
            </a:solidFill>
            <a:prstDash val="solid"/>
            <a:tailEnd type="triangle" w="sm" len="sm"/>
          </a:ln>
        </p:spPr>
      </p:cxnSp>
      <p:cxnSp>
        <p:nvCxnSpPr>
          <p:cNvPr id="2061809459" name="diagram-line-25"/>
          <p:cNvCxnSpPr/>
          <p:nvPr/>
        </p:nvCxnSpPr>
        <p:spPr bwMode="auto">
          <a:xfrm>
            <a:off x="9896475" y="4667250"/>
            <a:ext cx="0" cy="581025"/>
          </a:xfrm>
          <a:prstGeom prst="straightConnector1">
            <a:avLst/>
          </a:prstGeom>
          <a:ln w="19050">
            <a:solidFill>
              <a:srgbClr val="83739D"/>
            </a:solidFill>
            <a:prstDash val="solid"/>
            <a:tailEnd type="triangle" w="sm" len="sm"/>
          </a:ln>
        </p:spPr>
      </p:cxnSp>
      <p:sp>
        <p:nvSpPr>
          <p:cNvPr id="938379885" name="permissioned-ledger-26"/>
          <p:cNvSpPr>
            <a:spLocks noGrp="1"/>
          </p:cNvSpPr>
          <p:nvPr/>
        </p:nvSpPr>
        <p:spPr bwMode="auto">
          <a:xfrm>
            <a:off x="609600" y="5238750"/>
            <a:ext cx="7143750" cy="819150"/>
          </a:xfrm>
          <a:prstGeom prst="rect">
            <a:avLst/>
          </a:prstGeom>
          <a:solidFill>
            <a:srgbClr val="EEF3F7"/>
          </a:solidFill>
          <a:ln w="13335">
            <a:solidFill>
              <a:srgbClr val="537DA1"/>
            </a:solidFill>
            <a:prstDash val="solid"/>
          </a:ln>
        </p:spPr>
      </p:sp>
      <p:sp>
        <p:nvSpPr>
          <p:cNvPr id="727610285" name="dlt-text-27"/>
          <p:cNvSpPr>
            <a:spLocks noGrp="1"/>
          </p:cNvSpPr>
          <p:nvPr/>
        </p:nvSpPr>
        <p:spPr bwMode="auto">
          <a:xfrm>
            <a:off x="800100" y="5353050"/>
            <a:ext cx="676275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Permissioned receipt register</a:t>
            </a:r>
            <a:endParaRPr/>
          </a:p>
        </p:txBody>
      </p:sp>
      <p:sp>
        <p:nvSpPr>
          <p:cNvPr id="1889335386" name="dlt-text-28"/>
          <p:cNvSpPr>
            <a:spLocks noGrp="1"/>
          </p:cNvSpPr>
          <p:nvPr/>
        </p:nvSpPr>
        <p:spPr bwMode="auto">
          <a:xfrm>
            <a:off x="800100" y="5715000"/>
            <a:ext cx="6762750" cy="285750"/>
          </a:xfrm>
          <a:prstGeom prst="rect">
            <a:avLst/>
          </a:prstGeom>
          <a:noFill/>
          <a:ln w="0">
            <a:noFill/>
            <a:prstDash val="solid"/>
          </a:ln>
        </p:spPr>
        <p:txBody>
          <a:bodyPr wrap="square" lIns="0" tIns="0" rIns="0" bIns="0" anchor="t">
            <a:noAutofit/>
          </a:bodyPr>
          <a:lstStyle>
            <a:defPPr algn="l">
              <a:defRPr sz="1750" b="0">
                <a:solidFill>
                  <a:srgbClr val="53676D"/>
                </a:solidFill>
                <a:latin typeface="Arial"/>
                <a:ea typeface="Arial"/>
                <a:cs typeface="Arial"/>
              </a:defRPr>
            </a:defPPr>
            <a:lvl1pPr algn="l">
              <a:buNone/>
              <a:defRPr sz="1750" b="0">
                <a:solidFill>
                  <a:srgbClr val="53676D"/>
                </a:solidFill>
                <a:latin typeface="Arial"/>
                <a:ea typeface="Arial"/>
                <a:cs typeface="Arial"/>
              </a:defRPr>
            </a:lvl1pPr>
            <a:lvl2pPr algn="l">
              <a:buNone/>
              <a:defRPr sz="1750" b="0">
                <a:solidFill>
                  <a:srgbClr val="53676D"/>
                </a:solidFill>
                <a:latin typeface="Arial"/>
                <a:ea typeface="Arial"/>
                <a:cs typeface="Arial"/>
              </a:defRPr>
            </a:lvl2pPr>
            <a:lvl3pPr algn="l">
              <a:buNone/>
              <a:defRPr sz="1750" b="0">
                <a:solidFill>
                  <a:srgbClr val="53676D"/>
                </a:solidFill>
                <a:latin typeface="Arial"/>
                <a:ea typeface="Arial"/>
                <a:cs typeface="Arial"/>
              </a:defRPr>
            </a:lvl3pPr>
            <a:lvl4pPr algn="l">
              <a:buNone/>
              <a:defRPr sz="1750" b="0">
                <a:solidFill>
                  <a:srgbClr val="53676D"/>
                </a:solidFill>
                <a:latin typeface="Arial"/>
                <a:ea typeface="Arial"/>
                <a:cs typeface="Arial"/>
              </a:defRPr>
            </a:lvl4pPr>
            <a:lvl5pPr algn="l">
              <a:buNone/>
              <a:defRPr sz="1750" b="0">
                <a:solidFill>
                  <a:srgbClr val="53676D"/>
                </a:solidFill>
                <a:latin typeface="Arial"/>
                <a:ea typeface="Arial"/>
                <a:cs typeface="Arial"/>
              </a:defRPr>
            </a:lvl5pPr>
            <a:lvl6pPr algn="l">
              <a:buNone/>
              <a:defRPr sz="1750" b="0">
                <a:solidFill>
                  <a:srgbClr val="53676D"/>
                </a:solidFill>
                <a:latin typeface="Arial"/>
                <a:ea typeface="Arial"/>
                <a:cs typeface="Arial"/>
              </a:defRPr>
            </a:lvl6pPr>
            <a:lvl7pPr algn="l">
              <a:buNone/>
              <a:defRPr sz="1750" b="0">
                <a:solidFill>
                  <a:srgbClr val="53676D"/>
                </a:solidFill>
                <a:latin typeface="Arial"/>
                <a:ea typeface="Arial"/>
                <a:cs typeface="Arial"/>
              </a:defRPr>
            </a:lvl7pPr>
            <a:lvl8pPr algn="l">
              <a:buNone/>
              <a:defRPr sz="1750" b="0">
                <a:solidFill>
                  <a:srgbClr val="53676D"/>
                </a:solidFill>
                <a:latin typeface="Arial"/>
                <a:ea typeface="Arial"/>
                <a:cs typeface="Arial"/>
              </a:defRPr>
            </a:lvl8pPr>
            <a:lvl9pPr algn="l">
              <a:buNone/>
              <a:defRPr sz="1750" b="0">
                <a:solidFill>
                  <a:srgbClr val="53676D"/>
                </a:solidFill>
                <a:latin typeface="Arial"/>
                <a:ea typeface="Arial"/>
                <a:cs typeface="Arial"/>
              </a:defRPr>
            </a:lvl9pPr>
          </a:lstStyle>
          <a:p>
            <a:pPr algn="l">
              <a:buNone/>
              <a:defRPr sz="1750" b="0">
                <a:solidFill>
                  <a:srgbClr val="53676D"/>
                </a:solidFill>
                <a:latin typeface="Arial"/>
                <a:ea typeface="Arial"/>
                <a:cs typeface="Arial"/>
              </a:defRPr>
            </a:pPr>
            <a:r>
              <a:rPr sz="1750" b="0">
                <a:solidFill>
                  <a:srgbClr val="53676D"/>
                </a:solidFill>
                <a:latin typeface="Arial"/>
                <a:ea typeface="Arial"/>
                <a:cs typeface="Arial"/>
              </a:rPr>
              <a:t>Receipt units, transfer locks and validated events</a:t>
            </a:r>
            <a:endParaRPr/>
          </a:p>
        </p:txBody>
      </p:sp>
      <p:sp>
        <p:nvSpPr>
          <p:cNvPr id="1562472370" name="private-data-29"/>
          <p:cNvSpPr>
            <a:spLocks noGrp="1"/>
          </p:cNvSpPr>
          <p:nvPr/>
        </p:nvSpPr>
        <p:spPr bwMode="auto">
          <a:xfrm>
            <a:off x="8229600" y="5238750"/>
            <a:ext cx="3352800" cy="819150"/>
          </a:xfrm>
          <a:prstGeom prst="rect">
            <a:avLst/>
          </a:prstGeom>
          <a:solidFill>
            <a:srgbClr val="FFFFFF"/>
          </a:solidFill>
          <a:ln w="13335">
            <a:solidFill>
              <a:srgbClr val="CFD7D1"/>
            </a:solidFill>
            <a:prstDash val="solid"/>
          </a:ln>
        </p:spPr>
      </p:sp>
      <p:sp>
        <p:nvSpPr>
          <p:cNvPr id="1705291570" name="dlt-text-30"/>
          <p:cNvSpPr>
            <a:spLocks noGrp="1"/>
          </p:cNvSpPr>
          <p:nvPr/>
        </p:nvSpPr>
        <p:spPr bwMode="auto">
          <a:xfrm>
            <a:off x="8420100" y="5353050"/>
            <a:ext cx="2971800" cy="333375"/>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Private records</a:t>
            </a:r>
            <a:endParaRPr/>
          </a:p>
        </p:txBody>
      </p:sp>
      <p:sp>
        <p:nvSpPr>
          <p:cNvPr id="585758517" name="dlt-text-31"/>
          <p:cNvSpPr>
            <a:spLocks noGrp="1"/>
          </p:cNvSpPr>
          <p:nvPr/>
        </p:nvSpPr>
        <p:spPr bwMode="auto">
          <a:xfrm>
            <a:off x="8420100" y="5715000"/>
            <a:ext cx="2971800" cy="28575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Identity, quotes, accounting</a:t>
            </a:r>
            <a:endParaRPr/>
          </a:p>
        </p:txBody>
      </p:sp>
      <p:sp>
        <p:nvSpPr>
          <p:cNvPr id="1582198248" name="dlt-text-32"/>
          <p:cNvSpPr>
            <a:spLocks noGrp="1"/>
          </p:cNvSpPr>
          <p:nvPr/>
        </p:nvSpPr>
        <p:spPr bwMode="auto">
          <a:xfrm>
            <a:off x="609600" y="6181725"/>
            <a:ext cx="10972800" cy="2381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Custodians hold shares. Cash partners transfer funds. Verified finality gates receipt release.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021633159" name="dlt-text-9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trade and stablecoin settlement</a:t>
            </a:r>
            <a:endParaRPr/>
          </a:p>
        </p:txBody>
      </p:sp>
      <p:sp>
        <p:nvSpPr>
          <p:cNvPr id="281556608" name="dlt-text-9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USDC / USD or RedCoin / HKD. Finality and FX checks gate receipt release.</a:t>
            </a:r>
            <a:endParaRPr/>
          </a:p>
        </p:txBody>
      </p:sp>
      <p:sp>
        <p:nvSpPr>
          <p:cNvPr id="720831110" name="dlt-text-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327988045" name="dlt-text-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23</a:t>
            </a:r>
            <a:endParaRPr/>
          </a:p>
        </p:txBody>
      </p:sp>
      <p:sp>
        <p:nvSpPr>
          <p:cNvPr id="1712921910" name="dlt-text-10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405522834" name="dlt-text-10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47333027" name="dlt-text-10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stablecoin cash</a:t>
            </a:r>
            <a:endParaRPr/>
          </a:p>
        </p:txBody>
      </p:sp>
      <p:sp>
        <p:nvSpPr>
          <p:cNvPr id="1616416892" name="participant-head-104"/>
          <p:cNvSpPr>
            <a:spLocks noGrp="1"/>
          </p:cNvSpPr>
          <p:nvPr/>
        </p:nvSpPr>
        <p:spPr bwMode="auto">
          <a:xfrm>
            <a:off x="1885950" y="2095500"/>
            <a:ext cx="190500" cy="190500"/>
          </a:xfrm>
          <a:prstGeom prst="ellipse">
            <a:avLst/>
          </a:prstGeom>
          <a:solidFill>
            <a:srgbClr val="183440"/>
          </a:solidFill>
          <a:ln w="0">
            <a:noFill/>
            <a:prstDash val="solid"/>
          </a:ln>
        </p:spPr>
      </p:sp>
      <p:sp>
        <p:nvSpPr>
          <p:cNvPr id="409859283" name="participant-body-105"/>
          <p:cNvSpPr>
            <a:spLocks noGrp="1"/>
          </p:cNvSpPr>
          <p:nvPr/>
        </p:nvSpPr>
        <p:spPr bwMode="auto">
          <a:xfrm>
            <a:off x="1809750" y="2314575"/>
            <a:ext cx="342900" cy="180975"/>
          </a:xfrm>
          <a:prstGeom prst="roundRect">
            <a:avLst>
              <a:gd name="adj" fmla="val 42105"/>
            </a:avLst>
          </a:prstGeom>
          <a:solidFill>
            <a:srgbClr val="183440"/>
          </a:solidFill>
          <a:ln w="0">
            <a:noFill/>
            <a:prstDash val="solid"/>
          </a:ln>
        </p:spPr>
      </p:sp>
      <p:sp>
        <p:nvSpPr>
          <p:cNvPr id="899413853" name="dlt-text-106"/>
          <p:cNvSpPr>
            <a:spLocks noGrp="1"/>
          </p:cNvSpPr>
          <p:nvPr/>
        </p:nvSpPr>
        <p:spPr bwMode="auto">
          <a:xfrm>
            <a:off x="7810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investor accounts</a:t>
            </a:r>
            <a:endParaRPr/>
          </a:p>
        </p:txBody>
      </p:sp>
      <p:sp>
        <p:nvSpPr>
          <p:cNvPr id="1213581059" name="diagram-line-107"/>
          <p:cNvSpPr>
            <a:spLocks noGrp="1"/>
          </p:cNvSpPr>
          <p:nvPr/>
        </p:nvSpPr>
        <p:spPr bwMode="auto">
          <a:xfrm>
            <a:off x="1981200" y="3124200"/>
            <a:ext cx="0" cy="2733675"/>
          </a:xfrm>
          <a:prstGeom prst="line">
            <a:avLst/>
          </a:prstGeom>
          <a:noFill/>
          <a:ln w="10478">
            <a:solidFill>
              <a:srgbClr val="CFD7D1"/>
            </a:solidFill>
            <a:prstDash val="dash"/>
          </a:ln>
        </p:spPr>
      </p:sp>
      <p:sp>
        <p:nvSpPr>
          <p:cNvPr id="929274587" name="participant-head-108"/>
          <p:cNvSpPr>
            <a:spLocks noGrp="1"/>
          </p:cNvSpPr>
          <p:nvPr/>
        </p:nvSpPr>
        <p:spPr bwMode="auto">
          <a:xfrm>
            <a:off x="4629150" y="2095500"/>
            <a:ext cx="190500" cy="190500"/>
          </a:xfrm>
          <a:prstGeom prst="ellipse">
            <a:avLst/>
          </a:prstGeom>
          <a:solidFill>
            <a:srgbClr val="183440"/>
          </a:solidFill>
          <a:ln w="0">
            <a:noFill/>
            <a:prstDash val="solid"/>
          </a:ln>
        </p:spPr>
      </p:sp>
      <p:sp>
        <p:nvSpPr>
          <p:cNvPr id="65741215" name="participant-body-109"/>
          <p:cNvSpPr>
            <a:spLocks noGrp="1"/>
          </p:cNvSpPr>
          <p:nvPr/>
        </p:nvSpPr>
        <p:spPr bwMode="auto">
          <a:xfrm>
            <a:off x="4552950" y="2314575"/>
            <a:ext cx="342900" cy="180975"/>
          </a:xfrm>
          <a:prstGeom prst="roundRect">
            <a:avLst>
              <a:gd name="adj" fmla="val 42105"/>
            </a:avLst>
          </a:prstGeom>
          <a:solidFill>
            <a:srgbClr val="183440"/>
          </a:solidFill>
          <a:ln w="0">
            <a:noFill/>
            <a:prstDash val="solid"/>
          </a:ln>
        </p:spPr>
      </p:sp>
      <p:sp>
        <p:nvSpPr>
          <p:cNvPr id="953619614" name="dlt-text-110"/>
          <p:cNvSpPr>
            <a:spLocks noGrp="1"/>
          </p:cNvSpPr>
          <p:nvPr/>
        </p:nvSpPr>
        <p:spPr bwMode="auto">
          <a:xfrm>
            <a:off x="35242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Cash / FX</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operator</a:t>
            </a:r>
            <a:endParaRPr/>
          </a:p>
        </p:txBody>
      </p:sp>
      <p:sp>
        <p:nvSpPr>
          <p:cNvPr id="1438973622" name="diagram-line-111"/>
          <p:cNvSpPr>
            <a:spLocks noGrp="1"/>
          </p:cNvSpPr>
          <p:nvPr/>
        </p:nvSpPr>
        <p:spPr bwMode="auto">
          <a:xfrm>
            <a:off x="4724399" y="3124200"/>
            <a:ext cx="0" cy="2733675"/>
          </a:xfrm>
          <a:prstGeom prst="line">
            <a:avLst/>
          </a:prstGeom>
          <a:noFill/>
          <a:ln w="10478">
            <a:solidFill>
              <a:srgbClr val="CFD7D1"/>
            </a:solidFill>
            <a:prstDash val="dash"/>
          </a:ln>
        </p:spPr>
      </p:sp>
      <p:sp>
        <p:nvSpPr>
          <p:cNvPr id="270413699" name="ledger-node-112"/>
          <p:cNvSpPr>
            <a:spLocks noGrp="1"/>
          </p:cNvSpPr>
          <p:nvPr/>
        </p:nvSpPr>
        <p:spPr bwMode="auto">
          <a:xfrm>
            <a:off x="7229475" y="2152650"/>
            <a:ext cx="190500" cy="238125"/>
          </a:xfrm>
          <a:prstGeom prst="rect">
            <a:avLst/>
          </a:prstGeom>
          <a:solidFill>
            <a:srgbClr val="EEF3F7"/>
          </a:solidFill>
          <a:ln w="13335">
            <a:solidFill>
              <a:srgbClr val="537DA1"/>
            </a:solidFill>
            <a:prstDash val="solid"/>
          </a:ln>
        </p:spPr>
      </p:sp>
      <p:sp>
        <p:nvSpPr>
          <p:cNvPr id="849369434" name="ledger-node-113"/>
          <p:cNvSpPr>
            <a:spLocks noGrp="1"/>
          </p:cNvSpPr>
          <p:nvPr/>
        </p:nvSpPr>
        <p:spPr bwMode="auto">
          <a:xfrm>
            <a:off x="7524750" y="2152650"/>
            <a:ext cx="190500" cy="238125"/>
          </a:xfrm>
          <a:prstGeom prst="rect">
            <a:avLst/>
          </a:prstGeom>
          <a:solidFill>
            <a:srgbClr val="EEF3F7"/>
          </a:solidFill>
          <a:ln w="13335">
            <a:solidFill>
              <a:srgbClr val="537DA1"/>
            </a:solidFill>
            <a:prstDash val="solid"/>
          </a:ln>
        </p:spPr>
      </p:sp>
      <p:sp>
        <p:nvSpPr>
          <p:cNvPr id="1644435189" name="diagram-line-114"/>
          <p:cNvSpPr>
            <a:spLocks noGrp="1"/>
          </p:cNvSpPr>
          <p:nvPr/>
        </p:nvSpPr>
        <p:spPr bwMode="auto">
          <a:xfrm>
            <a:off x="7429500" y="2266950"/>
            <a:ext cx="85725" cy="0"/>
          </a:xfrm>
          <a:prstGeom prst="line">
            <a:avLst/>
          </a:prstGeom>
          <a:noFill/>
          <a:ln w="14288">
            <a:solidFill>
              <a:srgbClr val="537DA1"/>
            </a:solidFill>
            <a:prstDash val="solid"/>
          </a:ln>
        </p:spPr>
      </p:sp>
      <p:sp>
        <p:nvSpPr>
          <p:cNvPr id="1673855915" name="dlt-text-115"/>
          <p:cNvSpPr>
            <a:spLocks noGrp="1"/>
          </p:cNvSpPr>
          <p:nvPr/>
        </p:nvSpPr>
        <p:spPr bwMode="auto">
          <a:xfrm>
            <a:off x="62674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D-SHARE</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controller</a:t>
            </a:r>
            <a:endParaRPr/>
          </a:p>
        </p:txBody>
      </p:sp>
      <p:sp>
        <p:nvSpPr>
          <p:cNvPr id="222504037" name="diagram-line-116"/>
          <p:cNvSpPr>
            <a:spLocks noGrp="1"/>
          </p:cNvSpPr>
          <p:nvPr/>
        </p:nvSpPr>
        <p:spPr bwMode="auto">
          <a:xfrm>
            <a:off x="7467600" y="3124200"/>
            <a:ext cx="0" cy="2733675"/>
          </a:xfrm>
          <a:prstGeom prst="line">
            <a:avLst/>
          </a:prstGeom>
          <a:noFill/>
          <a:ln w="10478">
            <a:solidFill>
              <a:srgbClr val="CFD7D1"/>
            </a:solidFill>
            <a:prstDash val="dash"/>
          </a:ln>
        </p:spPr>
      </p:sp>
      <p:sp>
        <p:nvSpPr>
          <p:cNvPr id="60034293" name="ledger-node-117"/>
          <p:cNvSpPr>
            <a:spLocks noGrp="1"/>
          </p:cNvSpPr>
          <p:nvPr/>
        </p:nvSpPr>
        <p:spPr bwMode="auto">
          <a:xfrm>
            <a:off x="9972675" y="2152650"/>
            <a:ext cx="190500" cy="238125"/>
          </a:xfrm>
          <a:prstGeom prst="rect">
            <a:avLst/>
          </a:prstGeom>
          <a:solidFill>
            <a:srgbClr val="EEF3F7"/>
          </a:solidFill>
          <a:ln w="13335">
            <a:solidFill>
              <a:srgbClr val="537DA1"/>
            </a:solidFill>
            <a:prstDash val="solid"/>
          </a:ln>
        </p:spPr>
      </p:sp>
      <p:sp>
        <p:nvSpPr>
          <p:cNvPr id="1853095262" name="ledger-node-118"/>
          <p:cNvSpPr>
            <a:spLocks noGrp="1"/>
          </p:cNvSpPr>
          <p:nvPr/>
        </p:nvSpPr>
        <p:spPr bwMode="auto">
          <a:xfrm>
            <a:off x="10267950" y="2152650"/>
            <a:ext cx="190500" cy="238125"/>
          </a:xfrm>
          <a:prstGeom prst="rect">
            <a:avLst/>
          </a:prstGeom>
          <a:solidFill>
            <a:srgbClr val="EEF3F7"/>
          </a:solidFill>
          <a:ln w="13335">
            <a:solidFill>
              <a:srgbClr val="537DA1"/>
            </a:solidFill>
            <a:prstDash val="solid"/>
          </a:ln>
        </p:spPr>
      </p:sp>
      <p:sp>
        <p:nvSpPr>
          <p:cNvPr id="1394062330" name="diagram-line-119"/>
          <p:cNvSpPr>
            <a:spLocks noGrp="1"/>
          </p:cNvSpPr>
          <p:nvPr/>
        </p:nvSpPr>
        <p:spPr bwMode="auto">
          <a:xfrm>
            <a:off x="10172700" y="2266950"/>
            <a:ext cx="85725" cy="0"/>
          </a:xfrm>
          <a:prstGeom prst="line">
            <a:avLst/>
          </a:prstGeom>
          <a:noFill/>
          <a:ln w="14288">
            <a:solidFill>
              <a:srgbClr val="537DA1"/>
            </a:solidFill>
            <a:prstDash val="solid"/>
          </a:ln>
        </p:spPr>
      </p:sp>
      <p:sp>
        <p:nvSpPr>
          <p:cNvPr id="691866988" name="dlt-text-120"/>
          <p:cNvSpPr>
            <a:spLocks noGrp="1"/>
          </p:cNvSpPr>
          <p:nvPr/>
        </p:nvSpPr>
        <p:spPr bwMode="auto">
          <a:xfrm>
            <a:off x="9010650" y="25527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619965337" name="diagram-line-121"/>
          <p:cNvSpPr>
            <a:spLocks noGrp="1"/>
          </p:cNvSpPr>
          <p:nvPr/>
        </p:nvSpPr>
        <p:spPr bwMode="auto">
          <a:xfrm>
            <a:off x="10210800" y="3124200"/>
            <a:ext cx="0" cy="2733675"/>
          </a:xfrm>
          <a:prstGeom prst="line">
            <a:avLst/>
          </a:prstGeom>
          <a:noFill/>
          <a:ln w="10478">
            <a:solidFill>
              <a:srgbClr val="CFD7D1"/>
            </a:solidFill>
            <a:prstDash val="dash"/>
          </a:ln>
        </p:spPr>
      </p:sp>
      <p:cxnSp>
        <p:nvCxnSpPr>
          <p:cNvPr id="252152464" name="diagram-line-122"/>
          <p:cNvCxnSpPr/>
          <p:nvPr/>
        </p:nvCxnSpPr>
        <p:spPr bwMode="auto">
          <a:xfrm>
            <a:off x="1981200" y="3381375"/>
            <a:ext cx="5486400" cy="0"/>
          </a:xfrm>
          <a:prstGeom prst="straightConnector1">
            <a:avLst/>
          </a:prstGeom>
          <a:ln w="22860">
            <a:solidFill>
              <a:srgbClr val="83739D"/>
            </a:solidFill>
            <a:prstDash val="solid"/>
            <a:tailEnd type="triangle" w="sm" len="sm"/>
          </a:ln>
        </p:spPr>
      </p:cxnSp>
      <p:sp>
        <p:nvSpPr>
          <p:cNvPr id="319252487" name="data-object-123"/>
          <p:cNvSpPr>
            <a:spLocks noGrp="1"/>
          </p:cNvSpPr>
          <p:nvPr/>
        </p:nvSpPr>
        <p:spPr bwMode="auto">
          <a:xfrm>
            <a:off x="3248025" y="3200400"/>
            <a:ext cx="29527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1. Trade + cash-asset ID</a:t>
            </a:r>
            <a:endParaRPr/>
          </a:p>
        </p:txBody>
      </p:sp>
      <p:cxnSp>
        <p:nvCxnSpPr>
          <p:cNvPr id="124645731" name="diagram-line-124"/>
          <p:cNvCxnSpPr/>
          <p:nvPr/>
        </p:nvCxnSpPr>
        <p:spPr bwMode="auto">
          <a:xfrm>
            <a:off x="7467600" y="3857625"/>
            <a:ext cx="2743200" cy="0"/>
          </a:xfrm>
          <a:prstGeom prst="straightConnector1">
            <a:avLst/>
          </a:prstGeom>
          <a:ln w="22860">
            <a:solidFill>
              <a:srgbClr val="537DA1"/>
            </a:solidFill>
            <a:prstDash val="solid"/>
            <a:tailEnd type="triangle" w="sm" len="sm"/>
          </a:ln>
        </p:spPr>
      </p:cxnSp>
      <p:sp>
        <p:nvSpPr>
          <p:cNvPr id="2123437252" name="data-object-125"/>
          <p:cNvSpPr>
            <a:spLocks noGrp="1"/>
          </p:cNvSpPr>
          <p:nvPr/>
        </p:nvSpPr>
        <p:spPr bwMode="auto">
          <a:xfrm>
            <a:off x="7696200" y="3676650"/>
            <a:ext cx="22860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2. Lock seller units</a:t>
            </a:r>
            <a:endParaRPr/>
          </a:p>
        </p:txBody>
      </p:sp>
      <p:cxnSp>
        <p:nvCxnSpPr>
          <p:cNvPr id="1803930979" name="diagram-line-126"/>
          <p:cNvCxnSpPr/>
          <p:nvPr/>
        </p:nvCxnSpPr>
        <p:spPr bwMode="auto">
          <a:xfrm>
            <a:off x="1981200" y="4333875"/>
            <a:ext cx="2743200" cy="0"/>
          </a:xfrm>
          <a:prstGeom prst="straightConnector1">
            <a:avLst/>
          </a:prstGeom>
          <a:ln w="22860">
            <a:solidFill>
              <a:srgbClr val="41826F"/>
            </a:solidFill>
            <a:prstDash val="solid"/>
            <a:tailEnd type="triangle" w="sm" len="sm"/>
          </a:ln>
        </p:spPr>
      </p:cxnSp>
      <p:sp>
        <p:nvSpPr>
          <p:cNvPr id="2146751979" name="data-object-127"/>
          <p:cNvSpPr>
            <a:spLocks noGrp="1"/>
          </p:cNvSpPr>
          <p:nvPr/>
        </p:nvSpPr>
        <p:spPr bwMode="auto">
          <a:xfrm>
            <a:off x="2114550" y="4152900"/>
            <a:ext cx="247650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3. USDC / RedCoin</a:t>
            </a:r>
            <a:endParaRPr/>
          </a:p>
        </p:txBody>
      </p:sp>
      <p:cxnSp>
        <p:nvCxnSpPr>
          <p:cNvPr id="2033999853" name="diagram-line-128"/>
          <p:cNvCxnSpPr/>
          <p:nvPr/>
        </p:nvCxnSpPr>
        <p:spPr bwMode="auto">
          <a:xfrm>
            <a:off x="4724399" y="4810125"/>
            <a:ext cx="2743200" cy="0"/>
          </a:xfrm>
          <a:prstGeom prst="straightConnector1">
            <a:avLst/>
          </a:prstGeom>
          <a:ln w="22860">
            <a:solidFill>
              <a:srgbClr val="83739D"/>
            </a:solidFill>
            <a:prstDash val="solid"/>
            <a:tailEnd type="triangle" w="sm" len="sm"/>
          </a:ln>
        </p:spPr>
      </p:cxnSp>
      <p:sp>
        <p:nvSpPr>
          <p:cNvPr id="780834903" name="data-object-129"/>
          <p:cNvSpPr>
            <a:spLocks noGrp="1"/>
          </p:cNvSpPr>
          <p:nvPr/>
        </p:nvSpPr>
        <p:spPr bwMode="auto">
          <a:xfrm>
            <a:off x="4895850" y="4629150"/>
            <a:ext cx="24003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4. Finality + FX quote</a:t>
            </a:r>
            <a:endParaRPr/>
          </a:p>
        </p:txBody>
      </p:sp>
      <p:cxnSp>
        <p:nvCxnSpPr>
          <p:cNvPr id="1930880524" name="diagram-line-130"/>
          <p:cNvCxnSpPr/>
          <p:nvPr/>
        </p:nvCxnSpPr>
        <p:spPr bwMode="auto">
          <a:xfrm>
            <a:off x="7467600" y="5286375"/>
            <a:ext cx="2743200" cy="0"/>
          </a:xfrm>
          <a:prstGeom prst="straightConnector1">
            <a:avLst/>
          </a:prstGeom>
          <a:ln w="22860">
            <a:solidFill>
              <a:srgbClr val="537DA1"/>
            </a:solidFill>
            <a:prstDash val="solid"/>
            <a:tailEnd type="triangle" w="sm" len="sm"/>
          </a:ln>
        </p:spPr>
      </p:cxnSp>
      <p:sp>
        <p:nvSpPr>
          <p:cNvPr id="1933321757" name="data-object-131"/>
          <p:cNvSpPr>
            <a:spLocks noGrp="1"/>
          </p:cNvSpPr>
          <p:nvPr/>
        </p:nvSpPr>
        <p:spPr bwMode="auto">
          <a:xfrm>
            <a:off x="7562850" y="5105400"/>
            <a:ext cx="255270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5. Eligible holder transfer</a:t>
            </a:r>
            <a:endParaRPr/>
          </a:p>
        </p:txBody>
      </p:sp>
      <p:cxnSp>
        <p:nvCxnSpPr>
          <p:cNvPr id="1345343894" name="diagram-line-132"/>
          <p:cNvCxnSpPr/>
          <p:nvPr/>
        </p:nvCxnSpPr>
        <p:spPr bwMode="auto">
          <a:xfrm>
            <a:off x="1981200" y="5762625"/>
            <a:ext cx="5486400" cy="0"/>
          </a:xfrm>
          <a:prstGeom prst="straightConnector1">
            <a:avLst/>
          </a:prstGeom>
          <a:ln w="22860">
            <a:solidFill>
              <a:srgbClr val="83739D"/>
            </a:solidFill>
            <a:prstDash val="solid"/>
            <a:headEnd type="triangle" w="sm" len="sm"/>
          </a:ln>
        </p:spPr>
      </p:cxnSp>
      <p:sp>
        <p:nvSpPr>
          <p:cNvPr id="1455303182" name="data-object-133"/>
          <p:cNvSpPr>
            <a:spLocks noGrp="1"/>
          </p:cNvSpPr>
          <p:nvPr/>
        </p:nvSpPr>
        <p:spPr bwMode="auto">
          <a:xfrm>
            <a:off x="3171825" y="5581649"/>
            <a:ext cx="31051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b="0">
                <a:solidFill>
                  <a:srgbClr val="183440"/>
                </a:solidFill>
                <a:latin typeface="Arial"/>
                <a:ea typeface="Arial"/>
                <a:cs typeface="Arial"/>
              </a:defRPr>
            </a:defPPr>
            <a:lvl1pPr algn="ctr">
              <a:buNone/>
              <a:defRPr sz="1500" b="0">
                <a:solidFill>
                  <a:srgbClr val="183440"/>
                </a:solidFill>
                <a:latin typeface="Arial"/>
                <a:ea typeface="Arial"/>
                <a:cs typeface="Arial"/>
              </a:defRPr>
            </a:lvl1pPr>
            <a:lvl2pPr algn="ctr">
              <a:buNone/>
              <a:defRPr sz="1500" b="0">
                <a:solidFill>
                  <a:srgbClr val="183440"/>
                </a:solidFill>
                <a:latin typeface="Arial"/>
                <a:ea typeface="Arial"/>
                <a:cs typeface="Arial"/>
              </a:defRPr>
            </a:lvl2pPr>
            <a:lvl3pPr algn="ctr">
              <a:buNone/>
              <a:defRPr sz="1500" b="0">
                <a:solidFill>
                  <a:srgbClr val="183440"/>
                </a:solidFill>
                <a:latin typeface="Arial"/>
                <a:ea typeface="Arial"/>
                <a:cs typeface="Arial"/>
              </a:defRPr>
            </a:lvl3pPr>
            <a:lvl4pPr algn="ctr">
              <a:buNone/>
              <a:defRPr sz="1500" b="0">
                <a:solidFill>
                  <a:srgbClr val="183440"/>
                </a:solidFill>
                <a:latin typeface="Arial"/>
                <a:ea typeface="Arial"/>
                <a:cs typeface="Arial"/>
              </a:defRPr>
            </a:lvl4pPr>
            <a:lvl5pPr algn="ctr">
              <a:buNone/>
              <a:defRPr sz="1500" b="0">
                <a:solidFill>
                  <a:srgbClr val="183440"/>
                </a:solidFill>
                <a:latin typeface="Arial"/>
                <a:ea typeface="Arial"/>
                <a:cs typeface="Arial"/>
              </a:defRPr>
            </a:lvl5pPr>
            <a:lvl6pPr algn="ctr">
              <a:buNone/>
              <a:defRPr sz="1500" b="0">
                <a:solidFill>
                  <a:srgbClr val="183440"/>
                </a:solidFill>
                <a:latin typeface="Arial"/>
                <a:ea typeface="Arial"/>
                <a:cs typeface="Arial"/>
              </a:defRPr>
            </a:lvl6pPr>
            <a:lvl7pPr algn="ctr">
              <a:buNone/>
              <a:defRPr sz="1500" b="0">
                <a:solidFill>
                  <a:srgbClr val="183440"/>
                </a:solidFill>
                <a:latin typeface="Arial"/>
                <a:ea typeface="Arial"/>
                <a:cs typeface="Arial"/>
              </a:defRPr>
            </a:lvl7pPr>
            <a:lvl8pPr algn="ctr">
              <a:buNone/>
              <a:defRPr sz="1500" b="0">
                <a:solidFill>
                  <a:srgbClr val="183440"/>
                </a:solidFill>
                <a:latin typeface="Arial"/>
                <a:ea typeface="Arial"/>
                <a:cs typeface="Arial"/>
              </a:defRPr>
            </a:lvl8pPr>
            <a:lvl9pPr algn="ctr">
              <a:buNone/>
              <a:defRPr sz="1500" b="0">
                <a:solidFill>
                  <a:srgbClr val="183440"/>
                </a:solidFill>
                <a:latin typeface="Arial"/>
                <a:ea typeface="Arial"/>
                <a:cs typeface="Arial"/>
              </a:defRPr>
            </a:lvl9pPr>
          </a:lstStyle>
          <a:p>
            <a:pPr algn="ctr">
              <a:buNone/>
              <a:defRPr sz="1500" b="0">
                <a:solidFill>
                  <a:srgbClr val="183440"/>
                </a:solidFill>
                <a:latin typeface="Arial"/>
                <a:ea typeface="Arial"/>
                <a:cs typeface="Arial"/>
              </a:defRPr>
            </a:pPr>
            <a:r>
              <a:rPr sz="1500" b="0">
                <a:solidFill>
                  <a:srgbClr val="183440"/>
                </a:solidFill>
                <a:latin typeface="Arial"/>
                <a:ea typeface="Arial"/>
                <a:cs typeface="Arial"/>
              </a:rPr>
              <a:t>6. Final trade confirmation</a:t>
            </a:r>
            <a:endParaRPr/>
          </a:p>
        </p:txBody>
      </p:sp>
      <p:sp>
        <p:nvSpPr>
          <p:cNvPr id="74653853" name="dlt-text-134"/>
          <p:cNvSpPr>
            <a:spLocks noGrp="1"/>
          </p:cNvSpPr>
          <p:nvPr/>
        </p:nvSpPr>
        <p:spPr bwMode="auto">
          <a:xfrm>
            <a:off x="609600" y="6124575"/>
            <a:ext cx="10972800" cy="2667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Reconcile TradeID, CashAssetID, FXQuoteID and ReceiptTransferID. Failed legs enter recovery.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66248086" name="expanded-text-7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redemption and backing release</a:t>
            </a:r>
            <a:endParaRPr/>
          </a:p>
        </p:txBody>
      </p:sp>
      <p:sp>
        <p:nvSpPr>
          <p:cNvPr id="1473600152" name="expanded-text-73"/>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AP redemption. At ratio 0.01, 100,000 cancelled units release 1,000 underlying shares.</a:t>
            </a:r>
            <a:endParaRPr/>
          </a:p>
        </p:txBody>
      </p:sp>
      <p:sp>
        <p:nvSpPr>
          <p:cNvPr id="168874038" name="expanded-text-7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01101513" name="expanded-text-7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24</a:t>
            </a:r>
            <a:endParaRPr/>
          </a:p>
        </p:txBody>
      </p:sp>
      <p:sp>
        <p:nvSpPr>
          <p:cNvPr id="48403961" name="expanded-text-76"/>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818171218" name="expanded-text-77"/>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927784634" name="expanded-text-78"/>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1262771675" name="participant-head-79"/>
          <p:cNvSpPr>
            <a:spLocks noGrp="1"/>
          </p:cNvSpPr>
          <p:nvPr/>
        </p:nvSpPr>
        <p:spPr bwMode="auto">
          <a:xfrm>
            <a:off x="1885950" y="2133600"/>
            <a:ext cx="190500" cy="190500"/>
          </a:xfrm>
          <a:prstGeom prst="ellipse">
            <a:avLst/>
          </a:prstGeom>
          <a:solidFill>
            <a:srgbClr val="183440"/>
          </a:solidFill>
          <a:ln w="0">
            <a:noFill/>
            <a:prstDash val="solid"/>
          </a:ln>
        </p:spPr>
      </p:sp>
      <p:sp>
        <p:nvSpPr>
          <p:cNvPr id="511417915" name="participant-body-80"/>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1596368989" name="expanded-text-81"/>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Authorized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participant</a:t>
            </a:r>
            <a:endParaRPr/>
          </a:p>
        </p:txBody>
      </p:sp>
      <p:sp>
        <p:nvSpPr>
          <p:cNvPr id="131193195" name="diagram-line-82"/>
          <p:cNvSpPr>
            <a:spLocks noGrp="1"/>
          </p:cNvSpPr>
          <p:nvPr/>
        </p:nvSpPr>
        <p:spPr bwMode="auto">
          <a:xfrm>
            <a:off x="1981200" y="3162300"/>
            <a:ext cx="0" cy="2695575"/>
          </a:xfrm>
          <a:prstGeom prst="line">
            <a:avLst/>
          </a:prstGeom>
          <a:noFill/>
          <a:ln w="10478">
            <a:solidFill>
              <a:srgbClr val="CFD7D1"/>
            </a:solidFill>
            <a:prstDash val="dash"/>
          </a:ln>
        </p:spPr>
      </p:sp>
      <p:sp>
        <p:nvSpPr>
          <p:cNvPr id="1577658412" name="participant-head-83"/>
          <p:cNvSpPr>
            <a:spLocks noGrp="1"/>
          </p:cNvSpPr>
          <p:nvPr/>
        </p:nvSpPr>
        <p:spPr bwMode="auto">
          <a:xfrm>
            <a:off x="4629150" y="2133600"/>
            <a:ext cx="190500" cy="190500"/>
          </a:xfrm>
          <a:prstGeom prst="ellipse">
            <a:avLst/>
          </a:prstGeom>
          <a:solidFill>
            <a:srgbClr val="183440"/>
          </a:solidFill>
          <a:ln w="0">
            <a:noFill/>
            <a:prstDash val="solid"/>
          </a:ln>
        </p:spPr>
      </p:sp>
      <p:sp>
        <p:nvSpPr>
          <p:cNvPr id="51032745" name="participant-body-84"/>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1745628849" name="expanded-text-85"/>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custodian</a:t>
            </a:r>
            <a:endParaRPr/>
          </a:p>
        </p:txBody>
      </p:sp>
      <p:sp>
        <p:nvSpPr>
          <p:cNvPr id="100754686" name="diagram-line-86"/>
          <p:cNvSpPr>
            <a:spLocks noGrp="1"/>
          </p:cNvSpPr>
          <p:nvPr/>
        </p:nvSpPr>
        <p:spPr bwMode="auto">
          <a:xfrm>
            <a:off x="4724399" y="3162300"/>
            <a:ext cx="0" cy="2695575"/>
          </a:xfrm>
          <a:prstGeom prst="line">
            <a:avLst/>
          </a:prstGeom>
          <a:noFill/>
          <a:ln w="10478">
            <a:solidFill>
              <a:srgbClr val="CFD7D1"/>
            </a:solidFill>
            <a:prstDash val="dash"/>
          </a:ln>
        </p:spPr>
      </p:sp>
      <p:sp>
        <p:nvSpPr>
          <p:cNvPr id="1977215659" name="participant-head-87"/>
          <p:cNvSpPr>
            <a:spLocks noGrp="1"/>
          </p:cNvSpPr>
          <p:nvPr/>
        </p:nvSpPr>
        <p:spPr bwMode="auto">
          <a:xfrm>
            <a:off x="7372350" y="2133600"/>
            <a:ext cx="190500" cy="190500"/>
          </a:xfrm>
          <a:prstGeom prst="ellipse">
            <a:avLst/>
          </a:prstGeom>
          <a:solidFill>
            <a:srgbClr val="183440"/>
          </a:solidFill>
          <a:ln w="0">
            <a:noFill/>
            <a:prstDash val="solid"/>
          </a:ln>
        </p:spPr>
      </p:sp>
      <p:sp>
        <p:nvSpPr>
          <p:cNvPr id="208859416" name="participant-body-88"/>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1112341532" name="expanded-text-89"/>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988810960" name="diagram-line-90"/>
          <p:cNvSpPr>
            <a:spLocks noGrp="1"/>
          </p:cNvSpPr>
          <p:nvPr/>
        </p:nvSpPr>
        <p:spPr bwMode="auto">
          <a:xfrm>
            <a:off x="7467600" y="3162300"/>
            <a:ext cx="0" cy="2695575"/>
          </a:xfrm>
          <a:prstGeom prst="line">
            <a:avLst/>
          </a:prstGeom>
          <a:noFill/>
          <a:ln w="10478">
            <a:solidFill>
              <a:srgbClr val="CFD7D1"/>
            </a:solidFill>
            <a:prstDash val="dash"/>
          </a:ln>
        </p:spPr>
      </p:sp>
      <p:sp>
        <p:nvSpPr>
          <p:cNvPr id="1579869196" name="system-node-91"/>
          <p:cNvSpPr>
            <a:spLocks noGrp="1"/>
          </p:cNvSpPr>
          <p:nvPr/>
        </p:nvSpPr>
        <p:spPr bwMode="auto">
          <a:xfrm>
            <a:off x="9972675" y="2190750"/>
            <a:ext cx="190500" cy="238125"/>
          </a:xfrm>
          <a:prstGeom prst="rect">
            <a:avLst/>
          </a:prstGeom>
          <a:solidFill>
            <a:srgbClr val="EEF3F7"/>
          </a:solidFill>
          <a:ln w="12383">
            <a:solidFill>
              <a:srgbClr val="537DA1"/>
            </a:solidFill>
            <a:prstDash val="solid"/>
          </a:ln>
        </p:spPr>
      </p:sp>
      <p:sp>
        <p:nvSpPr>
          <p:cNvPr id="1367136072" name="system-node-92"/>
          <p:cNvSpPr>
            <a:spLocks noGrp="1"/>
          </p:cNvSpPr>
          <p:nvPr/>
        </p:nvSpPr>
        <p:spPr bwMode="auto">
          <a:xfrm>
            <a:off x="10267950" y="2190750"/>
            <a:ext cx="190500" cy="238125"/>
          </a:xfrm>
          <a:prstGeom prst="rect">
            <a:avLst/>
          </a:prstGeom>
          <a:solidFill>
            <a:srgbClr val="EEF3F7"/>
          </a:solidFill>
          <a:ln w="12383">
            <a:solidFill>
              <a:srgbClr val="537DA1"/>
            </a:solidFill>
            <a:prstDash val="solid"/>
          </a:ln>
        </p:spPr>
      </p:sp>
      <p:sp>
        <p:nvSpPr>
          <p:cNvPr id="621721480" name="diagram-line-93"/>
          <p:cNvSpPr>
            <a:spLocks noGrp="1"/>
          </p:cNvSpPr>
          <p:nvPr/>
        </p:nvSpPr>
        <p:spPr bwMode="auto">
          <a:xfrm>
            <a:off x="10172700" y="2305050"/>
            <a:ext cx="85725" cy="0"/>
          </a:xfrm>
          <a:prstGeom prst="line">
            <a:avLst/>
          </a:prstGeom>
          <a:noFill/>
          <a:ln w="14288">
            <a:solidFill>
              <a:srgbClr val="537DA1"/>
            </a:solidFill>
            <a:prstDash val="solid"/>
          </a:ln>
        </p:spPr>
      </p:sp>
      <p:sp>
        <p:nvSpPr>
          <p:cNvPr id="2006532680" name="expanded-text-94"/>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Permissioned</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DLT register</a:t>
            </a:r>
            <a:endParaRPr/>
          </a:p>
        </p:txBody>
      </p:sp>
      <p:sp>
        <p:nvSpPr>
          <p:cNvPr id="1595598854" name="diagram-line-95"/>
          <p:cNvSpPr>
            <a:spLocks noGrp="1"/>
          </p:cNvSpPr>
          <p:nvPr/>
        </p:nvSpPr>
        <p:spPr bwMode="auto">
          <a:xfrm>
            <a:off x="10210800" y="3162300"/>
            <a:ext cx="0" cy="2695575"/>
          </a:xfrm>
          <a:prstGeom prst="line">
            <a:avLst/>
          </a:prstGeom>
          <a:noFill/>
          <a:ln w="10478">
            <a:solidFill>
              <a:srgbClr val="CFD7D1"/>
            </a:solidFill>
            <a:prstDash val="dash"/>
          </a:ln>
        </p:spPr>
      </p:sp>
      <p:cxnSp>
        <p:nvCxnSpPr>
          <p:cNvPr id="1544584873" name="diagram-line-96"/>
          <p:cNvCxnSpPr/>
          <p:nvPr/>
        </p:nvCxnSpPr>
        <p:spPr bwMode="auto">
          <a:xfrm>
            <a:off x="1981200" y="3381375"/>
            <a:ext cx="5486400" cy="0"/>
          </a:xfrm>
          <a:prstGeom prst="straightConnector1">
            <a:avLst/>
          </a:prstGeom>
          <a:ln w="20955">
            <a:solidFill>
              <a:srgbClr val="83739D"/>
            </a:solidFill>
            <a:prstDash val="solid"/>
            <a:tailEnd type="triangle" w="sm" len="sm"/>
          </a:ln>
        </p:spPr>
      </p:cxnSp>
      <p:sp>
        <p:nvSpPr>
          <p:cNvPr id="553242284" name="transferred-entity-97"/>
          <p:cNvSpPr>
            <a:spLocks noGrp="1"/>
          </p:cNvSpPr>
          <p:nvPr/>
        </p:nvSpPr>
        <p:spPr bwMode="auto">
          <a:xfrm>
            <a:off x="3343275" y="3200400"/>
            <a:ext cx="276225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Redeem 100,000 units</a:t>
            </a:r>
            <a:endParaRPr/>
          </a:p>
        </p:txBody>
      </p:sp>
      <p:cxnSp>
        <p:nvCxnSpPr>
          <p:cNvPr id="1842267372" name="diagram-line-98"/>
          <p:cNvCxnSpPr/>
          <p:nvPr/>
        </p:nvCxnSpPr>
        <p:spPr bwMode="auto">
          <a:xfrm>
            <a:off x="7467600" y="3905250"/>
            <a:ext cx="2743200" cy="0"/>
          </a:xfrm>
          <a:prstGeom prst="straightConnector1">
            <a:avLst/>
          </a:prstGeom>
          <a:ln w="20955">
            <a:solidFill>
              <a:srgbClr val="537DA1"/>
            </a:solidFill>
            <a:prstDash val="solid"/>
            <a:tailEnd type="triangle" w="sm" len="sm"/>
          </a:ln>
        </p:spPr>
      </p:cxnSp>
      <p:sp>
        <p:nvSpPr>
          <p:cNvPr id="1821814661" name="transferred-entity-99"/>
          <p:cNvSpPr>
            <a:spLocks noGrp="1"/>
          </p:cNvSpPr>
          <p:nvPr/>
        </p:nvSpPr>
        <p:spPr bwMode="auto">
          <a:xfrm>
            <a:off x="7515225" y="3724275"/>
            <a:ext cx="2647949"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Lock, cancel and burn</a:t>
            </a:r>
            <a:endParaRPr/>
          </a:p>
        </p:txBody>
      </p:sp>
      <p:cxnSp>
        <p:nvCxnSpPr>
          <p:cNvPr id="137729506" name="diagram-line-100"/>
          <p:cNvCxnSpPr/>
          <p:nvPr/>
        </p:nvCxnSpPr>
        <p:spPr bwMode="auto">
          <a:xfrm>
            <a:off x="7467600" y="4429125"/>
            <a:ext cx="2743200" cy="0"/>
          </a:xfrm>
          <a:prstGeom prst="straightConnector1">
            <a:avLst/>
          </a:prstGeom>
          <a:ln w="20955">
            <a:solidFill>
              <a:srgbClr val="83739D"/>
            </a:solidFill>
            <a:prstDash val="solid"/>
            <a:headEnd type="triangle" w="sm" len="sm"/>
          </a:ln>
        </p:spPr>
      </p:cxnSp>
      <p:sp>
        <p:nvSpPr>
          <p:cNvPr id="1024409205" name="transferred-entity-101"/>
          <p:cNvSpPr>
            <a:spLocks noGrp="1"/>
          </p:cNvSpPr>
          <p:nvPr/>
        </p:nvSpPr>
        <p:spPr bwMode="auto">
          <a:xfrm>
            <a:off x="7581899"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Final burn evidence</a:t>
            </a:r>
            <a:endParaRPr/>
          </a:p>
        </p:txBody>
      </p:sp>
      <p:cxnSp>
        <p:nvCxnSpPr>
          <p:cNvPr id="1507096324" name="diagram-line-102"/>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737867306" name="transferred-entity-103"/>
          <p:cNvSpPr>
            <a:spLocks noGrp="1"/>
          </p:cNvSpPr>
          <p:nvPr/>
        </p:nvSpPr>
        <p:spPr bwMode="auto">
          <a:xfrm>
            <a:off x="4743450" y="4772025"/>
            <a:ext cx="27051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Backing release approval</a:t>
            </a:r>
            <a:endParaRPr/>
          </a:p>
        </p:txBody>
      </p:sp>
      <p:cxnSp>
        <p:nvCxnSpPr>
          <p:cNvPr id="1052980113" name="diagram-line-104"/>
          <p:cNvCxnSpPr/>
          <p:nvPr/>
        </p:nvCxnSpPr>
        <p:spPr bwMode="auto">
          <a:xfrm>
            <a:off x="1981200" y="5476875"/>
            <a:ext cx="2743200" cy="0"/>
          </a:xfrm>
          <a:prstGeom prst="straightConnector1">
            <a:avLst/>
          </a:prstGeom>
          <a:ln w="20955">
            <a:solidFill>
              <a:srgbClr val="537DA1"/>
            </a:solidFill>
            <a:prstDash val="solid"/>
            <a:headEnd type="triangle" w="sm" len="sm"/>
          </a:ln>
        </p:spPr>
      </p:cxnSp>
      <p:sp>
        <p:nvSpPr>
          <p:cNvPr id="1997840033" name="transferred-entity-105"/>
          <p:cNvSpPr>
            <a:spLocks noGrp="1"/>
          </p:cNvSpPr>
          <p:nvPr/>
        </p:nvSpPr>
        <p:spPr bwMode="auto">
          <a:xfrm>
            <a:off x="2124075" y="5295899"/>
            <a:ext cx="2457450" cy="361950"/>
          </a:xfrm>
          <a:prstGeom prst="foldedCorner">
            <a:avLst>
              <a:gd name="adj" fmla="val 16667"/>
            </a:avLst>
          </a:prstGeom>
          <a:solidFill>
            <a:srgbClr val="EEF3F7"/>
          </a:solidFill>
          <a:ln w="10478">
            <a:solidFill>
              <a:srgbClr val="537DA1"/>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1,000 shares to AP</a:t>
            </a:r>
            <a:endParaRPr/>
          </a:p>
        </p:txBody>
      </p:sp>
      <p:sp>
        <p:nvSpPr>
          <p:cNvPr id="1725833969" name="expanded-text-10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Retail cash exits use a broker sale or an agreed conversion route. The programme defines direct-redemption eligibility.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399357892" name="expanded-text-10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Dividends and holder distributions</a:t>
            </a:r>
            <a:endParaRPr/>
          </a:p>
        </p:txBody>
      </p:sp>
      <p:sp>
        <p:nvSpPr>
          <p:cNvPr id="1950463688" name="expanded-text-108"/>
          <p:cNvSpPr>
            <a:spLocks noGrp="1"/>
          </p:cNvSpPr>
          <p:nvPr/>
        </p:nvSpPr>
        <p:spPr bwMode="auto">
          <a:xfrm>
            <a:off x="609600" y="1409700"/>
            <a:ext cx="10972800" cy="3810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dividend path. Programme terms set taxes, fees and eligible payout currencies.</a:t>
            </a:r>
            <a:endParaRPr/>
          </a:p>
        </p:txBody>
      </p:sp>
      <p:sp>
        <p:nvSpPr>
          <p:cNvPr id="1641331476" name="expanded-text-10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41024145" name="expanded-text-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25</a:t>
            </a:r>
            <a:endParaRPr/>
          </a:p>
        </p:txBody>
      </p:sp>
      <p:sp>
        <p:nvSpPr>
          <p:cNvPr id="1432529451" name="expanded-text-111"/>
          <p:cNvSpPr>
            <a:spLocks noGrp="1"/>
          </p:cNvSpPr>
          <p:nvPr/>
        </p:nvSpPr>
        <p:spPr bwMode="auto">
          <a:xfrm>
            <a:off x="609600" y="1819275"/>
            <a:ext cx="2476500" cy="247650"/>
          </a:xfrm>
          <a:prstGeom prst="rect">
            <a:avLst/>
          </a:prstGeom>
          <a:noFill/>
          <a:ln w="0">
            <a:noFill/>
            <a:prstDash val="solid"/>
          </a:ln>
        </p:spPr>
        <p:txBody>
          <a:bodyPr wrap="square" lIns="0" tIns="0" rIns="0" bIns="0" anchor="t">
            <a:noAutofit/>
          </a:bodyPr>
          <a:lstStyle>
            <a:defPPr algn="l">
              <a:defRPr sz="1500" b="0">
                <a:solidFill>
                  <a:srgbClr val="537DA1"/>
                </a:solidFill>
                <a:latin typeface="Arial"/>
                <a:ea typeface="Arial"/>
                <a:cs typeface="Arial"/>
              </a:defRPr>
            </a:defPPr>
            <a:lvl1pPr algn="l">
              <a:buNone/>
              <a:defRPr sz="1500" b="0">
                <a:solidFill>
                  <a:srgbClr val="537DA1"/>
                </a:solidFill>
                <a:latin typeface="Arial"/>
                <a:ea typeface="Arial"/>
                <a:cs typeface="Arial"/>
              </a:defRPr>
            </a:lvl1pPr>
            <a:lvl2pPr algn="l">
              <a:buNone/>
              <a:defRPr sz="1500" b="0">
                <a:solidFill>
                  <a:srgbClr val="537DA1"/>
                </a:solidFill>
                <a:latin typeface="Arial"/>
                <a:ea typeface="Arial"/>
                <a:cs typeface="Arial"/>
              </a:defRPr>
            </a:lvl2pPr>
            <a:lvl3pPr algn="l">
              <a:buNone/>
              <a:defRPr sz="1500" b="0">
                <a:solidFill>
                  <a:srgbClr val="537DA1"/>
                </a:solidFill>
                <a:latin typeface="Arial"/>
                <a:ea typeface="Arial"/>
                <a:cs typeface="Arial"/>
              </a:defRPr>
            </a:lvl3pPr>
            <a:lvl4pPr algn="l">
              <a:buNone/>
              <a:defRPr sz="1500" b="0">
                <a:solidFill>
                  <a:srgbClr val="537DA1"/>
                </a:solidFill>
                <a:latin typeface="Arial"/>
                <a:ea typeface="Arial"/>
                <a:cs typeface="Arial"/>
              </a:defRPr>
            </a:lvl4pPr>
            <a:lvl5pPr algn="l">
              <a:buNone/>
              <a:defRPr sz="1500" b="0">
                <a:solidFill>
                  <a:srgbClr val="537DA1"/>
                </a:solidFill>
                <a:latin typeface="Arial"/>
                <a:ea typeface="Arial"/>
                <a:cs typeface="Arial"/>
              </a:defRPr>
            </a:lvl5pPr>
            <a:lvl6pPr algn="l">
              <a:buNone/>
              <a:defRPr sz="1500" b="0">
                <a:solidFill>
                  <a:srgbClr val="537DA1"/>
                </a:solidFill>
                <a:latin typeface="Arial"/>
                <a:ea typeface="Arial"/>
                <a:cs typeface="Arial"/>
              </a:defRPr>
            </a:lvl6pPr>
            <a:lvl7pPr algn="l">
              <a:buNone/>
              <a:defRPr sz="1500" b="0">
                <a:solidFill>
                  <a:srgbClr val="537DA1"/>
                </a:solidFill>
                <a:latin typeface="Arial"/>
                <a:ea typeface="Arial"/>
                <a:cs typeface="Arial"/>
              </a:defRPr>
            </a:lvl7pPr>
            <a:lvl8pPr algn="l">
              <a:buNone/>
              <a:defRPr sz="1500" b="0">
                <a:solidFill>
                  <a:srgbClr val="537DA1"/>
                </a:solidFill>
                <a:latin typeface="Arial"/>
                <a:ea typeface="Arial"/>
                <a:cs typeface="Arial"/>
              </a:defRPr>
            </a:lvl8pPr>
            <a:lvl9pPr algn="l">
              <a:buNone/>
              <a:defRPr sz="1500" b="0">
                <a:solidFill>
                  <a:srgbClr val="537DA1"/>
                </a:solidFill>
                <a:latin typeface="Arial"/>
                <a:ea typeface="Arial"/>
                <a:cs typeface="Arial"/>
              </a:defRPr>
            </a:lvl9pPr>
          </a:lstStyle>
          <a:p>
            <a:pPr algn="l">
              <a:buNone/>
              <a:defRPr sz="1500" b="0">
                <a:solidFill>
                  <a:srgbClr val="537DA1"/>
                </a:solidFill>
                <a:latin typeface="Arial"/>
                <a:ea typeface="Arial"/>
                <a:cs typeface="Arial"/>
              </a:defRPr>
            </a:pPr>
            <a:r>
              <a:rPr sz="1500" b="0">
                <a:solidFill>
                  <a:srgbClr val="537DA1"/>
                </a:solidFill>
                <a:latin typeface="Arial"/>
                <a:ea typeface="Arial"/>
                <a:cs typeface="Arial"/>
              </a:rPr>
              <a:t>Blue = securities</a:t>
            </a:r>
            <a:endParaRPr/>
          </a:p>
        </p:txBody>
      </p:sp>
      <p:sp>
        <p:nvSpPr>
          <p:cNvPr id="480068198" name="expanded-text-112"/>
          <p:cNvSpPr>
            <a:spLocks noGrp="1"/>
          </p:cNvSpPr>
          <p:nvPr/>
        </p:nvSpPr>
        <p:spPr bwMode="auto">
          <a:xfrm>
            <a:off x="3276600" y="1819275"/>
            <a:ext cx="5000625" cy="247650"/>
          </a:xfrm>
          <a:prstGeom prst="rect">
            <a:avLst/>
          </a:prstGeom>
          <a:noFill/>
          <a:ln w="0">
            <a:noFill/>
            <a:prstDash val="solid"/>
          </a:ln>
        </p:spPr>
        <p:txBody>
          <a:bodyPr wrap="square" lIns="0" tIns="0" rIns="0" bIns="0" anchor="t">
            <a:noAutofit/>
          </a:bodyPr>
          <a:lstStyle>
            <a:defPPr algn="l">
              <a:defRPr sz="1500" b="0">
                <a:solidFill>
                  <a:srgbClr val="83739D"/>
                </a:solidFill>
                <a:latin typeface="Arial"/>
                <a:ea typeface="Arial"/>
                <a:cs typeface="Arial"/>
              </a:defRPr>
            </a:defPPr>
            <a:lvl1pPr algn="l">
              <a:buNone/>
              <a:defRPr sz="1500" b="0">
                <a:solidFill>
                  <a:srgbClr val="83739D"/>
                </a:solidFill>
                <a:latin typeface="Arial"/>
                <a:ea typeface="Arial"/>
                <a:cs typeface="Arial"/>
              </a:defRPr>
            </a:lvl1pPr>
            <a:lvl2pPr algn="l">
              <a:buNone/>
              <a:defRPr sz="1500" b="0">
                <a:solidFill>
                  <a:srgbClr val="83739D"/>
                </a:solidFill>
                <a:latin typeface="Arial"/>
                <a:ea typeface="Arial"/>
                <a:cs typeface="Arial"/>
              </a:defRPr>
            </a:lvl2pPr>
            <a:lvl3pPr algn="l">
              <a:buNone/>
              <a:defRPr sz="1500" b="0">
                <a:solidFill>
                  <a:srgbClr val="83739D"/>
                </a:solidFill>
                <a:latin typeface="Arial"/>
                <a:ea typeface="Arial"/>
                <a:cs typeface="Arial"/>
              </a:defRPr>
            </a:lvl3pPr>
            <a:lvl4pPr algn="l">
              <a:buNone/>
              <a:defRPr sz="1500" b="0">
                <a:solidFill>
                  <a:srgbClr val="83739D"/>
                </a:solidFill>
                <a:latin typeface="Arial"/>
                <a:ea typeface="Arial"/>
                <a:cs typeface="Arial"/>
              </a:defRPr>
            </a:lvl4pPr>
            <a:lvl5pPr algn="l">
              <a:buNone/>
              <a:defRPr sz="1500" b="0">
                <a:solidFill>
                  <a:srgbClr val="83739D"/>
                </a:solidFill>
                <a:latin typeface="Arial"/>
                <a:ea typeface="Arial"/>
                <a:cs typeface="Arial"/>
              </a:defRPr>
            </a:lvl5pPr>
            <a:lvl6pPr algn="l">
              <a:buNone/>
              <a:defRPr sz="1500" b="0">
                <a:solidFill>
                  <a:srgbClr val="83739D"/>
                </a:solidFill>
                <a:latin typeface="Arial"/>
                <a:ea typeface="Arial"/>
                <a:cs typeface="Arial"/>
              </a:defRPr>
            </a:lvl6pPr>
            <a:lvl7pPr algn="l">
              <a:buNone/>
              <a:defRPr sz="1500" b="0">
                <a:solidFill>
                  <a:srgbClr val="83739D"/>
                </a:solidFill>
                <a:latin typeface="Arial"/>
                <a:ea typeface="Arial"/>
                <a:cs typeface="Arial"/>
              </a:defRPr>
            </a:lvl7pPr>
            <a:lvl8pPr algn="l">
              <a:buNone/>
              <a:defRPr sz="1500" b="0">
                <a:solidFill>
                  <a:srgbClr val="83739D"/>
                </a:solidFill>
                <a:latin typeface="Arial"/>
                <a:ea typeface="Arial"/>
                <a:cs typeface="Arial"/>
              </a:defRPr>
            </a:lvl8pPr>
            <a:lvl9pPr algn="l">
              <a:buNone/>
              <a:defRPr sz="1500" b="0">
                <a:solidFill>
                  <a:srgbClr val="83739D"/>
                </a:solidFill>
                <a:latin typeface="Arial"/>
                <a:ea typeface="Arial"/>
                <a:cs typeface="Arial"/>
              </a:defRPr>
            </a:lvl9pPr>
          </a:lstStyle>
          <a:p>
            <a:pPr algn="l">
              <a:buNone/>
              <a:defRPr sz="1500" b="0">
                <a:solidFill>
                  <a:srgbClr val="83739D"/>
                </a:solidFill>
                <a:latin typeface="Arial"/>
                <a:ea typeface="Arial"/>
                <a:cs typeface="Arial"/>
              </a:defRPr>
            </a:pPr>
            <a:r>
              <a:rPr sz="1500" b="0">
                <a:solidFill>
                  <a:srgbClr val="83739D"/>
                </a:solidFill>
                <a:latin typeface="Arial"/>
                <a:ea typeface="Arial"/>
                <a:cs typeface="Arial"/>
              </a:rPr>
              <a:t>Purple = instructions and confirmations</a:t>
            </a:r>
            <a:endParaRPr/>
          </a:p>
        </p:txBody>
      </p:sp>
      <p:sp>
        <p:nvSpPr>
          <p:cNvPr id="1683196070" name="expanded-text-113"/>
          <p:cNvSpPr>
            <a:spLocks noGrp="1"/>
          </p:cNvSpPr>
          <p:nvPr/>
        </p:nvSpPr>
        <p:spPr bwMode="auto">
          <a:xfrm>
            <a:off x="8705850" y="1819275"/>
            <a:ext cx="2876550" cy="247650"/>
          </a:xfrm>
          <a:prstGeom prst="rect">
            <a:avLst/>
          </a:prstGeom>
          <a:noFill/>
          <a:ln w="0">
            <a:noFill/>
            <a:prstDash val="solid"/>
          </a:ln>
        </p:spPr>
        <p:txBody>
          <a:bodyPr wrap="square" lIns="0" tIns="0" rIns="0" bIns="0" anchor="t">
            <a:noAutofit/>
          </a:bodyPr>
          <a:lstStyle>
            <a:defPPr algn="l">
              <a:defRPr sz="1500" b="0">
                <a:solidFill>
                  <a:srgbClr val="41826F"/>
                </a:solidFill>
                <a:latin typeface="Arial"/>
                <a:ea typeface="Arial"/>
                <a:cs typeface="Arial"/>
              </a:defRPr>
            </a:defPPr>
            <a:lvl1pPr algn="l">
              <a:buNone/>
              <a:defRPr sz="1500" b="0">
                <a:solidFill>
                  <a:srgbClr val="41826F"/>
                </a:solidFill>
                <a:latin typeface="Arial"/>
                <a:ea typeface="Arial"/>
                <a:cs typeface="Arial"/>
              </a:defRPr>
            </a:lvl1pPr>
            <a:lvl2pPr algn="l">
              <a:buNone/>
              <a:defRPr sz="1500" b="0">
                <a:solidFill>
                  <a:srgbClr val="41826F"/>
                </a:solidFill>
                <a:latin typeface="Arial"/>
                <a:ea typeface="Arial"/>
                <a:cs typeface="Arial"/>
              </a:defRPr>
            </a:lvl2pPr>
            <a:lvl3pPr algn="l">
              <a:buNone/>
              <a:defRPr sz="1500" b="0">
                <a:solidFill>
                  <a:srgbClr val="41826F"/>
                </a:solidFill>
                <a:latin typeface="Arial"/>
                <a:ea typeface="Arial"/>
                <a:cs typeface="Arial"/>
              </a:defRPr>
            </a:lvl3pPr>
            <a:lvl4pPr algn="l">
              <a:buNone/>
              <a:defRPr sz="1500" b="0">
                <a:solidFill>
                  <a:srgbClr val="41826F"/>
                </a:solidFill>
                <a:latin typeface="Arial"/>
                <a:ea typeface="Arial"/>
                <a:cs typeface="Arial"/>
              </a:defRPr>
            </a:lvl4pPr>
            <a:lvl5pPr algn="l">
              <a:buNone/>
              <a:defRPr sz="1500" b="0">
                <a:solidFill>
                  <a:srgbClr val="41826F"/>
                </a:solidFill>
                <a:latin typeface="Arial"/>
                <a:ea typeface="Arial"/>
                <a:cs typeface="Arial"/>
              </a:defRPr>
            </a:lvl5pPr>
            <a:lvl6pPr algn="l">
              <a:buNone/>
              <a:defRPr sz="1500" b="0">
                <a:solidFill>
                  <a:srgbClr val="41826F"/>
                </a:solidFill>
                <a:latin typeface="Arial"/>
                <a:ea typeface="Arial"/>
                <a:cs typeface="Arial"/>
              </a:defRPr>
            </a:lvl6pPr>
            <a:lvl7pPr algn="l">
              <a:buNone/>
              <a:defRPr sz="1500" b="0">
                <a:solidFill>
                  <a:srgbClr val="41826F"/>
                </a:solidFill>
                <a:latin typeface="Arial"/>
                <a:ea typeface="Arial"/>
                <a:cs typeface="Arial"/>
              </a:defRPr>
            </a:lvl7pPr>
            <a:lvl8pPr algn="l">
              <a:buNone/>
              <a:defRPr sz="1500" b="0">
                <a:solidFill>
                  <a:srgbClr val="41826F"/>
                </a:solidFill>
                <a:latin typeface="Arial"/>
                <a:ea typeface="Arial"/>
                <a:cs typeface="Arial"/>
              </a:defRPr>
            </a:lvl8pPr>
            <a:lvl9pPr algn="l">
              <a:buNone/>
              <a:defRPr sz="1500" b="0">
                <a:solidFill>
                  <a:srgbClr val="41826F"/>
                </a:solidFill>
                <a:latin typeface="Arial"/>
                <a:ea typeface="Arial"/>
                <a:cs typeface="Arial"/>
              </a:defRPr>
            </a:lvl9pPr>
          </a:lstStyle>
          <a:p>
            <a:pPr algn="l">
              <a:buNone/>
              <a:defRPr sz="1500" b="0">
                <a:solidFill>
                  <a:srgbClr val="41826F"/>
                </a:solidFill>
                <a:latin typeface="Arial"/>
                <a:ea typeface="Arial"/>
                <a:cs typeface="Arial"/>
              </a:defRPr>
            </a:pPr>
            <a:r>
              <a:rPr sz="1500" b="0">
                <a:solidFill>
                  <a:srgbClr val="41826F"/>
                </a:solidFill>
                <a:latin typeface="Arial"/>
                <a:ea typeface="Arial"/>
                <a:cs typeface="Arial"/>
              </a:rPr>
              <a:t>Green = cash or stablecoins</a:t>
            </a:r>
            <a:endParaRPr/>
          </a:p>
        </p:txBody>
      </p:sp>
      <p:sp>
        <p:nvSpPr>
          <p:cNvPr id="746041829" name="participant-head-114"/>
          <p:cNvSpPr>
            <a:spLocks noGrp="1"/>
          </p:cNvSpPr>
          <p:nvPr/>
        </p:nvSpPr>
        <p:spPr bwMode="auto">
          <a:xfrm>
            <a:off x="1885950" y="2133600"/>
            <a:ext cx="190500" cy="190500"/>
          </a:xfrm>
          <a:prstGeom prst="ellipse">
            <a:avLst/>
          </a:prstGeom>
          <a:solidFill>
            <a:srgbClr val="183440"/>
          </a:solidFill>
          <a:ln w="0">
            <a:noFill/>
            <a:prstDash val="solid"/>
          </a:ln>
        </p:spPr>
      </p:sp>
      <p:sp>
        <p:nvSpPr>
          <p:cNvPr id="918757219" name="participant-body-115"/>
          <p:cNvSpPr>
            <a:spLocks noGrp="1"/>
          </p:cNvSpPr>
          <p:nvPr/>
        </p:nvSpPr>
        <p:spPr bwMode="auto">
          <a:xfrm>
            <a:off x="1809750" y="2352675"/>
            <a:ext cx="342900" cy="180975"/>
          </a:xfrm>
          <a:prstGeom prst="roundRect">
            <a:avLst>
              <a:gd name="adj" fmla="val 42105"/>
            </a:avLst>
          </a:prstGeom>
          <a:solidFill>
            <a:srgbClr val="183440"/>
          </a:solidFill>
          <a:ln w="0">
            <a:noFill/>
            <a:prstDash val="solid"/>
          </a:ln>
        </p:spPr>
      </p:sp>
      <p:sp>
        <p:nvSpPr>
          <p:cNvPr id="312447152" name="expanded-text-116"/>
          <p:cNvSpPr>
            <a:spLocks noGrp="1"/>
          </p:cNvSpPr>
          <p:nvPr/>
        </p:nvSpPr>
        <p:spPr bwMode="auto">
          <a:xfrm>
            <a:off x="7810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Underlying issuer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paying agent</a:t>
            </a:r>
            <a:endParaRPr/>
          </a:p>
        </p:txBody>
      </p:sp>
      <p:sp>
        <p:nvSpPr>
          <p:cNvPr id="2023214832" name="diagram-line-117"/>
          <p:cNvSpPr>
            <a:spLocks noGrp="1"/>
          </p:cNvSpPr>
          <p:nvPr/>
        </p:nvSpPr>
        <p:spPr bwMode="auto">
          <a:xfrm>
            <a:off x="1981200" y="3162300"/>
            <a:ext cx="0" cy="2695575"/>
          </a:xfrm>
          <a:prstGeom prst="line">
            <a:avLst/>
          </a:prstGeom>
          <a:noFill/>
          <a:ln w="10478">
            <a:solidFill>
              <a:srgbClr val="CFD7D1"/>
            </a:solidFill>
            <a:prstDash val="dash"/>
          </a:ln>
        </p:spPr>
      </p:sp>
      <p:sp>
        <p:nvSpPr>
          <p:cNvPr id="1727473550" name="participant-head-118"/>
          <p:cNvSpPr>
            <a:spLocks noGrp="1"/>
          </p:cNvSpPr>
          <p:nvPr/>
        </p:nvSpPr>
        <p:spPr bwMode="auto">
          <a:xfrm>
            <a:off x="4629150" y="2133600"/>
            <a:ext cx="190500" cy="190500"/>
          </a:xfrm>
          <a:prstGeom prst="ellipse">
            <a:avLst/>
          </a:prstGeom>
          <a:solidFill>
            <a:srgbClr val="183440"/>
          </a:solidFill>
          <a:ln w="0">
            <a:noFill/>
            <a:prstDash val="solid"/>
          </a:ln>
        </p:spPr>
      </p:sp>
      <p:sp>
        <p:nvSpPr>
          <p:cNvPr id="911080405" name="participant-body-119"/>
          <p:cNvSpPr>
            <a:spLocks noGrp="1"/>
          </p:cNvSpPr>
          <p:nvPr/>
        </p:nvSpPr>
        <p:spPr bwMode="auto">
          <a:xfrm>
            <a:off x="4552950" y="2352675"/>
            <a:ext cx="342900" cy="180975"/>
          </a:xfrm>
          <a:prstGeom prst="roundRect">
            <a:avLst>
              <a:gd name="adj" fmla="val 42105"/>
            </a:avLst>
          </a:prstGeom>
          <a:solidFill>
            <a:srgbClr val="183440"/>
          </a:solidFill>
          <a:ln w="0">
            <a:noFill/>
            <a:prstDash val="solid"/>
          </a:ln>
        </p:spPr>
      </p:sp>
      <p:sp>
        <p:nvSpPr>
          <p:cNvPr id="822063001" name="expanded-text-120"/>
          <p:cNvSpPr>
            <a:spLocks noGrp="1"/>
          </p:cNvSpPr>
          <p:nvPr/>
        </p:nvSpPr>
        <p:spPr bwMode="auto">
          <a:xfrm>
            <a:off x="35242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Custody / cash</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and FX providers</a:t>
            </a:r>
            <a:endParaRPr/>
          </a:p>
        </p:txBody>
      </p:sp>
      <p:sp>
        <p:nvSpPr>
          <p:cNvPr id="786610651" name="diagram-line-121"/>
          <p:cNvSpPr>
            <a:spLocks noGrp="1"/>
          </p:cNvSpPr>
          <p:nvPr/>
        </p:nvSpPr>
        <p:spPr bwMode="auto">
          <a:xfrm>
            <a:off x="4724399" y="3162300"/>
            <a:ext cx="0" cy="2695575"/>
          </a:xfrm>
          <a:prstGeom prst="line">
            <a:avLst/>
          </a:prstGeom>
          <a:noFill/>
          <a:ln w="10478">
            <a:solidFill>
              <a:srgbClr val="CFD7D1"/>
            </a:solidFill>
            <a:prstDash val="dash"/>
          </a:ln>
        </p:spPr>
      </p:sp>
      <p:sp>
        <p:nvSpPr>
          <p:cNvPr id="1316985473" name="participant-head-122"/>
          <p:cNvSpPr>
            <a:spLocks noGrp="1"/>
          </p:cNvSpPr>
          <p:nvPr/>
        </p:nvSpPr>
        <p:spPr bwMode="auto">
          <a:xfrm>
            <a:off x="7372350" y="2133600"/>
            <a:ext cx="190500" cy="190500"/>
          </a:xfrm>
          <a:prstGeom prst="ellipse">
            <a:avLst/>
          </a:prstGeom>
          <a:solidFill>
            <a:srgbClr val="183440"/>
          </a:solidFill>
          <a:ln w="0">
            <a:noFill/>
            <a:prstDash val="solid"/>
          </a:ln>
        </p:spPr>
      </p:sp>
      <p:sp>
        <p:nvSpPr>
          <p:cNvPr id="214077165" name="participant-body-123"/>
          <p:cNvSpPr>
            <a:spLocks noGrp="1"/>
          </p:cNvSpPr>
          <p:nvPr/>
        </p:nvSpPr>
        <p:spPr bwMode="auto">
          <a:xfrm>
            <a:off x="7296149" y="2352675"/>
            <a:ext cx="342900" cy="180975"/>
          </a:xfrm>
          <a:prstGeom prst="roundRect">
            <a:avLst>
              <a:gd name="adj" fmla="val 42105"/>
            </a:avLst>
          </a:prstGeom>
          <a:solidFill>
            <a:srgbClr val="183440"/>
          </a:solidFill>
          <a:ln w="0">
            <a:noFill/>
            <a:prstDash val="solid"/>
          </a:ln>
        </p:spPr>
      </p:sp>
      <p:sp>
        <p:nvSpPr>
          <p:cNvPr id="1699932316" name="expanded-text-124"/>
          <p:cNvSpPr>
            <a:spLocks noGrp="1"/>
          </p:cNvSpPr>
          <p:nvPr/>
        </p:nvSpPr>
        <p:spPr bwMode="auto">
          <a:xfrm>
            <a:off x="62674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Depository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registrar</a:t>
            </a:r>
            <a:endParaRPr/>
          </a:p>
        </p:txBody>
      </p:sp>
      <p:sp>
        <p:nvSpPr>
          <p:cNvPr id="1831872951" name="diagram-line-125"/>
          <p:cNvSpPr>
            <a:spLocks noGrp="1"/>
          </p:cNvSpPr>
          <p:nvPr/>
        </p:nvSpPr>
        <p:spPr bwMode="auto">
          <a:xfrm>
            <a:off x="7467600" y="3162300"/>
            <a:ext cx="0" cy="2695575"/>
          </a:xfrm>
          <a:prstGeom prst="line">
            <a:avLst/>
          </a:prstGeom>
          <a:noFill/>
          <a:ln w="10478">
            <a:solidFill>
              <a:srgbClr val="CFD7D1"/>
            </a:solidFill>
            <a:prstDash val="dash"/>
          </a:ln>
        </p:spPr>
      </p:sp>
      <p:sp>
        <p:nvSpPr>
          <p:cNvPr id="1493680007" name="participant-head-126"/>
          <p:cNvSpPr>
            <a:spLocks noGrp="1"/>
          </p:cNvSpPr>
          <p:nvPr/>
        </p:nvSpPr>
        <p:spPr bwMode="auto">
          <a:xfrm>
            <a:off x="10115550" y="2133600"/>
            <a:ext cx="190500" cy="190500"/>
          </a:xfrm>
          <a:prstGeom prst="ellipse">
            <a:avLst/>
          </a:prstGeom>
          <a:solidFill>
            <a:srgbClr val="183440"/>
          </a:solidFill>
          <a:ln w="0">
            <a:noFill/>
            <a:prstDash val="solid"/>
          </a:ln>
        </p:spPr>
      </p:sp>
      <p:sp>
        <p:nvSpPr>
          <p:cNvPr id="2045768797" name="participant-body-127"/>
          <p:cNvSpPr>
            <a:spLocks noGrp="1"/>
          </p:cNvSpPr>
          <p:nvPr/>
        </p:nvSpPr>
        <p:spPr bwMode="auto">
          <a:xfrm>
            <a:off x="10039350" y="2352675"/>
            <a:ext cx="342900" cy="180975"/>
          </a:xfrm>
          <a:prstGeom prst="roundRect">
            <a:avLst>
              <a:gd name="adj" fmla="val 42105"/>
            </a:avLst>
          </a:prstGeom>
          <a:solidFill>
            <a:srgbClr val="183440"/>
          </a:solidFill>
          <a:ln w="0">
            <a:noFill/>
            <a:prstDash val="solid"/>
          </a:ln>
        </p:spPr>
      </p:sp>
      <p:sp>
        <p:nvSpPr>
          <p:cNvPr id="2003454842" name="expanded-text-128"/>
          <p:cNvSpPr>
            <a:spLocks noGrp="1"/>
          </p:cNvSpPr>
          <p:nvPr/>
        </p:nvSpPr>
        <p:spPr bwMode="auto">
          <a:xfrm>
            <a:off x="9010650" y="2590800"/>
            <a:ext cx="2400300" cy="571500"/>
          </a:xfrm>
          <a:prstGeom prst="rect">
            <a:avLst/>
          </a:prstGeom>
          <a:noFill/>
          <a:ln w="0">
            <a:noFill/>
            <a:prstDash val="solid"/>
          </a:ln>
        </p:spPr>
        <p:txBody>
          <a:bodyPr wrap="square" lIns="0" tIns="0" rIns="0" bIns="0" anchor="t">
            <a:noAutofit/>
          </a:bodyPr>
          <a:lstStyle>
            <a:defPPr algn="ctr">
              <a:defRPr sz="1800" b="1">
                <a:solidFill>
                  <a:srgbClr val="183440"/>
                </a:solidFill>
                <a:latin typeface="Arial"/>
                <a:ea typeface="Arial"/>
                <a:cs typeface="Arial"/>
              </a:defRPr>
            </a:defPPr>
            <a:lvl1pPr algn="ctr">
              <a:buNone/>
              <a:defRPr sz="1800" b="1">
                <a:solidFill>
                  <a:srgbClr val="183440"/>
                </a:solidFill>
                <a:latin typeface="Arial"/>
                <a:ea typeface="Arial"/>
                <a:cs typeface="Arial"/>
              </a:defRPr>
            </a:lvl1pPr>
            <a:lvl2pPr algn="ctr">
              <a:buNone/>
              <a:defRPr sz="1800" b="1">
                <a:solidFill>
                  <a:srgbClr val="183440"/>
                </a:solidFill>
                <a:latin typeface="Arial"/>
                <a:ea typeface="Arial"/>
                <a:cs typeface="Arial"/>
              </a:defRPr>
            </a:lvl2pPr>
            <a:lvl3pPr algn="ctr">
              <a:buNone/>
              <a:defRPr sz="1800" b="1">
                <a:solidFill>
                  <a:srgbClr val="183440"/>
                </a:solidFill>
                <a:latin typeface="Arial"/>
                <a:ea typeface="Arial"/>
                <a:cs typeface="Arial"/>
              </a:defRPr>
            </a:lvl3pPr>
            <a:lvl4pPr algn="ctr">
              <a:buNone/>
              <a:defRPr sz="1800" b="1">
                <a:solidFill>
                  <a:srgbClr val="183440"/>
                </a:solidFill>
                <a:latin typeface="Arial"/>
                <a:ea typeface="Arial"/>
                <a:cs typeface="Arial"/>
              </a:defRPr>
            </a:lvl4pPr>
            <a:lvl5pPr algn="ctr">
              <a:buNone/>
              <a:defRPr sz="1800" b="1">
                <a:solidFill>
                  <a:srgbClr val="183440"/>
                </a:solidFill>
                <a:latin typeface="Arial"/>
                <a:ea typeface="Arial"/>
                <a:cs typeface="Arial"/>
              </a:defRPr>
            </a:lvl5pPr>
            <a:lvl6pPr algn="ctr">
              <a:buNone/>
              <a:defRPr sz="1800" b="1">
                <a:solidFill>
                  <a:srgbClr val="183440"/>
                </a:solidFill>
                <a:latin typeface="Arial"/>
                <a:ea typeface="Arial"/>
                <a:cs typeface="Arial"/>
              </a:defRPr>
            </a:lvl6pPr>
            <a:lvl7pPr algn="ctr">
              <a:buNone/>
              <a:defRPr sz="1800" b="1">
                <a:solidFill>
                  <a:srgbClr val="183440"/>
                </a:solidFill>
                <a:latin typeface="Arial"/>
                <a:ea typeface="Arial"/>
                <a:cs typeface="Arial"/>
              </a:defRPr>
            </a:lvl7pPr>
            <a:lvl8pPr algn="ctr">
              <a:buNone/>
              <a:defRPr sz="1800" b="1">
                <a:solidFill>
                  <a:srgbClr val="183440"/>
                </a:solidFill>
                <a:latin typeface="Arial"/>
                <a:ea typeface="Arial"/>
                <a:cs typeface="Arial"/>
              </a:defRPr>
            </a:lvl8pPr>
            <a:lvl9pPr algn="ctr">
              <a:buNone/>
              <a:defRPr sz="1800" b="1">
                <a:solidFill>
                  <a:srgbClr val="183440"/>
                </a:solidFill>
                <a:latin typeface="Arial"/>
                <a:ea typeface="Arial"/>
                <a:cs typeface="Arial"/>
              </a:defRPr>
            </a:lvl9pPr>
          </a:lstStyle>
          <a:p>
            <a:pPr algn="ctr">
              <a:buNone/>
              <a:defRPr sz="1800" b="1">
                <a:solidFill>
                  <a:srgbClr val="183440"/>
                </a:solidFill>
                <a:latin typeface="Arial"/>
                <a:ea typeface="Arial"/>
                <a:cs typeface="Arial"/>
              </a:defRPr>
            </a:pPr>
            <a:r>
              <a:rPr sz="1800" b="1">
                <a:solidFill>
                  <a:srgbClr val="183440"/>
                </a:solidFill>
                <a:latin typeface="Arial"/>
                <a:ea typeface="Arial"/>
                <a:cs typeface="Arial"/>
              </a:rPr>
              <a:t>Broker /</a:t>
            </a:r>
            <a:endParaRPr/>
          </a:p>
          <a:p>
            <a:pPr algn="ctr">
              <a:buNone/>
              <a:defRPr sz="1800" b="1">
                <a:solidFill>
                  <a:srgbClr val="183440"/>
                </a:solidFill>
                <a:latin typeface="Arial"/>
                <a:ea typeface="Arial"/>
                <a:cs typeface="Arial"/>
              </a:defRPr>
            </a:pPr>
            <a:r>
              <a:rPr sz="1800" b="1">
                <a:solidFill>
                  <a:srgbClr val="183440"/>
                </a:solidFill>
                <a:latin typeface="Arial"/>
                <a:ea typeface="Arial"/>
                <a:cs typeface="Arial"/>
              </a:rPr>
              <a:t>holder accounts</a:t>
            </a:r>
            <a:endParaRPr/>
          </a:p>
        </p:txBody>
      </p:sp>
      <p:sp>
        <p:nvSpPr>
          <p:cNvPr id="1280995494" name="diagram-line-129"/>
          <p:cNvSpPr>
            <a:spLocks noGrp="1"/>
          </p:cNvSpPr>
          <p:nvPr/>
        </p:nvSpPr>
        <p:spPr bwMode="auto">
          <a:xfrm>
            <a:off x="10210800" y="3162300"/>
            <a:ext cx="0" cy="2695575"/>
          </a:xfrm>
          <a:prstGeom prst="line">
            <a:avLst/>
          </a:prstGeom>
          <a:noFill/>
          <a:ln w="10478">
            <a:solidFill>
              <a:srgbClr val="CFD7D1"/>
            </a:solidFill>
            <a:prstDash val="dash"/>
          </a:ln>
        </p:spPr>
      </p:sp>
      <p:cxnSp>
        <p:nvCxnSpPr>
          <p:cNvPr id="662205038" name="diagram-line-130"/>
          <p:cNvCxnSpPr/>
          <p:nvPr/>
        </p:nvCxnSpPr>
        <p:spPr bwMode="auto">
          <a:xfrm>
            <a:off x="7467600" y="3381375"/>
            <a:ext cx="2743200" cy="0"/>
          </a:xfrm>
          <a:prstGeom prst="straightConnector1">
            <a:avLst/>
          </a:prstGeom>
          <a:ln w="20955">
            <a:solidFill>
              <a:srgbClr val="83739D"/>
            </a:solidFill>
            <a:prstDash val="solid"/>
            <a:tailEnd type="triangle" w="sm" len="sm"/>
          </a:ln>
        </p:spPr>
      </p:cxnSp>
      <p:sp>
        <p:nvSpPr>
          <p:cNvPr id="385579152" name="transferred-entity-131"/>
          <p:cNvSpPr>
            <a:spLocks noGrp="1"/>
          </p:cNvSpPr>
          <p:nvPr/>
        </p:nvSpPr>
        <p:spPr bwMode="auto">
          <a:xfrm>
            <a:off x="7543800" y="3200400"/>
            <a:ext cx="25908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1. Record-date allocation</a:t>
            </a:r>
            <a:endParaRPr/>
          </a:p>
        </p:txBody>
      </p:sp>
      <p:cxnSp>
        <p:nvCxnSpPr>
          <p:cNvPr id="644716711" name="diagram-line-132"/>
          <p:cNvCxnSpPr/>
          <p:nvPr/>
        </p:nvCxnSpPr>
        <p:spPr bwMode="auto">
          <a:xfrm>
            <a:off x="1981200" y="3905250"/>
            <a:ext cx="2743200" cy="0"/>
          </a:xfrm>
          <a:prstGeom prst="straightConnector1">
            <a:avLst/>
          </a:prstGeom>
          <a:ln w="20955">
            <a:solidFill>
              <a:srgbClr val="41826F"/>
            </a:solidFill>
            <a:prstDash val="solid"/>
            <a:tailEnd type="triangle" w="sm" len="sm"/>
          </a:ln>
        </p:spPr>
      </p:cxnSp>
      <p:sp>
        <p:nvSpPr>
          <p:cNvPr id="445949781" name="transferred-entity-133"/>
          <p:cNvSpPr>
            <a:spLocks noGrp="1"/>
          </p:cNvSpPr>
          <p:nvPr/>
        </p:nvSpPr>
        <p:spPr bwMode="auto">
          <a:xfrm>
            <a:off x="2200275" y="3724275"/>
            <a:ext cx="23050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2. Dividend cash</a:t>
            </a:r>
            <a:endParaRPr/>
          </a:p>
        </p:txBody>
      </p:sp>
      <p:cxnSp>
        <p:nvCxnSpPr>
          <p:cNvPr id="1844572722" name="diagram-line-134"/>
          <p:cNvCxnSpPr/>
          <p:nvPr/>
        </p:nvCxnSpPr>
        <p:spPr bwMode="auto">
          <a:xfrm>
            <a:off x="4724399" y="4429125"/>
            <a:ext cx="2743200" cy="0"/>
          </a:xfrm>
          <a:prstGeom prst="straightConnector1">
            <a:avLst/>
          </a:prstGeom>
          <a:ln w="20955">
            <a:solidFill>
              <a:srgbClr val="83739D"/>
            </a:solidFill>
            <a:prstDash val="solid"/>
            <a:tailEnd type="triangle" w="sm" len="sm"/>
          </a:ln>
        </p:spPr>
      </p:cxnSp>
      <p:sp>
        <p:nvSpPr>
          <p:cNvPr id="1029628810" name="transferred-entity-135"/>
          <p:cNvSpPr>
            <a:spLocks noGrp="1"/>
          </p:cNvSpPr>
          <p:nvPr/>
        </p:nvSpPr>
        <p:spPr bwMode="auto">
          <a:xfrm>
            <a:off x="4838700" y="4248150"/>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3. Tax and FX evidence</a:t>
            </a:r>
            <a:endParaRPr/>
          </a:p>
        </p:txBody>
      </p:sp>
      <p:cxnSp>
        <p:nvCxnSpPr>
          <p:cNvPr id="53241884" name="diagram-line-136"/>
          <p:cNvCxnSpPr/>
          <p:nvPr/>
        </p:nvCxnSpPr>
        <p:spPr bwMode="auto">
          <a:xfrm>
            <a:off x="4724399" y="4953000"/>
            <a:ext cx="2743200" cy="0"/>
          </a:xfrm>
          <a:prstGeom prst="straightConnector1">
            <a:avLst/>
          </a:prstGeom>
          <a:ln w="20955">
            <a:solidFill>
              <a:srgbClr val="83739D"/>
            </a:solidFill>
            <a:prstDash val="solid"/>
            <a:headEnd type="triangle" w="sm" len="sm"/>
          </a:ln>
        </p:spPr>
      </p:cxnSp>
      <p:sp>
        <p:nvSpPr>
          <p:cNvPr id="1904355971" name="transferred-entity-137"/>
          <p:cNvSpPr>
            <a:spLocks noGrp="1"/>
          </p:cNvSpPr>
          <p:nvPr/>
        </p:nvSpPr>
        <p:spPr bwMode="auto">
          <a:xfrm>
            <a:off x="4838700" y="4772025"/>
            <a:ext cx="2514600" cy="361950"/>
          </a:xfrm>
          <a:prstGeom prst="foldedCorner">
            <a:avLst>
              <a:gd name="adj" fmla="val 16667"/>
            </a:avLst>
          </a:prstGeom>
          <a:solidFill>
            <a:srgbClr val="F0EDF5"/>
          </a:solidFill>
          <a:ln w="10478">
            <a:solidFill>
              <a:srgbClr val="83739D"/>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4. Approved payout file</a:t>
            </a:r>
            <a:endParaRPr/>
          </a:p>
        </p:txBody>
      </p:sp>
      <p:cxnSp>
        <p:nvCxnSpPr>
          <p:cNvPr id="1606335908" name="diagram-line-138"/>
          <p:cNvCxnSpPr/>
          <p:nvPr/>
        </p:nvCxnSpPr>
        <p:spPr bwMode="auto">
          <a:xfrm>
            <a:off x="4724399" y="5476875"/>
            <a:ext cx="5486400" cy="0"/>
          </a:xfrm>
          <a:prstGeom prst="straightConnector1">
            <a:avLst/>
          </a:prstGeom>
          <a:ln w="20955">
            <a:solidFill>
              <a:srgbClr val="41826F"/>
            </a:solidFill>
            <a:prstDash val="solid"/>
            <a:tailEnd type="triangle" w="sm" len="sm"/>
          </a:ln>
        </p:spPr>
      </p:cxnSp>
      <p:sp>
        <p:nvSpPr>
          <p:cNvPr id="815895984" name="transferred-entity-139"/>
          <p:cNvSpPr>
            <a:spLocks noGrp="1"/>
          </p:cNvSpPr>
          <p:nvPr/>
        </p:nvSpPr>
        <p:spPr bwMode="auto">
          <a:xfrm>
            <a:off x="5229225" y="5295899"/>
            <a:ext cx="4476750" cy="361950"/>
          </a:xfrm>
          <a:prstGeom prst="foldedCorner">
            <a:avLst>
              <a:gd name="adj" fmla="val 16667"/>
            </a:avLst>
          </a:prstGeom>
          <a:solidFill>
            <a:srgbClr val="EDF5F1"/>
          </a:solidFill>
          <a:ln w="10478">
            <a:solidFill>
              <a:srgbClr val="41826F"/>
            </a:solidFill>
            <a:prstDash val="solid"/>
          </a:ln>
        </p:spPr>
        <p:txBody>
          <a:bodyPr wrap="none" lIns="85725" tIns="28575" rIns="123825" bIns="28575" anchor="ctr">
            <a:noAutofit/>
          </a:bodyPr>
          <a:lstStyle>
            <a:defPPr algn="ctr">
              <a:defRPr sz="1500">
                <a:solidFill>
                  <a:srgbClr val="183440"/>
                </a:solidFill>
                <a:latin typeface="Arial"/>
                <a:ea typeface="Arial"/>
                <a:cs typeface="Arial"/>
              </a:defRPr>
            </a:defPPr>
            <a:lvl1pPr algn="ctr">
              <a:buNone/>
              <a:defRPr sz="1500">
                <a:solidFill>
                  <a:srgbClr val="183440"/>
                </a:solidFill>
                <a:latin typeface="Arial"/>
                <a:ea typeface="Arial"/>
                <a:cs typeface="Arial"/>
              </a:defRPr>
            </a:lvl1pPr>
            <a:lvl2pPr algn="ctr">
              <a:buNone/>
              <a:defRPr sz="1500">
                <a:solidFill>
                  <a:srgbClr val="183440"/>
                </a:solidFill>
                <a:latin typeface="Arial"/>
                <a:ea typeface="Arial"/>
                <a:cs typeface="Arial"/>
              </a:defRPr>
            </a:lvl2pPr>
            <a:lvl3pPr algn="ctr">
              <a:buNone/>
              <a:defRPr sz="1500">
                <a:solidFill>
                  <a:srgbClr val="183440"/>
                </a:solidFill>
                <a:latin typeface="Arial"/>
                <a:ea typeface="Arial"/>
                <a:cs typeface="Arial"/>
              </a:defRPr>
            </a:lvl3pPr>
            <a:lvl4pPr algn="ctr">
              <a:buNone/>
              <a:defRPr sz="1500">
                <a:solidFill>
                  <a:srgbClr val="183440"/>
                </a:solidFill>
                <a:latin typeface="Arial"/>
                <a:ea typeface="Arial"/>
                <a:cs typeface="Arial"/>
              </a:defRPr>
            </a:lvl4pPr>
            <a:lvl5pPr algn="ctr">
              <a:buNone/>
              <a:defRPr sz="1500">
                <a:solidFill>
                  <a:srgbClr val="183440"/>
                </a:solidFill>
                <a:latin typeface="Arial"/>
                <a:ea typeface="Arial"/>
                <a:cs typeface="Arial"/>
              </a:defRPr>
            </a:lvl5pPr>
            <a:lvl6pPr algn="ctr">
              <a:buNone/>
              <a:defRPr sz="1500">
                <a:solidFill>
                  <a:srgbClr val="183440"/>
                </a:solidFill>
                <a:latin typeface="Arial"/>
                <a:ea typeface="Arial"/>
                <a:cs typeface="Arial"/>
              </a:defRPr>
            </a:lvl6pPr>
            <a:lvl7pPr algn="ctr">
              <a:buNone/>
              <a:defRPr sz="1500">
                <a:solidFill>
                  <a:srgbClr val="183440"/>
                </a:solidFill>
                <a:latin typeface="Arial"/>
                <a:ea typeface="Arial"/>
                <a:cs typeface="Arial"/>
              </a:defRPr>
            </a:lvl7pPr>
            <a:lvl8pPr algn="ctr">
              <a:buNone/>
              <a:defRPr sz="1500">
                <a:solidFill>
                  <a:srgbClr val="183440"/>
                </a:solidFill>
                <a:latin typeface="Arial"/>
                <a:ea typeface="Arial"/>
                <a:cs typeface="Arial"/>
              </a:defRPr>
            </a:lvl8pPr>
            <a:lvl9pPr algn="ctr">
              <a:buNone/>
              <a:defRPr sz="1500">
                <a:solidFill>
                  <a:srgbClr val="183440"/>
                </a:solidFill>
                <a:latin typeface="Arial"/>
                <a:ea typeface="Arial"/>
                <a:cs typeface="Arial"/>
              </a:defRPr>
            </a:lvl9pPr>
          </a:lstStyle>
          <a:p>
            <a:pPr algn="ctr">
              <a:buNone/>
              <a:defRPr sz="1500">
                <a:solidFill>
                  <a:srgbClr val="183440"/>
                </a:solidFill>
                <a:latin typeface="Arial"/>
                <a:ea typeface="Arial"/>
                <a:cs typeface="Arial"/>
              </a:defRPr>
            </a:pPr>
            <a:r>
              <a:rPr sz="1500">
                <a:solidFill>
                  <a:srgbClr val="183440"/>
                </a:solidFill>
                <a:latin typeface="Arial"/>
                <a:ea typeface="Arial"/>
                <a:cs typeface="Arial"/>
              </a:rPr>
              <a:t>5. Net cash / approved stablecoin payout</a:t>
            </a:r>
            <a:endParaRPr/>
          </a:p>
        </p:txBody>
      </p:sp>
      <p:sp>
        <p:nvSpPr>
          <p:cNvPr id="833423174" name="expanded-text-14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Example: 25 receipts × 0.01 × US$1 dividend per share = US$0.25 gross, before tax, fees and FX.</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90884470" name="full-text-2063"/>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Production readiness starts with clear ownership</a:t>
            </a:r>
            <a:endParaRPr/>
          </a:p>
        </p:txBody>
      </p:sp>
      <p:sp>
        <p:nvSpPr>
          <p:cNvPr id="1440536993" name="full-text-2064"/>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558476734" name="full-text-206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26</a:t>
            </a:r>
            <a:endParaRPr/>
          </a:p>
        </p:txBody>
      </p:sp>
      <p:sp>
        <p:nvSpPr>
          <p:cNvPr id="526978147" name="full-text-2066"/>
          <p:cNvSpPr>
            <a:spLocks noGrp="1"/>
          </p:cNvSpPr>
          <p:nvPr/>
        </p:nvSpPr>
        <p:spPr bwMode="auto">
          <a:xfrm>
            <a:off x="609600" y="18097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01</a:t>
            </a:r>
            <a:endParaRPr/>
          </a:p>
        </p:txBody>
      </p:sp>
      <p:sp>
        <p:nvSpPr>
          <p:cNvPr id="693257530" name="full-text-2067"/>
          <p:cNvSpPr>
            <a:spLocks noGrp="1"/>
          </p:cNvSpPr>
          <p:nvPr/>
        </p:nvSpPr>
        <p:spPr bwMode="auto">
          <a:xfrm>
            <a:off x="1695450" y="18097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Rights and permissions</a:t>
            </a:r>
            <a:endParaRPr/>
          </a:p>
        </p:txBody>
      </p:sp>
      <p:sp>
        <p:nvSpPr>
          <p:cNvPr id="130451105" name="full-text-2068"/>
          <p:cNvSpPr>
            <a:spLocks noGrp="1"/>
          </p:cNvSpPr>
          <p:nvPr/>
        </p:nvSpPr>
        <p:spPr bwMode="auto">
          <a:xfrm>
            <a:off x="1695450" y="22669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Launch jurisdiction, legal receipt rights and distribution permissions</a:t>
            </a:r>
            <a:endParaRPr/>
          </a:p>
        </p:txBody>
      </p:sp>
      <p:sp>
        <p:nvSpPr>
          <p:cNvPr id="381642920" name="full-rule-2069"/>
          <p:cNvSpPr>
            <a:spLocks noGrp="1"/>
          </p:cNvSpPr>
          <p:nvPr/>
        </p:nvSpPr>
        <p:spPr bwMode="auto">
          <a:xfrm>
            <a:off x="1695450" y="2733675"/>
            <a:ext cx="9886950" cy="0"/>
          </a:xfrm>
          <a:prstGeom prst="line">
            <a:avLst/>
          </a:prstGeom>
          <a:noFill/>
          <a:ln w="11430">
            <a:solidFill>
              <a:srgbClr val="CFD7D1"/>
            </a:solidFill>
            <a:prstDash val="solid"/>
          </a:ln>
        </p:spPr>
      </p:sp>
      <p:sp>
        <p:nvSpPr>
          <p:cNvPr id="1883088759" name="full-text-2070"/>
          <p:cNvSpPr>
            <a:spLocks noGrp="1"/>
          </p:cNvSpPr>
          <p:nvPr/>
        </p:nvSpPr>
        <p:spPr bwMode="auto">
          <a:xfrm>
            <a:off x="609600" y="28384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02</a:t>
            </a:r>
            <a:endParaRPr/>
          </a:p>
        </p:txBody>
      </p:sp>
      <p:sp>
        <p:nvSpPr>
          <p:cNvPr id="311214647" name="full-text-2071"/>
          <p:cNvSpPr>
            <a:spLocks noGrp="1"/>
          </p:cNvSpPr>
          <p:nvPr/>
        </p:nvSpPr>
        <p:spPr bwMode="auto">
          <a:xfrm>
            <a:off x="1695450" y="28384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Backing and controlled supply</a:t>
            </a:r>
            <a:endParaRPr/>
          </a:p>
        </p:txBody>
      </p:sp>
      <p:sp>
        <p:nvSpPr>
          <p:cNvPr id="2062952041" name="full-text-2072"/>
          <p:cNvSpPr>
            <a:spLocks noGrp="1"/>
          </p:cNvSpPr>
          <p:nvPr/>
        </p:nvSpPr>
        <p:spPr bwMode="auto">
          <a:xfrm>
            <a:off x="1695450" y="32956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Settled custody proof before minting and supply reconciliation</a:t>
            </a:r>
            <a:endParaRPr/>
          </a:p>
        </p:txBody>
      </p:sp>
      <p:sp>
        <p:nvSpPr>
          <p:cNvPr id="908495276" name="full-rule-2073"/>
          <p:cNvSpPr>
            <a:spLocks noGrp="1"/>
          </p:cNvSpPr>
          <p:nvPr/>
        </p:nvSpPr>
        <p:spPr bwMode="auto">
          <a:xfrm>
            <a:off x="1695450" y="3762375"/>
            <a:ext cx="9886950" cy="0"/>
          </a:xfrm>
          <a:prstGeom prst="line">
            <a:avLst/>
          </a:prstGeom>
          <a:noFill/>
          <a:ln w="11430">
            <a:solidFill>
              <a:srgbClr val="CFD7D1"/>
            </a:solidFill>
            <a:prstDash val="solid"/>
          </a:ln>
        </p:spPr>
      </p:sp>
      <p:sp>
        <p:nvSpPr>
          <p:cNvPr id="843886588" name="full-text-2074"/>
          <p:cNvSpPr>
            <a:spLocks noGrp="1"/>
          </p:cNvSpPr>
          <p:nvPr/>
        </p:nvSpPr>
        <p:spPr bwMode="auto">
          <a:xfrm>
            <a:off x="609600" y="38671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03</a:t>
            </a:r>
            <a:endParaRPr/>
          </a:p>
        </p:txBody>
      </p:sp>
      <p:sp>
        <p:nvSpPr>
          <p:cNvPr id="2024771536" name="full-text-2075"/>
          <p:cNvSpPr>
            <a:spLocks noGrp="1"/>
          </p:cNvSpPr>
          <p:nvPr/>
        </p:nvSpPr>
        <p:spPr bwMode="auto">
          <a:xfrm>
            <a:off x="1695450" y="38671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Contract and key governance</a:t>
            </a:r>
            <a:endParaRPr/>
          </a:p>
        </p:txBody>
      </p:sp>
      <p:sp>
        <p:nvSpPr>
          <p:cNvPr id="1432416478" name="full-text-2076"/>
          <p:cNvSpPr>
            <a:spLocks noGrp="1"/>
          </p:cNvSpPr>
          <p:nvPr/>
        </p:nvSpPr>
        <p:spPr bwMode="auto">
          <a:xfrm>
            <a:off x="1695450" y="43243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Named operators, key recovery, contract audit and upgrade approvals</a:t>
            </a:r>
            <a:endParaRPr/>
          </a:p>
        </p:txBody>
      </p:sp>
      <p:sp>
        <p:nvSpPr>
          <p:cNvPr id="2107983227" name="full-rule-2077"/>
          <p:cNvSpPr>
            <a:spLocks noGrp="1"/>
          </p:cNvSpPr>
          <p:nvPr/>
        </p:nvSpPr>
        <p:spPr bwMode="auto">
          <a:xfrm>
            <a:off x="1695450" y="4791075"/>
            <a:ext cx="9886950" cy="0"/>
          </a:xfrm>
          <a:prstGeom prst="line">
            <a:avLst/>
          </a:prstGeom>
          <a:noFill/>
          <a:ln w="11430">
            <a:solidFill>
              <a:srgbClr val="CFD7D1"/>
            </a:solidFill>
            <a:prstDash val="solid"/>
          </a:ln>
        </p:spPr>
      </p:sp>
      <p:sp>
        <p:nvSpPr>
          <p:cNvPr id="350515050" name="full-text-2078"/>
          <p:cNvSpPr>
            <a:spLocks noGrp="1"/>
          </p:cNvSpPr>
          <p:nvPr/>
        </p:nvSpPr>
        <p:spPr bwMode="auto">
          <a:xfrm>
            <a:off x="609600" y="4895850"/>
            <a:ext cx="857250" cy="523875"/>
          </a:xfrm>
          <a:prstGeom prst="rect">
            <a:avLst/>
          </a:prstGeom>
          <a:noFill/>
          <a:ln w="0">
            <a:noFill/>
            <a:prstDash val="solid"/>
          </a:ln>
        </p:spPr>
        <p:txBody>
          <a:bodyPr wrap="square" lIns="0" tIns="0" rIns="0" bIns="0" anchor="t">
            <a:noAutofit/>
          </a:bodyPr>
          <a:lstStyle>
            <a:defPPr algn="l">
              <a:defRPr sz="2700" b="1">
                <a:solidFill>
                  <a:srgbClr val="AC8743"/>
                </a:solidFill>
                <a:latin typeface="Arial"/>
                <a:ea typeface="Arial"/>
                <a:cs typeface="Arial"/>
              </a:defRPr>
            </a:defPPr>
            <a:lvl1pPr algn="l">
              <a:buNone/>
              <a:defRPr sz="2700" b="1">
                <a:solidFill>
                  <a:srgbClr val="AC8743"/>
                </a:solidFill>
                <a:latin typeface="Arial"/>
                <a:ea typeface="Arial"/>
                <a:cs typeface="Arial"/>
              </a:defRPr>
            </a:lvl1pPr>
            <a:lvl2pPr algn="l">
              <a:buNone/>
              <a:defRPr sz="2700" b="1">
                <a:solidFill>
                  <a:srgbClr val="AC8743"/>
                </a:solidFill>
                <a:latin typeface="Arial"/>
                <a:ea typeface="Arial"/>
                <a:cs typeface="Arial"/>
              </a:defRPr>
            </a:lvl2pPr>
            <a:lvl3pPr algn="l">
              <a:buNone/>
              <a:defRPr sz="2700" b="1">
                <a:solidFill>
                  <a:srgbClr val="AC8743"/>
                </a:solidFill>
                <a:latin typeface="Arial"/>
                <a:ea typeface="Arial"/>
                <a:cs typeface="Arial"/>
              </a:defRPr>
            </a:lvl3pPr>
            <a:lvl4pPr algn="l">
              <a:buNone/>
              <a:defRPr sz="2700" b="1">
                <a:solidFill>
                  <a:srgbClr val="AC8743"/>
                </a:solidFill>
                <a:latin typeface="Arial"/>
                <a:ea typeface="Arial"/>
                <a:cs typeface="Arial"/>
              </a:defRPr>
            </a:lvl4pPr>
            <a:lvl5pPr algn="l">
              <a:buNone/>
              <a:defRPr sz="2700" b="1">
                <a:solidFill>
                  <a:srgbClr val="AC8743"/>
                </a:solidFill>
                <a:latin typeface="Arial"/>
                <a:ea typeface="Arial"/>
                <a:cs typeface="Arial"/>
              </a:defRPr>
            </a:lvl5pPr>
            <a:lvl6pPr algn="l">
              <a:buNone/>
              <a:defRPr sz="2700" b="1">
                <a:solidFill>
                  <a:srgbClr val="AC8743"/>
                </a:solidFill>
                <a:latin typeface="Arial"/>
                <a:ea typeface="Arial"/>
                <a:cs typeface="Arial"/>
              </a:defRPr>
            </a:lvl6pPr>
            <a:lvl7pPr algn="l">
              <a:buNone/>
              <a:defRPr sz="2700" b="1">
                <a:solidFill>
                  <a:srgbClr val="AC8743"/>
                </a:solidFill>
                <a:latin typeface="Arial"/>
                <a:ea typeface="Arial"/>
                <a:cs typeface="Arial"/>
              </a:defRPr>
            </a:lvl7pPr>
            <a:lvl8pPr algn="l">
              <a:buNone/>
              <a:defRPr sz="2700" b="1">
                <a:solidFill>
                  <a:srgbClr val="AC8743"/>
                </a:solidFill>
                <a:latin typeface="Arial"/>
                <a:ea typeface="Arial"/>
                <a:cs typeface="Arial"/>
              </a:defRPr>
            </a:lvl8pPr>
            <a:lvl9pPr algn="l">
              <a:buNone/>
              <a:defRPr sz="2700" b="1">
                <a:solidFill>
                  <a:srgbClr val="AC8743"/>
                </a:solidFill>
                <a:latin typeface="Arial"/>
                <a:ea typeface="Arial"/>
                <a:cs typeface="Arial"/>
              </a:defRPr>
            </a:lvl9pPr>
          </a:lstStyle>
          <a:p>
            <a:pPr algn="l">
              <a:buNone/>
              <a:defRPr sz="2700" b="1">
                <a:solidFill>
                  <a:srgbClr val="AC8743"/>
                </a:solidFill>
                <a:latin typeface="Arial"/>
                <a:ea typeface="Arial"/>
                <a:cs typeface="Arial"/>
              </a:defRPr>
            </a:pPr>
            <a:r>
              <a:rPr sz="2700" b="1">
                <a:solidFill>
                  <a:srgbClr val="AC8743"/>
                </a:solidFill>
                <a:latin typeface="Arial"/>
                <a:ea typeface="Arial"/>
                <a:cs typeface="Arial"/>
              </a:rPr>
              <a:t>04</a:t>
            </a:r>
            <a:endParaRPr/>
          </a:p>
        </p:txBody>
      </p:sp>
      <p:sp>
        <p:nvSpPr>
          <p:cNvPr id="768130049" name="full-text-2079"/>
          <p:cNvSpPr>
            <a:spLocks noGrp="1"/>
          </p:cNvSpPr>
          <p:nvPr/>
        </p:nvSpPr>
        <p:spPr bwMode="auto">
          <a:xfrm>
            <a:off x="1695450" y="4895850"/>
            <a:ext cx="9525000" cy="381000"/>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Launch certification</a:t>
            </a:r>
            <a:endParaRPr/>
          </a:p>
        </p:txBody>
      </p:sp>
      <p:sp>
        <p:nvSpPr>
          <p:cNvPr id="1952968054" name="full-text-2080"/>
          <p:cNvSpPr>
            <a:spLocks noGrp="1"/>
          </p:cNvSpPr>
          <p:nvPr/>
        </p:nvSpPr>
        <p:spPr bwMode="auto">
          <a:xfrm>
            <a:off x="1695450" y="5353050"/>
            <a:ext cx="9886950" cy="457200"/>
          </a:xfrm>
          <a:prstGeom prst="rect">
            <a:avLst/>
          </a:prstGeom>
          <a:noFill/>
          <a:ln w="0">
            <a:noFill/>
            <a:prstDash val="solid"/>
          </a:ln>
        </p:spPr>
        <p:txBody>
          <a:bodyPr wrap="square" lIns="0" tIns="0" rIns="0" bIns="0" anchor="t">
            <a:noAutofit/>
          </a:bodyPr>
          <a:lstStyle>
            <a:defPPr algn="l">
              <a:defRPr sz="1900" b="0">
                <a:solidFill>
                  <a:srgbClr val="183440"/>
                </a:solidFill>
                <a:latin typeface="Arial"/>
                <a:ea typeface="Arial"/>
                <a:cs typeface="Arial"/>
              </a:defRPr>
            </a:defPPr>
            <a:lvl1pPr algn="l">
              <a:buNone/>
              <a:defRPr sz="1900" b="0">
                <a:solidFill>
                  <a:srgbClr val="183440"/>
                </a:solidFill>
                <a:latin typeface="Arial"/>
                <a:ea typeface="Arial"/>
                <a:cs typeface="Arial"/>
              </a:defRPr>
            </a:lvl1pPr>
            <a:lvl2pPr algn="l">
              <a:buNone/>
              <a:defRPr sz="1900" b="0">
                <a:solidFill>
                  <a:srgbClr val="183440"/>
                </a:solidFill>
                <a:latin typeface="Arial"/>
                <a:ea typeface="Arial"/>
                <a:cs typeface="Arial"/>
              </a:defRPr>
            </a:lvl2pPr>
            <a:lvl3pPr algn="l">
              <a:buNone/>
              <a:defRPr sz="1900" b="0">
                <a:solidFill>
                  <a:srgbClr val="183440"/>
                </a:solidFill>
                <a:latin typeface="Arial"/>
                <a:ea typeface="Arial"/>
                <a:cs typeface="Arial"/>
              </a:defRPr>
            </a:lvl3pPr>
            <a:lvl4pPr algn="l">
              <a:buNone/>
              <a:defRPr sz="1900" b="0">
                <a:solidFill>
                  <a:srgbClr val="183440"/>
                </a:solidFill>
                <a:latin typeface="Arial"/>
                <a:ea typeface="Arial"/>
                <a:cs typeface="Arial"/>
              </a:defRPr>
            </a:lvl4pPr>
            <a:lvl5pPr algn="l">
              <a:buNone/>
              <a:defRPr sz="1900" b="0">
                <a:solidFill>
                  <a:srgbClr val="183440"/>
                </a:solidFill>
                <a:latin typeface="Arial"/>
                <a:ea typeface="Arial"/>
                <a:cs typeface="Arial"/>
              </a:defRPr>
            </a:lvl5pPr>
            <a:lvl6pPr algn="l">
              <a:buNone/>
              <a:defRPr sz="1900" b="0">
                <a:solidFill>
                  <a:srgbClr val="183440"/>
                </a:solidFill>
                <a:latin typeface="Arial"/>
                <a:ea typeface="Arial"/>
                <a:cs typeface="Arial"/>
              </a:defRPr>
            </a:lvl6pPr>
            <a:lvl7pPr algn="l">
              <a:buNone/>
              <a:defRPr sz="1900" b="0">
                <a:solidFill>
                  <a:srgbClr val="183440"/>
                </a:solidFill>
                <a:latin typeface="Arial"/>
                <a:ea typeface="Arial"/>
                <a:cs typeface="Arial"/>
              </a:defRPr>
            </a:lvl7pPr>
            <a:lvl8pPr algn="l">
              <a:buNone/>
              <a:defRPr sz="1900" b="0">
                <a:solidFill>
                  <a:srgbClr val="183440"/>
                </a:solidFill>
                <a:latin typeface="Arial"/>
                <a:ea typeface="Arial"/>
                <a:cs typeface="Arial"/>
              </a:defRPr>
            </a:lvl8pPr>
            <a:lvl9pPr algn="l">
              <a:buNone/>
              <a:defRPr sz="1900" b="0">
                <a:solidFill>
                  <a:srgbClr val="183440"/>
                </a:solidFill>
                <a:latin typeface="Arial"/>
                <a:ea typeface="Arial"/>
                <a:cs typeface="Arial"/>
              </a:defRPr>
            </a:lvl9pPr>
          </a:lstStyle>
          <a:p>
            <a:pPr algn="l">
              <a:buNone/>
              <a:defRPr sz="1900" b="0">
                <a:solidFill>
                  <a:srgbClr val="183440"/>
                </a:solidFill>
                <a:latin typeface="Arial"/>
                <a:ea typeface="Arial"/>
                <a:cs typeface="Arial"/>
              </a:defRPr>
            </a:pPr>
            <a:r>
              <a:rPr sz="1900" b="0">
                <a:solidFill>
                  <a:srgbClr val="183440"/>
                </a:solidFill>
                <a:latin typeface="Arial"/>
                <a:ea typeface="Arial"/>
                <a:cs typeface="Arial"/>
              </a:rPr>
              <a:t>USDC certification and separately approved RedCoin investment access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11551286" name="full-text-209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Receipt state connects to verified cash evidence</a:t>
            </a:r>
            <a:endParaRPr/>
          </a:p>
        </p:txBody>
      </p:sp>
      <p:sp>
        <p:nvSpPr>
          <p:cNvPr id="1237426799" name="full-text-209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313576239" name="full-text-210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27</a:t>
            </a:r>
            <a:endParaRPr/>
          </a:p>
        </p:txBody>
      </p:sp>
      <p:sp>
        <p:nvSpPr>
          <p:cNvPr id="1030385624" name="full-text-2101"/>
          <p:cNvSpPr>
            <a:spLocks noGrp="1"/>
          </p:cNvSpPr>
          <p:nvPr/>
        </p:nvSpPr>
        <p:spPr bwMode="auto">
          <a:xfrm>
            <a:off x="609600" y="1962150"/>
            <a:ext cx="5095875"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Shared receipt state</a:t>
            </a:r>
            <a:endParaRPr/>
          </a:p>
        </p:txBody>
      </p:sp>
      <p:sp>
        <p:nvSpPr>
          <p:cNvPr id="1687404085" name="full-text-2102"/>
          <p:cNvSpPr>
            <a:spLocks noGrp="1"/>
          </p:cNvSpPr>
          <p:nvPr/>
        </p:nvSpPr>
        <p:spPr bwMode="auto">
          <a:xfrm>
            <a:off x="609600" y="2514600"/>
            <a:ext cx="5095875"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Approved participants share receipt supply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and transfer states. Custody evidence</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gates every mint.</a:t>
            </a:r>
            <a:endParaRPr/>
          </a:p>
        </p:txBody>
      </p:sp>
      <p:sp>
        <p:nvSpPr>
          <p:cNvPr id="1079309039" name="full-text-2103"/>
          <p:cNvSpPr>
            <a:spLocks noGrp="1"/>
          </p:cNvSpPr>
          <p:nvPr/>
        </p:nvSpPr>
        <p:spPr bwMode="auto">
          <a:xfrm>
            <a:off x="6496050" y="1962150"/>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Cash-asset and FX controls</a:t>
            </a:r>
            <a:endParaRPr/>
          </a:p>
        </p:txBody>
      </p:sp>
      <p:sp>
        <p:nvSpPr>
          <p:cNvPr id="199366017" name="full-text-2104"/>
          <p:cNvSpPr>
            <a:spLocks noGrp="1"/>
          </p:cNvSpPr>
          <p:nvPr/>
        </p:nvSpPr>
        <p:spPr bwMode="auto">
          <a:xfrm>
            <a:off x="6496050" y="2514600"/>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Each settlement identifies its cash asset,</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network and currency. FX quotes carry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an expiry time and counterparty.</a:t>
            </a:r>
            <a:endParaRPr/>
          </a:p>
        </p:txBody>
      </p:sp>
      <p:sp>
        <p:nvSpPr>
          <p:cNvPr id="74330678" name="full-rule-2105"/>
          <p:cNvSpPr>
            <a:spLocks noGrp="1"/>
          </p:cNvSpPr>
          <p:nvPr/>
        </p:nvSpPr>
        <p:spPr bwMode="auto">
          <a:xfrm>
            <a:off x="609600" y="4429125"/>
            <a:ext cx="10972800" cy="0"/>
          </a:xfrm>
          <a:prstGeom prst="line">
            <a:avLst/>
          </a:prstGeom>
          <a:noFill/>
          <a:ln w="11430">
            <a:solidFill>
              <a:srgbClr val="CFD7D1"/>
            </a:solidFill>
            <a:prstDash val="solid"/>
          </a:ln>
        </p:spPr>
      </p:sp>
      <p:sp>
        <p:nvSpPr>
          <p:cNvPr id="480093076" name="full-text-2106"/>
          <p:cNvSpPr>
            <a:spLocks noGrp="1"/>
          </p:cNvSpPr>
          <p:nvPr/>
        </p:nvSpPr>
        <p:spPr bwMode="auto">
          <a:xfrm>
            <a:off x="609600" y="4838700"/>
            <a:ext cx="4286250" cy="428625"/>
          </a:xfrm>
          <a:prstGeom prst="rect">
            <a:avLst/>
          </a:prstGeom>
          <a:noFill/>
          <a:ln w="0">
            <a:noFill/>
            <a:prstDash val="solid"/>
          </a:ln>
        </p:spPr>
        <p:txBody>
          <a:bodyPr wrap="square" lIns="0" tIns="0" rIns="0" bIns="0" anchor="t">
            <a:noAutofit/>
          </a:bodyPr>
          <a:lstStyle>
            <a:defPPr algn="l">
              <a:defRPr sz="2100" b="1">
                <a:solidFill>
                  <a:srgbClr val="AC8743"/>
                </a:solidFill>
                <a:latin typeface="Arial"/>
                <a:ea typeface="Arial"/>
                <a:cs typeface="Arial"/>
              </a:defRPr>
            </a:defPPr>
            <a:lvl1pPr algn="l">
              <a:buNone/>
              <a:defRPr sz="2100" b="1">
                <a:solidFill>
                  <a:srgbClr val="AC8743"/>
                </a:solidFill>
                <a:latin typeface="Arial"/>
                <a:ea typeface="Arial"/>
                <a:cs typeface="Arial"/>
              </a:defRPr>
            </a:lvl1pPr>
            <a:lvl2pPr algn="l">
              <a:buNone/>
              <a:defRPr sz="2100" b="1">
                <a:solidFill>
                  <a:srgbClr val="AC8743"/>
                </a:solidFill>
                <a:latin typeface="Arial"/>
                <a:ea typeface="Arial"/>
                <a:cs typeface="Arial"/>
              </a:defRPr>
            </a:lvl2pPr>
            <a:lvl3pPr algn="l">
              <a:buNone/>
              <a:defRPr sz="2100" b="1">
                <a:solidFill>
                  <a:srgbClr val="AC8743"/>
                </a:solidFill>
                <a:latin typeface="Arial"/>
                <a:ea typeface="Arial"/>
                <a:cs typeface="Arial"/>
              </a:defRPr>
            </a:lvl3pPr>
            <a:lvl4pPr algn="l">
              <a:buNone/>
              <a:defRPr sz="2100" b="1">
                <a:solidFill>
                  <a:srgbClr val="AC8743"/>
                </a:solidFill>
                <a:latin typeface="Arial"/>
                <a:ea typeface="Arial"/>
                <a:cs typeface="Arial"/>
              </a:defRPr>
            </a:lvl4pPr>
            <a:lvl5pPr algn="l">
              <a:buNone/>
              <a:defRPr sz="2100" b="1">
                <a:solidFill>
                  <a:srgbClr val="AC8743"/>
                </a:solidFill>
                <a:latin typeface="Arial"/>
                <a:ea typeface="Arial"/>
                <a:cs typeface="Arial"/>
              </a:defRPr>
            </a:lvl5pPr>
            <a:lvl6pPr algn="l">
              <a:buNone/>
              <a:defRPr sz="2100" b="1">
                <a:solidFill>
                  <a:srgbClr val="AC8743"/>
                </a:solidFill>
                <a:latin typeface="Arial"/>
                <a:ea typeface="Arial"/>
                <a:cs typeface="Arial"/>
              </a:defRPr>
            </a:lvl6pPr>
            <a:lvl7pPr algn="l">
              <a:buNone/>
              <a:defRPr sz="2100" b="1">
                <a:solidFill>
                  <a:srgbClr val="AC8743"/>
                </a:solidFill>
                <a:latin typeface="Arial"/>
                <a:ea typeface="Arial"/>
                <a:cs typeface="Arial"/>
              </a:defRPr>
            </a:lvl7pPr>
            <a:lvl8pPr algn="l">
              <a:buNone/>
              <a:defRPr sz="2100" b="1">
                <a:solidFill>
                  <a:srgbClr val="AC8743"/>
                </a:solidFill>
                <a:latin typeface="Arial"/>
                <a:ea typeface="Arial"/>
                <a:cs typeface="Arial"/>
              </a:defRPr>
            </a:lvl8pPr>
            <a:lvl9pPr algn="l">
              <a:buNone/>
              <a:defRPr sz="2100" b="1">
                <a:solidFill>
                  <a:srgbClr val="AC8743"/>
                </a:solidFill>
                <a:latin typeface="Arial"/>
                <a:ea typeface="Arial"/>
                <a:cs typeface="Arial"/>
              </a:defRPr>
            </a:lvl9pPr>
          </a:lstStyle>
          <a:p>
            <a:pPr algn="l">
              <a:buNone/>
              <a:defRPr sz="2100" b="1">
                <a:solidFill>
                  <a:srgbClr val="AC8743"/>
                </a:solidFill>
                <a:latin typeface="Arial"/>
                <a:ea typeface="Arial"/>
                <a:cs typeface="Arial"/>
              </a:defRPr>
            </a:pPr>
            <a:r>
              <a:rPr sz="2100" b="1">
                <a:solidFill>
                  <a:srgbClr val="AC8743"/>
                </a:solidFill>
                <a:latin typeface="Arial"/>
                <a:ea typeface="Arial"/>
                <a:cs typeface="Arial"/>
              </a:rPr>
              <a:t>Adoption case</a:t>
            </a:r>
            <a:endParaRPr/>
          </a:p>
        </p:txBody>
      </p:sp>
      <p:sp>
        <p:nvSpPr>
          <p:cNvPr id="975852565" name="full-text-2107"/>
          <p:cNvSpPr>
            <a:spLocks noGrp="1"/>
          </p:cNvSpPr>
          <p:nvPr/>
        </p:nvSpPr>
        <p:spPr bwMode="auto">
          <a:xfrm>
            <a:off x="5086350" y="4838700"/>
            <a:ext cx="6496050" cy="1057275"/>
          </a:xfrm>
          <a:prstGeom prst="rect">
            <a:avLst/>
          </a:prstGeom>
          <a:noFill/>
          <a:ln w="0">
            <a:noFill/>
            <a:prstDash val="solid"/>
          </a:ln>
        </p:spPr>
        <p:txBody>
          <a:bodyPr wrap="square" lIns="0" tIns="0" rIns="0" bIns="0" anchor="t">
            <a:noAutofit/>
          </a:bodyPr>
          <a:lstStyle>
            <a:defPPr algn="l">
              <a:defRPr sz="2250" b="1">
                <a:solidFill>
                  <a:srgbClr val="183440"/>
                </a:solidFill>
                <a:latin typeface="Arial"/>
                <a:ea typeface="Arial"/>
                <a:cs typeface="Arial"/>
              </a:defRPr>
            </a:defPPr>
            <a:lvl1pPr algn="l">
              <a:buNone/>
              <a:defRPr sz="2250" b="1">
                <a:solidFill>
                  <a:srgbClr val="183440"/>
                </a:solidFill>
                <a:latin typeface="Arial"/>
                <a:ea typeface="Arial"/>
                <a:cs typeface="Arial"/>
              </a:defRPr>
            </a:lvl1pPr>
            <a:lvl2pPr algn="l">
              <a:buNone/>
              <a:defRPr sz="2250" b="1">
                <a:solidFill>
                  <a:srgbClr val="183440"/>
                </a:solidFill>
                <a:latin typeface="Arial"/>
                <a:ea typeface="Arial"/>
                <a:cs typeface="Arial"/>
              </a:defRPr>
            </a:lvl2pPr>
            <a:lvl3pPr algn="l">
              <a:buNone/>
              <a:defRPr sz="2250" b="1">
                <a:solidFill>
                  <a:srgbClr val="183440"/>
                </a:solidFill>
                <a:latin typeface="Arial"/>
                <a:ea typeface="Arial"/>
                <a:cs typeface="Arial"/>
              </a:defRPr>
            </a:lvl3pPr>
            <a:lvl4pPr algn="l">
              <a:buNone/>
              <a:defRPr sz="2250" b="1">
                <a:solidFill>
                  <a:srgbClr val="183440"/>
                </a:solidFill>
                <a:latin typeface="Arial"/>
                <a:ea typeface="Arial"/>
                <a:cs typeface="Arial"/>
              </a:defRPr>
            </a:lvl4pPr>
            <a:lvl5pPr algn="l">
              <a:buNone/>
              <a:defRPr sz="2250" b="1">
                <a:solidFill>
                  <a:srgbClr val="183440"/>
                </a:solidFill>
                <a:latin typeface="Arial"/>
                <a:ea typeface="Arial"/>
                <a:cs typeface="Arial"/>
              </a:defRPr>
            </a:lvl5pPr>
            <a:lvl6pPr algn="l">
              <a:buNone/>
              <a:defRPr sz="2250" b="1">
                <a:solidFill>
                  <a:srgbClr val="183440"/>
                </a:solidFill>
                <a:latin typeface="Arial"/>
                <a:ea typeface="Arial"/>
                <a:cs typeface="Arial"/>
              </a:defRPr>
            </a:lvl6pPr>
            <a:lvl7pPr algn="l">
              <a:buNone/>
              <a:defRPr sz="2250" b="1">
                <a:solidFill>
                  <a:srgbClr val="183440"/>
                </a:solidFill>
                <a:latin typeface="Arial"/>
                <a:ea typeface="Arial"/>
                <a:cs typeface="Arial"/>
              </a:defRPr>
            </a:lvl7pPr>
            <a:lvl8pPr algn="l">
              <a:buNone/>
              <a:defRPr sz="2250" b="1">
                <a:solidFill>
                  <a:srgbClr val="183440"/>
                </a:solidFill>
                <a:latin typeface="Arial"/>
                <a:ea typeface="Arial"/>
                <a:cs typeface="Arial"/>
              </a:defRPr>
            </a:lvl8pPr>
            <a:lvl9pPr algn="l">
              <a:buNone/>
              <a:defRPr sz="2250" b="1">
                <a:solidFill>
                  <a:srgbClr val="183440"/>
                </a:solidFill>
                <a:latin typeface="Arial"/>
                <a:ea typeface="Arial"/>
                <a:cs typeface="Arial"/>
              </a:defRPr>
            </a:lvl9pPr>
          </a:lstStyle>
          <a:p>
            <a:pPr algn="l">
              <a:buNone/>
              <a:defRPr sz="2250" b="1">
                <a:solidFill>
                  <a:srgbClr val="183440"/>
                </a:solidFill>
                <a:latin typeface="Arial"/>
                <a:ea typeface="Arial"/>
                <a:cs typeface="Arial"/>
              </a:defRPr>
            </a:pPr>
            <a:r>
              <a:rPr sz="2250" b="1">
                <a:solidFill>
                  <a:srgbClr val="183440"/>
                </a:solidFill>
                <a:latin typeface="Arial"/>
                <a:ea typeface="Arial"/>
                <a:cs typeface="Arial"/>
              </a:rPr>
              <a:t>Validate funded-to-invested conversion and repeat use with distribution partners.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264109964" name="full-text-210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Product foundation and next commercial proof</a:t>
            </a:r>
            <a:endParaRPr/>
          </a:p>
        </p:txBody>
      </p:sp>
      <p:sp>
        <p:nvSpPr>
          <p:cNvPr id="1104753130" name="full-text-2109"/>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77805472" name="full-text-211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28</a:t>
            </a:r>
            <a:endParaRPr/>
          </a:p>
        </p:txBody>
      </p:sp>
      <p:sp>
        <p:nvSpPr>
          <p:cNvPr id="180572385" name="full-text-2111"/>
          <p:cNvSpPr>
            <a:spLocks noGrp="1"/>
          </p:cNvSpPr>
          <p:nvPr/>
        </p:nvSpPr>
        <p:spPr bwMode="auto">
          <a:xfrm>
            <a:off x="609600" y="2028825"/>
            <a:ext cx="52387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Completed design work</a:t>
            </a:r>
            <a:endParaRPr/>
          </a:p>
        </p:txBody>
      </p:sp>
      <p:sp>
        <p:nvSpPr>
          <p:cNvPr id="1752008420" name="full-text-2112"/>
          <p:cNvSpPr>
            <a:spLocks noGrp="1"/>
          </p:cNvSpPr>
          <p:nvPr/>
        </p:nvSpPr>
        <p:spPr bwMode="auto">
          <a:xfrm>
            <a:off x="609600" y="2581275"/>
            <a:ext cx="52387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Receipt concept and lifecycle models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Executable trade and ledger test harness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USDC / RedCoin target architecture</a:t>
            </a:r>
            <a:endParaRPr/>
          </a:p>
        </p:txBody>
      </p:sp>
      <p:sp>
        <p:nvSpPr>
          <p:cNvPr id="437325047" name="full-text-2113"/>
          <p:cNvSpPr>
            <a:spLocks noGrp="1"/>
          </p:cNvSpPr>
          <p:nvPr/>
        </p:nvSpPr>
        <p:spPr bwMode="auto">
          <a:xfrm>
            <a:off x="6496050" y="2028825"/>
            <a:ext cx="5086350" cy="428625"/>
          </a:xfrm>
          <a:prstGeom prst="rect">
            <a:avLst/>
          </a:prstGeom>
          <a:noFill/>
          <a:ln w="0">
            <a:noFill/>
            <a:prstDash val="solid"/>
          </a:ln>
        </p:spPr>
        <p:txBody>
          <a:bodyPr wrap="square" lIns="0" tIns="0" rIns="0" bIns="0" anchor="t">
            <a:noAutofit/>
          </a:bodyPr>
          <a:lstStyle>
            <a:defPPr algn="l">
              <a:defRPr sz="2200" b="1">
                <a:solidFill>
                  <a:srgbClr val="176C6B"/>
                </a:solidFill>
                <a:latin typeface="Arial"/>
                <a:ea typeface="Arial"/>
                <a:cs typeface="Arial"/>
              </a:defRPr>
            </a:defPPr>
            <a:lvl1pPr algn="l">
              <a:buNone/>
              <a:defRPr sz="2200" b="1">
                <a:solidFill>
                  <a:srgbClr val="176C6B"/>
                </a:solidFill>
                <a:latin typeface="Arial"/>
                <a:ea typeface="Arial"/>
                <a:cs typeface="Arial"/>
              </a:defRPr>
            </a:lvl1pPr>
            <a:lvl2pPr algn="l">
              <a:buNone/>
              <a:defRPr sz="2200" b="1">
                <a:solidFill>
                  <a:srgbClr val="176C6B"/>
                </a:solidFill>
                <a:latin typeface="Arial"/>
                <a:ea typeface="Arial"/>
                <a:cs typeface="Arial"/>
              </a:defRPr>
            </a:lvl2pPr>
            <a:lvl3pPr algn="l">
              <a:buNone/>
              <a:defRPr sz="2200" b="1">
                <a:solidFill>
                  <a:srgbClr val="176C6B"/>
                </a:solidFill>
                <a:latin typeface="Arial"/>
                <a:ea typeface="Arial"/>
                <a:cs typeface="Arial"/>
              </a:defRPr>
            </a:lvl3pPr>
            <a:lvl4pPr algn="l">
              <a:buNone/>
              <a:defRPr sz="2200" b="1">
                <a:solidFill>
                  <a:srgbClr val="176C6B"/>
                </a:solidFill>
                <a:latin typeface="Arial"/>
                <a:ea typeface="Arial"/>
                <a:cs typeface="Arial"/>
              </a:defRPr>
            </a:lvl4pPr>
            <a:lvl5pPr algn="l">
              <a:buNone/>
              <a:defRPr sz="2200" b="1">
                <a:solidFill>
                  <a:srgbClr val="176C6B"/>
                </a:solidFill>
                <a:latin typeface="Arial"/>
                <a:ea typeface="Arial"/>
                <a:cs typeface="Arial"/>
              </a:defRPr>
            </a:lvl5pPr>
            <a:lvl6pPr algn="l">
              <a:buNone/>
              <a:defRPr sz="2200" b="1">
                <a:solidFill>
                  <a:srgbClr val="176C6B"/>
                </a:solidFill>
                <a:latin typeface="Arial"/>
                <a:ea typeface="Arial"/>
                <a:cs typeface="Arial"/>
              </a:defRPr>
            </a:lvl6pPr>
            <a:lvl7pPr algn="l">
              <a:buNone/>
              <a:defRPr sz="2200" b="1">
                <a:solidFill>
                  <a:srgbClr val="176C6B"/>
                </a:solidFill>
                <a:latin typeface="Arial"/>
                <a:ea typeface="Arial"/>
                <a:cs typeface="Arial"/>
              </a:defRPr>
            </a:lvl7pPr>
            <a:lvl8pPr algn="l">
              <a:buNone/>
              <a:defRPr sz="2200" b="1">
                <a:solidFill>
                  <a:srgbClr val="176C6B"/>
                </a:solidFill>
                <a:latin typeface="Arial"/>
                <a:ea typeface="Arial"/>
                <a:cs typeface="Arial"/>
              </a:defRPr>
            </a:lvl8pPr>
            <a:lvl9pPr algn="l">
              <a:buNone/>
              <a:defRPr sz="2200" b="1">
                <a:solidFill>
                  <a:srgbClr val="176C6B"/>
                </a:solidFill>
                <a:latin typeface="Arial"/>
                <a:ea typeface="Arial"/>
                <a:cs typeface="Arial"/>
              </a:defRPr>
            </a:lvl9pPr>
          </a:lstStyle>
          <a:p>
            <a:pPr algn="l">
              <a:buNone/>
              <a:defRPr sz="2200" b="1">
                <a:solidFill>
                  <a:srgbClr val="176C6B"/>
                </a:solidFill>
                <a:latin typeface="Arial"/>
                <a:ea typeface="Arial"/>
                <a:cs typeface="Arial"/>
              </a:defRPr>
            </a:pPr>
            <a:r>
              <a:rPr sz="2200" b="1">
                <a:solidFill>
                  <a:srgbClr val="176C6B"/>
                </a:solidFill>
                <a:latin typeface="Arial"/>
                <a:ea typeface="Arial"/>
                <a:cs typeface="Arial"/>
              </a:rPr>
              <a:t>Next commercial evidence</a:t>
            </a:r>
            <a:endParaRPr/>
          </a:p>
        </p:txBody>
      </p:sp>
      <p:sp>
        <p:nvSpPr>
          <p:cNvPr id="828835359" name="full-text-2114"/>
          <p:cNvSpPr>
            <a:spLocks noGrp="1"/>
          </p:cNvSpPr>
          <p:nvPr/>
        </p:nvSpPr>
        <p:spPr bwMode="auto">
          <a:xfrm>
            <a:off x="6496050" y="2581275"/>
            <a:ext cx="5086350" cy="1143000"/>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Sponsor and distribution discovery</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Native USDC terms and HSBC access</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Paid programme mandate</a:t>
            </a:r>
            <a:endParaRPr/>
          </a:p>
        </p:txBody>
      </p:sp>
      <p:sp>
        <p:nvSpPr>
          <p:cNvPr id="709834926" name="full-rule-2115"/>
          <p:cNvSpPr>
            <a:spLocks noGrp="1"/>
          </p:cNvSpPr>
          <p:nvPr/>
        </p:nvSpPr>
        <p:spPr bwMode="auto">
          <a:xfrm>
            <a:off x="609600" y="4533900"/>
            <a:ext cx="10972800" cy="0"/>
          </a:xfrm>
          <a:prstGeom prst="line">
            <a:avLst/>
          </a:prstGeom>
          <a:noFill/>
          <a:ln w="11430">
            <a:solidFill>
              <a:srgbClr val="CFD7D1"/>
            </a:solidFill>
            <a:prstDash val="solid"/>
          </a:ln>
        </p:spPr>
      </p:sp>
      <p:sp>
        <p:nvSpPr>
          <p:cNvPr id="1984367867" name="full-text-2116"/>
          <p:cNvSpPr>
            <a:spLocks noGrp="1"/>
          </p:cNvSpPr>
          <p:nvPr/>
        </p:nvSpPr>
        <p:spPr bwMode="auto">
          <a:xfrm>
            <a:off x="609600" y="4981575"/>
            <a:ext cx="2524125" cy="419100"/>
          </a:xfrm>
          <a:prstGeom prst="rect">
            <a:avLst/>
          </a:prstGeom>
          <a:noFill/>
          <a:ln w="0">
            <a:noFill/>
            <a:prstDash val="solid"/>
          </a:ln>
        </p:spPr>
        <p:txBody>
          <a:bodyPr wrap="square" lIns="0" tIns="0" rIns="0" bIns="0" anchor="t">
            <a:noAutofit/>
          </a:bodyPr>
          <a:lstStyle>
            <a:defPPr algn="l">
              <a:defRPr sz="2200" b="1">
                <a:solidFill>
                  <a:srgbClr val="AC8743"/>
                </a:solidFill>
                <a:latin typeface="Arial"/>
                <a:ea typeface="Arial"/>
                <a:cs typeface="Arial"/>
              </a:defRPr>
            </a:defPPr>
            <a:lvl1pPr algn="l">
              <a:buNone/>
              <a:defRPr sz="2200" b="1">
                <a:solidFill>
                  <a:srgbClr val="AC8743"/>
                </a:solidFill>
                <a:latin typeface="Arial"/>
                <a:ea typeface="Arial"/>
                <a:cs typeface="Arial"/>
              </a:defRPr>
            </a:lvl1pPr>
            <a:lvl2pPr algn="l">
              <a:buNone/>
              <a:defRPr sz="2200" b="1">
                <a:solidFill>
                  <a:srgbClr val="AC8743"/>
                </a:solidFill>
                <a:latin typeface="Arial"/>
                <a:ea typeface="Arial"/>
                <a:cs typeface="Arial"/>
              </a:defRPr>
            </a:lvl2pPr>
            <a:lvl3pPr algn="l">
              <a:buNone/>
              <a:defRPr sz="2200" b="1">
                <a:solidFill>
                  <a:srgbClr val="AC8743"/>
                </a:solidFill>
                <a:latin typeface="Arial"/>
                <a:ea typeface="Arial"/>
                <a:cs typeface="Arial"/>
              </a:defRPr>
            </a:lvl3pPr>
            <a:lvl4pPr algn="l">
              <a:buNone/>
              <a:defRPr sz="2200" b="1">
                <a:solidFill>
                  <a:srgbClr val="AC8743"/>
                </a:solidFill>
                <a:latin typeface="Arial"/>
                <a:ea typeface="Arial"/>
                <a:cs typeface="Arial"/>
              </a:defRPr>
            </a:lvl4pPr>
            <a:lvl5pPr algn="l">
              <a:buNone/>
              <a:defRPr sz="2200" b="1">
                <a:solidFill>
                  <a:srgbClr val="AC8743"/>
                </a:solidFill>
                <a:latin typeface="Arial"/>
                <a:ea typeface="Arial"/>
                <a:cs typeface="Arial"/>
              </a:defRPr>
            </a:lvl5pPr>
            <a:lvl6pPr algn="l">
              <a:buNone/>
              <a:defRPr sz="2200" b="1">
                <a:solidFill>
                  <a:srgbClr val="AC8743"/>
                </a:solidFill>
                <a:latin typeface="Arial"/>
                <a:ea typeface="Arial"/>
                <a:cs typeface="Arial"/>
              </a:defRPr>
            </a:lvl6pPr>
            <a:lvl7pPr algn="l">
              <a:buNone/>
              <a:defRPr sz="2200" b="1">
                <a:solidFill>
                  <a:srgbClr val="AC8743"/>
                </a:solidFill>
                <a:latin typeface="Arial"/>
                <a:ea typeface="Arial"/>
                <a:cs typeface="Arial"/>
              </a:defRPr>
            </a:lvl7pPr>
            <a:lvl8pPr algn="l">
              <a:buNone/>
              <a:defRPr sz="2200" b="1">
                <a:solidFill>
                  <a:srgbClr val="AC8743"/>
                </a:solidFill>
                <a:latin typeface="Arial"/>
                <a:ea typeface="Arial"/>
                <a:cs typeface="Arial"/>
              </a:defRPr>
            </a:lvl8pPr>
            <a:lvl9pPr algn="l">
              <a:buNone/>
              <a:defRPr sz="2200" b="1">
                <a:solidFill>
                  <a:srgbClr val="AC8743"/>
                </a:solidFill>
                <a:latin typeface="Arial"/>
                <a:ea typeface="Arial"/>
                <a:cs typeface="Arial"/>
              </a:defRPr>
            </a:lvl9pPr>
          </a:lstStyle>
          <a:p>
            <a:pPr algn="l">
              <a:buNone/>
              <a:defRPr sz="2200" b="1">
                <a:solidFill>
                  <a:srgbClr val="AC8743"/>
                </a:solidFill>
                <a:latin typeface="Arial"/>
                <a:ea typeface="Arial"/>
                <a:cs typeface="Arial"/>
              </a:defRPr>
            </a:pPr>
            <a:r>
              <a:rPr sz="2200" b="1">
                <a:solidFill>
                  <a:srgbClr val="AC8743"/>
                </a:solidFill>
                <a:latin typeface="Arial"/>
                <a:ea typeface="Arial"/>
                <a:cs typeface="Arial"/>
              </a:rPr>
              <a:t>Current stage</a:t>
            </a:r>
            <a:endParaRPr/>
          </a:p>
        </p:txBody>
      </p:sp>
      <p:sp>
        <p:nvSpPr>
          <p:cNvPr id="1546033500" name="full-text-2117"/>
          <p:cNvSpPr>
            <a:spLocks noGrp="1"/>
          </p:cNvSpPr>
          <p:nvPr/>
        </p:nvSpPr>
        <p:spPr bwMode="auto">
          <a:xfrm>
            <a:off x="3371850" y="4981575"/>
            <a:ext cx="8210550" cy="990600"/>
          </a:xfrm>
          <a:prstGeom prst="rect">
            <a:avLst/>
          </a:prstGeom>
          <a:noFill/>
          <a:ln w="0">
            <a:noFill/>
            <a:prstDash val="solid"/>
          </a:ln>
        </p:spPr>
        <p:txBody>
          <a:bodyPr wrap="square" lIns="0" tIns="0" rIns="0" bIns="0" anchor="t">
            <a:noAutofit/>
          </a:bodyPr>
          <a:lstStyle>
            <a:defPPr algn="l">
              <a:defRPr sz="2350" b="1">
                <a:solidFill>
                  <a:srgbClr val="183440"/>
                </a:solidFill>
                <a:latin typeface="Arial"/>
                <a:ea typeface="Arial"/>
                <a:cs typeface="Arial"/>
              </a:defRPr>
            </a:defPPr>
            <a:lvl1pPr algn="l">
              <a:buNone/>
              <a:defRPr sz="2350" b="1">
                <a:solidFill>
                  <a:srgbClr val="183440"/>
                </a:solidFill>
                <a:latin typeface="Arial"/>
                <a:ea typeface="Arial"/>
                <a:cs typeface="Arial"/>
              </a:defRPr>
            </a:lvl1pPr>
            <a:lvl2pPr algn="l">
              <a:buNone/>
              <a:defRPr sz="2350" b="1">
                <a:solidFill>
                  <a:srgbClr val="183440"/>
                </a:solidFill>
                <a:latin typeface="Arial"/>
                <a:ea typeface="Arial"/>
                <a:cs typeface="Arial"/>
              </a:defRPr>
            </a:lvl2pPr>
            <a:lvl3pPr algn="l">
              <a:buNone/>
              <a:defRPr sz="2350" b="1">
                <a:solidFill>
                  <a:srgbClr val="183440"/>
                </a:solidFill>
                <a:latin typeface="Arial"/>
                <a:ea typeface="Arial"/>
                <a:cs typeface="Arial"/>
              </a:defRPr>
            </a:lvl3pPr>
            <a:lvl4pPr algn="l">
              <a:buNone/>
              <a:defRPr sz="2350" b="1">
                <a:solidFill>
                  <a:srgbClr val="183440"/>
                </a:solidFill>
                <a:latin typeface="Arial"/>
                <a:ea typeface="Arial"/>
                <a:cs typeface="Arial"/>
              </a:defRPr>
            </a:lvl4pPr>
            <a:lvl5pPr algn="l">
              <a:buNone/>
              <a:defRPr sz="2350" b="1">
                <a:solidFill>
                  <a:srgbClr val="183440"/>
                </a:solidFill>
                <a:latin typeface="Arial"/>
                <a:ea typeface="Arial"/>
                <a:cs typeface="Arial"/>
              </a:defRPr>
            </a:lvl5pPr>
            <a:lvl6pPr algn="l">
              <a:buNone/>
              <a:defRPr sz="2350" b="1">
                <a:solidFill>
                  <a:srgbClr val="183440"/>
                </a:solidFill>
                <a:latin typeface="Arial"/>
                <a:ea typeface="Arial"/>
                <a:cs typeface="Arial"/>
              </a:defRPr>
            </a:lvl6pPr>
            <a:lvl7pPr algn="l">
              <a:buNone/>
              <a:defRPr sz="2350" b="1">
                <a:solidFill>
                  <a:srgbClr val="183440"/>
                </a:solidFill>
                <a:latin typeface="Arial"/>
                <a:ea typeface="Arial"/>
                <a:cs typeface="Arial"/>
              </a:defRPr>
            </a:lvl7pPr>
            <a:lvl8pPr algn="l">
              <a:buNone/>
              <a:defRPr sz="2350" b="1">
                <a:solidFill>
                  <a:srgbClr val="183440"/>
                </a:solidFill>
                <a:latin typeface="Arial"/>
                <a:ea typeface="Arial"/>
                <a:cs typeface="Arial"/>
              </a:defRPr>
            </a:lvl8pPr>
            <a:lvl9pPr algn="l">
              <a:buNone/>
              <a:defRPr sz="2350" b="1">
                <a:solidFill>
                  <a:srgbClr val="183440"/>
                </a:solidFill>
                <a:latin typeface="Arial"/>
                <a:ea typeface="Arial"/>
                <a:cs typeface="Arial"/>
              </a:defRPr>
            </a:lvl9pPr>
          </a:lstStyle>
          <a:p>
            <a:pPr algn="l">
              <a:buNone/>
              <a:defRPr sz="2350" b="1">
                <a:solidFill>
                  <a:srgbClr val="183440"/>
                </a:solidFill>
                <a:latin typeface="Arial"/>
                <a:ea typeface="Arial"/>
                <a:cs typeface="Arial"/>
              </a:defRPr>
            </a:pPr>
            <a:r>
              <a:rPr sz="2350" b="1">
                <a:solidFill>
                  <a:srgbClr val="183440"/>
                </a:solidFill>
                <a:latin typeface="Arial"/>
                <a:ea typeface="Arial"/>
                <a:cs typeface="Arial"/>
              </a:rPr>
              <a:t>Pre-launch product development.</a:t>
            </a:r>
            <a:endParaRPr/>
          </a:p>
          <a:p>
            <a:pPr algn="l">
              <a:buNone/>
              <a:defRPr sz="2350" b="1">
                <a:solidFill>
                  <a:srgbClr val="183440"/>
                </a:solidFill>
                <a:latin typeface="Arial"/>
                <a:ea typeface="Arial"/>
                <a:cs typeface="Arial"/>
              </a:defRPr>
            </a:pPr>
            <a:r>
              <a:rPr sz="2350" b="1">
                <a:solidFill>
                  <a:srgbClr val="183440"/>
                </a:solidFill>
                <a:latin typeface="Arial"/>
                <a:ea typeface="Arial"/>
                <a:cs typeface="Arial"/>
              </a:rPr>
              <a:t>Receipt permissions and cash-rail terms remain ahead.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975526272" name="text-43"/>
          <p:cNvSpPr>
            <a:spLocks noGrp="1"/>
          </p:cNvSpPr>
          <p:nvPr/>
        </p:nvSpPr>
        <p:spPr bwMode="auto">
          <a:xfrm>
            <a:off x="609600" y="523875"/>
            <a:ext cx="10858500" cy="685800"/>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A launch plan with measurable gates</a:t>
            </a:r>
            <a:endParaRPr/>
          </a:p>
        </p:txBody>
      </p:sp>
      <p:sp>
        <p:nvSpPr>
          <p:cNvPr id="554201766" name="text-44"/>
          <p:cNvSpPr>
            <a:spLocks noGrp="1"/>
          </p:cNvSpPr>
          <p:nvPr/>
        </p:nvSpPr>
        <p:spPr bwMode="auto">
          <a:xfrm>
            <a:off x="609600" y="6438899"/>
            <a:ext cx="2857500" cy="228600"/>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880024918" name="text-45"/>
          <p:cNvSpPr>
            <a:spLocks noGrp="1"/>
          </p:cNvSpPr>
          <p:nvPr/>
        </p:nvSpPr>
        <p:spPr bwMode="auto">
          <a:xfrm>
            <a:off x="11049000" y="6438899"/>
            <a:ext cx="533400" cy="228600"/>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29</a:t>
            </a:r>
            <a:endParaRPr/>
          </a:p>
        </p:txBody>
      </p:sp>
      <p:sp>
        <p:nvSpPr>
          <p:cNvPr id="294163224" name="text-46"/>
          <p:cNvSpPr>
            <a:spLocks noGrp="1"/>
          </p:cNvSpPr>
          <p:nvPr/>
        </p:nvSpPr>
        <p:spPr bwMode="auto">
          <a:xfrm>
            <a:off x="609600" y="1428750"/>
            <a:ext cx="4191000"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Roles to contract</a:t>
            </a:r>
            <a:endParaRPr/>
          </a:p>
        </p:txBody>
      </p:sp>
      <p:sp>
        <p:nvSpPr>
          <p:cNvPr id="1458051023" name="text-47"/>
          <p:cNvSpPr>
            <a:spLocks noGrp="1"/>
          </p:cNvSpPr>
          <p:nvPr/>
        </p:nvSpPr>
        <p:spPr bwMode="auto">
          <a:xfrm>
            <a:off x="609600" y="1952625"/>
            <a:ext cx="4191000" cy="38100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Programme partners</a:t>
            </a:r>
            <a:endParaRPr/>
          </a:p>
        </p:txBody>
      </p:sp>
      <p:sp>
        <p:nvSpPr>
          <p:cNvPr id="1240618715" name="text-48"/>
          <p:cNvSpPr>
            <a:spLocks noGrp="1"/>
          </p:cNvSpPr>
          <p:nvPr/>
        </p:nvSpPr>
        <p:spPr bwMode="auto">
          <a:xfrm>
            <a:off x="609600" y="2457450"/>
            <a:ext cx="4238625" cy="10001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Global issuer, registrar and custody</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Stablecoin / FX settlement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Jurisdiction-specific counsel</a:t>
            </a:r>
            <a:endParaRPr/>
          </a:p>
        </p:txBody>
      </p:sp>
      <p:sp>
        <p:nvSpPr>
          <p:cNvPr id="932880615" name="text-49"/>
          <p:cNvSpPr>
            <a:spLocks noGrp="1"/>
          </p:cNvSpPr>
          <p:nvPr/>
        </p:nvSpPr>
        <p:spPr bwMode="auto">
          <a:xfrm>
            <a:off x="609600" y="3790949"/>
            <a:ext cx="4191000" cy="400050"/>
          </a:xfrm>
          <a:prstGeom prst="rect">
            <a:avLst/>
          </a:prstGeom>
          <a:noFill/>
          <a:ln w="0">
            <a:noFill/>
            <a:prstDash val="solid"/>
          </a:ln>
        </p:spPr>
        <p:txBody>
          <a:bodyPr wrap="square" lIns="0" tIns="0" rIns="0" bIns="0" anchor="t">
            <a:noAutofit/>
          </a:bodyPr>
          <a:lstStyle>
            <a:defPPr algn="l">
              <a:defRPr sz="2200" b="1">
                <a:solidFill>
                  <a:srgbClr val="183440"/>
                </a:solidFill>
                <a:latin typeface="Arial"/>
                <a:ea typeface="Arial"/>
                <a:cs typeface="Arial"/>
              </a:defRPr>
            </a:defPPr>
            <a:lvl1pPr algn="l">
              <a:buNone/>
              <a:defRPr sz="2200" b="1">
                <a:solidFill>
                  <a:srgbClr val="183440"/>
                </a:solidFill>
                <a:latin typeface="Arial"/>
                <a:ea typeface="Arial"/>
                <a:cs typeface="Arial"/>
              </a:defRPr>
            </a:lvl1pPr>
            <a:lvl2pPr algn="l">
              <a:buNone/>
              <a:defRPr sz="2200" b="1">
                <a:solidFill>
                  <a:srgbClr val="183440"/>
                </a:solidFill>
                <a:latin typeface="Arial"/>
                <a:ea typeface="Arial"/>
                <a:cs typeface="Arial"/>
              </a:defRPr>
            </a:lvl2pPr>
            <a:lvl3pPr algn="l">
              <a:buNone/>
              <a:defRPr sz="2200" b="1">
                <a:solidFill>
                  <a:srgbClr val="183440"/>
                </a:solidFill>
                <a:latin typeface="Arial"/>
                <a:ea typeface="Arial"/>
                <a:cs typeface="Arial"/>
              </a:defRPr>
            </a:lvl3pPr>
            <a:lvl4pPr algn="l">
              <a:buNone/>
              <a:defRPr sz="2200" b="1">
                <a:solidFill>
                  <a:srgbClr val="183440"/>
                </a:solidFill>
                <a:latin typeface="Arial"/>
                <a:ea typeface="Arial"/>
                <a:cs typeface="Arial"/>
              </a:defRPr>
            </a:lvl4pPr>
            <a:lvl5pPr algn="l">
              <a:buNone/>
              <a:defRPr sz="2200" b="1">
                <a:solidFill>
                  <a:srgbClr val="183440"/>
                </a:solidFill>
                <a:latin typeface="Arial"/>
                <a:ea typeface="Arial"/>
                <a:cs typeface="Arial"/>
              </a:defRPr>
            </a:lvl5pPr>
            <a:lvl6pPr algn="l">
              <a:buNone/>
              <a:defRPr sz="2200" b="1">
                <a:solidFill>
                  <a:srgbClr val="183440"/>
                </a:solidFill>
                <a:latin typeface="Arial"/>
                <a:ea typeface="Arial"/>
                <a:cs typeface="Arial"/>
              </a:defRPr>
            </a:lvl6pPr>
            <a:lvl7pPr algn="l">
              <a:buNone/>
              <a:defRPr sz="2200" b="1">
                <a:solidFill>
                  <a:srgbClr val="183440"/>
                </a:solidFill>
                <a:latin typeface="Arial"/>
                <a:ea typeface="Arial"/>
                <a:cs typeface="Arial"/>
              </a:defRPr>
            </a:lvl7pPr>
            <a:lvl8pPr algn="l">
              <a:buNone/>
              <a:defRPr sz="2200" b="1">
                <a:solidFill>
                  <a:srgbClr val="183440"/>
                </a:solidFill>
                <a:latin typeface="Arial"/>
                <a:ea typeface="Arial"/>
                <a:cs typeface="Arial"/>
              </a:defRPr>
            </a:lvl8pPr>
            <a:lvl9pPr algn="l">
              <a:buNone/>
              <a:defRPr sz="2200" b="1">
                <a:solidFill>
                  <a:srgbClr val="183440"/>
                </a:solidFill>
                <a:latin typeface="Arial"/>
                <a:ea typeface="Arial"/>
                <a:cs typeface="Arial"/>
              </a:defRPr>
            </a:lvl9pPr>
          </a:lstStyle>
          <a:p>
            <a:pPr algn="l">
              <a:buNone/>
              <a:defRPr sz="2200" b="1">
                <a:solidFill>
                  <a:srgbClr val="183440"/>
                </a:solidFill>
                <a:latin typeface="Arial"/>
                <a:ea typeface="Arial"/>
                <a:cs typeface="Arial"/>
              </a:defRPr>
            </a:pPr>
            <a:r>
              <a:rPr sz="2200" b="1">
                <a:solidFill>
                  <a:srgbClr val="183440"/>
                </a:solidFill>
                <a:latin typeface="Arial"/>
                <a:ea typeface="Arial"/>
                <a:cs typeface="Arial"/>
              </a:rPr>
              <a:t>Distribution partners</a:t>
            </a:r>
            <a:endParaRPr/>
          </a:p>
        </p:txBody>
      </p:sp>
      <p:sp>
        <p:nvSpPr>
          <p:cNvPr id="983962576" name="text-50"/>
          <p:cNvSpPr>
            <a:spLocks noGrp="1"/>
          </p:cNvSpPr>
          <p:nvPr/>
        </p:nvSpPr>
        <p:spPr bwMode="auto">
          <a:xfrm>
            <a:off x="609600" y="4276725"/>
            <a:ext cx="4238625" cy="1038225"/>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USDC wallet ecosystem distributors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RedCoin investment-access partners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Broker and liquidity agreements</a:t>
            </a:r>
            <a:endParaRPr/>
          </a:p>
        </p:txBody>
      </p:sp>
      <p:sp>
        <p:nvSpPr>
          <p:cNvPr id="1611004610" name="text-51"/>
          <p:cNvSpPr>
            <a:spLocks noGrp="1"/>
          </p:cNvSpPr>
          <p:nvPr/>
        </p:nvSpPr>
        <p:spPr bwMode="auto">
          <a:xfrm>
            <a:off x="609600" y="5619750"/>
            <a:ext cx="4476750" cy="657225"/>
          </a:xfrm>
          <a:prstGeom prst="rect">
            <a:avLst/>
          </a:prstGeom>
          <a:noFill/>
          <a:ln w="0">
            <a:noFill/>
            <a:prstDash val="solid"/>
          </a:ln>
        </p:spPr>
        <p:txBody>
          <a:bodyPr wrap="square" lIns="0" tIns="0" rIns="0" bIns="0" anchor="t">
            <a:noAutofit/>
          </a:bodyPr>
          <a:lstStyle>
            <a:defPPr algn="l">
              <a:defRPr sz="1600" b="0">
                <a:solidFill>
                  <a:srgbClr val="183440"/>
                </a:solidFill>
                <a:latin typeface="Arial"/>
                <a:ea typeface="Arial"/>
                <a:cs typeface="Arial"/>
              </a:defRPr>
            </a:defPPr>
            <a:lvl1pPr algn="l">
              <a:buNone/>
              <a:defRPr sz="1600" b="0">
                <a:solidFill>
                  <a:srgbClr val="183440"/>
                </a:solidFill>
                <a:latin typeface="Arial"/>
                <a:ea typeface="Arial"/>
                <a:cs typeface="Arial"/>
              </a:defRPr>
            </a:lvl1pPr>
            <a:lvl2pPr algn="l">
              <a:buNone/>
              <a:defRPr sz="1600" b="0">
                <a:solidFill>
                  <a:srgbClr val="183440"/>
                </a:solidFill>
                <a:latin typeface="Arial"/>
                <a:ea typeface="Arial"/>
                <a:cs typeface="Arial"/>
              </a:defRPr>
            </a:lvl2pPr>
            <a:lvl3pPr algn="l">
              <a:buNone/>
              <a:defRPr sz="1600" b="0">
                <a:solidFill>
                  <a:srgbClr val="183440"/>
                </a:solidFill>
                <a:latin typeface="Arial"/>
                <a:ea typeface="Arial"/>
                <a:cs typeface="Arial"/>
              </a:defRPr>
            </a:lvl3pPr>
            <a:lvl4pPr algn="l">
              <a:buNone/>
              <a:defRPr sz="1600" b="0">
                <a:solidFill>
                  <a:srgbClr val="183440"/>
                </a:solidFill>
                <a:latin typeface="Arial"/>
                <a:ea typeface="Arial"/>
                <a:cs typeface="Arial"/>
              </a:defRPr>
            </a:lvl4pPr>
            <a:lvl5pPr algn="l">
              <a:buNone/>
              <a:defRPr sz="1600" b="0">
                <a:solidFill>
                  <a:srgbClr val="183440"/>
                </a:solidFill>
                <a:latin typeface="Arial"/>
                <a:ea typeface="Arial"/>
                <a:cs typeface="Arial"/>
              </a:defRPr>
            </a:lvl5pPr>
            <a:lvl6pPr algn="l">
              <a:buNone/>
              <a:defRPr sz="1600" b="0">
                <a:solidFill>
                  <a:srgbClr val="183440"/>
                </a:solidFill>
                <a:latin typeface="Arial"/>
                <a:ea typeface="Arial"/>
                <a:cs typeface="Arial"/>
              </a:defRPr>
            </a:lvl6pPr>
            <a:lvl7pPr algn="l">
              <a:buNone/>
              <a:defRPr sz="1600" b="0">
                <a:solidFill>
                  <a:srgbClr val="183440"/>
                </a:solidFill>
                <a:latin typeface="Arial"/>
                <a:ea typeface="Arial"/>
                <a:cs typeface="Arial"/>
              </a:defRPr>
            </a:lvl7pPr>
            <a:lvl8pPr algn="l">
              <a:buNone/>
              <a:defRPr sz="1600" b="0">
                <a:solidFill>
                  <a:srgbClr val="183440"/>
                </a:solidFill>
                <a:latin typeface="Arial"/>
                <a:ea typeface="Arial"/>
                <a:cs typeface="Arial"/>
              </a:defRPr>
            </a:lvl8pPr>
            <a:lvl9pPr algn="l">
              <a:buNone/>
              <a:defRPr sz="1600" b="0">
                <a:solidFill>
                  <a:srgbClr val="183440"/>
                </a:solidFill>
                <a:latin typeface="Arial"/>
                <a:ea typeface="Arial"/>
                <a:cs typeface="Arial"/>
              </a:defRPr>
            </a:lvl9pPr>
          </a:lstStyle>
          <a:p>
            <a:pPr algn="l">
              <a:buNone/>
              <a:defRPr sz="1600" b="0">
                <a:solidFill>
                  <a:srgbClr val="183440"/>
                </a:solidFill>
                <a:latin typeface="Arial"/>
                <a:ea typeface="Arial"/>
                <a:cs typeface="Arial"/>
              </a:defRPr>
            </a:pPr>
            <a:r>
              <a:rPr sz="1600" b="0">
                <a:solidFill>
                  <a:srgbClr val="183440"/>
                </a:solidFill>
                <a:latin typeface="Arial"/>
                <a:ea typeface="Arial"/>
                <a:cs typeface="Arial"/>
              </a:rPr>
              <a:t>Timeline starts at funding close.</a:t>
            </a:r>
            <a:endParaRPr/>
          </a:p>
          <a:p>
            <a:pPr algn="l">
              <a:buNone/>
              <a:defRPr sz="1600" b="0">
                <a:solidFill>
                  <a:srgbClr val="183440"/>
                </a:solidFill>
                <a:latin typeface="Arial"/>
                <a:ea typeface="Arial"/>
                <a:cs typeface="Arial"/>
              </a:defRPr>
            </a:pPr>
            <a:r>
              <a:rPr sz="1600" b="0">
                <a:solidFill>
                  <a:srgbClr val="183440"/>
                </a:solidFill>
                <a:latin typeface="Arial"/>
                <a:ea typeface="Arial"/>
                <a:cs typeface="Arial"/>
              </a:rPr>
              <a:t>Each gate requires partner acceptance.</a:t>
            </a:r>
            <a:endParaRPr/>
          </a:p>
        </p:txBody>
      </p:sp>
      <p:sp>
        <p:nvSpPr>
          <p:cNvPr id="757592430" name="text-52"/>
          <p:cNvSpPr>
            <a:spLocks noGrp="1"/>
          </p:cNvSpPr>
          <p:nvPr/>
        </p:nvSpPr>
        <p:spPr bwMode="auto">
          <a:xfrm>
            <a:off x="5543550" y="1428750"/>
            <a:ext cx="6048375" cy="400050"/>
          </a:xfrm>
          <a:prstGeom prst="rect">
            <a:avLst/>
          </a:prstGeom>
          <a:noFill/>
          <a:ln w="0">
            <a:noFill/>
            <a:prstDash val="solid"/>
          </a:ln>
        </p:spPr>
        <p:txBody>
          <a:bodyPr wrap="square" lIns="0" tIns="0" rIns="0" bIns="0" anchor="t">
            <a:noAutofit/>
          </a:bodyPr>
          <a:lstStyle>
            <a:defPPr algn="l">
              <a:defRPr sz="2050" b="1">
                <a:solidFill>
                  <a:srgbClr val="176C6B"/>
                </a:solidFill>
                <a:latin typeface="Arial"/>
                <a:ea typeface="Arial"/>
                <a:cs typeface="Arial"/>
              </a:defRPr>
            </a:defPPr>
            <a:lvl1pPr algn="l">
              <a:buNone/>
              <a:defRPr sz="2050" b="1">
                <a:solidFill>
                  <a:srgbClr val="176C6B"/>
                </a:solidFill>
                <a:latin typeface="Arial"/>
                <a:ea typeface="Arial"/>
                <a:cs typeface="Arial"/>
              </a:defRPr>
            </a:lvl1pPr>
            <a:lvl2pPr algn="l">
              <a:buNone/>
              <a:defRPr sz="2050" b="1">
                <a:solidFill>
                  <a:srgbClr val="176C6B"/>
                </a:solidFill>
                <a:latin typeface="Arial"/>
                <a:ea typeface="Arial"/>
                <a:cs typeface="Arial"/>
              </a:defRPr>
            </a:lvl2pPr>
            <a:lvl3pPr algn="l">
              <a:buNone/>
              <a:defRPr sz="2050" b="1">
                <a:solidFill>
                  <a:srgbClr val="176C6B"/>
                </a:solidFill>
                <a:latin typeface="Arial"/>
                <a:ea typeface="Arial"/>
                <a:cs typeface="Arial"/>
              </a:defRPr>
            </a:lvl3pPr>
            <a:lvl4pPr algn="l">
              <a:buNone/>
              <a:defRPr sz="2050" b="1">
                <a:solidFill>
                  <a:srgbClr val="176C6B"/>
                </a:solidFill>
                <a:latin typeface="Arial"/>
                <a:ea typeface="Arial"/>
                <a:cs typeface="Arial"/>
              </a:defRPr>
            </a:lvl4pPr>
            <a:lvl5pPr algn="l">
              <a:buNone/>
              <a:defRPr sz="2050" b="1">
                <a:solidFill>
                  <a:srgbClr val="176C6B"/>
                </a:solidFill>
                <a:latin typeface="Arial"/>
                <a:ea typeface="Arial"/>
                <a:cs typeface="Arial"/>
              </a:defRPr>
            </a:lvl5pPr>
            <a:lvl6pPr algn="l">
              <a:buNone/>
              <a:defRPr sz="2050" b="1">
                <a:solidFill>
                  <a:srgbClr val="176C6B"/>
                </a:solidFill>
                <a:latin typeface="Arial"/>
                <a:ea typeface="Arial"/>
                <a:cs typeface="Arial"/>
              </a:defRPr>
            </a:lvl6pPr>
            <a:lvl7pPr algn="l">
              <a:buNone/>
              <a:defRPr sz="2050" b="1">
                <a:solidFill>
                  <a:srgbClr val="176C6B"/>
                </a:solidFill>
                <a:latin typeface="Arial"/>
                <a:ea typeface="Arial"/>
                <a:cs typeface="Arial"/>
              </a:defRPr>
            </a:lvl7pPr>
            <a:lvl8pPr algn="l">
              <a:buNone/>
              <a:defRPr sz="2050" b="1">
                <a:solidFill>
                  <a:srgbClr val="176C6B"/>
                </a:solidFill>
                <a:latin typeface="Arial"/>
                <a:ea typeface="Arial"/>
                <a:cs typeface="Arial"/>
              </a:defRPr>
            </a:lvl8pPr>
            <a:lvl9pPr algn="l">
              <a:buNone/>
              <a:defRPr sz="2050" b="1">
                <a:solidFill>
                  <a:srgbClr val="176C6B"/>
                </a:solidFill>
                <a:latin typeface="Arial"/>
                <a:ea typeface="Arial"/>
                <a:cs typeface="Arial"/>
              </a:defRPr>
            </a:lvl9pPr>
          </a:lstStyle>
          <a:p>
            <a:pPr algn="l">
              <a:buNone/>
              <a:defRPr sz="2050" b="1">
                <a:solidFill>
                  <a:srgbClr val="176C6B"/>
                </a:solidFill>
                <a:latin typeface="Arial"/>
                <a:ea typeface="Arial"/>
                <a:cs typeface="Arial"/>
              </a:defRPr>
            </a:pPr>
            <a:r>
              <a:rPr sz="2050" b="1">
                <a:solidFill>
                  <a:srgbClr val="176C6B"/>
                </a:solidFill>
                <a:latin typeface="Arial"/>
                <a:ea typeface="Arial"/>
                <a:cs typeface="Arial"/>
              </a:rPr>
              <a:t>Proposed milestones from funding close</a:t>
            </a:r>
            <a:endParaRPr/>
          </a:p>
        </p:txBody>
      </p:sp>
      <p:sp>
        <p:nvSpPr>
          <p:cNvPr id="210660234" name="text-53"/>
          <p:cNvSpPr>
            <a:spLocks noGrp="1"/>
          </p:cNvSpPr>
          <p:nvPr/>
        </p:nvSpPr>
        <p:spPr bwMode="auto">
          <a:xfrm>
            <a:off x="5543550" y="204787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0–6</a:t>
            </a:r>
            <a:endParaRPr/>
          </a:p>
        </p:txBody>
      </p:sp>
      <p:sp>
        <p:nvSpPr>
          <p:cNvPr id="911793059" name="text-54"/>
          <p:cNvSpPr>
            <a:spLocks noGrp="1"/>
          </p:cNvSpPr>
          <p:nvPr/>
        </p:nvSpPr>
        <p:spPr bwMode="auto">
          <a:xfrm>
            <a:off x="5543550" y="240982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Anchor sponsor and cash-rail terms</a:t>
            </a:r>
            <a:endParaRPr/>
          </a:p>
        </p:txBody>
      </p:sp>
      <p:sp>
        <p:nvSpPr>
          <p:cNvPr id="1030847828" name="text-55"/>
          <p:cNvSpPr>
            <a:spLocks noGrp="1"/>
          </p:cNvSpPr>
          <p:nvPr/>
        </p:nvSpPr>
        <p:spPr bwMode="auto">
          <a:xfrm>
            <a:off x="5543550" y="280987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Launch jurisdiction, native USDC and RedCoin access</a:t>
            </a:r>
            <a:endParaRPr/>
          </a:p>
        </p:txBody>
      </p:sp>
      <p:sp>
        <p:nvSpPr>
          <p:cNvPr id="1232342772" name="rule-56"/>
          <p:cNvSpPr>
            <a:spLocks noGrp="1"/>
          </p:cNvSpPr>
          <p:nvPr/>
        </p:nvSpPr>
        <p:spPr bwMode="auto">
          <a:xfrm>
            <a:off x="5543550" y="3228975"/>
            <a:ext cx="6038850" cy="0"/>
          </a:xfrm>
          <a:prstGeom prst="line">
            <a:avLst/>
          </a:prstGeom>
          <a:noFill/>
          <a:ln w="11430">
            <a:solidFill>
              <a:srgbClr val="CFD7D1"/>
            </a:solidFill>
            <a:prstDash val="solid"/>
          </a:ln>
        </p:spPr>
      </p:sp>
      <p:sp>
        <p:nvSpPr>
          <p:cNvPr id="1520594958" name="text-57"/>
          <p:cNvSpPr>
            <a:spLocks noGrp="1"/>
          </p:cNvSpPr>
          <p:nvPr/>
        </p:nvSpPr>
        <p:spPr bwMode="auto">
          <a:xfrm>
            <a:off x="5543550" y="3314700"/>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7–12</a:t>
            </a:r>
            <a:endParaRPr/>
          </a:p>
        </p:txBody>
      </p:sp>
      <p:sp>
        <p:nvSpPr>
          <p:cNvPr id="2096409722" name="text-58"/>
          <p:cNvSpPr>
            <a:spLocks noGrp="1"/>
          </p:cNvSpPr>
          <p:nvPr/>
        </p:nvSpPr>
        <p:spPr bwMode="auto">
          <a:xfrm>
            <a:off x="5543550" y="3676650"/>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USDC route and receipt certification</a:t>
            </a:r>
            <a:endParaRPr/>
          </a:p>
        </p:txBody>
      </p:sp>
      <p:sp>
        <p:nvSpPr>
          <p:cNvPr id="691364002" name="text-59"/>
          <p:cNvSpPr>
            <a:spLocks noGrp="1"/>
          </p:cNvSpPr>
          <p:nvPr/>
        </p:nvSpPr>
        <p:spPr bwMode="auto">
          <a:xfrm>
            <a:off x="5543550" y="4076699"/>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Custody, cash finality and audited contracts</a:t>
            </a:r>
            <a:endParaRPr/>
          </a:p>
        </p:txBody>
      </p:sp>
      <p:sp>
        <p:nvSpPr>
          <p:cNvPr id="1769285572" name="rule-60"/>
          <p:cNvSpPr>
            <a:spLocks noGrp="1"/>
          </p:cNvSpPr>
          <p:nvPr/>
        </p:nvSpPr>
        <p:spPr bwMode="auto">
          <a:xfrm>
            <a:off x="5543550" y="4495800"/>
            <a:ext cx="6038850" cy="0"/>
          </a:xfrm>
          <a:prstGeom prst="line">
            <a:avLst/>
          </a:prstGeom>
          <a:noFill/>
          <a:ln w="11430">
            <a:solidFill>
              <a:srgbClr val="CFD7D1"/>
            </a:solidFill>
            <a:prstDash val="solid"/>
          </a:ln>
        </p:spPr>
      </p:sp>
      <p:sp>
        <p:nvSpPr>
          <p:cNvPr id="449016438" name="text-61"/>
          <p:cNvSpPr>
            <a:spLocks noGrp="1"/>
          </p:cNvSpPr>
          <p:nvPr/>
        </p:nvSpPr>
        <p:spPr bwMode="auto">
          <a:xfrm>
            <a:off x="5543550" y="4581525"/>
            <a:ext cx="6000750" cy="295274"/>
          </a:xfrm>
          <a:prstGeom prst="rect">
            <a:avLst/>
          </a:prstGeom>
          <a:noFill/>
          <a:ln w="0">
            <a:noFill/>
            <a:prstDash val="solid"/>
          </a:ln>
        </p:spPr>
        <p:txBody>
          <a:bodyPr wrap="square" lIns="0" tIns="0" rIns="0" bIns="0" anchor="t">
            <a:noAutofit/>
          </a:bodyPr>
          <a:lstStyle>
            <a:defPPr algn="l">
              <a:defRPr sz="1650" b="1">
                <a:solidFill>
                  <a:srgbClr val="AC8743"/>
                </a:solidFill>
                <a:latin typeface="Arial"/>
                <a:ea typeface="Arial"/>
                <a:cs typeface="Arial"/>
              </a:defRPr>
            </a:defPPr>
            <a:lvl1pPr algn="l">
              <a:buNone/>
              <a:defRPr sz="1650" b="1">
                <a:solidFill>
                  <a:srgbClr val="AC8743"/>
                </a:solidFill>
                <a:latin typeface="Arial"/>
                <a:ea typeface="Arial"/>
                <a:cs typeface="Arial"/>
              </a:defRPr>
            </a:lvl1pPr>
            <a:lvl2pPr algn="l">
              <a:buNone/>
              <a:defRPr sz="1650" b="1">
                <a:solidFill>
                  <a:srgbClr val="AC8743"/>
                </a:solidFill>
                <a:latin typeface="Arial"/>
                <a:ea typeface="Arial"/>
                <a:cs typeface="Arial"/>
              </a:defRPr>
            </a:lvl2pPr>
            <a:lvl3pPr algn="l">
              <a:buNone/>
              <a:defRPr sz="1650" b="1">
                <a:solidFill>
                  <a:srgbClr val="AC8743"/>
                </a:solidFill>
                <a:latin typeface="Arial"/>
                <a:ea typeface="Arial"/>
                <a:cs typeface="Arial"/>
              </a:defRPr>
            </a:lvl3pPr>
            <a:lvl4pPr algn="l">
              <a:buNone/>
              <a:defRPr sz="1650" b="1">
                <a:solidFill>
                  <a:srgbClr val="AC8743"/>
                </a:solidFill>
                <a:latin typeface="Arial"/>
                <a:ea typeface="Arial"/>
                <a:cs typeface="Arial"/>
              </a:defRPr>
            </a:lvl4pPr>
            <a:lvl5pPr algn="l">
              <a:buNone/>
              <a:defRPr sz="1650" b="1">
                <a:solidFill>
                  <a:srgbClr val="AC8743"/>
                </a:solidFill>
                <a:latin typeface="Arial"/>
                <a:ea typeface="Arial"/>
                <a:cs typeface="Arial"/>
              </a:defRPr>
            </a:lvl5pPr>
            <a:lvl6pPr algn="l">
              <a:buNone/>
              <a:defRPr sz="1650" b="1">
                <a:solidFill>
                  <a:srgbClr val="AC8743"/>
                </a:solidFill>
                <a:latin typeface="Arial"/>
                <a:ea typeface="Arial"/>
                <a:cs typeface="Arial"/>
              </a:defRPr>
            </a:lvl6pPr>
            <a:lvl7pPr algn="l">
              <a:buNone/>
              <a:defRPr sz="1650" b="1">
                <a:solidFill>
                  <a:srgbClr val="AC8743"/>
                </a:solidFill>
                <a:latin typeface="Arial"/>
                <a:ea typeface="Arial"/>
                <a:cs typeface="Arial"/>
              </a:defRPr>
            </a:lvl7pPr>
            <a:lvl8pPr algn="l">
              <a:buNone/>
              <a:defRPr sz="1650" b="1">
                <a:solidFill>
                  <a:srgbClr val="AC8743"/>
                </a:solidFill>
                <a:latin typeface="Arial"/>
                <a:ea typeface="Arial"/>
                <a:cs typeface="Arial"/>
              </a:defRPr>
            </a:lvl8pPr>
            <a:lvl9pPr algn="l">
              <a:buNone/>
              <a:defRPr sz="1650" b="1">
                <a:solidFill>
                  <a:srgbClr val="AC8743"/>
                </a:solidFill>
                <a:latin typeface="Arial"/>
                <a:ea typeface="Arial"/>
                <a:cs typeface="Arial"/>
              </a:defRPr>
            </a:lvl9pPr>
          </a:lstStyle>
          <a:p>
            <a:pPr algn="l">
              <a:buNone/>
              <a:defRPr sz="1650" b="1">
                <a:solidFill>
                  <a:srgbClr val="AC8743"/>
                </a:solidFill>
                <a:latin typeface="Arial"/>
                <a:ea typeface="Arial"/>
                <a:cs typeface="Arial"/>
              </a:defRPr>
            </a:pPr>
            <a:r>
              <a:rPr sz="1650" b="1">
                <a:solidFill>
                  <a:srgbClr val="AC8743"/>
                </a:solidFill>
                <a:latin typeface="Arial"/>
                <a:ea typeface="Arial"/>
                <a:cs typeface="Arial"/>
              </a:rPr>
              <a:t>Months 13–24</a:t>
            </a:r>
            <a:endParaRPr/>
          </a:p>
        </p:txBody>
      </p:sp>
      <p:sp>
        <p:nvSpPr>
          <p:cNvPr id="1266819503" name="text-62"/>
          <p:cNvSpPr>
            <a:spLocks noGrp="1"/>
          </p:cNvSpPr>
          <p:nvPr/>
        </p:nvSpPr>
        <p:spPr bwMode="auto">
          <a:xfrm>
            <a:off x="5543550" y="4943475"/>
            <a:ext cx="6000750" cy="400050"/>
          </a:xfrm>
          <a:prstGeom prst="rect">
            <a:avLst/>
          </a:prstGeom>
          <a:noFill/>
          <a:ln w="0">
            <a:noFill/>
            <a:prstDash val="solid"/>
          </a:ln>
        </p:spPr>
        <p:txBody>
          <a:bodyPr wrap="square" lIns="0" tIns="0" rIns="0" bIns="0" anchor="t">
            <a:noAutofit/>
          </a:bodyPr>
          <a:lstStyle>
            <a:defPPr algn="l">
              <a:defRPr sz="1950" b="1">
                <a:solidFill>
                  <a:srgbClr val="183440"/>
                </a:solidFill>
                <a:latin typeface="Arial"/>
                <a:ea typeface="Arial"/>
                <a:cs typeface="Arial"/>
              </a:defRPr>
            </a:defPPr>
            <a:lvl1pPr algn="l">
              <a:buNone/>
              <a:defRPr sz="1950" b="1">
                <a:solidFill>
                  <a:srgbClr val="183440"/>
                </a:solidFill>
                <a:latin typeface="Arial"/>
                <a:ea typeface="Arial"/>
                <a:cs typeface="Arial"/>
              </a:defRPr>
            </a:lvl1pPr>
            <a:lvl2pPr algn="l">
              <a:buNone/>
              <a:defRPr sz="1950" b="1">
                <a:solidFill>
                  <a:srgbClr val="183440"/>
                </a:solidFill>
                <a:latin typeface="Arial"/>
                <a:ea typeface="Arial"/>
                <a:cs typeface="Arial"/>
              </a:defRPr>
            </a:lvl2pPr>
            <a:lvl3pPr algn="l">
              <a:buNone/>
              <a:defRPr sz="1950" b="1">
                <a:solidFill>
                  <a:srgbClr val="183440"/>
                </a:solidFill>
                <a:latin typeface="Arial"/>
                <a:ea typeface="Arial"/>
                <a:cs typeface="Arial"/>
              </a:defRPr>
            </a:lvl3pPr>
            <a:lvl4pPr algn="l">
              <a:buNone/>
              <a:defRPr sz="1950" b="1">
                <a:solidFill>
                  <a:srgbClr val="183440"/>
                </a:solidFill>
                <a:latin typeface="Arial"/>
                <a:ea typeface="Arial"/>
                <a:cs typeface="Arial"/>
              </a:defRPr>
            </a:lvl4pPr>
            <a:lvl5pPr algn="l">
              <a:buNone/>
              <a:defRPr sz="1950" b="1">
                <a:solidFill>
                  <a:srgbClr val="183440"/>
                </a:solidFill>
                <a:latin typeface="Arial"/>
                <a:ea typeface="Arial"/>
                <a:cs typeface="Arial"/>
              </a:defRPr>
            </a:lvl5pPr>
            <a:lvl6pPr algn="l">
              <a:buNone/>
              <a:defRPr sz="1950" b="1">
                <a:solidFill>
                  <a:srgbClr val="183440"/>
                </a:solidFill>
                <a:latin typeface="Arial"/>
                <a:ea typeface="Arial"/>
                <a:cs typeface="Arial"/>
              </a:defRPr>
            </a:lvl6pPr>
            <a:lvl7pPr algn="l">
              <a:buNone/>
              <a:defRPr sz="1950" b="1">
                <a:solidFill>
                  <a:srgbClr val="183440"/>
                </a:solidFill>
                <a:latin typeface="Arial"/>
                <a:ea typeface="Arial"/>
                <a:cs typeface="Arial"/>
              </a:defRPr>
            </a:lvl7pPr>
            <a:lvl8pPr algn="l">
              <a:buNone/>
              <a:defRPr sz="1950" b="1">
                <a:solidFill>
                  <a:srgbClr val="183440"/>
                </a:solidFill>
                <a:latin typeface="Arial"/>
                <a:ea typeface="Arial"/>
                <a:cs typeface="Arial"/>
              </a:defRPr>
            </a:lvl8pPr>
            <a:lvl9pPr algn="l">
              <a:buNone/>
              <a:defRPr sz="1950" b="1">
                <a:solidFill>
                  <a:srgbClr val="183440"/>
                </a:solidFill>
                <a:latin typeface="Arial"/>
                <a:ea typeface="Arial"/>
                <a:cs typeface="Arial"/>
              </a:defRPr>
            </a:lvl9pPr>
          </a:lstStyle>
          <a:p>
            <a:pPr algn="l">
              <a:buNone/>
              <a:defRPr sz="1950" b="1">
                <a:solidFill>
                  <a:srgbClr val="183440"/>
                </a:solidFill>
                <a:latin typeface="Arial"/>
                <a:ea typeface="Arial"/>
                <a:cs typeface="Arial"/>
              </a:defRPr>
            </a:pPr>
            <a:r>
              <a:rPr sz="1950" b="1">
                <a:solidFill>
                  <a:srgbClr val="183440"/>
                </a:solidFill>
                <a:latin typeface="Arial"/>
                <a:ea typeface="Arial"/>
                <a:cs typeface="Arial"/>
              </a:rPr>
              <a:t>Launch and expand eligible distribution</a:t>
            </a:r>
            <a:endParaRPr/>
          </a:p>
        </p:txBody>
      </p:sp>
      <p:sp>
        <p:nvSpPr>
          <p:cNvPr id="697763460" name="text-63"/>
          <p:cNvSpPr>
            <a:spLocks noGrp="1"/>
          </p:cNvSpPr>
          <p:nvPr/>
        </p:nvSpPr>
        <p:spPr bwMode="auto">
          <a:xfrm>
            <a:off x="5543550" y="5343525"/>
            <a:ext cx="6000750" cy="419100"/>
          </a:xfrm>
          <a:prstGeom prst="rect">
            <a:avLst/>
          </a:prstGeom>
          <a:noFill/>
          <a:ln w="0">
            <a:noFill/>
            <a:prstDash val="solid"/>
          </a:ln>
        </p:spPr>
        <p:txBody>
          <a:bodyPr wrap="square" lIns="0" tIns="0" rIns="0" bIns="0" anchor="t">
            <a:noAutofit/>
          </a:bodyPr>
          <a:lstStyle>
            <a:defPPr algn="l">
              <a:defRPr sz="1650" b="0">
                <a:solidFill>
                  <a:srgbClr val="53676D"/>
                </a:solidFill>
                <a:latin typeface="Arial"/>
                <a:ea typeface="Arial"/>
                <a:cs typeface="Arial"/>
              </a:defRPr>
            </a:defPPr>
            <a:lvl1pPr algn="l">
              <a:buNone/>
              <a:defRPr sz="1650" b="0">
                <a:solidFill>
                  <a:srgbClr val="53676D"/>
                </a:solidFill>
                <a:latin typeface="Arial"/>
                <a:ea typeface="Arial"/>
                <a:cs typeface="Arial"/>
              </a:defRPr>
            </a:lvl1pPr>
            <a:lvl2pPr algn="l">
              <a:buNone/>
              <a:defRPr sz="1650" b="0">
                <a:solidFill>
                  <a:srgbClr val="53676D"/>
                </a:solidFill>
                <a:latin typeface="Arial"/>
                <a:ea typeface="Arial"/>
                <a:cs typeface="Arial"/>
              </a:defRPr>
            </a:lvl2pPr>
            <a:lvl3pPr algn="l">
              <a:buNone/>
              <a:defRPr sz="1650" b="0">
                <a:solidFill>
                  <a:srgbClr val="53676D"/>
                </a:solidFill>
                <a:latin typeface="Arial"/>
                <a:ea typeface="Arial"/>
                <a:cs typeface="Arial"/>
              </a:defRPr>
            </a:lvl3pPr>
            <a:lvl4pPr algn="l">
              <a:buNone/>
              <a:defRPr sz="1650" b="0">
                <a:solidFill>
                  <a:srgbClr val="53676D"/>
                </a:solidFill>
                <a:latin typeface="Arial"/>
                <a:ea typeface="Arial"/>
                <a:cs typeface="Arial"/>
              </a:defRPr>
            </a:lvl4pPr>
            <a:lvl5pPr algn="l">
              <a:buNone/>
              <a:defRPr sz="1650" b="0">
                <a:solidFill>
                  <a:srgbClr val="53676D"/>
                </a:solidFill>
                <a:latin typeface="Arial"/>
                <a:ea typeface="Arial"/>
                <a:cs typeface="Arial"/>
              </a:defRPr>
            </a:lvl5pPr>
            <a:lvl6pPr algn="l">
              <a:buNone/>
              <a:defRPr sz="1650" b="0">
                <a:solidFill>
                  <a:srgbClr val="53676D"/>
                </a:solidFill>
                <a:latin typeface="Arial"/>
                <a:ea typeface="Arial"/>
                <a:cs typeface="Arial"/>
              </a:defRPr>
            </a:lvl6pPr>
            <a:lvl7pPr algn="l">
              <a:buNone/>
              <a:defRPr sz="1650" b="0">
                <a:solidFill>
                  <a:srgbClr val="53676D"/>
                </a:solidFill>
                <a:latin typeface="Arial"/>
                <a:ea typeface="Arial"/>
                <a:cs typeface="Arial"/>
              </a:defRPr>
            </a:lvl7pPr>
            <a:lvl8pPr algn="l">
              <a:buNone/>
              <a:defRPr sz="1650" b="0">
                <a:solidFill>
                  <a:srgbClr val="53676D"/>
                </a:solidFill>
                <a:latin typeface="Arial"/>
                <a:ea typeface="Arial"/>
                <a:cs typeface="Arial"/>
              </a:defRPr>
            </a:lvl8pPr>
            <a:lvl9pPr algn="l">
              <a:buNone/>
              <a:defRPr sz="1650" b="0">
                <a:solidFill>
                  <a:srgbClr val="53676D"/>
                </a:solidFill>
                <a:latin typeface="Arial"/>
                <a:ea typeface="Arial"/>
                <a:cs typeface="Arial"/>
              </a:defRPr>
            </a:lvl9pPr>
          </a:lstStyle>
          <a:p>
            <a:pPr algn="l">
              <a:buNone/>
              <a:defRPr sz="1650" b="0">
                <a:solidFill>
                  <a:srgbClr val="53676D"/>
                </a:solidFill>
                <a:latin typeface="Arial"/>
                <a:ea typeface="Arial"/>
                <a:cs typeface="Arial"/>
              </a:defRPr>
            </a:pPr>
            <a:r>
              <a:rPr sz="1650" b="0">
                <a:solidFill>
                  <a:srgbClr val="53676D"/>
                </a:solidFill>
                <a:latin typeface="Arial"/>
                <a:ea typeface="Arial"/>
                <a:cs typeface="Arial"/>
              </a:rPr>
              <a:t>5 series, 2 brokers, 2 LPs. RedCoin access gated.</a:t>
            </a:r>
            <a:endParaRPr/>
          </a:p>
        </p:txBody>
      </p:sp>
      <p:sp>
        <p:nvSpPr>
          <p:cNvPr id="87891088" name="text-64"/>
          <p:cNvSpPr>
            <a:spLocks noGrp="1"/>
          </p:cNvSpPr>
          <p:nvPr/>
        </p:nvSpPr>
        <p:spPr bwMode="auto">
          <a:xfrm>
            <a:off x="5543550" y="5905500"/>
            <a:ext cx="6048375" cy="438149"/>
          </a:xfrm>
          <a:prstGeom prst="rect">
            <a:avLst/>
          </a:prstGeom>
          <a:noFill/>
          <a:ln w="0">
            <a:noFill/>
            <a:prstDash val="solid"/>
          </a:ln>
        </p:spPr>
        <p:txBody>
          <a:bodyPr wrap="square" lIns="0" tIns="0" rIns="0" bIns="0" anchor="t">
            <a:noAutofit/>
          </a:bodyPr>
          <a:lstStyle>
            <a:defPPr algn="l">
              <a:defRPr sz="1450" b="0">
                <a:solidFill>
                  <a:srgbClr val="53676D"/>
                </a:solidFill>
                <a:latin typeface="Arial"/>
                <a:ea typeface="Arial"/>
                <a:cs typeface="Arial"/>
              </a:defRPr>
            </a:defPPr>
            <a:lvl1pPr algn="l">
              <a:buNone/>
              <a:defRPr sz="1450" b="0">
                <a:solidFill>
                  <a:srgbClr val="53676D"/>
                </a:solidFill>
                <a:latin typeface="Arial"/>
                <a:ea typeface="Arial"/>
                <a:cs typeface="Arial"/>
              </a:defRPr>
            </a:lvl1pPr>
            <a:lvl2pPr algn="l">
              <a:buNone/>
              <a:defRPr sz="1450" b="0">
                <a:solidFill>
                  <a:srgbClr val="53676D"/>
                </a:solidFill>
                <a:latin typeface="Arial"/>
                <a:ea typeface="Arial"/>
                <a:cs typeface="Arial"/>
              </a:defRPr>
            </a:lvl2pPr>
            <a:lvl3pPr algn="l">
              <a:buNone/>
              <a:defRPr sz="1450" b="0">
                <a:solidFill>
                  <a:srgbClr val="53676D"/>
                </a:solidFill>
                <a:latin typeface="Arial"/>
                <a:ea typeface="Arial"/>
                <a:cs typeface="Arial"/>
              </a:defRPr>
            </a:lvl3pPr>
            <a:lvl4pPr algn="l">
              <a:buNone/>
              <a:defRPr sz="1450" b="0">
                <a:solidFill>
                  <a:srgbClr val="53676D"/>
                </a:solidFill>
                <a:latin typeface="Arial"/>
                <a:ea typeface="Arial"/>
                <a:cs typeface="Arial"/>
              </a:defRPr>
            </a:lvl4pPr>
            <a:lvl5pPr algn="l">
              <a:buNone/>
              <a:defRPr sz="1450" b="0">
                <a:solidFill>
                  <a:srgbClr val="53676D"/>
                </a:solidFill>
                <a:latin typeface="Arial"/>
                <a:ea typeface="Arial"/>
                <a:cs typeface="Arial"/>
              </a:defRPr>
            </a:lvl5pPr>
            <a:lvl6pPr algn="l">
              <a:buNone/>
              <a:defRPr sz="1450" b="0">
                <a:solidFill>
                  <a:srgbClr val="53676D"/>
                </a:solidFill>
                <a:latin typeface="Arial"/>
                <a:ea typeface="Arial"/>
                <a:cs typeface="Arial"/>
              </a:defRPr>
            </a:lvl6pPr>
            <a:lvl7pPr algn="l">
              <a:buNone/>
              <a:defRPr sz="1450" b="0">
                <a:solidFill>
                  <a:srgbClr val="53676D"/>
                </a:solidFill>
                <a:latin typeface="Arial"/>
                <a:ea typeface="Arial"/>
                <a:cs typeface="Arial"/>
              </a:defRPr>
            </a:lvl7pPr>
            <a:lvl8pPr algn="l">
              <a:buNone/>
              <a:defRPr sz="1450" b="0">
                <a:solidFill>
                  <a:srgbClr val="53676D"/>
                </a:solidFill>
                <a:latin typeface="Arial"/>
                <a:ea typeface="Arial"/>
                <a:cs typeface="Arial"/>
              </a:defRPr>
            </a:lvl8pPr>
            <a:lvl9pPr algn="l">
              <a:buNone/>
              <a:defRPr sz="1450" b="0">
                <a:solidFill>
                  <a:srgbClr val="53676D"/>
                </a:solidFill>
                <a:latin typeface="Arial"/>
                <a:ea typeface="Arial"/>
                <a:cs typeface="Arial"/>
              </a:defRPr>
            </a:lvl9pPr>
          </a:lstStyle>
          <a:p>
            <a:pPr algn="l">
              <a:buNone/>
              <a:defRPr sz="1450" b="0">
                <a:solidFill>
                  <a:srgbClr val="53676D"/>
                </a:solidFill>
                <a:latin typeface="Arial"/>
                <a:ea typeface="Arial"/>
                <a:cs typeface="Arial"/>
              </a:defRPr>
            </a:pPr>
            <a:r>
              <a:rPr sz="1450" b="0">
                <a:solidFill>
                  <a:srgbClr val="53676D"/>
                </a:solidFill>
                <a:latin typeface="Arial"/>
                <a:ea typeface="Arial"/>
                <a:cs typeface="Arial"/>
              </a:rPr>
              <a:t>Permissions and signed cash-rail terms determine rollout.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97132661" name="budget-revision-text-22"/>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US$3 million expansion round</a:t>
            </a:r>
            <a:endParaRPr/>
          </a:p>
        </p:txBody>
      </p:sp>
      <p:sp>
        <p:nvSpPr>
          <p:cNvPr id="759498724" name="budget-revision-text-23"/>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use of funds. Itemized spending and allocation reconciliation appear on slides 34-35.</a:t>
            </a:r>
            <a:endParaRPr/>
          </a:p>
        </p:txBody>
      </p:sp>
      <p:sp>
        <p:nvSpPr>
          <p:cNvPr id="927658646" name="budget-revision-text-24"/>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41932872" name="budget-revision-text-25"/>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30</a:t>
            </a:r>
            <a:endParaRPr/>
          </a:p>
        </p:txBody>
      </p:sp>
      <p:sp>
        <p:nvSpPr>
          <p:cNvPr id="1848745226" name="budget-revision-text-26"/>
          <p:cNvSpPr>
            <a:spLocks noGrp="1"/>
          </p:cNvSpPr>
          <p:nvPr/>
        </p:nvSpPr>
        <p:spPr bwMode="auto">
          <a:xfrm>
            <a:off x="8362950" y="2200275"/>
            <a:ext cx="3219449" cy="666750"/>
          </a:xfrm>
          <a:prstGeom prst="rect">
            <a:avLst/>
          </a:prstGeom>
          <a:noFill/>
          <a:ln w="0">
            <a:noFill/>
            <a:prstDash val="solid"/>
          </a:ln>
        </p:spPr>
        <p:txBody>
          <a:bodyPr wrap="square" lIns="0" tIns="0" rIns="0" bIns="0" anchor="t">
            <a:noAutofit/>
          </a:bodyPr>
          <a:lstStyle>
            <a:defPPr algn="l">
              <a:defRPr sz="3550" b="1">
                <a:solidFill>
                  <a:srgbClr val="183440"/>
                </a:solidFill>
                <a:latin typeface="Arial"/>
                <a:ea typeface="Arial"/>
                <a:cs typeface="Arial"/>
              </a:defRPr>
            </a:defPPr>
            <a:lvl1pPr algn="l">
              <a:buNone/>
              <a:defRPr sz="3550" b="1">
                <a:solidFill>
                  <a:srgbClr val="183440"/>
                </a:solidFill>
                <a:latin typeface="Arial"/>
                <a:ea typeface="Arial"/>
                <a:cs typeface="Arial"/>
              </a:defRPr>
            </a:lvl1pPr>
            <a:lvl2pPr algn="l">
              <a:buNone/>
              <a:defRPr sz="3550" b="1">
                <a:solidFill>
                  <a:srgbClr val="183440"/>
                </a:solidFill>
                <a:latin typeface="Arial"/>
                <a:ea typeface="Arial"/>
                <a:cs typeface="Arial"/>
              </a:defRPr>
            </a:lvl2pPr>
            <a:lvl3pPr algn="l">
              <a:buNone/>
              <a:defRPr sz="3550" b="1">
                <a:solidFill>
                  <a:srgbClr val="183440"/>
                </a:solidFill>
                <a:latin typeface="Arial"/>
                <a:ea typeface="Arial"/>
                <a:cs typeface="Arial"/>
              </a:defRPr>
            </a:lvl3pPr>
            <a:lvl4pPr algn="l">
              <a:buNone/>
              <a:defRPr sz="3550" b="1">
                <a:solidFill>
                  <a:srgbClr val="183440"/>
                </a:solidFill>
                <a:latin typeface="Arial"/>
                <a:ea typeface="Arial"/>
                <a:cs typeface="Arial"/>
              </a:defRPr>
            </a:lvl4pPr>
            <a:lvl5pPr algn="l">
              <a:buNone/>
              <a:defRPr sz="3550" b="1">
                <a:solidFill>
                  <a:srgbClr val="183440"/>
                </a:solidFill>
                <a:latin typeface="Arial"/>
                <a:ea typeface="Arial"/>
                <a:cs typeface="Arial"/>
              </a:defRPr>
            </a:lvl5pPr>
            <a:lvl6pPr algn="l">
              <a:buNone/>
              <a:defRPr sz="3550" b="1">
                <a:solidFill>
                  <a:srgbClr val="183440"/>
                </a:solidFill>
                <a:latin typeface="Arial"/>
                <a:ea typeface="Arial"/>
                <a:cs typeface="Arial"/>
              </a:defRPr>
            </a:lvl6pPr>
            <a:lvl7pPr algn="l">
              <a:buNone/>
              <a:defRPr sz="3550" b="1">
                <a:solidFill>
                  <a:srgbClr val="183440"/>
                </a:solidFill>
                <a:latin typeface="Arial"/>
                <a:ea typeface="Arial"/>
                <a:cs typeface="Arial"/>
              </a:defRPr>
            </a:lvl7pPr>
            <a:lvl8pPr algn="l">
              <a:buNone/>
              <a:defRPr sz="3550" b="1">
                <a:solidFill>
                  <a:srgbClr val="183440"/>
                </a:solidFill>
                <a:latin typeface="Arial"/>
                <a:ea typeface="Arial"/>
                <a:cs typeface="Arial"/>
              </a:defRPr>
            </a:lvl8pPr>
            <a:lvl9pPr algn="l">
              <a:buNone/>
              <a:defRPr sz="3550" b="1">
                <a:solidFill>
                  <a:srgbClr val="183440"/>
                </a:solidFill>
                <a:latin typeface="Arial"/>
                <a:ea typeface="Arial"/>
                <a:cs typeface="Arial"/>
              </a:defRPr>
            </a:lvl9pPr>
          </a:lstStyle>
          <a:p>
            <a:pPr algn="l">
              <a:buNone/>
              <a:defRPr sz="3550" b="1">
                <a:solidFill>
                  <a:srgbClr val="183440"/>
                </a:solidFill>
                <a:latin typeface="Arial"/>
                <a:ea typeface="Arial"/>
                <a:cs typeface="Arial"/>
              </a:defRPr>
            </a:pPr>
            <a:r>
              <a:rPr sz="3550" b="1">
                <a:solidFill>
                  <a:srgbClr val="183440"/>
                </a:solidFill>
                <a:latin typeface="Arial"/>
                <a:ea typeface="Arial"/>
                <a:cs typeface="Arial"/>
              </a:rPr>
              <a:t>24 months</a:t>
            </a:r>
            <a:endParaRPr/>
          </a:p>
        </p:txBody>
      </p:sp>
      <p:sp>
        <p:nvSpPr>
          <p:cNvPr id="525476218" name="budget-revision-text-27"/>
          <p:cNvSpPr>
            <a:spLocks noGrp="1"/>
          </p:cNvSpPr>
          <p:nvPr/>
        </p:nvSpPr>
        <p:spPr bwMode="auto">
          <a:xfrm>
            <a:off x="8362950" y="2952750"/>
            <a:ext cx="3219449" cy="390525"/>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planning horizon</a:t>
            </a:r>
            <a:endParaRPr/>
          </a:p>
        </p:txBody>
      </p:sp>
      <p:sp>
        <p:nvSpPr>
          <p:cNvPr id="73564836" name="budget-revision-text-28"/>
          <p:cNvSpPr>
            <a:spLocks noGrp="1"/>
          </p:cNvSpPr>
          <p:nvPr/>
        </p:nvSpPr>
        <p:spPr bwMode="auto">
          <a:xfrm>
            <a:off x="8362950" y="3629025"/>
            <a:ext cx="3219449" cy="552450"/>
          </a:xfrm>
          <a:prstGeom prst="rect">
            <a:avLst/>
          </a:prstGeom>
          <a:noFill/>
          <a:ln w="0">
            <a:noFill/>
            <a:prstDash val="solid"/>
          </a:ln>
        </p:spPr>
        <p:txBody>
          <a:bodyPr wrap="square" lIns="0" tIns="0" rIns="0" bIns="0" anchor="t">
            <a:noAutofit/>
          </a:bodyPr>
          <a:lstStyle>
            <a:defPPr algn="l">
              <a:defRPr sz="2700" b="1">
                <a:solidFill>
                  <a:srgbClr val="176C6B"/>
                </a:solidFill>
                <a:latin typeface="Arial"/>
                <a:ea typeface="Arial"/>
                <a:cs typeface="Arial"/>
              </a:defRPr>
            </a:defPPr>
            <a:lvl1pPr algn="l">
              <a:buNone/>
              <a:defRPr sz="2700" b="1">
                <a:solidFill>
                  <a:srgbClr val="176C6B"/>
                </a:solidFill>
                <a:latin typeface="Arial"/>
                <a:ea typeface="Arial"/>
                <a:cs typeface="Arial"/>
              </a:defRPr>
            </a:lvl1pPr>
            <a:lvl2pPr algn="l">
              <a:buNone/>
              <a:defRPr sz="2700" b="1">
                <a:solidFill>
                  <a:srgbClr val="176C6B"/>
                </a:solidFill>
                <a:latin typeface="Arial"/>
                <a:ea typeface="Arial"/>
                <a:cs typeface="Arial"/>
              </a:defRPr>
            </a:lvl2pPr>
            <a:lvl3pPr algn="l">
              <a:buNone/>
              <a:defRPr sz="2700" b="1">
                <a:solidFill>
                  <a:srgbClr val="176C6B"/>
                </a:solidFill>
                <a:latin typeface="Arial"/>
                <a:ea typeface="Arial"/>
                <a:cs typeface="Arial"/>
              </a:defRPr>
            </a:lvl3pPr>
            <a:lvl4pPr algn="l">
              <a:buNone/>
              <a:defRPr sz="2700" b="1">
                <a:solidFill>
                  <a:srgbClr val="176C6B"/>
                </a:solidFill>
                <a:latin typeface="Arial"/>
                <a:ea typeface="Arial"/>
                <a:cs typeface="Arial"/>
              </a:defRPr>
            </a:lvl4pPr>
            <a:lvl5pPr algn="l">
              <a:buNone/>
              <a:defRPr sz="2700" b="1">
                <a:solidFill>
                  <a:srgbClr val="176C6B"/>
                </a:solidFill>
                <a:latin typeface="Arial"/>
                <a:ea typeface="Arial"/>
                <a:cs typeface="Arial"/>
              </a:defRPr>
            </a:lvl5pPr>
            <a:lvl6pPr algn="l">
              <a:buNone/>
              <a:defRPr sz="2700" b="1">
                <a:solidFill>
                  <a:srgbClr val="176C6B"/>
                </a:solidFill>
                <a:latin typeface="Arial"/>
                <a:ea typeface="Arial"/>
                <a:cs typeface="Arial"/>
              </a:defRPr>
            </a:lvl6pPr>
            <a:lvl7pPr algn="l">
              <a:buNone/>
              <a:defRPr sz="2700" b="1">
                <a:solidFill>
                  <a:srgbClr val="176C6B"/>
                </a:solidFill>
                <a:latin typeface="Arial"/>
                <a:ea typeface="Arial"/>
                <a:cs typeface="Arial"/>
              </a:defRPr>
            </a:lvl7pPr>
            <a:lvl8pPr algn="l">
              <a:buNone/>
              <a:defRPr sz="2700" b="1">
                <a:solidFill>
                  <a:srgbClr val="176C6B"/>
                </a:solidFill>
                <a:latin typeface="Arial"/>
                <a:ea typeface="Arial"/>
                <a:cs typeface="Arial"/>
              </a:defRPr>
            </a:lvl8pPr>
            <a:lvl9pPr algn="l">
              <a:buNone/>
              <a:defRPr sz="2700" b="1">
                <a:solidFill>
                  <a:srgbClr val="176C6B"/>
                </a:solidFill>
                <a:latin typeface="Arial"/>
                <a:ea typeface="Arial"/>
                <a:cs typeface="Arial"/>
              </a:defRPr>
            </a:lvl9pPr>
          </a:lstStyle>
          <a:p>
            <a:pPr algn="l">
              <a:buNone/>
              <a:defRPr sz="2700" b="1">
                <a:solidFill>
                  <a:srgbClr val="176C6B"/>
                </a:solidFill>
                <a:latin typeface="Arial"/>
                <a:ea typeface="Arial"/>
                <a:cs typeface="Arial"/>
              </a:defRPr>
            </a:pPr>
            <a:r>
              <a:rPr sz="2700" b="1">
                <a:solidFill>
                  <a:srgbClr val="176C6B"/>
                </a:solidFill>
                <a:latin typeface="Arial"/>
                <a:ea typeface="Arial"/>
                <a:cs typeface="Arial"/>
              </a:rPr>
              <a:t>US$125,000</a:t>
            </a:r>
            <a:endParaRPr/>
          </a:p>
        </p:txBody>
      </p:sp>
      <p:sp>
        <p:nvSpPr>
          <p:cNvPr id="1324093773" name="budget-revision-text-29"/>
          <p:cNvSpPr>
            <a:spLocks noGrp="1"/>
          </p:cNvSpPr>
          <p:nvPr/>
        </p:nvSpPr>
        <p:spPr bwMode="auto">
          <a:xfrm>
            <a:off x="8362950" y="4257675"/>
            <a:ext cx="3219449" cy="647700"/>
          </a:xfrm>
          <a:prstGeom prst="rect">
            <a:avLst/>
          </a:prstGeom>
          <a:noFill/>
          <a:ln w="0">
            <a:noFill/>
            <a:prstDash val="solid"/>
          </a:ln>
        </p:spPr>
        <p:txBody>
          <a:bodyPr wrap="square" lIns="0" tIns="0" rIns="0" bIns="0" anchor="t">
            <a:noAutofit/>
          </a:bodyPr>
          <a:lstStyle>
            <a:defPPr algn="l">
              <a:defRPr sz="1750" b="0">
                <a:solidFill>
                  <a:srgbClr val="183440"/>
                </a:solidFill>
                <a:latin typeface="Arial"/>
                <a:ea typeface="Arial"/>
                <a:cs typeface="Arial"/>
              </a:defRPr>
            </a:defPPr>
            <a:lvl1pPr algn="l">
              <a:buNone/>
              <a:defRPr sz="1750" b="0">
                <a:solidFill>
                  <a:srgbClr val="183440"/>
                </a:solidFill>
                <a:latin typeface="Arial"/>
                <a:ea typeface="Arial"/>
                <a:cs typeface="Arial"/>
              </a:defRPr>
            </a:lvl1pPr>
            <a:lvl2pPr algn="l">
              <a:buNone/>
              <a:defRPr sz="1750" b="0">
                <a:solidFill>
                  <a:srgbClr val="183440"/>
                </a:solidFill>
                <a:latin typeface="Arial"/>
                <a:ea typeface="Arial"/>
                <a:cs typeface="Arial"/>
              </a:defRPr>
            </a:lvl2pPr>
            <a:lvl3pPr algn="l">
              <a:buNone/>
              <a:defRPr sz="1750" b="0">
                <a:solidFill>
                  <a:srgbClr val="183440"/>
                </a:solidFill>
                <a:latin typeface="Arial"/>
                <a:ea typeface="Arial"/>
                <a:cs typeface="Arial"/>
              </a:defRPr>
            </a:lvl3pPr>
            <a:lvl4pPr algn="l">
              <a:buNone/>
              <a:defRPr sz="1750" b="0">
                <a:solidFill>
                  <a:srgbClr val="183440"/>
                </a:solidFill>
                <a:latin typeface="Arial"/>
                <a:ea typeface="Arial"/>
                <a:cs typeface="Arial"/>
              </a:defRPr>
            </a:lvl4pPr>
            <a:lvl5pPr algn="l">
              <a:buNone/>
              <a:defRPr sz="1750" b="0">
                <a:solidFill>
                  <a:srgbClr val="183440"/>
                </a:solidFill>
                <a:latin typeface="Arial"/>
                <a:ea typeface="Arial"/>
                <a:cs typeface="Arial"/>
              </a:defRPr>
            </a:lvl5pPr>
            <a:lvl6pPr algn="l">
              <a:buNone/>
              <a:defRPr sz="1750" b="0">
                <a:solidFill>
                  <a:srgbClr val="183440"/>
                </a:solidFill>
                <a:latin typeface="Arial"/>
                <a:ea typeface="Arial"/>
                <a:cs typeface="Arial"/>
              </a:defRPr>
            </a:lvl6pPr>
            <a:lvl7pPr algn="l">
              <a:buNone/>
              <a:defRPr sz="1750" b="0">
                <a:solidFill>
                  <a:srgbClr val="183440"/>
                </a:solidFill>
                <a:latin typeface="Arial"/>
                <a:ea typeface="Arial"/>
                <a:cs typeface="Arial"/>
              </a:defRPr>
            </a:lvl7pPr>
            <a:lvl8pPr algn="l">
              <a:buNone/>
              <a:defRPr sz="1750" b="0">
                <a:solidFill>
                  <a:srgbClr val="183440"/>
                </a:solidFill>
                <a:latin typeface="Arial"/>
                <a:ea typeface="Arial"/>
                <a:cs typeface="Arial"/>
              </a:defRPr>
            </a:lvl8pPr>
            <a:lvl9pPr algn="l">
              <a:buNone/>
              <a:defRPr sz="1750" b="0">
                <a:solidFill>
                  <a:srgbClr val="183440"/>
                </a:solidFill>
                <a:latin typeface="Arial"/>
                <a:ea typeface="Arial"/>
                <a:cs typeface="Arial"/>
              </a:defRPr>
            </a:lvl9pPr>
          </a:lstStyle>
          <a:p>
            <a:pPr algn="l">
              <a:buNone/>
              <a:defRPr sz="1750" b="0">
                <a:solidFill>
                  <a:srgbClr val="183440"/>
                </a:solidFill>
                <a:latin typeface="Arial"/>
                <a:ea typeface="Arial"/>
                <a:cs typeface="Arial"/>
              </a:defRPr>
            </a:pPr>
            <a:r>
              <a:rPr sz="1750" b="0">
                <a:solidFill>
                  <a:srgbClr val="183440"/>
                </a:solidFill>
                <a:latin typeface="Arial"/>
                <a:ea typeface="Arial"/>
                <a:cs typeface="Arial"/>
              </a:rPr>
              <a:t>per month, including reserve</a:t>
            </a:r>
            <a:endParaRPr/>
          </a:p>
        </p:txBody>
      </p:sp>
      <p:sp>
        <p:nvSpPr>
          <p:cNvPr id="1408159713" name="budget-revision-text-30"/>
          <p:cNvSpPr>
            <a:spLocks noGrp="1"/>
          </p:cNvSpPr>
          <p:nvPr/>
        </p:nvSpPr>
        <p:spPr bwMode="auto">
          <a:xfrm>
            <a:off x="8362950" y="5086350"/>
            <a:ext cx="3219449" cy="914400"/>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US$112,500 fixed spending</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 US$12,500 reserve equivalent</a:t>
            </a:r>
            <a:endParaRPr/>
          </a:p>
          <a:p>
            <a:pPr algn="l">
              <a:buNone/>
              <a:defRPr sz="1600" b="0">
                <a:solidFill>
                  <a:srgbClr val="53676D"/>
                </a:solidFill>
                <a:latin typeface="Arial"/>
                <a:ea typeface="Arial"/>
                <a:cs typeface="Arial"/>
              </a:defRPr>
            </a:pPr>
            <a:r>
              <a:rPr sz="1600" b="0">
                <a:solidFill>
                  <a:srgbClr val="53676D"/>
                </a:solidFill>
                <a:latin typeface="Arial"/>
                <a:ea typeface="Arial"/>
                <a:cs typeface="Arial"/>
              </a:rPr>
              <a:t>per month over 24 months</a:t>
            </a:r>
            <a:endParaRPr/>
          </a:p>
        </p:txBody>
      </p:sp>
      <p:sp>
        <p:nvSpPr>
          <p:cNvPr id="1747917044" name="budget-revision-text-31"/>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US$2.70M fixed budget + US$0.30M contingency. Inventory, regulatory capital and settlement liquidity are separate.</a:t>
            </a:r>
            <a:endParaRPr/>
          </a:p>
        </p:txBody>
      </p:sp>
      <p:graphicFrame>
        <p:nvGraphicFramePr>
          <p:cNvPr id="1673289180" name="Chart"/>
          <p:cNvGraphicFramePr>
            <a:graphicFrameLocks xmlns:a="http://schemas.openxmlformats.org/drawingml/2006/main"/>
          </p:cNvGraphicFramePr>
          <p:nvPr/>
        </p:nvGraphicFramePr>
        <p:xfrm rot="0">
          <a:off x="609600" y="2133600"/>
          <a:ext cx="7353300" cy="36671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647515099" name="budget-revision-text-5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How the budget matches the US$3M raise</a:t>
            </a:r>
            <a:endParaRPr/>
          </a:p>
        </p:txBody>
      </p:sp>
      <p:sp>
        <p:nvSpPr>
          <p:cNvPr id="280534978" name="budget-revision-text-56"/>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Functional view of the same itemized budget. Amounts are US$000.</a:t>
            </a:r>
            <a:endParaRPr/>
          </a:p>
        </p:txBody>
      </p:sp>
      <p:sp>
        <p:nvSpPr>
          <p:cNvPr id="1895202705" name="budget-revision-text-57"/>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877096265" name="budget-revision-text-5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35</a:t>
            </a:r>
            <a:endParaRPr/>
          </a:p>
        </p:txBody>
      </p:sp>
      <p:graphicFrame>
        <p:nvGraphicFramePr>
          <p:cNvPr id="1927328959" name=""/>
          <p:cNvGraphicFramePr>
            <a:graphicFrameLocks xmlns:a="http://schemas.openxmlformats.org/drawingml/2006/main"/>
          </p:cNvGraphicFramePr>
          <p:nvPr/>
        </p:nvGraphicFramePr>
        <p:xfrm rot="0">
          <a:off x="609600" y="2133600"/>
          <a:ext cx="10972800" cy="3476625"/>
        </p:xfrm>
        <a:graphic>
          <a:graphicData uri="http://schemas.openxmlformats.org/drawingml/2006/table">
            <a:tbl>
              <a:tblPr firstRow="1" firstCol="0" lastRow="0" lastCol="0" bandRow="0" bandCol="0"/>
              <a:tblGrid>
                <a:gridCol w="4457700"/>
                <a:gridCol w="2171700"/>
                <a:gridCol w="2171700"/>
                <a:gridCol w="2171700"/>
              </a:tblGrid>
              <a:tr h="434578">
                <a:tc>
                  <a:txBody>
                    <a:bodyPr/>
                    <a:p>
                      <a:pPr>
                        <a:defRPr/>
                      </a:pPr>
                      <a:r>
                        <a:rPr sz="1650" b="1">
                          <a:solidFill>
                            <a:srgbClr val="FFFFFF"/>
                          </a:solidFill>
                          <a:latin typeface="Arial"/>
                          <a:ea typeface="Arial"/>
                          <a:cs typeface="Arial"/>
                        </a:rPr>
                        <a:t>Use of funds</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50" b="1">
                          <a:solidFill>
                            <a:srgbClr val="FFFFFF"/>
                          </a:solidFill>
                          <a:latin typeface="Arial"/>
                          <a:ea typeface="Arial"/>
                          <a:cs typeface="Arial"/>
                        </a:rPr>
                        <a:t>24M total</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34578">
                <a:tc>
                  <a:txBody>
                    <a:bodyPr/>
                    <a:p>
                      <a:pPr>
                        <a:defRPr/>
                      </a:pPr>
                      <a:r>
                        <a:rPr sz="1750" b="0">
                          <a:solidFill>
                            <a:srgbClr val="183440"/>
                          </a:solidFill>
                          <a:latin typeface="Arial"/>
                          <a:ea typeface="Arial"/>
                          <a:cs typeface="Arial"/>
                        </a:rPr>
                        <a:t>Product and security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555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Programme structuring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270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600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Partner operations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Distribution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285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450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fixed spending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1,200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1,500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2,700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0">
                          <a:solidFill>
                            <a:srgbClr val="183440"/>
                          </a:solidFill>
                          <a:latin typeface="Arial"/>
                          <a:ea typeface="Arial"/>
                          <a:cs typeface="Arial"/>
                        </a:rPr>
                        <a:t>Contingency reserve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434578">
                <a:tc>
                  <a:txBody>
                    <a:bodyPr/>
                    <a:p>
                      <a:pPr>
                        <a:defRPr/>
                      </a:pPr>
                      <a:r>
                        <a:rPr sz="1750" b="1">
                          <a:solidFill>
                            <a:srgbClr val="183440"/>
                          </a:solidFill>
                          <a:latin typeface="Arial"/>
                          <a:ea typeface="Arial"/>
                          <a:cs typeface="Arial"/>
                        </a:rPr>
                        <a:t>Total raise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750" b="1">
                          <a:solidFill>
                            <a:srgbClr val="183440"/>
                          </a:solidFill>
                          <a:latin typeface="Arial"/>
                          <a:ea typeface="Arial"/>
                          <a:cs typeface="Arial"/>
                        </a:rPr>
                        <a:t>3,000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582633984" name="budget-revision-text-59"/>
          <p:cNvSpPr>
            <a:spLocks noGrp="1"/>
          </p:cNvSpPr>
          <p:nvPr/>
        </p:nvSpPr>
        <p:spPr bwMode="auto">
          <a:xfrm>
            <a:off x="609600" y="5715000"/>
            <a:ext cx="10972800" cy="323850"/>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Monthly equivalent: US$112,500 fixed + US$12,500 reserve = US$125,000</a:t>
            </a:r>
            <a:endParaRPr/>
          </a:p>
        </p:txBody>
      </p:sp>
      <p:sp>
        <p:nvSpPr>
          <p:cNvPr id="1742682887" name="budget-revision-text-60"/>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Reserve remains unspent. Year 2 variable costs of US$150k enter the cash bridge separately on slide 31.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75376553" name="full-text-213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Launch risks and decision gates</a:t>
            </a:r>
            <a:endParaRPr/>
          </a:p>
        </p:txBody>
      </p:sp>
      <p:sp>
        <p:nvSpPr>
          <p:cNvPr id="1567046278" name="full-text-2136"/>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399274155" name="full-text-213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37</a:t>
            </a:r>
            <a:endParaRPr/>
          </a:p>
        </p:txBody>
      </p:sp>
      <p:graphicFrame>
        <p:nvGraphicFramePr>
          <p:cNvPr id="490306138" name=""/>
          <p:cNvGraphicFramePr>
            <a:graphicFrameLocks xmlns:a="http://schemas.openxmlformats.org/drawingml/2006/main"/>
          </p:cNvGraphicFramePr>
          <p:nvPr/>
        </p:nvGraphicFramePr>
        <p:xfrm rot="0">
          <a:off x="609600" y="1781175"/>
          <a:ext cx="10972800" cy="3762375"/>
        </p:xfrm>
        <a:graphic>
          <a:graphicData uri="http://schemas.openxmlformats.org/drawingml/2006/table">
            <a:tbl>
              <a:tblPr firstRow="1" firstCol="0" lastRow="0" lastCol="0" bandRow="0" bandCol="0"/>
              <a:tblGrid>
                <a:gridCol w="3333750"/>
                <a:gridCol w="7639050"/>
              </a:tblGrid>
              <a:tr h="627063">
                <a:tc>
                  <a:txBody>
                    <a:bodyPr/>
                    <a:p>
                      <a:pPr>
                        <a:defRPr/>
                      </a:pPr>
                      <a:r>
                        <a:rPr sz="1800" b="1">
                          <a:solidFill>
                            <a:srgbClr val="FFFFFF"/>
                          </a:solidFill>
                          <a:latin typeface="Arial"/>
                          <a:ea typeface="Arial"/>
                          <a:cs typeface="Arial"/>
                        </a:rPr>
                        <a:t>Risk</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800" b="1">
                          <a:solidFill>
                            <a:srgbClr val="FFFFFF"/>
                          </a:solidFill>
                          <a:latin typeface="Arial"/>
                          <a:ea typeface="Arial"/>
                          <a:cs typeface="Arial"/>
                        </a:rPr>
                        <a:t>Evidence required before expansion</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627063">
                <a:tc>
                  <a:txBody>
                    <a:bodyPr/>
                    <a:p>
                      <a:pPr>
                        <a:defRPr/>
                      </a:pPr>
                      <a:r>
                        <a:rPr sz="1900" b="0">
                          <a:solidFill>
                            <a:srgbClr val="183440"/>
                          </a:solidFill>
                          <a:latin typeface="Arial"/>
                          <a:ea typeface="Arial"/>
                          <a:cs typeface="Arial"/>
                        </a:rPr>
                        <a:t>Product and permissions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Launch jurisdiction, receipt rights and permissions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Backing, liquidity and FX</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Custody proof, cash-asset limits and executable FX quotes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DLT and cash-asset risk</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Contract audit, key recovery and cash-finality controls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Commercial adoption</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Sponsor mandate, native USDC terms and HSBC access</a:t>
                      </a:r>
                      <a:endParaRPr/>
                    </a:p>
                  </a:txBody>
                  <a:tcPr marL="91440" marR="91440" marT="45720" marB="45720" anchor="ctr">
                    <a:lnR w="9525" algn="ctr">
                      <a:solidFill>
                        <a:srgbClr val="CFD7D1"/>
                      </a:solidFill>
                    </a:lnR>
                    <a:lnB w="9525" algn="ctr">
                      <a:solidFill>
                        <a:srgbClr val="CFD7D1"/>
                      </a:solidFill>
                    </a:lnB>
                    <a:solidFill>
                      <a:srgbClr val="F7F4EC"/>
                    </a:solidFill>
                  </a:tcPr>
                </a:tc>
              </a:tr>
              <a:tr h="627063">
                <a:tc>
                  <a:txBody>
                    <a:bodyPr/>
                    <a:p>
                      <a:pPr>
                        <a:defRPr/>
                      </a:pPr>
                      <a:r>
                        <a:rPr sz="1900" b="0">
                          <a:solidFill>
                            <a:srgbClr val="183440"/>
                          </a:solidFill>
                          <a:latin typeface="Arial"/>
                          <a:ea typeface="Arial"/>
                          <a:cs typeface="Arial"/>
                        </a:rPr>
                        <a:t>Delivery and runway</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900" b="0">
                          <a:solidFill>
                            <a:srgbClr val="183440"/>
                          </a:solidFill>
                          <a:latin typeface="Arial"/>
                          <a:ea typeface="Arial"/>
                          <a:cs typeface="Arial"/>
                        </a:rPr>
                        <a:t>Priced scope, operating budget and financing gates</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060122737" name="full-text-2138"/>
          <p:cNvSpPr>
            <a:spLocks noGrp="1"/>
          </p:cNvSpPr>
          <p:nvPr/>
        </p:nvSpPr>
        <p:spPr bwMode="auto">
          <a:xfrm>
            <a:off x="609600" y="5867399"/>
            <a:ext cx="10972800" cy="428625"/>
          </a:xfrm>
          <a:prstGeom prst="rect">
            <a:avLst/>
          </a:prstGeom>
          <a:noFill/>
          <a:ln w="0">
            <a:noFill/>
            <a:prstDash val="solid"/>
          </a:ln>
        </p:spPr>
        <p:txBody>
          <a:bodyPr wrap="square" lIns="0" tIns="0" rIns="0" bIns="0" anchor="t">
            <a:noAutofit/>
          </a:bodyPr>
          <a:lstStyle>
            <a:defPPr algn="l">
              <a:defRPr sz="2250" b="1">
                <a:solidFill>
                  <a:srgbClr val="176C6B"/>
                </a:solidFill>
                <a:latin typeface="Arial"/>
                <a:ea typeface="Arial"/>
                <a:cs typeface="Arial"/>
              </a:defRPr>
            </a:defPPr>
            <a:lvl1pPr algn="l">
              <a:buNone/>
              <a:defRPr sz="2250" b="1">
                <a:solidFill>
                  <a:srgbClr val="176C6B"/>
                </a:solidFill>
                <a:latin typeface="Arial"/>
                <a:ea typeface="Arial"/>
                <a:cs typeface="Arial"/>
              </a:defRPr>
            </a:lvl1pPr>
            <a:lvl2pPr algn="l">
              <a:buNone/>
              <a:defRPr sz="2250" b="1">
                <a:solidFill>
                  <a:srgbClr val="176C6B"/>
                </a:solidFill>
                <a:latin typeface="Arial"/>
                <a:ea typeface="Arial"/>
                <a:cs typeface="Arial"/>
              </a:defRPr>
            </a:lvl2pPr>
            <a:lvl3pPr algn="l">
              <a:buNone/>
              <a:defRPr sz="2250" b="1">
                <a:solidFill>
                  <a:srgbClr val="176C6B"/>
                </a:solidFill>
                <a:latin typeface="Arial"/>
                <a:ea typeface="Arial"/>
                <a:cs typeface="Arial"/>
              </a:defRPr>
            </a:lvl3pPr>
            <a:lvl4pPr algn="l">
              <a:buNone/>
              <a:defRPr sz="2250" b="1">
                <a:solidFill>
                  <a:srgbClr val="176C6B"/>
                </a:solidFill>
                <a:latin typeface="Arial"/>
                <a:ea typeface="Arial"/>
                <a:cs typeface="Arial"/>
              </a:defRPr>
            </a:lvl4pPr>
            <a:lvl5pPr algn="l">
              <a:buNone/>
              <a:defRPr sz="2250" b="1">
                <a:solidFill>
                  <a:srgbClr val="176C6B"/>
                </a:solidFill>
                <a:latin typeface="Arial"/>
                <a:ea typeface="Arial"/>
                <a:cs typeface="Arial"/>
              </a:defRPr>
            </a:lvl5pPr>
            <a:lvl6pPr algn="l">
              <a:buNone/>
              <a:defRPr sz="2250" b="1">
                <a:solidFill>
                  <a:srgbClr val="176C6B"/>
                </a:solidFill>
                <a:latin typeface="Arial"/>
                <a:ea typeface="Arial"/>
                <a:cs typeface="Arial"/>
              </a:defRPr>
            </a:lvl6pPr>
            <a:lvl7pPr algn="l">
              <a:buNone/>
              <a:defRPr sz="2250" b="1">
                <a:solidFill>
                  <a:srgbClr val="176C6B"/>
                </a:solidFill>
                <a:latin typeface="Arial"/>
                <a:ea typeface="Arial"/>
                <a:cs typeface="Arial"/>
              </a:defRPr>
            </a:lvl7pPr>
            <a:lvl8pPr algn="l">
              <a:buNone/>
              <a:defRPr sz="2250" b="1">
                <a:solidFill>
                  <a:srgbClr val="176C6B"/>
                </a:solidFill>
                <a:latin typeface="Arial"/>
                <a:ea typeface="Arial"/>
                <a:cs typeface="Arial"/>
              </a:defRPr>
            </a:lvl8pPr>
            <a:lvl9pPr algn="l">
              <a:buNone/>
              <a:defRPr sz="2250" b="1">
                <a:solidFill>
                  <a:srgbClr val="176C6B"/>
                </a:solidFill>
                <a:latin typeface="Arial"/>
                <a:ea typeface="Arial"/>
                <a:cs typeface="Arial"/>
              </a:defRPr>
            </a:lvl9pPr>
          </a:lstStyle>
          <a:p>
            <a:pPr algn="l">
              <a:buNone/>
              <a:defRPr sz="2250" b="1">
                <a:solidFill>
                  <a:srgbClr val="176C6B"/>
                </a:solidFill>
                <a:latin typeface="Arial"/>
                <a:ea typeface="Arial"/>
                <a:cs typeface="Arial"/>
              </a:defRPr>
            </a:pPr>
            <a:r>
              <a:rPr sz="2250" b="1">
                <a:solidFill>
                  <a:srgbClr val="176C6B"/>
                </a:solidFill>
                <a:latin typeface="Arial"/>
                <a:ea typeface="Arial"/>
                <a:cs typeface="Arial"/>
              </a:rPr>
              <a:t>We release capital against evidence and partner acceptance.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991243122" name="expanded-text-151"/>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The relationships that make launch possible</a:t>
            </a:r>
            <a:endParaRPr/>
          </a:p>
        </p:txBody>
      </p:sp>
      <p:sp>
        <p:nvSpPr>
          <p:cNvPr id="997890340" name="expanded-text-152"/>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The round funds product delivery and programme readiness while anchor partners supply market access.</a:t>
            </a:r>
            <a:endParaRPr/>
          </a:p>
        </p:txBody>
      </p:sp>
      <p:sp>
        <p:nvSpPr>
          <p:cNvPr id="519995304" name="expanded-text-153"/>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a:t>
            </a:r>
            <a:endParaRPr/>
          </a:p>
        </p:txBody>
      </p:sp>
      <p:sp>
        <p:nvSpPr>
          <p:cNvPr id="1010568858" name="expanded-text-154"/>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38</a:t>
            </a:r>
            <a:endParaRPr/>
          </a:p>
        </p:txBody>
      </p:sp>
      <p:sp>
        <p:nvSpPr>
          <p:cNvPr id="1008639181" name="expanded-text-155"/>
          <p:cNvSpPr>
            <a:spLocks noGrp="1"/>
          </p:cNvSpPr>
          <p:nvPr/>
        </p:nvSpPr>
        <p:spPr bwMode="auto">
          <a:xfrm>
            <a:off x="609600" y="22764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Issuer / sponsor</a:t>
            </a:r>
            <a:endParaRPr/>
          </a:p>
        </p:txBody>
      </p:sp>
      <p:sp>
        <p:nvSpPr>
          <p:cNvPr id="1555564669" name="expanded-text-156"/>
          <p:cNvSpPr>
            <a:spLocks noGrp="1"/>
          </p:cNvSpPr>
          <p:nvPr/>
        </p:nvSpPr>
        <p:spPr bwMode="auto">
          <a:xfrm>
            <a:off x="4552950" y="22764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paid programme mandate, receipt terms and accountable registrar ownership.</a:t>
            </a:r>
            <a:endParaRPr/>
          </a:p>
        </p:txBody>
      </p:sp>
      <p:sp>
        <p:nvSpPr>
          <p:cNvPr id="1528401431" name="diagram-line-157"/>
          <p:cNvSpPr>
            <a:spLocks noGrp="1"/>
          </p:cNvSpPr>
          <p:nvPr/>
        </p:nvSpPr>
        <p:spPr bwMode="auto">
          <a:xfrm>
            <a:off x="609600" y="3076574"/>
            <a:ext cx="10972800" cy="0"/>
          </a:xfrm>
          <a:prstGeom prst="line">
            <a:avLst/>
          </a:prstGeom>
          <a:noFill/>
          <a:ln w="12383">
            <a:solidFill>
              <a:srgbClr val="CFD7D1"/>
            </a:solidFill>
            <a:prstDash val="solid"/>
          </a:ln>
        </p:spPr>
      </p:sp>
      <p:sp>
        <p:nvSpPr>
          <p:cNvPr id="1799835599" name="expanded-text-158"/>
          <p:cNvSpPr>
            <a:spLocks noGrp="1"/>
          </p:cNvSpPr>
          <p:nvPr/>
        </p:nvSpPr>
        <p:spPr bwMode="auto">
          <a:xfrm>
            <a:off x="609600" y="31908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Custody and cash partners</a:t>
            </a:r>
            <a:endParaRPr/>
          </a:p>
        </p:txBody>
      </p:sp>
      <p:sp>
        <p:nvSpPr>
          <p:cNvPr id="761293580" name="expanded-text-159"/>
          <p:cNvSpPr>
            <a:spLocks noGrp="1"/>
          </p:cNvSpPr>
          <p:nvPr/>
        </p:nvSpPr>
        <p:spPr bwMode="auto">
          <a:xfrm>
            <a:off x="4552950" y="31908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Backing evidence, approved USDC access and priced settlement and FX terms.</a:t>
            </a:r>
            <a:endParaRPr/>
          </a:p>
        </p:txBody>
      </p:sp>
      <p:sp>
        <p:nvSpPr>
          <p:cNvPr id="1820459122" name="diagram-line-160"/>
          <p:cNvSpPr>
            <a:spLocks noGrp="1"/>
          </p:cNvSpPr>
          <p:nvPr/>
        </p:nvSpPr>
        <p:spPr bwMode="auto">
          <a:xfrm>
            <a:off x="609600" y="3990975"/>
            <a:ext cx="10972800" cy="0"/>
          </a:xfrm>
          <a:prstGeom prst="line">
            <a:avLst/>
          </a:prstGeom>
          <a:noFill/>
          <a:ln w="12383">
            <a:solidFill>
              <a:srgbClr val="CFD7D1"/>
            </a:solidFill>
            <a:prstDash val="solid"/>
          </a:ln>
        </p:spPr>
      </p:sp>
      <p:sp>
        <p:nvSpPr>
          <p:cNvPr id="166733543" name="expanded-text-161"/>
          <p:cNvSpPr>
            <a:spLocks noGrp="1"/>
          </p:cNvSpPr>
          <p:nvPr/>
        </p:nvSpPr>
        <p:spPr bwMode="auto">
          <a:xfrm>
            <a:off x="609600" y="41052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Broker and liquidity partners</a:t>
            </a:r>
            <a:endParaRPr/>
          </a:p>
        </p:txBody>
      </p:sp>
      <p:sp>
        <p:nvSpPr>
          <p:cNvPr id="633265612" name="expanded-text-162"/>
          <p:cNvSpPr>
            <a:spLocks noGrp="1"/>
          </p:cNvSpPr>
          <p:nvPr/>
        </p:nvSpPr>
        <p:spPr bwMode="auto">
          <a:xfrm>
            <a:off x="4552950" y="41052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Eligible distribution, an approved execution route and funded quoting capacity.</a:t>
            </a:r>
            <a:endParaRPr/>
          </a:p>
        </p:txBody>
      </p:sp>
      <p:sp>
        <p:nvSpPr>
          <p:cNvPr id="1437133526" name="diagram-line-163"/>
          <p:cNvSpPr>
            <a:spLocks noGrp="1"/>
          </p:cNvSpPr>
          <p:nvPr/>
        </p:nvSpPr>
        <p:spPr bwMode="auto">
          <a:xfrm>
            <a:off x="609600" y="4905375"/>
            <a:ext cx="10972800" cy="0"/>
          </a:xfrm>
          <a:prstGeom prst="line">
            <a:avLst/>
          </a:prstGeom>
          <a:noFill/>
          <a:ln w="12383">
            <a:solidFill>
              <a:srgbClr val="CFD7D1"/>
            </a:solidFill>
            <a:prstDash val="solid"/>
          </a:ln>
        </p:spPr>
      </p:sp>
      <p:sp>
        <p:nvSpPr>
          <p:cNvPr id="463273799" name="expanded-text-164"/>
          <p:cNvSpPr>
            <a:spLocks noGrp="1"/>
          </p:cNvSpPr>
          <p:nvPr/>
        </p:nvSpPr>
        <p:spPr bwMode="auto">
          <a:xfrm>
            <a:off x="609600" y="5019675"/>
            <a:ext cx="3619500" cy="40957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HSBC investment access</a:t>
            </a:r>
            <a:endParaRPr/>
          </a:p>
        </p:txBody>
      </p:sp>
      <p:sp>
        <p:nvSpPr>
          <p:cNvPr id="1330182562" name="expanded-text-165"/>
          <p:cNvSpPr>
            <a:spLocks noGrp="1"/>
          </p:cNvSpPr>
          <p:nvPr/>
        </p:nvSpPr>
        <p:spPr bwMode="auto">
          <a:xfrm>
            <a:off x="4552950" y="5019675"/>
            <a:ext cx="7029450" cy="733424"/>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A decision on RedCoin product/channel access and the permitted integration path.</a:t>
            </a:r>
            <a:endParaRPr/>
          </a:p>
        </p:txBody>
      </p:sp>
      <p:sp>
        <p:nvSpPr>
          <p:cNvPr id="2043458014" name="expanded-text-166"/>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All relationships are proposed. Receipt inventory, regulatory capital and settlement/FX liquidity require separate arrangements.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pic>
        <p:nvPicPr>
          <p:cNvPr id="655669387" name=""/>
          <p:cNvPicPr>
            <a:picLocks noChangeAspect="1"/>
          </p:cNvPicPr>
          <p:nvPr/>
        </p:nvPicPr>
        <p:blipFill rotWithShape="1">
          <a:blip r:embed="rId3"/>
          <a:srcRect l="0" t="27" r="0" b="27"/>
          <a:stretch>
            <a:fillRect l="0" t="0" r="0" b="0"/>
          </a:stretch>
        </p:blipFill>
        <p:spPr bwMode="auto">
          <a:xfrm>
            <a:off x="0" y="0"/>
            <a:ext cx="12192000" cy="6858000"/>
          </a:xfrm>
          <a:prstGeom prst="rect">
            <a:avLst/>
          </a:prstGeom>
        </p:spPr>
      </p:pic>
      <p:sp>
        <p:nvSpPr>
          <p:cNvPr id="287306780" name="full-text-2153"/>
          <p:cNvSpPr>
            <a:spLocks noGrp="1"/>
          </p:cNvSpPr>
          <p:nvPr/>
        </p:nvSpPr>
        <p:spPr bwMode="auto">
          <a:xfrm>
            <a:off x="609600" y="571500"/>
            <a:ext cx="6191250" cy="847725"/>
          </a:xfrm>
          <a:prstGeom prst="rect">
            <a:avLst/>
          </a:prstGeom>
          <a:noFill/>
          <a:ln w="0">
            <a:noFill/>
            <a:prstDash val="solid"/>
          </a:ln>
        </p:spPr>
        <p:txBody>
          <a:bodyPr wrap="square" lIns="0" tIns="0" rIns="0" bIns="0" anchor="t">
            <a:noAutofit/>
          </a:bodyPr>
          <a:lstStyle>
            <a:defPPr algn="l">
              <a:defRPr sz="4950" b="1">
                <a:solidFill>
                  <a:srgbClr val="183440"/>
                </a:solidFill>
                <a:latin typeface="Arial"/>
                <a:ea typeface="Arial"/>
                <a:cs typeface="Arial"/>
              </a:defRPr>
            </a:defPPr>
            <a:lvl1pPr algn="l">
              <a:buNone/>
              <a:defRPr sz="4950" b="1">
                <a:solidFill>
                  <a:srgbClr val="183440"/>
                </a:solidFill>
                <a:latin typeface="Arial"/>
                <a:ea typeface="Arial"/>
                <a:cs typeface="Arial"/>
              </a:defRPr>
            </a:lvl1pPr>
            <a:lvl2pPr algn="l">
              <a:buNone/>
              <a:defRPr sz="4950" b="1">
                <a:solidFill>
                  <a:srgbClr val="183440"/>
                </a:solidFill>
                <a:latin typeface="Arial"/>
                <a:ea typeface="Arial"/>
                <a:cs typeface="Arial"/>
              </a:defRPr>
            </a:lvl2pPr>
            <a:lvl3pPr algn="l">
              <a:buNone/>
              <a:defRPr sz="4950" b="1">
                <a:solidFill>
                  <a:srgbClr val="183440"/>
                </a:solidFill>
                <a:latin typeface="Arial"/>
                <a:ea typeface="Arial"/>
                <a:cs typeface="Arial"/>
              </a:defRPr>
            </a:lvl3pPr>
            <a:lvl4pPr algn="l">
              <a:buNone/>
              <a:defRPr sz="4950" b="1">
                <a:solidFill>
                  <a:srgbClr val="183440"/>
                </a:solidFill>
                <a:latin typeface="Arial"/>
                <a:ea typeface="Arial"/>
                <a:cs typeface="Arial"/>
              </a:defRPr>
            </a:lvl4pPr>
            <a:lvl5pPr algn="l">
              <a:buNone/>
              <a:defRPr sz="4950" b="1">
                <a:solidFill>
                  <a:srgbClr val="183440"/>
                </a:solidFill>
                <a:latin typeface="Arial"/>
                <a:ea typeface="Arial"/>
                <a:cs typeface="Arial"/>
              </a:defRPr>
            </a:lvl5pPr>
            <a:lvl6pPr algn="l">
              <a:buNone/>
              <a:defRPr sz="4950" b="1">
                <a:solidFill>
                  <a:srgbClr val="183440"/>
                </a:solidFill>
                <a:latin typeface="Arial"/>
                <a:ea typeface="Arial"/>
                <a:cs typeface="Arial"/>
              </a:defRPr>
            </a:lvl6pPr>
            <a:lvl7pPr algn="l">
              <a:buNone/>
              <a:defRPr sz="4950" b="1">
                <a:solidFill>
                  <a:srgbClr val="183440"/>
                </a:solidFill>
                <a:latin typeface="Arial"/>
                <a:ea typeface="Arial"/>
                <a:cs typeface="Arial"/>
              </a:defRPr>
            </a:lvl7pPr>
            <a:lvl8pPr algn="l">
              <a:buNone/>
              <a:defRPr sz="4950" b="1">
                <a:solidFill>
                  <a:srgbClr val="183440"/>
                </a:solidFill>
                <a:latin typeface="Arial"/>
                <a:ea typeface="Arial"/>
                <a:cs typeface="Arial"/>
              </a:defRPr>
            </a:lvl8pPr>
            <a:lvl9pPr algn="l">
              <a:buNone/>
              <a:defRPr sz="4950" b="1">
                <a:solidFill>
                  <a:srgbClr val="183440"/>
                </a:solidFill>
                <a:latin typeface="Arial"/>
                <a:ea typeface="Arial"/>
                <a:cs typeface="Arial"/>
              </a:defRPr>
            </a:lvl9pPr>
          </a:lstStyle>
          <a:p>
            <a:pPr algn="l">
              <a:buNone/>
              <a:defRPr sz="4950" b="1">
                <a:solidFill>
                  <a:srgbClr val="183440"/>
                </a:solidFill>
                <a:latin typeface="Arial"/>
                <a:ea typeface="Arial"/>
                <a:cs typeface="Arial"/>
              </a:defRPr>
            </a:pPr>
            <a:r>
              <a:rPr sz="4950" b="1">
                <a:solidFill>
                  <a:srgbClr val="183440"/>
                </a:solidFill>
                <a:latin typeface="Arial"/>
                <a:ea typeface="Arial"/>
                <a:cs typeface="Arial"/>
              </a:rPr>
              <a:t>D-SHARE</a:t>
            </a:r>
            <a:endParaRPr/>
          </a:p>
        </p:txBody>
      </p:sp>
      <p:sp>
        <p:nvSpPr>
          <p:cNvPr id="2062296913" name="full-text-2154"/>
          <p:cNvSpPr>
            <a:spLocks noGrp="1"/>
          </p:cNvSpPr>
          <p:nvPr/>
        </p:nvSpPr>
        <p:spPr bwMode="auto">
          <a:xfrm>
            <a:off x="609600" y="1885950"/>
            <a:ext cx="6524625" cy="1409700"/>
          </a:xfrm>
          <a:prstGeom prst="rect">
            <a:avLst/>
          </a:prstGeom>
          <a:noFill/>
          <a:ln w="0">
            <a:noFill/>
            <a:prstDash val="solid"/>
          </a:ln>
        </p:spPr>
        <p:txBody>
          <a:bodyPr wrap="square" lIns="0" tIns="0" rIns="0" bIns="0" anchor="t">
            <a:noAutofit/>
          </a:bodyPr>
          <a:lstStyle>
            <a:defPPr algn="l">
              <a:defRPr sz="3250" b="1">
                <a:solidFill>
                  <a:srgbClr val="183440"/>
                </a:solidFill>
                <a:latin typeface="Arial"/>
                <a:ea typeface="Arial"/>
                <a:cs typeface="Arial"/>
              </a:defRPr>
            </a:defPPr>
            <a:lvl1pPr algn="l">
              <a:buNone/>
              <a:defRPr sz="3250" b="1">
                <a:solidFill>
                  <a:srgbClr val="183440"/>
                </a:solidFill>
                <a:latin typeface="Arial"/>
                <a:ea typeface="Arial"/>
                <a:cs typeface="Arial"/>
              </a:defRPr>
            </a:lvl1pPr>
            <a:lvl2pPr algn="l">
              <a:buNone/>
              <a:defRPr sz="3250" b="1">
                <a:solidFill>
                  <a:srgbClr val="183440"/>
                </a:solidFill>
                <a:latin typeface="Arial"/>
                <a:ea typeface="Arial"/>
                <a:cs typeface="Arial"/>
              </a:defRPr>
            </a:lvl2pPr>
            <a:lvl3pPr algn="l">
              <a:buNone/>
              <a:defRPr sz="3250" b="1">
                <a:solidFill>
                  <a:srgbClr val="183440"/>
                </a:solidFill>
                <a:latin typeface="Arial"/>
                <a:ea typeface="Arial"/>
                <a:cs typeface="Arial"/>
              </a:defRPr>
            </a:lvl3pPr>
            <a:lvl4pPr algn="l">
              <a:buNone/>
              <a:defRPr sz="3250" b="1">
                <a:solidFill>
                  <a:srgbClr val="183440"/>
                </a:solidFill>
                <a:latin typeface="Arial"/>
                <a:ea typeface="Arial"/>
                <a:cs typeface="Arial"/>
              </a:defRPr>
            </a:lvl4pPr>
            <a:lvl5pPr algn="l">
              <a:buNone/>
              <a:defRPr sz="3250" b="1">
                <a:solidFill>
                  <a:srgbClr val="183440"/>
                </a:solidFill>
                <a:latin typeface="Arial"/>
                <a:ea typeface="Arial"/>
                <a:cs typeface="Arial"/>
              </a:defRPr>
            </a:lvl5pPr>
            <a:lvl6pPr algn="l">
              <a:buNone/>
              <a:defRPr sz="3250" b="1">
                <a:solidFill>
                  <a:srgbClr val="183440"/>
                </a:solidFill>
                <a:latin typeface="Arial"/>
                <a:ea typeface="Arial"/>
                <a:cs typeface="Arial"/>
              </a:defRPr>
            </a:lvl6pPr>
            <a:lvl7pPr algn="l">
              <a:buNone/>
              <a:defRPr sz="3250" b="1">
                <a:solidFill>
                  <a:srgbClr val="183440"/>
                </a:solidFill>
                <a:latin typeface="Arial"/>
                <a:ea typeface="Arial"/>
                <a:cs typeface="Arial"/>
              </a:defRPr>
            </a:lvl7pPr>
            <a:lvl8pPr algn="l">
              <a:buNone/>
              <a:defRPr sz="3250" b="1">
                <a:solidFill>
                  <a:srgbClr val="183440"/>
                </a:solidFill>
                <a:latin typeface="Arial"/>
                <a:ea typeface="Arial"/>
                <a:cs typeface="Arial"/>
              </a:defRPr>
            </a:lvl8pPr>
            <a:lvl9pPr algn="l">
              <a:buNone/>
              <a:defRPr sz="3250" b="1">
                <a:solidFill>
                  <a:srgbClr val="183440"/>
                </a:solidFill>
                <a:latin typeface="Arial"/>
                <a:ea typeface="Arial"/>
                <a:cs typeface="Arial"/>
              </a:defRPr>
            </a:lvl9pPr>
          </a:lstStyle>
          <a:p>
            <a:pPr algn="l">
              <a:buNone/>
              <a:defRPr sz="3250" b="1">
                <a:solidFill>
                  <a:srgbClr val="183440"/>
                </a:solidFill>
                <a:latin typeface="Arial"/>
                <a:ea typeface="Arial"/>
                <a:cs typeface="Arial"/>
              </a:defRPr>
            </a:pPr>
            <a:r>
              <a:rPr sz="3250" b="1">
                <a:solidFill>
                  <a:srgbClr val="183440"/>
                </a:solidFill>
                <a:latin typeface="Arial"/>
                <a:ea typeface="Arial"/>
                <a:cs typeface="Arial"/>
              </a:rPr>
              <a:t>US$3 million for the</a:t>
            </a:r>
            <a:endParaRPr/>
          </a:p>
          <a:p>
            <a:pPr algn="l">
              <a:buNone/>
              <a:defRPr sz="3250" b="1">
                <a:solidFill>
                  <a:srgbClr val="183440"/>
                </a:solidFill>
                <a:latin typeface="Arial"/>
                <a:ea typeface="Arial"/>
                <a:cs typeface="Arial"/>
              </a:defRPr>
            </a:pPr>
            <a:r>
              <a:rPr sz="3250" b="1">
                <a:solidFill>
                  <a:srgbClr val="183440"/>
                </a:solidFill>
                <a:latin typeface="Arial"/>
                <a:ea typeface="Arial"/>
                <a:cs typeface="Arial"/>
              </a:rPr>
              <a:t>first production programme</a:t>
            </a:r>
            <a:endParaRPr/>
          </a:p>
        </p:txBody>
      </p:sp>
      <p:sp>
        <p:nvSpPr>
          <p:cNvPr id="1257663184" name="full-text-2155"/>
          <p:cNvSpPr>
            <a:spLocks noGrp="1"/>
          </p:cNvSpPr>
          <p:nvPr/>
        </p:nvSpPr>
        <p:spPr bwMode="auto">
          <a:xfrm>
            <a:off x="609600" y="3638550"/>
            <a:ext cx="6543675" cy="933450"/>
          </a:xfrm>
          <a:prstGeom prst="rect">
            <a:avLst/>
          </a:prstGeom>
          <a:noFill/>
          <a:ln w="0">
            <a:noFill/>
            <a:prstDash val="solid"/>
          </a:ln>
        </p:spPr>
        <p:txBody>
          <a:bodyPr wrap="square" lIns="0" tIns="0" rIns="0" bIns="0" anchor="t">
            <a:noAutofit/>
          </a:bodyPr>
          <a:lstStyle>
            <a:defPPr algn="l">
              <a:defRPr sz="2100" b="0">
                <a:solidFill>
                  <a:srgbClr val="183440"/>
                </a:solidFill>
                <a:latin typeface="Arial"/>
                <a:ea typeface="Arial"/>
                <a:cs typeface="Arial"/>
              </a:defRPr>
            </a:defPPr>
            <a:lvl1pPr algn="l">
              <a:buNone/>
              <a:defRPr sz="2100" b="0">
                <a:solidFill>
                  <a:srgbClr val="183440"/>
                </a:solidFill>
                <a:latin typeface="Arial"/>
                <a:ea typeface="Arial"/>
                <a:cs typeface="Arial"/>
              </a:defRPr>
            </a:lvl1pPr>
            <a:lvl2pPr algn="l">
              <a:buNone/>
              <a:defRPr sz="2100" b="0">
                <a:solidFill>
                  <a:srgbClr val="183440"/>
                </a:solidFill>
                <a:latin typeface="Arial"/>
                <a:ea typeface="Arial"/>
                <a:cs typeface="Arial"/>
              </a:defRPr>
            </a:lvl2pPr>
            <a:lvl3pPr algn="l">
              <a:buNone/>
              <a:defRPr sz="2100" b="0">
                <a:solidFill>
                  <a:srgbClr val="183440"/>
                </a:solidFill>
                <a:latin typeface="Arial"/>
                <a:ea typeface="Arial"/>
                <a:cs typeface="Arial"/>
              </a:defRPr>
            </a:lvl3pPr>
            <a:lvl4pPr algn="l">
              <a:buNone/>
              <a:defRPr sz="2100" b="0">
                <a:solidFill>
                  <a:srgbClr val="183440"/>
                </a:solidFill>
                <a:latin typeface="Arial"/>
                <a:ea typeface="Arial"/>
                <a:cs typeface="Arial"/>
              </a:defRPr>
            </a:lvl4pPr>
            <a:lvl5pPr algn="l">
              <a:buNone/>
              <a:defRPr sz="2100" b="0">
                <a:solidFill>
                  <a:srgbClr val="183440"/>
                </a:solidFill>
                <a:latin typeface="Arial"/>
                <a:ea typeface="Arial"/>
                <a:cs typeface="Arial"/>
              </a:defRPr>
            </a:lvl5pPr>
            <a:lvl6pPr algn="l">
              <a:buNone/>
              <a:defRPr sz="2100" b="0">
                <a:solidFill>
                  <a:srgbClr val="183440"/>
                </a:solidFill>
                <a:latin typeface="Arial"/>
                <a:ea typeface="Arial"/>
                <a:cs typeface="Arial"/>
              </a:defRPr>
            </a:lvl6pPr>
            <a:lvl7pPr algn="l">
              <a:buNone/>
              <a:defRPr sz="2100" b="0">
                <a:solidFill>
                  <a:srgbClr val="183440"/>
                </a:solidFill>
                <a:latin typeface="Arial"/>
                <a:ea typeface="Arial"/>
                <a:cs typeface="Arial"/>
              </a:defRPr>
            </a:lvl7pPr>
            <a:lvl8pPr algn="l">
              <a:buNone/>
              <a:defRPr sz="2100" b="0">
                <a:solidFill>
                  <a:srgbClr val="183440"/>
                </a:solidFill>
                <a:latin typeface="Arial"/>
                <a:ea typeface="Arial"/>
                <a:cs typeface="Arial"/>
              </a:defRPr>
            </a:lvl8pPr>
            <a:lvl9pPr algn="l">
              <a:buNone/>
              <a:defRPr sz="2100" b="0">
                <a:solidFill>
                  <a:srgbClr val="183440"/>
                </a:solidFill>
                <a:latin typeface="Arial"/>
                <a:ea typeface="Arial"/>
                <a:cs typeface="Arial"/>
              </a:defRPr>
            </a:lvl9pPr>
          </a:lstStyle>
          <a:p>
            <a:pPr algn="l">
              <a:buNone/>
              <a:defRPr sz="2100" b="0">
                <a:solidFill>
                  <a:srgbClr val="183440"/>
                </a:solidFill>
                <a:latin typeface="Arial"/>
                <a:ea typeface="Arial"/>
                <a:cs typeface="Arial"/>
              </a:defRPr>
            </a:pPr>
            <a:r>
              <a:rPr sz="2100" b="0">
                <a:solidFill>
                  <a:srgbClr val="183440"/>
                </a:solidFill>
                <a:latin typeface="Arial"/>
                <a:ea typeface="Arial"/>
                <a:cs typeface="Arial"/>
              </a:rPr>
              <a:t>We are seeking investors and anchor partners</a:t>
            </a:r>
            <a:endParaRPr/>
          </a:p>
          <a:p>
            <a:pPr algn="l">
              <a:buNone/>
              <a:defRPr sz="2100" b="0">
                <a:solidFill>
                  <a:srgbClr val="183440"/>
                </a:solidFill>
                <a:latin typeface="Arial"/>
                <a:ea typeface="Arial"/>
                <a:cs typeface="Arial"/>
              </a:defRPr>
            </a:pPr>
            <a:r>
              <a:rPr sz="2100" b="0">
                <a:solidFill>
                  <a:srgbClr val="183440"/>
                </a:solidFill>
                <a:latin typeface="Arial"/>
                <a:ea typeface="Arial"/>
                <a:cs typeface="Arial"/>
              </a:rPr>
              <a:t>for stablecoin-funded D-SHARE receipts.</a:t>
            </a:r>
            <a:endParaRPr/>
          </a:p>
        </p:txBody>
      </p:sp>
      <p:sp>
        <p:nvSpPr>
          <p:cNvPr id="1655766730" name="full-text-2156"/>
          <p:cNvSpPr>
            <a:spLocks noGrp="1"/>
          </p:cNvSpPr>
          <p:nvPr/>
        </p:nvSpPr>
        <p:spPr bwMode="auto">
          <a:xfrm>
            <a:off x="609600" y="5391150"/>
            <a:ext cx="6477000" cy="419100"/>
          </a:xfrm>
          <a:prstGeom prst="rect">
            <a:avLst/>
          </a:prstGeom>
          <a:noFill/>
          <a:ln w="0">
            <a:noFill/>
            <a:prstDash val="solid"/>
          </a:ln>
        </p:spPr>
        <p:txBody>
          <a:bodyPr wrap="square" lIns="0" tIns="0" rIns="0" bIns="0" anchor="t">
            <a:noAutofit/>
          </a:bodyPr>
          <a:lstStyle>
            <a:defPPr algn="l">
              <a:defRPr sz="2100" b="1">
                <a:solidFill>
                  <a:srgbClr val="183440"/>
                </a:solidFill>
                <a:latin typeface="Arial"/>
                <a:ea typeface="Arial"/>
                <a:cs typeface="Arial"/>
              </a:defRPr>
            </a:defPPr>
            <a:lvl1pPr algn="l">
              <a:buNone/>
              <a:defRPr sz="2100" b="1">
                <a:solidFill>
                  <a:srgbClr val="FFFFFF"/>
                </a:solidFill>
                <a:latin typeface="Arial"/>
                <a:ea typeface="Arial"/>
                <a:cs typeface="Arial"/>
              </a:defRPr>
            </a:lvl1pPr>
            <a:lvl2pPr algn="l">
              <a:buNone/>
              <a:defRPr sz="2100" b="1">
                <a:solidFill>
                  <a:srgbClr val="FFFFFF"/>
                </a:solidFill>
                <a:latin typeface="Arial"/>
                <a:ea typeface="Arial"/>
                <a:cs typeface="Arial"/>
              </a:defRPr>
            </a:lvl2pPr>
            <a:lvl3pPr algn="l">
              <a:buNone/>
              <a:defRPr sz="2100" b="1">
                <a:solidFill>
                  <a:srgbClr val="FFFFFF"/>
                </a:solidFill>
                <a:latin typeface="Arial"/>
                <a:ea typeface="Arial"/>
                <a:cs typeface="Arial"/>
              </a:defRPr>
            </a:lvl3pPr>
            <a:lvl4pPr algn="l">
              <a:buNone/>
              <a:defRPr sz="2100" b="1">
                <a:solidFill>
                  <a:srgbClr val="FFFFFF"/>
                </a:solidFill>
                <a:latin typeface="Arial"/>
                <a:ea typeface="Arial"/>
                <a:cs typeface="Arial"/>
              </a:defRPr>
            </a:lvl4pPr>
            <a:lvl5pPr algn="l">
              <a:buNone/>
              <a:defRPr sz="2100" b="1">
                <a:solidFill>
                  <a:srgbClr val="FFFFFF"/>
                </a:solidFill>
                <a:latin typeface="Arial"/>
                <a:ea typeface="Arial"/>
                <a:cs typeface="Arial"/>
              </a:defRPr>
            </a:lvl5pPr>
            <a:lvl6pPr algn="l">
              <a:buNone/>
              <a:defRPr sz="2100" b="1">
                <a:solidFill>
                  <a:srgbClr val="FFFFFF"/>
                </a:solidFill>
                <a:latin typeface="Arial"/>
                <a:ea typeface="Arial"/>
                <a:cs typeface="Arial"/>
              </a:defRPr>
            </a:lvl6pPr>
            <a:lvl7pPr algn="l">
              <a:buNone/>
              <a:defRPr sz="2100" b="1">
                <a:solidFill>
                  <a:srgbClr val="FFFFFF"/>
                </a:solidFill>
                <a:latin typeface="Arial"/>
                <a:ea typeface="Arial"/>
                <a:cs typeface="Arial"/>
              </a:defRPr>
            </a:lvl7pPr>
            <a:lvl8pPr algn="l">
              <a:buNone/>
              <a:defRPr sz="2100" b="1">
                <a:solidFill>
                  <a:srgbClr val="FFFFFF"/>
                </a:solidFill>
                <a:latin typeface="Arial"/>
                <a:ea typeface="Arial"/>
                <a:cs typeface="Arial"/>
              </a:defRPr>
            </a:lvl8pPr>
            <a:lvl9pPr algn="l">
              <a:buNone/>
              <a:defRPr sz="2100" b="1">
                <a:solidFill>
                  <a:srgbClr val="FFFFFF"/>
                </a:solidFill>
                <a:latin typeface="Arial"/>
                <a:ea typeface="Arial"/>
                <a:cs typeface="Arial"/>
              </a:defRPr>
            </a:lvl9pPr>
          </a:lstStyle>
          <a:p>
            <a:pPr algn="l">
              <a:buNone/>
              <a:defRPr sz="2100" b="1">
                <a:solidFill>
                  <a:srgbClr val="FFFFFF"/>
                </a:solidFill>
                <a:latin typeface="Arial"/>
                <a:ea typeface="Arial"/>
                <a:cs typeface="Arial"/>
              </a:defRPr>
            </a:pPr>
            <a:r>
              <a:rPr sz="2100" b="1">
                <a:solidFill>
                  <a:srgbClr val="183440"/>
                </a:solidFill>
                <a:latin typeface="Arial"/>
                <a:ea typeface="Arial"/>
                <a:cs typeface="Arial"/>
              </a:rPr>
              <a:t>Connextium.xyz / Finux Labs</a:t>
            </a:r>
            <a:endParaRPr/>
          </a:p>
        </p:txBody>
      </p:sp>
      <p:sp>
        <p:nvSpPr>
          <p:cNvPr id="957488029" name="full-text-2157">
            <a:hlinkClick r:id="rId4"/>
          </p:cNvPr>
          <p:cNvSpPr>
            <a:spLocks noGrp="1"/>
          </p:cNvSpPr>
          <p:nvPr/>
        </p:nvSpPr>
        <p:spPr bwMode="auto">
          <a:xfrm>
            <a:off x="609600" y="5953125"/>
            <a:ext cx="6477000" cy="361950"/>
          </a:xfrm>
          <a:prstGeom prst="rect">
            <a:avLst/>
          </a:prstGeom>
          <a:noFill/>
          <a:ln w="0">
            <a:noFill/>
            <a:prstDash val="solid"/>
          </a:ln>
        </p:spPr>
        <p:txBody>
          <a:bodyPr wrap="square" lIns="0" tIns="0" rIns="0" bIns="0" anchor="t">
            <a:noAutofit/>
          </a:bodyPr>
          <a:lstStyle>
            <a:defPPr algn="l">
              <a:defRPr sz="1900" b="0">
                <a:solidFill>
                  <a:srgbClr val="176C6B"/>
                </a:solidFill>
                <a:latin typeface="Arial"/>
                <a:ea typeface="Arial"/>
                <a:cs typeface="Arial"/>
              </a:defRPr>
            </a:defPPr>
            <a:lvl1pPr algn="l">
              <a:buNone/>
              <a:defRPr sz="1900" b="0">
                <a:solidFill>
                  <a:srgbClr val="FFFFFF"/>
                </a:solidFill>
                <a:latin typeface="Arial"/>
                <a:ea typeface="Arial"/>
                <a:cs typeface="Arial"/>
              </a:defRPr>
            </a:lvl1pPr>
            <a:lvl2pPr algn="l">
              <a:buNone/>
              <a:defRPr sz="1900" b="0">
                <a:solidFill>
                  <a:srgbClr val="FFFFFF"/>
                </a:solidFill>
                <a:latin typeface="Arial"/>
                <a:ea typeface="Arial"/>
                <a:cs typeface="Arial"/>
              </a:defRPr>
            </a:lvl2pPr>
            <a:lvl3pPr algn="l">
              <a:buNone/>
              <a:defRPr sz="1900" b="0">
                <a:solidFill>
                  <a:srgbClr val="FFFFFF"/>
                </a:solidFill>
                <a:latin typeface="Arial"/>
                <a:ea typeface="Arial"/>
                <a:cs typeface="Arial"/>
              </a:defRPr>
            </a:lvl3pPr>
            <a:lvl4pPr algn="l">
              <a:buNone/>
              <a:defRPr sz="1900" b="0">
                <a:solidFill>
                  <a:srgbClr val="FFFFFF"/>
                </a:solidFill>
                <a:latin typeface="Arial"/>
                <a:ea typeface="Arial"/>
                <a:cs typeface="Arial"/>
              </a:defRPr>
            </a:lvl4pPr>
            <a:lvl5pPr algn="l">
              <a:buNone/>
              <a:defRPr sz="1900" b="0">
                <a:solidFill>
                  <a:srgbClr val="FFFFFF"/>
                </a:solidFill>
                <a:latin typeface="Arial"/>
                <a:ea typeface="Arial"/>
                <a:cs typeface="Arial"/>
              </a:defRPr>
            </a:lvl5pPr>
            <a:lvl6pPr algn="l">
              <a:buNone/>
              <a:defRPr sz="1900" b="0">
                <a:solidFill>
                  <a:srgbClr val="FFFFFF"/>
                </a:solidFill>
                <a:latin typeface="Arial"/>
                <a:ea typeface="Arial"/>
                <a:cs typeface="Arial"/>
              </a:defRPr>
            </a:lvl6pPr>
            <a:lvl7pPr algn="l">
              <a:buNone/>
              <a:defRPr sz="1900" b="0">
                <a:solidFill>
                  <a:srgbClr val="FFFFFF"/>
                </a:solidFill>
                <a:latin typeface="Arial"/>
                <a:ea typeface="Arial"/>
                <a:cs typeface="Arial"/>
              </a:defRPr>
            </a:lvl7pPr>
            <a:lvl8pPr algn="l">
              <a:buNone/>
              <a:defRPr sz="1900" b="0">
                <a:solidFill>
                  <a:srgbClr val="FFFFFF"/>
                </a:solidFill>
                <a:latin typeface="Arial"/>
                <a:ea typeface="Arial"/>
                <a:cs typeface="Arial"/>
              </a:defRPr>
            </a:lvl8pPr>
            <a:lvl9pPr algn="l">
              <a:buNone/>
              <a:defRPr sz="1900" b="0">
                <a:solidFill>
                  <a:srgbClr val="FFFFFF"/>
                </a:solidFill>
                <a:latin typeface="Arial"/>
                <a:ea typeface="Arial"/>
                <a:cs typeface="Arial"/>
              </a:defRPr>
            </a:lvl9pPr>
          </a:lstStyle>
          <a:p>
            <a:pPr algn="l">
              <a:buNone/>
              <a:defRPr sz="1900" b="0">
                <a:solidFill>
                  <a:srgbClr val="FFFFFF"/>
                </a:solidFill>
                <a:latin typeface="Arial"/>
                <a:ea typeface="Arial"/>
                <a:cs typeface="Arial"/>
              </a:defRPr>
            </a:pPr>
            <a:r>
              <a:rPr sz="1900" b="0">
                <a:solidFill>
                  <a:srgbClr val="176C6B"/>
                </a:solidFill>
                <a:latin typeface="Arial"/>
                <a:ea typeface="Arial"/>
                <a:cs typeface="Arial"/>
              </a:rPr>
              <a:t>connextium.xyz</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049954673" name="expanded-text-177"/>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One claim across conventional and token forms</a:t>
            </a:r>
            <a:endParaRPr/>
          </a:p>
        </p:txBody>
      </p:sp>
      <p:sp>
        <p:nvSpPr>
          <p:cNvPr id="141046458" name="expanded-text-178"/>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Proposed conversion controls. The legally recognized holder register governs the economic claim.</a:t>
            </a:r>
            <a:endParaRPr/>
          </a:p>
        </p:txBody>
      </p:sp>
      <p:sp>
        <p:nvSpPr>
          <p:cNvPr id="1507917022" name="expanded-text-179"/>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554033887" name="expanded-text-180"/>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42</a:t>
            </a:r>
            <a:endParaRPr/>
          </a:p>
        </p:txBody>
      </p:sp>
      <p:sp>
        <p:nvSpPr>
          <p:cNvPr id="235117289" name="expanded-text-181"/>
          <p:cNvSpPr>
            <a:spLocks noGrp="1"/>
          </p:cNvSpPr>
          <p:nvPr/>
        </p:nvSpPr>
        <p:spPr bwMode="auto">
          <a:xfrm>
            <a:off x="609600" y="2200275"/>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token form</a:t>
            </a:r>
            <a:endParaRPr/>
          </a:p>
        </p:txBody>
      </p:sp>
      <p:sp>
        <p:nvSpPr>
          <p:cNvPr id="1341822216" name="diagram-node-182"/>
          <p:cNvSpPr>
            <a:spLocks noGrp="1"/>
          </p:cNvSpPr>
          <p:nvPr/>
        </p:nvSpPr>
        <p:spPr bwMode="auto">
          <a:xfrm>
            <a:off x="609600" y="2771775"/>
            <a:ext cx="2914650" cy="895350"/>
          </a:xfrm>
          <a:prstGeom prst="rect">
            <a:avLst/>
          </a:prstGeom>
          <a:solidFill>
            <a:srgbClr val="FFFFFF"/>
          </a:solidFill>
          <a:ln w="12383">
            <a:solidFill>
              <a:srgbClr val="CFD7D1"/>
            </a:solidFill>
            <a:prstDash val="solid"/>
          </a:ln>
        </p:spPr>
      </p:sp>
      <p:sp>
        <p:nvSpPr>
          <p:cNvPr id="13210058" name="expanded-text-183"/>
          <p:cNvSpPr>
            <a:spLocks noGrp="1"/>
          </p:cNvSpPr>
          <p:nvPr/>
        </p:nvSpPr>
        <p:spPr bwMode="auto">
          <a:xfrm>
            <a:off x="74295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1617973758" name="expanded-text-184"/>
          <p:cNvSpPr>
            <a:spLocks noGrp="1"/>
          </p:cNvSpPr>
          <p:nvPr/>
        </p:nvSpPr>
        <p:spPr bwMode="auto">
          <a:xfrm>
            <a:off x="74295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sp>
        <p:nvSpPr>
          <p:cNvPr id="1442751894" name="diagram-node-185"/>
          <p:cNvSpPr>
            <a:spLocks noGrp="1"/>
          </p:cNvSpPr>
          <p:nvPr/>
        </p:nvSpPr>
        <p:spPr bwMode="auto">
          <a:xfrm>
            <a:off x="4638675" y="2771775"/>
            <a:ext cx="2914650" cy="895350"/>
          </a:xfrm>
          <a:prstGeom prst="rect">
            <a:avLst/>
          </a:prstGeom>
          <a:solidFill>
            <a:srgbClr val="FFFFFF"/>
          </a:solidFill>
          <a:ln w="12383">
            <a:solidFill>
              <a:srgbClr val="CFD7D1"/>
            </a:solidFill>
            <a:prstDash val="solid"/>
          </a:ln>
        </p:spPr>
      </p:sp>
      <p:sp>
        <p:nvSpPr>
          <p:cNvPr id="108671495" name="expanded-text-186"/>
          <p:cNvSpPr>
            <a:spLocks noGrp="1"/>
          </p:cNvSpPr>
          <p:nvPr/>
        </p:nvSpPr>
        <p:spPr bwMode="auto">
          <a:xfrm>
            <a:off x="4772025"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1523534543" name="expanded-text-187"/>
          <p:cNvSpPr>
            <a:spLocks noGrp="1"/>
          </p:cNvSpPr>
          <p:nvPr/>
        </p:nvSpPr>
        <p:spPr bwMode="auto">
          <a:xfrm>
            <a:off x="4772025"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Immobilized</a:t>
            </a:r>
            <a:endParaRPr/>
          </a:p>
        </p:txBody>
      </p:sp>
      <p:sp>
        <p:nvSpPr>
          <p:cNvPr id="1091218373" name="diagram-node-188"/>
          <p:cNvSpPr>
            <a:spLocks noGrp="1"/>
          </p:cNvSpPr>
          <p:nvPr/>
        </p:nvSpPr>
        <p:spPr bwMode="auto">
          <a:xfrm>
            <a:off x="8667750" y="2771775"/>
            <a:ext cx="2914650" cy="895350"/>
          </a:xfrm>
          <a:prstGeom prst="rect">
            <a:avLst/>
          </a:prstGeom>
          <a:solidFill>
            <a:srgbClr val="EEF3F7"/>
          </a:solidFill>
          <a:ln w="12383">
            <a:solidFill>
              <a:srgbClr val="537DA1"/>
            </a:solidFill>
            <a:prstDash val="solid"/>
          </a:ln>
        </p:spPr>
      </p:sp>
      <p:sp>
        <p:nvSpPr>
          <p:cNvPr id="322982190" name="expanded-text-189"/>
          <p:cNvSpPr>
            <a:spLocks noGrp="1"/>
          </p:cNvSpPr>
          <p:nvPr/>
        </p:nvSpPr>
        <p:spPr bwMode="auto">
          <a:xfrm>
            <a:off x="8801100" y="2943225"/>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1177620798" name="expanded-text-190"/>
          <p:cNvSpPr>
            <a:spLocks noGrp="1"/>
          </p:cNvSpPr>
          <p:nvPr/>
        </p:nvSpPr>
        <p:spPr bwMode="auto">
          <a:xfrm>
            <a:off x="8801100" y="3314700"/>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Spendable</a:t>
            </a:r>
            <a:endParaRPr/>
          </a:p>
        </p:txBody>
      </p:sp>
      <p:cxnSp>
        <p:nvCxnSpPr>
          <p:cNvPr id="1958182913" name="diagram-line-191"/>
          <p:cNvCxnSpPr/>
          <p:nvPr/>
        </p:nvCxnSpPr>
        <p:spPr bwMode="auto">
          <a:xfrm>
            <a:off x="3524250" y="3219449"/>
            <a:ext cx="1114425" cy="0"/>
          </a:xfrm>
          <a:prstGeom prst="straightConnector1">
            <a:avLst/>
          </a:prstGeom>
          <a:ln w="19050">
            <a:solidFill>
              <a:srgbClr val="83739D"/>
            </a:solidFill>
            <a:prstDash val="solid"/>
            <a:tailEnd type="triangle" w="sm" len="sm"/>
          </a:ln>
        </p:spPr>
      </p:cxnSp>
      <p:cxnSp>
        <p:nvCxnSpPr>
          <p:cNvPr id="824592364" name="diagram-line-192"/>
          <p:cNvCxnSpPr/>
          <p:nvPr/>
        </p:nvCxnSpPr>
        <p:spPr bwMode="auto">
          <a:xfrm>
            <a:off x="7553325" y="3219449"/>
            <a:ext cx="1114425" cy="0"/>
          </a:xfrm>
          <a:prstGeom prst="straightConnector1">
            <a:avLst/>
          </a:prstGeom>
          <a:ln w="19050">
            <a:solidFill>
              <a:srgbClr val="537DA1"/>
            </a:solidFill>
            <a:prstDash val="solid"/>
            <a:tailEnd type="triangle" w="sm" len="sm"/>
          </a:ln>
        </p:spPr>
      </p:cxnSp>
      <p:sp>
        <p:nvSpPr>
          <p:cNvPr id="282033074" name="expanded-text-193"/>
          <p:cNvSpPr>
            <a:spLocks noGrp="1"/>
          </p:cNvSpPr>
          <p:nvPr/>
        </p:nvSpPr>
        <p:spPr bwMode="auto">
          <a:xfrm>
            <a:off x="609600" y="4095750"/>
            <a:ext cx="10972800" cy="390525"/>
          </a:xfrm>
          <a:prstGeom prst="rect">
            <a:avLst/>
          </a:prstGeom>
          <a:noFill/>
          <a:ln w="0">
            <a:noFill/>
            <a:prstDash val="solid"/>
          </a:ln>
        </p:spPr>
        <p:txBody>
          <a:bodyPr wrap="square" lIns="0" tIns="0" rIns="0" bIns="0" anchor="t">
            <a:noAutofit/>
          </a:bodyPr>
          <a:lstStyle>
            <a:defPPr algn="l">
              <a:defRPr sz="2100" b="1">
                <a:solidFill>
                  <a:srgbClr val="176C6B"/>
                </a:solidFill>
                <a:latin typeface="Arial"/>
                <a:ea typeface="Arial"/>
                <a:cs typeface="Arial"/>
              </a:defRPr>
            </a:defPPr>
            <a:lvl1pPr algn="l">
              <a:buNone/>
              <a:defRPr sz="2100" b="1">
                <a:solidFill>
                  <a:srgbClr val="176C6B"/>
                </a:solidFill>
                <a:latin typeface="Arial"/>
                <a:ea typeface="Arial"/>
                <a:cs typeface="Arial"/>
              </a:defRPr>
            </a:lvl1pPr>
            <a:lvl2pPr algn="l">
              <a:buNone/>
              <a:defRPr sz="2100" b="1">
                <a:solidFill>
                  <a:srgbClr val="176C6B"/>
                </a:solidFill>
                <a:latin typeface="Arial"/>
                <a:ea typeface="Arial"/>
                <a:cs typeface="Arial"/>
              </a:defRPr>
            </a:lvl2pPr>
            <a:lvl3pPr algn="l">
              <a:buNone/>
              <a:defRPr sz="2100" b="1">
                <a:solidFill>
                  <a:srgbClr val="176C6B"/>
                </a:solidFill>
                <a:latin typeface="Arial"/>
                <a:ea typeface="Arial"/>
                <a:cs typeface="Arial"/>
              </a:defRPr>
            </a:lvl3pPr>
            <a:lvl4pPr algn="l">
              <a:buNone/>
              <a:defRPr sz="2100" b="1">
                <a:solidFill>
                  <a:srgbClr val="176C6B"/>
                </a:solidFill>
                <a:latin typeface="Arial"/>
                <a:ea typeface="Arial"/>
                <a:cs typeface="Arial"/>
              </a:defRPr>
            </a:lvl4pPr>
            <a:lvl5pPr algn="l">
              <a:buNone/>
              <a:defRPr sz="2100" b="1">
                <a:solidFill>
                  <a:srgbClr val="176C6B"/>
                </a:solidFill>
                <a:latin typeface="Arial"/>
                <a:ea typeface="Arial"/>
                <a:cs typeface="Arial"/>
              </a:defRPr>
            </a:lvl5pPr>
            <a:lvl6pPr algn="l">
              <a:buNone/>
              <a:defRPr sz="2100" b="1">
                <a:solidFill>
                  <a:srgbClr val="176C6B"/>
                </a:solidFill>
                <a:latin typeface="Arial"/>
                <a:ea typeface="Arial"/>
                <a:cs typeface="Arial"/>
              </a:defRPr>
            </a:lvl6pPr>
            <a:lvl7pPr algn="l">
              <a:buNone/>
              <a:defRPr sz="2100" b="1">
                <a:solidFill>
                  <a:srgbClr val="176C6B"/>
                </a:solidFill>
                <a:latin typeface="Arial"/>
                <a:ea typeface="Arial"/>
                <a:cs typeface="Arial"/>
              </a:defRPr>
            </a:lvl7pPr>
            <a:lvl8pPr algn="l">
              <a:buNone/>
              <a:defRPr sz="2100" b="1">
                <a:solidFill>
                  <a:srgbClr val="176C6B"/>
                </a:solidFill>
                <a:latin typeface="Arial"/>
                <a:ea typeface="Arial"/>
                <a:cs typeface="Arial"/>
              </a:defRPr>
            </a:lvl8pPr>
            <a:lvl9pPr algn="l">
              <a:buNone/>
              <a:defRPr sz="2100" b="1">
                <a:solidFill>
                  <a:srgbClr val="176C6B"/>
                </a:solidFill>
                <a:latin typeface="Arial"/>
                <a:ea typeface="Arial"/>
                <a:cs typeface="Arial"/>
              </a:defRPr>
            </a:lvl9pPr>
          </a:lstStyle>
          <a:p>
            <a:pPr algn="l">
              <a:buNone/>
              <a:defRPr sz="2100" b="1">
                <a:solidFill>
                  <a:srgbClr val="176C6B"/>
                </a:solidFill>
                <a:latin typeface="Arial"/>
                <a:ea typeface="Arial"/>
                <a:cs typeface="Arial"/>
              </a:defRPr>
            </a:pPr>
            <a:r>
              <a:rPr sz="2100" b="1">
                <a:solidFill>
                  <a:srgbClr val="176C6B"/>
                </a:solidFill>
                <a:latin typeface="Arial"/>
                <a:ea typeface="Arial"/>
                <a:cs typeface="Arial"/>
              </a:rPr>
              <a:t>Conversion to conventional form</a:t>
            </a:r>
            <a:endParaRPr/>
          </a:p>
        </p:txBody>
      </p:sp>
      <p:sp>
        <p:nvSpPr>
          <p:cNvPr id="559012766" name="diagram-node-194"/>
          <p:cNvSpPr>
            <a:spLocks noGrp="1"/>
          </p:cNvSpPr>
          <p:nvPr/>
        </p:nvSpPr>
        <p:spPr bwMode="auto">
          <a:xfrm>
            <a:off x="609600" y="4667250"/>
            <a:ext cx="2914650" cy="895350"/>
          </a:xfrm>
          <a:prstGeom prst="rect">
            <a:avLst/>
          </a:prstGeom>
          <a:solidFill>
            <a:srgbClr val="FFFFFF"/>
          </a:solidFill>
          <a:ln w="12383">
            <a:solidFill>
              <a:srgbClr val="CFD7D1"/>
            </a:solidFill>
            <a:prstDash val="solid"/>
          </a:ln>
        </p:spPr>
      </p:sp>
      <p:sp>
        <p:nvSpPr>
          <p:cNvPr id="143317968" name="expanded-text-195"/>
          <p:cNvSpPr>
            <a:spLocks noGrp="1"/>
          </p:cNvSpPr>
          <p:nvPr/>
        </p:nvSpPr>
        <p:spPr bwMode="auto">
          <a:xfrm>
            <a:off x="74295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Conventional units</a:t>
            </a:r>
            <a:endParaRPr/>
          </a:p>
        </p:txBody>
      </p:sp>
      <p:sp>
        <p:nvSpPr>
          <p:cNvPr id="198613298" name="expanded-text-196"/>
          <p:cNvSpPr>
            <a:spLocks noGrp="1"/>
          </p:cNvSpPr>
          <p:nvPr/>
        </p:nvSpPr>
        <p:spPr bwMode="auto">
          <a:xfrm>
            <a:off x="74295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Restored</a:t>
            </a:r>
            <a:endParaRPr/>
          </a:p>
        </p:txBody>
      </p:sp>
      <p:sp>
        <p:nvSpPr>
          <p:cNvPr id="317864470" name="diagram-node-197"/>
          <p:cNvSpPr>
            <a:spLocks noGrp="1"/>
          </p:cNvSpPr>
          <p:nvPr/>
        </p:nvSpPr>
        <p:spPr bwMode="auto">
          <a:xfrm>
            <a:off x="4638675" y="4667250"/>
            <a:ext cx="2914650" cy="895350"/>
          </a:xfrm>
          <a:prstGeom prst="rect">
            <a:avLst/>
          </a:prstGeom>
          <a:solidFill>
            <a:srgbClr val="FFFFFF"/>
          </a:solidFill>
          <a:ln w="12383">
            <a:solidFill>
              <a:srgbClr val="CFD7D1"/>
            </a:solidFill>
            <a:prstDash val="solid"/>
          </a:ln>
        </p:spPr>
      </p:sp>
      <p:sp>
        <p:nvSpPr>
          <p:cNvPr id="1168630614" name="expanded-text-198"/>
          <p:cNvSpPr>
            <a:spLocks noGrp="1"/>
          </p:cNvSpPr>
          <p:nvPr/>
        </p:nvSpPr>
        <p:spPr bwMode="auto">
          <a:xfrm>
            <a:off x="4772025"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18175757" name="expanded-text-199"/>
          <p:cNvSpPr>
            <a:spLocks noGrp="1"/>
          </p:cNvSpPr>
          <p:nvPr/>
        </p:nvSpPr>
        <p:spPr bwMode="auto">
          <a:xfrm>
            <a:off x="4772025"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Burned or disabled</a:t>
            </a:r>
            <a:endParaRPr/>
          </a:p>
        </p:txBody>
      </p:sp>
      <p:sp>
        <p:nvSpPr>
          <p:cNvPr id="646075848" name="diagram-node-200"/>
          <p:cNvSpPr>
            <a:spLocks noGrp="1"/>
          </p:cNvSpPr>
          <p:nvPr/>
        </p:nvSpPr>
        <p:spPr bwMode="auto">
          <a:xfrm>
            <a:off x="8667750" y="4667250"/>
            <a:ext cx="2914650" cy="895350"/>
          </a:xfrm>
          <a:prstGeom prst="rect">
            <a:avLst/>
          </a:prstGeom>
          <a:solidFill>
            <a:srgbClr val="EEF3F7"/>
          </a:solidFill>
          <a:ln w="12383">
            <a:solidFill>
              <a:srgbClr val="537DA1"/>
            </a:solidFill>
            <a:prstDash val="solid"/>
          </a:ln>
        </p:spPr>
      </p:sp>
      <p:sp>
        <p:nvSpPr>
          <p:cNvPr id="1849577" name="expanded-text-201"/>
          <p:cNvSpPr>
            <a:spLocks noGrp="1"/>
          </p:cNvSpPr>
          <p:nvPr/>
        </p:nvSpPr>
        <p:spPr bwMode="auto">
          <a:xfrm>
            <a:off x="8801100" y="4838700"/>
            <a:ext cx="2647949" cy="323850"/>
          </a:xfrm>
          <a:prstGeom prst="rect">
            <a:avLst/>
          </a:prstGeom>
          <a:noFill/>
          <a:ln w="0">
            <a:noFill/>
            <a:prstDash val="solid"/>
          </a:ln>
        </p:spPr>
        <p:txBody>
          <a:bodyPr wrap="square" lIns="0" tIns="0" rIns="0" bIns="0" anchor="t">
            <a:noAutofit/>
          </a:bodyPr>
          <a:lstStyle>
            <a:defPPr algn="ctr">
              <a:defRPr sz="1950" b="1">
                <a:solidFill>
                  <a:srgbClr val="183440"/>
                </a:solidFill>
                <a:latin typeface="Arial"/>
                <a:ea typeface="Arial"/>
                <a:cs typeface="Arial"/>
              </a:defRPr>
            </a:defPPr>
            <a:lvl1pPr algn="ctr">
              <a:buNone/>
              <a:defRPr sz="1950" b="1">
                <a:solidFill>
                  <a:srgbClr val="183440"/>
                </a:solidFill>
                <a:latin typeface="Arial"/>
                <a:ea typeface="Arial"/>
                <a:cs typeface="Arial"/>
              </a:defRPr>
            </a:lvl1pPr>
            <a:lvl2pPr algn="ctr">
              <a:buNone/>
              <a:defRPr sz="1950" b="1">
                <a:solidFill>
                  <a:srgbClr val="183440"/>
                </a:solidFill>
                <a:latin typeface="Arial"/>
                <a:ea typeface="Arial"/>
                <a:cs typeface="Arial"/>
              </a:defRPr>
            </a:lvl2pPr>
            <a:lvl3pPr algn="ctr">
              <a:buNone/>
              <a:defRPr sz="1950" b="1">
                <a:solidFill>
                  <a:srgbClr val="183440"/>
                </a:solidFill>
                <a:latin typeface="Arial"/>
                <a:ea typeface="Arial"/>
                <a:cs typeface="Arial"/>
              </a:defRPr>
            </a:lvl3pPr>
            <a:lvl4pPr algn="ctr">
              <a:buNone/>
              <a:defRPr sz="1950" b="1">
                <a:solidFill>
                  <a:srgbClr val="183440"/>
                </a:solidFill>
                <a:latin typeface="Arial"/>
                <a:ea typeface="Arial"/>
                <a:cs typeface="Arial"/>
              </a:defRPr>
            </a:lvl4pPr>
            <a:lvl5pPr algn="ctr">
              <a:buNone/>
              <a:defRPr sz="1950" b="1">
                <a:solidFill>
                  <a:srgbClr val="183440"/>
                </a:solidFill>
                <a:latin typeface="Arial"/>
                <a:ea typeface="Arial"/>
                <a:cs typeface="Arial"/>
              </a:defRPr>
            </a:lvl5pPr>
            <a:lvl6pPr algn="ctr">
              <a:buNone/>
              <a:defRPr sz="1950" b="1">
                <a:solidFill>
                  <a:srgbClr val="183440"/>
                </a:solidFill>
                <a:latin typeface="Arial"/>
                <a:ea typeface="Arial"/>
                <a:cs typeface="Arial"/>
              </a:defRPr>
            </a:lvl6pPr>
            <a:lvl7pPr algn="ctr">
              <a:buNone/>
              <a:defRPr sz="1950" b="1">
                <a:solidFill>
                  <a:srgbClr val="183440"/>
                </a:solidFill>
                <a:latin typeface="Arial"/>
                <a:ea typeface="Arial"/>
                <a:cs typeface="Arial"/>
              </a:defRPr>
            </a:lvl7pPr>
            <a:lvl8pPr algn="ctr">
              <a:buNone/>
              <a:defRPr sz="1950" b="1">
                <a:solidFill>
                  <a:srgbClr val="183440"/>
                </a:solidFill>
                <a:latin typeface="Arial"/>
                <a:ea typeface="Arial"/>
                <a:cs typeface="Arial"/>
              </a:defRPr>
            </a:lvl8pPr>
            <a:lvl9pPr algn="ctr">
              <a:buNone/>
              <a:defRPr sz="1950" b="1">
                <a:solidFill>
                  <a:srgbClr val="183440"/>
                </a:solidFill>
                <a:latin typeface="Arial"/>
                <a:ea typeface="Arial"/>
                <a:cs typeface="Arial"/>
              </a:defRPr>
            </a:lvl9pPr>
          </a:lstStyle>
          <a:p>
            <a:pPr algn="ctr">
              <a:buNone/>
              <a:defRPr sz="1950" b="1">
                <a:solidFill>
                  <a:srgbClr val="183440"/>
                </a:solidFill>
                <a:latin typeface="Arial"/>
                <a:ea typeface="Arial"/>
                <a:cs typeface="Arial"/>
              </a:defRPr>
            </a:pPr>
            <a:r>
              <a:rPr sz="1950" b="1">
                <a:solidFill>
                  <a:srgbClr val="183440"/>
                </a:solidFill>
                <a:latin typeface="Arial"/>
                <a:ea typeface="Arial"/>
                <a:cs typeface="Arial"/>
              </a:rPr>
              <a:t>Receipt tokens</a:t>
            </a:r>
            <a:endParaRPr/>
          </a:p>
        </p:txBody>
      </p:sp>
      <p:sp>
        <p:nvSpPr>
          <p:cNvPr id="459168524" name="expanded-text-202"/>
          <p:cNvSpPr>
            <a:spLocks noGrp="1"/>
          </p:cNvSpPr>
          <p:nvPr/>
        </p:nvSpPr>
        <p:spPr bwMode="auto">
          <a:xfrm>
            <a:off x="8801100" y="5210175"/>
            <a:ext cx="2647949" cy="285750"/>
          </a:xfrm>
          <a:prstGeom prst="rect">
            <a:avLst/>
          </a:prstGeom>
          <a:noFill/>
          <a:ln w="0">
            <a:noFill/>
            <a:prstDash val="solid"/>
          </a:ln>
        </p:spPr>
        <p:txBody>
          <a:bodyPr wrap="square" lIns="0" tIns="0" rIns="0" bIns="0" anchor="t">
            <a:noAutofit/>
          </a:bodyPr>
          <a:lstStyle>
            <a:defPPr algn="ctr">
              <a:defRPr sz="1650" b="0">
                <a:solidFill>
                  <a:srgbClr val="53676D"/>
                </a:solidFill>
                <a:latin typeface="Arial"/>
                <a:ea typeface="Arial"/>
                <a:cs typeface="Arial"/>
              </a:defRPr>
            </a:defPPr>
            <a:lvl1pPr algn="ctr">
              <a:buNone/>
              <a:defRPr sz="1650" b="0">
                <a:solidFill>
                  <a:srgbClr val="53676D"/>
                </a:solidFill>
                <a:latin typeface="Arial"/>
                <a:ea typeface="Arial"/>
                <a:cs typeface="Arial"/>
              </a:defRPr>
            </a:lvl1pPr>
            <a:lvl2pPr algn="ctr">
              <a:buNone/>
              <a:defRPr sz="1650" b="0">
                <a:solidFill>
                  <a:srgbClr val="53676D"/>
                </a:solidFill>
                <a:latin typeface="Arial"/>
                <a:ea typeface="Arial"/>
                <a:cs typeface="Arial"/>
              </a:defRPr>
            </a:lvl2pPr>
            <a:lvl3pPr algn="ctr">
              <a:buNone/>
              <a:defRPr sz="1650" b="0">
                <a:solidFill>
                  <a:srgbClr val="53676D"/>
                </a:solidFill>
                <a:latin typeface="Arial"/>
                <a:ea typeface="Arial"/>
                <a:cs typeface="Arial"/>
              </a:defRPr>
            </a:lvl3pPr>
            <a:lvl4pPr algn="ctr">
              <a:buNone/>
              <a:defRPr sz="1650" b="0">
                <a:solidFill>
                  <a:srgbClr val="53676D"/>
                </a:solidFill>
                <a:latin typeface="Arial"/>
                <a:ea typeface="Arial"/>
                <a:cs typeface="Arial"/>
              </a:defRPr>
            </a:lvl4pPr>
            <a:lvl5pPr algn="ctr">
              <a:buNone/>
              <a:defRPr sz="1650" b="0">
                <a:solidFill>
                  <a:srgbClr val="53676D"/>
                </a:solidFill>
                <a:latin typeface="Arial"/>
                <a:ea typeface="Arial"/>
                <a:cs typeface="Arial"/>
              </a:defRPr>
            </a:lvl5pPr>
            <a:lvl6pPr algn="ctr">
              <a:buNone/>
              <a:defRPr sz="1650" b="0">
                <a:solidFill>
                  <a:srgbClr val="53676D"/>
                </a:solidFill>
                <a:latin typeface="Arial"/>
                <a:ea typeface="Arial"/>
                <a:cs typeface="Arial"/>
              </a:defRPr>
            </a:lvl6pPr>
            <a:lvl7pPr algn="ctr">
              <a:buNone/>
              <a:defRPr sz="1650" b="0">
                <a:solidFill>
                  <a:srgbClr val="53676D"/>
                </a:solidFill>
                <a:latin typeface="Arial"/>
                <a:ea typeface="Arial"/>
                <a:cs typeface="Arial"/>
              </a:defRPr>
            </a:lvl7pPr>
            <a:lvl8pPr algn="ctr">
              <a:buNone/>
              <a:defRPr sz="1650" b="0">
                <a:solidFill>
                  <a:srgbClr val="53676D"/>
                </a:solidFill>
                <a:latin typeface="Arial"/>
                <a:ea typeface="Arial"/>
                <a:cs typeface="Arial"/>
              </a:defRPr>
            </a:lvl8pPr>
            <a:lvl9pPr algn="ctr">
              <a:buNone/>
              <a:defRPr sz="1650" b="0">
                <a:solidFill>
                  <a:srgbClr val="53676D"/>
                </a:solidFill>
                <a:latin typeface="Arial"/>
                <a:ea typeface="Arial"/>
                <a:cs typeface="Arial"/>
              </a:defRPr>
            </a:lvl9pPr>
          </a:lstStyle>
          <a:p>
            <a:pPr algn="ctr">
              <a:buNone/>
              <a:defRPr sz="1650" b="0">
                <a:solidFill>
                  <a:srgbClr val="53676D"/>
                </a:solidFill>
                <a:latin typeface="Arial"/>
                <a:ea typeface="Arial"/>
                <a:cs typeface="Arial"/>
              </a:defRPr>
            </a:pPr>
            <a:r>
              <a:rPr sz="1650" b="0">
                <a:solidFill>
                  <a:srgbClr val="53676D"/>
                </a:solidFill>
                <a:latin typeface="Arial"/>
                <a:ea typeface="Arial"/>
                <a:cs typeface="Arial"/>
              </a:rPr>
              <a:t>Reserved</a:t>
            </a:r>
            <a:endParaRPr/>
          </a:p>
        </p:txBody>
      </p:sp>
      <p:cxnSp>
        <p:nvCxnSpPr>
          <p:cNvPr id="1500638034" name="diagram-line-203"/>
          <p:cNvCxnSpPr/>
          <p:nvPr/>
        </p:nvCxnSpPr>
        <p:spPr bwMode="auto">
          <a:xfrm>
            <a:off x="7553325" y="5114925"/>
            <a:ext cx="1114425" cy="0"/>
          </a:xfrm>
          <a:prstGeom prst="straightConnector1">
            <a:avLst/>
          </a:prstGeom>
          <a:ln w="19050">
            <a:solidFill>
              <a:srgbClr val="83739D"/>
            </a:solidFill>
            <a:prstDash val="solid"/>
            <a:headEnd type="triangle" w="sm" len="sm"/>
          </a:ln>
        </p:spPr>
      </p:cxnSp>
      <p:cxnSp>
        <p:nvCxnSpPr>
          <p:cNvPr id="2016864295" name="diagram-line-204"/>
          <p:cNvCxnSpPr/>
          <p:nvPr/>
        </p:nvCxnSpPr>
        <p:spPr bwMode="auto">
          <a:xfrm>
            <a:off x="3524250" y="5114925"/>
            <a:ext cx="1114425" cy="0"/>
          </a:xfrm>
          <a:prstGeom prst="straightConnector1">
            <a:avLst/>
          </a:prstGeom>
          <a:ln w="19050">
            <a:solidFill>
              <a:srgbClr val="537DA1"/>
            </a:solidFill>
            <a:prstDash val="solid"/>
            <a:headEnd type="triangle" w="sm" len="sm"/>
          </a:ln>
        </p:spPr>
      </p:cxnSp>
      <p:sp>
        <p:nvSpPr>
          <p:cNvPr id="1416711824" name="expanded-text-205"/>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Until legal register recognition, any operational ledger mirror remains non-transferable. Spendable copies cannot coexist.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762369218" name="expanded-text-206"/>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Business data across the trade lifecycle</a:t>
            </a:r>
            <a:endParaRPr/>
          </a:p>
        </p:txBody>
      </p:sp>
      <p:sp>
        <p:nvSpPr>
          <p:cNvPr id="97421236" name="expanded-text-207"/>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Simplified relationship map. Identifiers connect programme rights to backing, holder positions and settlement.</a:t>
            </a:r>
            <a:endParaRPr/>
          </a:p>
        </p:txBody>
      </p:sp>
      <p:sp>
        <p:nvSpPr>
          <p:cNvPr id="1043892243" name="expanded-text-208"/>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864616632" name="expanded-text-209"/>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43</a:t>
            </a:r>
            <a:endParaRPr/>
          </a:p>
        </p:txBody>
      </p:sp>
      <p:sp>
        <p:nvSpPr>
          <p:cNvPr id="1241643845" name="business-entity-210"/>
          <p:cNvSpPr>
            <a:spLocks noGrp="1"/>
          </p:cNvSpPr>
          <p:nvPr/>
        </p:nvSpPr>
        <p:spPr bwMode="auto">
          <a:xfrm>
            <a:off x="609600" y="2181225"/>
            <a:ext cx="2914650" cy="685800"/>
          </a:xfrm>
          <a:prstGeom prst="rect">
            <a:avLst/>
          </a:prstGeom>
          <a:solidFill>
            <a:srgbClr val="FFFFFF"/>
          </a:solidFill>
          <a:ln w="12383">
            <a:solidFill>
              <a:srgbClr val="CFD7D1"/>
            </a:solidFill>
            <a:prstDash val="solid"/>
          </a:ln>
        </p:spPr>
      </p:sp>
      <p:sp>
        <p:nvSpPr>
          <p:cNvPr id="456746638" name="expanded-text-211"/>
          <p:cNvSpPr>
            <a:spLocks noGrp="1"/>
          </p:cNvSpPr>
          <p:nvPr/>
        </p:nvSpPr>
        <p:spPr bwMode="auto">
          <a:xfrm>
            <a:off x="72390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Programme</a:t>
            </a:r>
            <a:endParaRPr/>
          </a:p>
        </p:txBody>
      </p:sp>
      <p:sp>
        <p:nvSpPr>
          <p:cNvPr id="895832965" name="expanded-text-212"/>
          <p:cNvSpPr>
            <a:spLocks noGrp="1"/>
          </p:cNvSpPr>
          <p:nvPr/>
        </p:nvSpPr>
        <p:spPr bwMode="auto">
          <a:xfrm>
            <a:off x="72390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ProgrammeID, issuer, rights</a:t>
            </a:r>
            <a:endParaRPr/>
          </a:p>
        </p:txBody>
      </p:sp>
      <p:sp>
        <p:nvSpPr>
          <p:cNvPr id="126001777" name="business-entity-213"/>
          <p:cNvSpPr>
            <a:spLocks noGrp="1"/>
          </p:cNvSpPr>
          <p:nvPr/>
        </p:nvSpPr>
        <p:spPr bwMode="auto">
          <a:xfrm>
            <a:off x="4638675" y="2181225"/>
            <a:ext cx="2914650" cy="685800"/>
          </a:xfrm>
          <a:prstGeom prst="rect">
            <a:avLst/>
          </a:prstGeom>
          <a:solidFill>
            <a:srgbClr val="FFFFFF"/>
          </a:solidFill>
          <a:ln w="12383">
            <a:solidFill>
              <a:srgbClr val="176C6B"/>
            </a:solidFill>
            <a:prstDash val="solid"/>
          </a:ln>
        </p:spPr>
      </p:sp>
      <p:sp>
        <p:nvSpPr>
          <p:cNvPr id="729364940" name="expanded-text-214"/>
          <p:cNvSpPr>
            <a:spLocks noGrp="1"/>
          </p:cNvSpPr>
          <p:nvPr/>
        </p:nvSpPr>
        <p:spPr bwMode="auto">
          <a:xfrm>
            <a:off x="4752975"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ReceiptSeries</a:t>
            </a:r>
            <a:endParaRPr/>
          </a:p>
        </p:txBody>
      </p:sp>
      <p:sp>
        <p:nvSpPr>
          <p:cNvPr id="419520935" name="expanded-text-215"/>
          <p:cNvSpPr>
            <a:spLocks noGrp="1"/>
          </p:cNvSpPr>
          <p:nvPr/>
        </p:nvSpPr>
        <p:spPr bwMode="auto">
          <a:xfrm>
            <a:off x="4752975"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SeriesID, ProgrammeID, ratio</a:t>
            </a:r>
            <a:endParaRPr/>
          </a:p>
        </p:txBody>
      </p:sp>
      <p:sp>
        <p:nvSpPr>
          <p:cNvPr id="830802088" name="business-entity-216"/>
          <p:cNvSpPr>
            <a:spLocks noGrp="1"/>
          </p:cNvSpPr>
          <p:nvPr/>
        </p:nvSpPr>
        <p:spPr bwMode="auto">
          <a:xfrm>
            <a:off x="8667750" y="2181225"/>
            <a:ext cx="2914650" cy="685800"/>
          </a:xfrm>
          <a:prstGeom prst="rect">
            <a:avLst/>
          </a:prstGeom>
          <a:solidFill>
            <a:srgbClr val="FFFFFF"/>
          </a:solidFill>
          <a:ln w="12383">
            <a:solidFill>
              <a:srgbClr val="CFD7D1"/>
            </a:solidFill>
            <a:prstDash val="solid"/>
          </a:ln>
        </p:spPr>
      </p:sp>
      <p:sp>
        <p:nvSpPr>
          <p:cNvPr id="169071950" name="expanded-text-217"/>
          <p:cNvSpPr>
            <a:spLocks noGrp="1"/>
          </p:cNvSpPr>
          <p:nvPr/>
        </p:nvSpPr>
        <p:spPr bwMode="auto">
          <a:xfrm>
            <a:off x="8782050" y="22669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UnderlyingSecurity</a:t>
            </a:r>
            <a:endParaRPr/>
          </a:p>
        </p:txBody>
      </p:sp>
      <p:sp>
        <p:nvSpPr>
          <p:cNvPr id="2072639004" name="expanded-text-218"/>
          <p:cNvSpPr>
            <a:spLocks noGrp="1"/>
          </p:cNvSpPr>
          <p:nvPr/>
        </p:nvSpPr>
        <p:spPr bwMode="auto">
          <a:xfrm>
            <a:off x="8782050" y="25908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SecurityID, market, currency</a:t>
            </a:r>
            <a:endParaRPr/>
          </a:p>
        </p:txBody>
      </p:sp>
      <p:sp>
        <p:nvSpPr>
          <p:cNvPr id="1417081226" name="business-entity-219"/>
          <p:cNvSpPr>
            <a:spLocks noGrp="1"/>
          </p:cNvSpPr>
          <p:nvPr/>
        </p:nvSpPr>
        <p:spPr bwMode="auto">
          <a:xfrm>
            <a:off x="609600" y="3724275"/>
            <a:ext cx="2914650" cy="685800"/>
          </a:xfrm>
          <a:prstGeom prst="rect">
            <a:avLst/>
          </a:prstGeom>
          <a:solidFill>
            <a:srgbClr val="FFFFFF"/>
          </a:solidFill>
          <a:ln w="12383">
            <a:solidFill>
              <a:srgbClr val="CFD7D1"/>
            </a:solidFill>
            <a:prstDash val="solid"/>
          </a:ln>
        </p:spPr>
      </p:sp>
      <p:sp>
        <p:nvSpPr>
          <p:cNvPr id="1693175670" name="expanded-text-220"/>
          <p:cNvSpPr>
            <a:spLocks noGrp="1"/>
          </p:cNvSpPr>
          <p:nvPr/>
        </p:nvSpPr>
        <p:spPr bwMode="auto">
          <a:xfrm>
            <a:off x="72390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a:t>
            </a:r>
            <a:endParaRPr/>
          </a:p>
        </p:txBody>
      </p:sp>
      <p:sp>
        <p:nvSpPr>
          <p:cNvPr id="715920767" name="expanded-text-221"/>
          <p:cNvSpPr>
            <a:spLocks noGrp="1"/>
          </p:cNvSpPr>
          <p:nvPr/>
        </p:nvSpPr>
        <p:spPr bwMode="auto">
          <a:xfrm>
            <a:off x="72390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eligibility reference</a:t>
            </a:r>
            <a:endParaRPr/>
          </a:p>
        </p:txBody>
      </p:sp>
      <p:sp>
        <p:nvSpPr>
          <p:cNvPr id="822851116" name="business-entity-222"/>
          <p:cNvSpPr>
            <a:spLocks noGrp="1"/>
          </p:cNvSpPr>
          <p:nvPr/>
        </p:nvSpPr>
        <p:spPr bwMode="auto">
          <a:xfrm>
            <a:off x="4638675" y="3724275"/>
            <a:ext cx="2914650" cy="685800"/>
          </a:xfrm>
          <a:prstGeom prst="rect">
            <a:avLst/>
          </a:prstGeom>
          <a:solidFill>
            <a:srgbClr val="FFFFFF"/>
          </a:solidFill>
          <a:ln w="12383">
            <a:solidFill>
              <a:srgbClr val="CFD7D1"/>
            </a:solidFill>
            <a:prstDash val="solid"/>
          </a:ln>
        </p:spPr>
      </p:sp>
      <p:sp>
        <p:nvSpPr>
          <p:cNvPr id="1571080368" name="expanded-text-223"/>
          <p:cNvSpPr>
            <a:spLocks noGrp="1"/>
          </p:cNvSpPr>
          <p:nvPr/>
        </p:nvSpPr>
        <p:spPr bwMode="auto">
          <a:xfrm>
            <a:off x="4752975"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HolderPosition</a:t>
            </a:r>
            <a:endParaRPr/>
          </a:p>
        </p:txBody>
      </p:sp>
      <p:sp>
        <p:nvSpPr>
          <p:cNvPr id="879125694" name="expanded-text-224"/>
          <p:cNvSpPr>
            <a:spLocks noGrp="1"/>
          </p:cNvSpPr>
          <p:nvPr/>
        </p:nvSpPr>
        <p:spPr bwMode="auto">
          <a:xfrm>
            <a:off x="4752975"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HolderID, SeriesID, units, locks</a:t>
            </a:r>
            <a:endParaRPr/>
          </a:p>
        </p:txBody>
      </p:sp>
      <p:sp>
        <p:nvSpPr>
          <p:cNvPr id="59888590" name="business-entity-225"/>
          <p:cNvSpPr>
            <a:spLocks noGrp="1"/>
          </p:cNvSpPr>
          <p:nvPr/>
        </p:nvSpPr>
        <p:spPr bwMode="auto">
          <a:xfrm>
            <a:off x="8667750" y="3724275"/>
            <a:ext cx="2914650" cy="685800"/>
          </a:xfrm>
          <a:prstGeom prst="rect">
            <a:avLst/>
          </a:prstGeom>
          <a:solidFill>
            <a:srgbClr val="FFFFFF"/>
          </a:solidFill>
          <a:ln w="12383">
            <a:solidFill>
              <a:srgbClr val="CFD7D1"/>
            </a:solidFill>
            <a:prstDash val="solid"/>
          </a:ln>
        </p:spPr>
      </p:sp>
      <p:sp>
        <p:nvSpPr>
          <p:cNvPr id="1585087636" name="expanded-text-226"/>
          <p:cNvSpPr>
            <a:spLocks noGrp="1"/>
          </p:cNvSpPr>
          <p:nvPr/>
        </p:nvSpPr>
        <p:spPr bwMode="auto">
          <a:xfrm>
            <a:off x="8782050" y="381000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CustodyLot</a:t>
            </a:r>
            <a:endParaRPr/>
          </a:p>
        </p:txBody>
      </p:sp>
      <p:sp>
        <p:nvSpPr>
          <p:cNvPr id="1253951285" name="expanded-text-227"/>
          <p:cNvSpPr>
            <a:spLocks noGrp="1"/>
          </p:cNvSpPr>
          <p:nvPr/>
        </p:nvSpPr>
        <p:spPr bwMode="auto">
          <a:xfrm>
            <a:off x="8782050" y="413385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LotID, SeriesID, settled quantity</a:t>
            </a:r>
            <a:endParaRPr/>
          </a:p>
        </p:txBody>
      </p:sp>
      <p:sp>
        <p:nvSpPr>
          <p:cNvPr id="136695283" name="business-entity-228"/>
          <p:cNvSpPr>
            <a:spLocks noGrp="1"/>
          </p:cNvSpPr>
          <p:nvPr/>
        </p:nvSpPr>
        <p:spPr bwMode="auto">
          <a:xfrm>
            <a:off x="609600" y="5267325"/>
            <a:ext cx="2914650" cy="685800"/>
          </a:xfrm>
          <a:prstGeom prst="rect">
            <a:avLst/>
          </a:prstGeom>
          <a:solidFill>
            <a:srgbClr val="FFFFFF"/>
          </a:solidFill>
          <a:ln w="12383">
            <a:solidFill>
              <a:srgbClr val="CFD7D1"/>
            </a:solidFill>
            <a:prstDash val="solid"/>
          </a:ln>
        </p:spPr>
      </p:sp>
      <p:sp>
        <p:nvSpPr>
          <p:cNvPr id="946298878" name="expanded-text-229"/>
          <p:cNvSpPr>
            <a:spLocks noGrp="1"/>
          </p:cNvSpPr>
          <p:nvPr/>
        </p:nvSpPr>
        <p:spPr bwMode="auto">
          <a:xfrm>
            <a:off x="72390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Trade</a:t>
            </a:r>
            <a:endParaRPr/>
          </a:p>
        </p:txBody>
      </p:sp>
      <p:sp>
        <p:nvSpPr>
          <p:cNvPr id="1557277771" name="expanded-text-230"/>
          <p:cNvSpPr>
            <a:spLocks noGrp="1"/>
          </p:cNvSpPr>
          <p:nvPr/>
        </p:nvSpPr>
        <p:spPr bwMode="auto">
          <a:xfrm>
            <a:off x="72390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TradeID, parties, units, price</a:t>
            </a:r>
            <a:endParaRPr/>
          </a:p>
        </p:txBody>
      </p:sp>
      <p:sp>
        <p:nvSpPr>
          <p:cNvPr id="1704321998" name="business-entity-231"/>
          <p:cNvSpPr>
            <a:spLocks noGrp="1"/>
          </p:cNvSpPr>
          <p:nvPr/>
        </p:nvSpPr>
        <p:spPr bwMode="auto">
          <a:xfrm>
            <a:off x="4638675" y="5267325"/>
            <a:ext cx="2914650" cy="685800"/>
          </a:xfrm>
          <a:prstGeom prst="rect">
            <a:avLst/>
          </a:prstGeom>
          <a:solidFill>
            <a:srgbClr val="FFFFFF"/>
          </a:solidFill>
          <a:ln w="12383">
            <a:solidFill>
              <a:srgbClr val="CFD7D1"/>
            </a:solidFill>
            <a:prstDash val="solid"/>
          </a:ln>
        </p:spPr>
      </p:sp>
      <p:sp>
        <p:nvSpPr>
          <p:cNvPr id="569016396" name="expanded-text-232"/>
          <p:cNvSpPr>
            <a:spLocks noGrp="1"/>
          </p:cNvSpPr>
          <p:nvPr/>
        </p:nvSpPr>
        <p:spPr bwMode="auto">
          <a:xfrm>
            <a:off x="4752975"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ReceiptTransfer</a:t>
            </a:r>
            <a:endParaRPr/>
          </a:p>
        </p:txBody>
      </p:sp>
      <p:sp>
        <p:nvSpPr>
          <p:cNvPr id="215612778" name="expanded-text-233"/>
          <p:cNvSpPr>
            <a:spLocks noGrp="1"/>
          </p:cNvSpPr>
          <p:nvPr/>
        </p:nvSpPr>
        <p:spPr bwMode="auto">
          <a:xfrm>
            <a:off x="4752975"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TransferID, TradeID, state</a:t>
            </a:r>
            <a:endParaRPr/>
          </a:p>
        </p:txBody>
      </p:sp>
      <p:sp>
        <p:nvSpPr>
          <p:cNvPr id="1444885821" name="business-entity-234"/>
          <p:cNvSpPr>
            <a:spLocks noGrp="1"/>
          </p:cNvSpPr>
          <p:nvPr/>
        </p:nvSpPr>
        <p:spPr bwMode="auto">
          <a:xfrm>
            <a:off x="8667750" y="5267325"/>
            <a:ext cx="2914650" cy="685800"/>
          </a:xfrm>
          <a:prstGeom prst="rect">
            <a:avLst/>
          </a:prstGeom>
          <a:solidFill>
            <a:srgbClr val="FFFFFF"/>
          </a:solidFill>
          <a:ln w="12383">
            <a:solidFill>
              <a:srgbClr val="CFD7D1"/>
            </a:solidFill>
            <a:prstDash val="solid"/>
          </a:ln>
        </p:spPr>
      </p:sp>
      <p:sp>
        <p:nvSpPr>
          <p:cNvPr id="1212671844" name="expanded-text-235"/>
          <p:cNvSpPr>
            <a:spLocks noGrp="1"/>
          </p:cNvSpPr>
          <p:nvPr/>
        </p:nvSpPr>
        <p:spPr bwMode="auto">
          <a:xfrm>
            <a:off x="8782050" y="5353050"/>
            <a:ext cx="2686050" cy="295274"/>
          </a:xfrm>
          <a:prstGeom prst="rect">
            <a:avLst/>
          </a:prstGeom>
          <a:noFill/>
          <a:ln w="0">
            <a:noFill/>
            <a:prstDash val="solid"/>
          </a:ln>
        </p:spPr>
        <p:txBody>
          <a:bodyPr wrap="square" lIns="0" tIns="0" rIns="0" bIns="0" anchor="t">
            <a:noAutofit/>
          </a:bodyPr>
          <a:lstStyle>
            <a:defPPr algn="l">
              <a:defRPr sz="1900" b="1">
                <a:solidFill>
                  <a:srgbClr val="176C6B"/>
                </a:solidFill>
                <a:latin typeface="Arial"/>
                <a:ea typeface="Arial"/>
                <a:cs typeface="Arial"/>
              </a:defRPr>
            </a:defPPr>
            <a:lvl1pPr algn="l">
              <a:buNone/>
              <a:defRPr sz="1900" b="1">
                <a:solidFill>
                  <a:srgbClr val="176C6B"/>
                </a:solidFill>
                <a:latin typeface="Arial"/>
                <a:ea typeface="Arial"/>
                <a:cs typeface="Arial"/>
              </a:defRPr>
            </a:lvl1pPr>
            <a:lvl2pPr algn="l">
              <a:buNone/>
              <a:defRPr sz="1900" b="1">
                <a:solidFill>
                  <a:srgbClr val="176C6B"/>
                </a:solidFill>
                <a:latin typeface="Arial"/>
                <a:ea typeface="Arial"/>
                <a:cs typeface="Arial"/>
              </a:defRPr>
            </a:lvl2pPr>
            <a:lvl3pPr algn="l">
              <a:buNone/>
              <a:defRPr sz="1900" b="1">
                <a:solidFill>
                  <a:srgbClr val="176C6B"/>
                </a:solidFill>
                <a:latin typeface="Arial"/>
                <a:ea typeface="Arial"/>
                <a:cs typeface="Arial"/>
              </a:defRPr>
            </a:lvl3pPr>
            <a:lvl4pPr algn="l">
              <a:buNone/>
              <a:defRPr sz="1900" b="1">
                <a:solidFill>
                  <a:srgbClr val="176C6B"/>
                </a:solidFill>
                <a:latin typeface="Arial"/>
                <a:ea typeface="Arial"/>
                <a:cs typeface="Arial"/>
              </a:defRPr>
            </a:lvl4pPr>
            <a:lvl5pPr algn="l">
              <a:buNone/>
              <a:defRPr sz="1900" b="1">
                <a:solidFill>
                  <a:srgbClr val="176C6B"/>
                </a:solidFill>
                <a:latin typeface="Arial"/>
                <a:ea typeface="Arial"/>
                <a:cs typeface="Arial"/>
              </a:defRPr>
            </a:lvl5pPr>
            <a:lvl6pPr algn="l">
              <a:buNone/>
              <a:defRPr sz="1900" b="1">
                <a:solidFill>
                  <a:srgbClr val="176C6B"/>
                </a:solidFill>
                <a:latin typeface="Arial"/>
                <a:ea typeface="Arial"/>
                <a:cs typeface="Arial"/>
              </a:defRPr>
            </a:lvl6pPr>
            <a:lvl7pPr algn="l">
              <a:buNone/>
              <a:defRPr sz="1900" b="1">
                <a:solidFill>
                  <a:srgbClr val="176C6B"/>
                </a:solidFill>
                <a:latin typeface="Arial"/>
                <a:ea typeface="Arial"/>
                <a:cs typeface="Arial"/>
              </a:defRPr>
            </a:lvl7pPr>
            <a:lvl8pPr algn="l">
              <a:buNone/>
              <a:defRPr sz="1900" b="1">
                <a:solidFill>
                  <a:srgbClr val="176C6B"/>
                </a:solidFill>
                <a:latin typeface="Arial"/>
                <a:ea typeface="Arial"/>
                <a:cs typeface="Arial"/>
              </a:defRPr>
            </a:lvl8pPr>
            <a:lvl9pPr algn="l">
              <a:buNone/>
              <a:defRPr sz="1900" b="1">
                <a:solidFill>
                  <a:srgbClr val="176C6B"/>
                </a:solidFill>
                <a:latin typeface="Arial"/>
                <a:ea typeface="Arial"/>
                <a:cs typeface="Arial"/>
              </a:defRPr>
            </a:lvl9pPr>
          </a:lstStyle>
          <a:p>
            <a:pPr algn="l">
              <a:buNone/>
              <a:defRPr sz="1900" b="1">
                <a:solidFill>
                  <a:srgbClr val="176C6B"/>
                </a:solidFill>
                <a:latin typeface="Arial"/>
                <a:ea typeface="Arial"/>
                <a:cs typeface="Arial"/>
              </a:defRPr>
            </a:pPr>
            <a:r>
              <a:rPr sz="1900" b="1">
                <a:solidFill>
                  <a:srgbClr val="176C6B"/>
                </a:solidFill>
                <a:latin typeface="Arial"/>
                <a:ea typeface="Arial"/>
                <a:cs typeface="Arial"/>
              </a:rPr>
              <a:t>Settlement</a:t>
            </a:r>
            <a:endParaRPr/>
          </a:p>
        </p:txBody>
      </p:sp>
      <p:sp>
        <p:nvSpPr>
          <p:cNvPr id="517802014" name="expanded-text-236"/>
          <p:cNvSpPr>
            <a:spLocks noGrp="1"/>
          </p:cNvSpPr>
          <p:nvPr/>
        </p:nvSpPr>
        <p:spPr bwMode="auto">
          <a:xfrm>
            <a:off x="8782050" y="5676900"/>
            <a:ext cx="2686050" cy="228600"/>
          </a:xfrm>
          <a:prstGeom prst="rect">
            <a:avLst/>
          </a:prstGeom>
          <a:noFill/>
          <a:ln w="0">
            <a:noFill/>
            <a:prstDash val="solid"/>
          </a:ln>
        </p:spPr>
        <p:txBody>
          <a:bodyPr wrap="square" lIns="0" tIns="0" rIns="0" bIns="0" anchor="t">
            <a:noAutofit/>
          </a:bodyPr>
          <a:lstStyle>
            <a:defPPr algn="l">
              <a:defRPr sz="1300" b="0">
                <a:solidFill>
                  <a:srgbClr val="183440"/>
                </a:solidFill>
                <a:latin typeface="Arial"/>
                <a:ea typeface="Arial"/>
                <a:cs typeface="Arial"/>
              </a:defRPr>
            </a:defPPr>
            <a:lvl1pPr algn="l">
              <a:buNone/>
              <a:defRPr sz="1300" b="0">
                <a:solidFill>
                  <a:srgbClr val="183440"/>
                </a:solidFill>
                <a:latin typeface="Arial"/>
                <a:ea typeface="Arial"/>
                <a:cs typeface="Arial"/>
              </a:defRPr>
            </a:lvl1pPr>
            <a:lvl2pPr algn="l">
              <a:buNone/>
              <a:defRPr sz="1300" b="0">
                <a:solidFill>
                  <a:srgbClr val="183440"/>
                </a:solidFill>
                <a:latin typeface="Arial"/>
                <a:ea typeface="Arial"/>
                <a:cs typeface="Arial"/>
              </a:defRPr>
            </a:lvl2pPr>
            <a:lvl3pPr algn="l">
              <a:buNone/>
              <a:defRPr sz="1300" b="0">
                <a:solidFill>
                  <a:srgbClr val="183440"/>
                </a:solidFill>
                <a:latin typeface="Arial"/>
                <a:ea typeface="Arial"/>
                <a:cs typeface="Arial"/>
              </a:defRPr>
            </a:lvl3pPr>
            <a:lvl4pPr algn="l">
              <a:buNone/>
              <a:defRPr sz="1300" b="0">
                <a:solidFill>
                  <a:srgbClr val="183440"/>
                </a:solidFill>
                <a:latin typeface="Arial"/>
                <a:ea typeface="Arial"/>
                <a:cs typeface="Arial"/>
              </a:defRPr>
            </a:lvl4pPr>
            <a:lvl5pPr algn="l">
              <a:buNone/>
              <a:defRPr sz="1300" b="0">
                <a:solidFill>
                  <a:srgbClr val="183440"/>
                </a:solidFill>
                <a:latin typeface="Arial"/>
                <a:ea typeface="Arial"/>
                <a:cs typeface="Arial"/>
              </a:defRPr>
            </a:lvl5pPr>
            <a:lvl6pPr algn="l">
              <a:buNone/>
              <a:defRPr sz="1300" b="0">
                <a:solidFill>
                  <a:srgbClr val="183440"/>
                </a:solidFill>
                <a:latin typeface="Arial"/>
                <a:ea typeface="Arial"/>
                <a:cs typeface="Arial"/>
              </a:defRPr>
            </a:lvl6pPr>
            <a:lvl7pPr algn="l">
              <a:buNone/>
              <a:defRPr sz="1300" b="0">
                <a:solidFill>
                  <a:srgbClr val="183440"/>
                </a:solidFill>
                <a:latin typeface="Arial"/>
                <a:ea typeface="Arial"/>
                <a:cs typeface="Arial"/>
              </a:defRPr>
            </a:lvl7pPr>
            <a:lvl8pPr algn="l">
              <a:buNone/>
              <a:defRPr sz="1300" b="0">
                <a:solidFill>
                  <a:srgbClr val="183440"/>
                </a:solidFill>
                <a:latin typeface="Arial"/>
                <a:ea typeface="Arial"/>
                <a:cs typeface="Arial"/>
              </a:defRPr>
            </a:lvl8pPr>
            <a:lvl9pPr algn="l">
              <a:buNone/>
              <a:defRPr sz="1300" b="0">
                <a:solidFill>
                  <a:srgbClr val="183440"/>
                </a:solidFill>
                <a:latin typeface="Arial"/>
                <a:ea typeface="Arial"/>
                <a:cs typeface="Arial"/>
              </a:defRPr>
            </a:lvl9pPr>
          </a:lstStyle>
          <a:p>
            <a:pPr algn="l">
              <a:buNone/>
              <a:defRPr sz="1300" b="0">
                <a:solidFill>
                  <a:srgbClr val="183440"/>
                </a:solidFill>
                <a:latin typeface="Arial"/>
                <a:ea typeface="Arial"/>
                <a:cs typeface="Arial"/>
              </a:defRPr>
            </a:pPr>
            <a:r>
              <a:rPr sz="1300" b="0">
                <a:solidFill>
                  <a:srgbClr val="183440"/>
                </a:solidFill>
                <a:latin typeface="Arial"/>
                <a:ea typeface="Arial"/>
                <a:cs typeface="Arial"/>
              </a:rPr>
              <a:t>SettlementID, TradeID, cash asset</a:t>
            </a:r>
            <a:endParaRPr/>
          </a:p>
        </p:txBody>
      </p:sp>
      <p:cxnSp>
        <p:nvCxnSpPr>
          <p:cNvPr id="1957752250" name="diagram-line-237"/>
          <p:cNvCxnSpPr/>
          <p:nvPr/>
        </p:nvCxnSpPr>
        <p:spPr bwMode="auto">
          <a:xfrm>
            <a:off x="3524250" y="2524125"/>
            <a:ext cx="1114425" cy="0"/>
          </a:xfrm>
          <a:prstGeom prst="straightConnector1">
            <a:avLst/>
          </a:prstGeom>
          <a:ln w="17145">
            <a:solidFill>
              <a:srgbClr val="83739D"/>
            </a:solidFill>
            <a:prstDash val="solid"/>
            <a:tailEnd type="triangle" w="sm" len="sm"/>
          </a:ln>
        </p:spPr>
      </p:cxnSp>
      <p:sp>
        <p:nvSpPr>
          <p:cNvPr id="748202570" name="expanded-text-238"/>
          <p:cNvSpPr>
            <a:spLocks noGrp="1"/>
          </p:cNvSpPr>
          <p:nvPr/>
        </p:nvSpPr>
        <p:spPr bwMode="auto">
          <a:xfrm>
            <a:off x="3619500" y="2228850"/>
            <a:ext cx="933450"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has series</a:t>
            </a:r>
            <a:endParaRPr/>
          </a:p>
        </p:txBody>
      </p:sp>
      <p:cxnSp>
        <p:nvCxnSpPr>
          <p:cNvPr id="653468221" name="diagram-line-239"/>
          <p:cNvCxnSpPr/>
          <p:nvPr/>
        </p:nvCxnSpPr>
        <p:spPr bwMode="auto">
          <a:xfrm>
            <a:off x="7553325" y="2524125"/>
            <a:ext cx="1114425" cy="0"/>
          </a:xfrm>
          <a:prstGeom prst="straightConnector1">
            <a:avLst/>
          </a:prstGeom>
          <a:ln w="17145">
            <a:solidFill>
              <a:srgbClr val="83739D"/>
            </a:solidFill>
            <a:prstDash val="solid"/>
            <a:tailEnd type="triangle" w="sm" len="sm"/>
          </a:ln>
        </p:spPr>
      </p:cxnSp>
      <p:sp>
        <p:nvSpPr>
          <p:cNvPr id="1614117624" name="expanded-text-240"/>
          <p:cNvSpPr>
            <a:spLocks noGrp="1"/>
          </p:cNvSpPr>
          <p:nvPr/>
        </p:nvSpPr>
        <p:spPr bwMode="auto">
          <a:xfrm>
            <a:off x="7629525" y="2228850"/>
            <a:ext cx="962025" cy="257175"/>
          </a:xfrm>
          <a:prstGeom prst="rect">
            <a:avLst/>
          </a:prstGeom>
          <a:noFill/>
          <a:ln w="0">
            <a:noFill/>
            <a:prstDash val="solid"/>
          </a:ln>
        </p:spPr>
        <p:txBody>
          <a:bodyPr wrap="square" lIns="0" tIns="0" rIns="0" bIns="0" anchor="t">
            <a:noAutofit/>
          </a:bodyPr>
          <a:lstStyle>
            <a:defPPr algn="ctr">
              <a:defRPr sz="1300" b="0">
                <a:solidFill>
                  <a:srgbClr val="53676D"/>
                </a:solidFill>
                <a:latin typeface="Arial"/>
                <a:ea typeface="Arial"/>
                <a:cs typeface="Arial"/>
              </a:defRPr>
            </a:defPPr>
            <a:lvl1pPr algn="ctr">
              <a:buNone/>
              <a:defRPr sz="1300" b="0">
                <a:solidFill>
                  <a:srgbClr val="53676D"/>
                </a:solidFill>
                <a:latin typeface="Arial"/>
                <a:ea typeface="Arial"/>
                <a:cs typeface="Arial"/>
              </a:defRPr>
            </a:lvl1pPr>
            <a:lvl2pPr algn="ctr">
              <a:buNone/>
              <a:defRPr sz="1300" b="0">
                <a:solidFill>
                  <a:srgbClr val="53676D"/>
                </a:solidFill>
                <a:latin typeface="Arial"/>
                <a:ea typeface="Arial"/>
                <a:cs typeface="Arial"/>
              </a:defRPr>
            </a:lvl2pPr>
            <a:lvl3pPr algn="ctr">
              <a:buNone/>
              <a:defRPr sz="1300" b="0">
                <a:solidFill>
                  <a:srgbClr val="53676D"/>
                </a:solidFill>
                <a:latin typeface="Arial"/>
                <a:ea typeface="Arial"/>
                <a:cs typeface="Arial"/>
              </a:defRPr>
            </a:lvl3pPr>
            <a:lvl4pPr algn="ctr">
              <a:buNone/>
              <a:defRPr sz="1300" b="0">
                <a:solidFill>
                  <a:srgbClr val="53676D"/>
                </a:solidFill>
                <a:latin typeface="Arial"/>
                <a:ea typeface="Arial"/>
                <a:cs typeface="Arial"/>
              </a:defRPr>
            </a:lvl4pPr>
            <a:lvl5pPr algn="ctr">
              <a:buNone/>
              <a:defRPr sz="1300" b="0">
                <a:solidFill>
                  <a:srgbClr val="53676D"/>
                </a:solidFill>
                <a:latin typeface="Arial"/>
                <a:ea typeface="Arial"/>
                <a:cs typeface="Arial"/>
              </a:defRPr>
            </a:lvl5pPr>
            <a:lvl6pPr algn="ctr">
              <a:buNone/>
              <a:defRPr sz="1300" b="0">
                <a:solidFill>
                  <a:srgbClr val="53676D"/>
                </a:solidFill>
                <a:latin typeface="Arial"/>
                <a:ea typeface="Arial"/>
                <a:cs typeface="Arial"/>
              </a:defRPr>
            </a:lvl6pPr>
            <a:lvl7pPr algn="ctr">
              <a:buNone/>
              <a:defRPr sz="1300" b="0">
                <a:solidFill>
                  <a:srgbClr val="53676D"/>
                </a:solidFill>
                <a:latin typeface="Arial"/>
                <a:ea typeface="Arial"/>
                <a:cs typeface="Arial"/>
              </a:defRPr>
            </a:lvl7pPr>
            <a:lvl8pPr algn="ctr">
              <a:buNone/>
              <a:defRPr sz="1300" b="0">
                <a:solidFill>
                  <a:srgbClr val="53676D"/>
                </a:solidFill>
                <a:latin typeface="Arial"/>
                <a:ea typeface="Arial"/>
                <a:cs typeface="Arial"/>
              </a:defRPr>
            </a:lvl8pPr>
            <a:lvl9pPr algn="ctr">
              <a:buNone/>
              <a:defRPr sz="1300" b="0">
                <a:solidFill>
                  <a:srgbClr val="53676D"/>
                </a:solidFill>
                <a:latin typeface="Arial"/>
                <a:ea typeface="Arial"/>
                <a:cs typeface="Arial"/>
              </a:defRPr>
            </a:lvl9pPr>
          </a:lstStyle>
          <a:p>
            <a:pPr algn="ctr">
              <a:buNone/>
              <a:defRPr sz="1300" b="0">
                <a:solidFill>
                  <a:srgbClr val="53676D"/>
                </a:solidFill>
                <a:latin typeface="Arial"/>
                <a:ea typeface="Arial"/>
                <a:cs typeface="Arial"/>
              </a:defRPr>
            </a:pPr>
            <a:r>
              <a:rPr sz="1300" b="0">
                <a:solidFill>
                  <a:srgbClr val="53676D"/>
                </a:solidFill>
                <a:latin typeface="Arial"/>
                <a:ea typeface="Arial"/>
                <a:cs typeface="Arial"/>
              </a:rPr>
              <a:t>references</a:t>
            </a:r>
            <a:endParaRPr/>
          </a:p>
        </p:txBody>
      </p:sp>
      <p:cxnSp>
        <p:nvCxnSpPr>
          <p:cNvPr id="1016185803" name="diagram-line-241"/>
          <p:cNvCxnSpPr/>
          <p:nvPr/>
        </p:nvCxnSpPr>
        <p:spPr bwMode="auto">
          <a:xfrm>
            <a:off x="6096000" y="2867025"/>
            <a:ext cx="0" cy="857250"/>
          </a:xfrm>
          <a:prstGeom prst="straightConnector1">
            <a:avLst/>
          </a:prstGeom>
          <a:ln w="17145">
            <a:solidFill>
              <a:srgbClr val="537DA1"/>
            </a:solidFill>
            <a:prstDash val="solid"/>
            <a:tailEnd type="triangle" w="sm" len="sm"/>
          </a:ln>
        </p:spPr>
      </p:cxnSp>
      <p:sp>
        <p:nvSpPr>
          <p:cNvPr id="1068976487" name="expanded-text-242"/>
          <p:cNvSpPr>
            <a:spLocks noGrp="1"/>
          </p:cNvSpPr>
          <p:nvPr/>
        </p:nvSpPr>
        <p:spPr bwMode="auto">
          <a:xfrm>
            <a:off x="6200775" y="3162300"/>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positions</a:t>
            </a:r>
            <a:endParaRPr/>
          </a:p>
        </p:txBody>
      </p:sp>
      <p:cxnSp>
        <p:nvCxnSpPr>
          <p:cNvPr id="633999362" name="diagram-line-243"/>
          <p:cNvCxnSpPr/>
          <p:nvPr/>
        </p:nvCxnSpPr>
        <p:spPr bwMode="auto">
          <a:xfrm>
            <a:off x="10125075" y="2867025"/>
            <a:ext cx="0" cy="857250"/>
          </a:xfrm>
          <a:prstGeom prst="straightConnector1">
            <a:avLst/>
          </a:prstGeom>
          <a:ln w="17145">
            <a:solidFill>
              <a:srgbClr val="537DA1"/>
            </a:solidFill>
            <a:prstDash val="solid"/>
            <a:tailEnd type="triangle" w="sm" len="sm"/>
          </a:ln>
        </p:spPr>
      </p:cxnSp>
      <p:sp>
        <p:nvSpPr>
          <p:cNvPr id="2054655537" name="expanded-text-244"/>
          <p:cNvSpPr>
            <a:spLocks noGrp="1"/>
          </p:cNvSpPr>
          <p:nvPr/>
        </p:nvSpPr>
        <p:spPr bwMode="auto">
          <a:xfrm>
            <a:off x="10239375" y="3162300"/>
            <a:ext cx="1343025"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custodied in</a:t>
            </a:r>
            <a:endParaRPr/>
          </a:p>
        </p:txBody>
      </p:sp>
      <p:cxnSp>
        <p:nvCxnSpPr>
          <p:cNvPr id="890150857" name="diagram-line-245"/>
          <p:cNvCxnSpPr/>
          <p:nvPr/>
        </p:nvCxnSpPr>
        <p:spPr bwMode="auto">
          <a:xfrm>
            <a:off x="3524250" y="4067175"/>
            <a:ext cx="1114425" cy="0"/>
          </a:xfrm>
          <a:prstGeom prst="straightConnector1">
            <a:avLst/>
          </a:prstGeom>
          <a:ln w="17145">
            <a:solidFill>
              <a:srgbClr val="83739D"/>
            </a:solidFill>
            <a:prstDash val="solid"/>
            <a:tailEnd type="triangle" w="sm" len="sm"/>
          </a:ln>
        </p:spPr>
      </p:cxnSp>
      <p:sp>
        <p:nvSpPr>
          <p:cNvPr id="186319803" name="expanded-text-246"/>
          <p:cNvSpPr>
            <a:spLocks noGrp="1"/>
          </p:cNvSpPr>
          <p:nvPr/>
        </p:nvSpPr>
        <p:spPr bwMode="auto">
          <a:xfrm>
            <a:off x="3638550" y="3781425"/>
            <a:ext cx="8858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owns</a:t>
            </a:r>
            <a:endParaRPr/>
          </a:p>
        </p:txBody>
      </p:sp>
      <p:cxnSp>
        <p:nvCxnSpPr>
          <p:cNvPr id="40244092" name="diagram-line-247"/>
          <p:cNvCxnSpPr/>
          <p:nvPr/>
        </p:nvCxnSpPr>
        <p:spPr bwMode="auto">
          <a:xfrm>
            <a:off x="3524250" y="5610225"/>
            <a:ext cx="1114425" cy="0"/>
          </a:xfrm>
          <a:prstGeom prst="straightConnector1">
            <a:avLst/>
          </a:prstGeom>
          <a:ln w="17145">
            <a:solidFill>
              <a:srgbClr val="83739D"/>
            </a:solidFill>
            <a:prstDash val="solid"/>
            <a:tailEnd type="triangle" w="sm" len="sm"/>
          </a:ln>
        </p:spPr>
      </p:cxnSp>
      <p:sp>
        <p:nvSpPr>
          <p:cNvPr id="214639772" name="expanded-text-248"/>
          <p:cNvSpPr>
            <a:spLocks noGrp="1"/>
          </p:cNvSpPr>
          <p:nvPr/>
        </p:nvSpPr>
        <p:spPr bwMode="auto">
          <a:xfrm>
            <a:off x="3619500" y="5324475"/>
            <a:ext cx="933450"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executes</a:t>
            </a:r>
            <a:endParaRPr/>
          </a:p>
        </p:txBody>
      </p:sp>
      <p:cxnSp>
        <p:nvCxnSpPr>
          <p:cNvPr id="783354022" name="diagram-line-249"/>
          <p:cNvCxnSpPr/>
          <p:nvPr/>
        </p:nvCxnSpPr>
        <p:spPr bwMode="auto">
          <a:xfrm>
            <a:off x="7553325" y="5610225"/>
            <a:ext cx="1114425" cy="0"/>
          </a:xfrm>
          <a:prstGeom prst="straightConnector1">
            <a:avLst/>
          </a:prstGeom>
          <a:ln w="17145">
            <a:solidFill>
              <a:srgbClr val="41826F"/>
            </a:solidFill>
            <a:prstDash val="solid"/>
            <a:headEnd type="triangle" w="sm" len="sm"/>
          </a:ln>
        </p:spPr>
      </p:cxnSp>
      <p:sp>
        <p:nvSpPr>
          <p:cNvPr id="1780455066" name="expanded-text-250"/>
          <p:cNvSpPr>
            <a:spLocks noGrp="1"/>
          </p:cNvSpPr>
          <p:nvPr/>
        </p:nvSpPr>
        <p:spPr bwMode="auto">
          <a:xfrm>
            <a:off x="7629525" y="5324475"/>
            <a:ext cx="962025" cy="257175"/>
          </a:xfrm>
          <a:prstGeom prst="rect">
            <a:avLst/>
          </a:prstGeom>
          <a:noFill/>
          <a:ln w="0">
            <a:noFill/>
            <a:prstDash val="solid"/>
          </a:ln>
        </p:spPr>
        <p:txBody>
          <a:bodyPr wrap="square" lIns="0" tIns="0" rIns="0" bIns="0" anchor="t">
            <a:noAutofit/>
          </a:bodyPr>
          <a:lstStyle>
            <a:defPPr algn="ctr">
              <a:defRPr sz="1350" b="0">
                <a:solidFill>
                  <a:srgbClr val="53676D"/>
                </a:solidFill>
                <a:latin typeface="Arial"/>
                <a:ea typeface="Arial"/>
                <a:cs typeface="Arial"/>
              </a:defRPr>
            </a:defPPr>
            <a:lvl1pPr algn="ctr">
              <a:buNone/>
              <a:defRPr sz="1350" b="0">
                <a:solidFill>
                  <a:srgbClr val="53676D"/>
                </a:solidFill>
                <a:latin typeface="Arial"/>
                <a:ea typeface="Arial"/>
                <a:cs typeface="Arial"/>
              </a:defRPr>
            </a:lvl1pPr>
            <a:lvl2pPr algn="ctr">
              <a:buNone/>
              <a:defRPr sz="1350" b="0">
                <a:solidFill>
                  <a:srgbClr val="53676D"/>
                </a:solidFill>
                <a:latin typeface="Arial"/>
                <a:ea typeface="Arial"/>
                <a:cs typeface="Arial"/>
              </a:defRPr>
            </a:lvl2pPr>
            <a:lvl3pPr algn="ctr">
              <a:buNone/>
              <a:defRPr sz="1350" b="0">
                <a:solidFill>
                  <a:srgbClr val="53676D"/>
                </a:solidFill>
                <a:latin typeface="Arial"/>
                <a:ea typeface="Arial"/>
                <a:cs typeface="Arial"/>
              </a:defRPr>
            </a:lvl3pPr>
            <a:lvl4pPr algn="ctr">
              <a:buNone/>
              <a:defRPr sz="1350" b="0">
                <a:solidFill>
                  <a:srgbClr val="53676D"/>
                </a:solidFill>
                <a:latin typeface="Arial"/>
                <a:ea typeface="Arial"/>
                <a:cs typeface="Arial"/>
              </a:defRPr>
            </a:lvl4pPr>
            <a:lvl5pPr algn="ctr">
              <a:buNone/>
              <a:defRPr sz="1350" b="0">
                <a:solidFill>
                  <a:srgbClr val="53676D"/>
                </a:solidFill>
                <a:latin typeface="Arial"/>
                <a:ea typeface="Arial"/>
                <a:cs typeface="Arial"/>
              </a:defRPr>
            </a:lvl5pPr>
            <a:lvl6pPr algn="ctr">
              <a:buNone/>
              <a:defRPr sz="1350" b="0">
                <a:solidFill>
                  <a:srgbClr val="53676D"/>
                </a:solidFill>
                <a:latin typeface="Arial"/>
                <a:ea typeface="Arial"/>
                <a:cs typeface="Arial"/>
              </a:defRPr>
            </a:lvl6pPr>
            <a:lvl7pPr algn="ctr">
              <a:buNone/>
              <a:defRPr sz="1350" b="0">
                <a:solidFill>
                  <a:srgbClr val="53676D"/>
                </a:solidFill>
                <a:latin typeface="Arial"/>
                <a:ea typeface="Arial"/>
                <a:cs typeface="Arial"/>
              </a:defRPr>
            </a:lvl7pPr>
            <a:lvl8pPr algn="ctr">
              <a:buNone/>
              <a:defRPr sz="1350" b="0">
                <a:solidFill>
                  <a:srgbClr val="53676D"/>
                </a:solidFill>
                <a:latin typeface="Arial"/>
                <a:ea typeface="Arial"/>
                <a:cs typeface="Arial"/>
              </a:defRPr>
            </a:lvl8pPr>
            <a:lvl9pPr algn="ctr">
              <a:buNone/>
              <a:defRPr sz="1350" b="0">
                <a:solidFill>
                  <a:srgbClr val="53676D"/>
                </a:solidFill>
                <a:latin typeface="Arial"/>
                <a:ea typeface="Arial"/>
                <a:cs typeface="Arial"/>
              </a:defRPr>
            </a:lvl9pPr>
          </a:lstStyle>
          <a:p>
            <a:pPr algn="ctr">
              <a:buNone/>
              <a:defRPr sz="1350" b="0">
                <a:solidFill>
                  <a:srgbClr val="53676D"/>
                </a:solidFill>
                <a:latin typeface="Arial"/>
                <a:ea typeface="Arial"/>
                <a:cs typeface="Arial"/>
              </a:defRPr>
            </a:pPr>
            <a:r>
              <a:rPr sz="1350" b="0">
                <a:solidFill>
                  <a:srgbClr val="53676D"/>
                </a:solidFill>
                <a:latin typeface="Arial"/>
                <a:ea typeface="Arial"/>
                <a:cs typeface="Arial"/>
              </a:rPr>
              <a:t>gates</a:t>
            </a:r>
            <a:endParaRPr/>
          </a:p>
        </p:txBody>
      </p:sp>
      <p:cxnSp>
        <p:nvCxnSpPr>
          <p:cNvPr id="999301980" name="diagram-line-251"/>
          <p:cNvCxnSpPr/>
          <p:nvPr/>
        </p:nvCxnSpPr>
        <p:spPr bwMode="auto">
          <a:xfrm>
            <a:off x="6096000" y="4410075"/>
            <a:ext cx="0" cy="857250"/>
          </a:xfrm>
          <a:prstGeom prst="straightConnector1">
            <a:avLst/>
          </a:prstGeom>
          <a:ln w="17145">
            <a:solidFill>
              <a:srgbClr val="537DA1"/>
            </a:solidFill>
            <a:prstDash val="solid"/>
            <a:headEnd type="triangle" w="sm" len="sm"/>
          </a:ln>
        </p:spPr>
      </p:cxnSp>
      <p:sp>
        <p:nvSpPr>
          <p:cNvPr id="1314099338" name="expanded-text-252"/>
          <p:cNvSpPr>
            <a:spLocks noGrp="1"/>
          </p:cNvSpPr>
          <p:nvPr/>
        </p:nvSpPr>
        <p:spPr bwMode="auto">
          <a:xfrm>
            <a:off x="6200775" y="4695825"/>
            <a:ext cx="1257300" cy="257175"/>
          </a:xfrm>
          <a:prstGeom prst="rect">
            <a:avLst/>
          </a:prstGeom>
          <a:noFill/>
          <a:ln w="0">
            <a:noFill/>
            <a:prstDash val="solid"/>
          </a:ln>
        </p:spPr>
        <p:txBody>
          <a:bodyPr wrap="square" lIns="0" tIns="0" rIns="0" bIns="0" anchor="t">
            <a:noAutofit/>
          </a:bodyPr>
          <a:lstStyle>
            <a:defPPr algn="l">
              <a:defRPr sz="1350" b="0">
                <a:solidFill>
                  <a:srgbClr val="53676D"/>
                </a:solidFill>
                <a:latin typeface="Arial"/>
                <a:ea typeface="Arial"/>
                <a:cs typeface="Arial"/>
              </a:defRPr>
            </a:defPPr>
            <a:lvl1pPr algn="l">
              <a:buNone/>
              <a:defRPr sz="1350" b="0">
                <a:solidFill>
                  <a:srgbClr val="53676D"/>
                </a:solidFill>
                <a:latin typeface="Arial"/>
                <a:ea typeface="Arial"/>
                <a:cs typeface="Arial"/>
              </a:defRPr>
            </a:lvl1pPr>
            <a:lvl2pPr algn="l">
              <a:buNone/>
              <a:defRPr sz="1350" b="0">
                <a:solidFill>
                  <a:srgbClr val="53676D"/>
                </a:solidFill>
                <a:latin typeface="Arial"/>
                <a:ea typeface="Arial"/>
                <a:cs typeface="Arial"/>
              </a:defRPr>
            </a:lvl2pPr>
            <a:lvl3pPr algn="l">
              <a:buNone/>
              <a:defRPr sz="1350" b="0">
                <a:solidFill>
                  <a:srgbClr val="53676D"/>
                </a:solidFill>
                <a:latin typeface="Arial"/>
                <a:ea typeface="Arial"/>
                <a:cs typeface="Arial"/>
              </a:defRPr>
            </a:lvl3pPr>
            <a:lvl4pPr algn="l">
              <a:buNone/>
              <a:defRPr sz="1350" b="0">
                <a:solidFill>
                  <a:srgbClr val="53676D"/>
                </a:solidFill>
                <a:latin typeface="Arial"/>
                <a:ea typeface="Arial"/>
                <a:cs typeface="Arial"/>
              </a:defRPr>
            </a:lvl4pPr>
            <a:lvl5pPr algn="l">
              <a:buNone/>
              <a:defRPr sz="1350" b="0">
                <a:solidFill>
                  <a:srgbClr val="53676D"/>
                </a:solidFill>
                <a:latin typeface="Arial"/>
                <a:ea typeface="Arial"/>
                <a:cs typeface="Arial"/>
              </a:defRPr>
            </a:lvl5pPr>
            <a:lvl6pPr algn="l">
              <a:buNone/>
              <a:defRPr sz="1350" b="0">
                <a:solidFill>
                  <a:srgbClr val="53676D"/>
                </a:solidFill>
                <a:latin typeface="Arial"/>
                <a:ea typeface="Arial"/>
                <a:cs typeface="Arial"/>
              </a:defRPr>
            </a:lvl6pPr>
            <a:lvl7pPr algn="l">
              <a:buNone/>
              <a:defRPr sz="1350" b="0">
                <a:solidFill>
                  <a:srgbClr val="53676D"/>
                </a:solidFill>
                <a:latin typeface="Arial"/>
                <a:ea typeface="Arial"/>
                <a:cs typeface="Arial"/>
              </a:defRPr>
            </a:lvl7pPr>
            <a:lvl8pPr algn="l">
              <a:buNone/>
              <a:defRPr sz="1350" b="0">
                <a:solidFill>
                  <a:srgbClr val="53676D"/>
                </a:solidFill>
                <a:latin typeface="Arial"/>
                <a:ea typeface="Arial"/>
                <a:cs typeface="Arial"/>
              </a:defRPr>
            </a:lvl8pPr>
            <a:lvl9pPr algn="l">
              <a:buNone/>
              <a:defRPr sz="1350" b="0">
                <a:solidFill>
                  <a:srgbClr val="53676D"/>
                </a:solidFill>
                <a:latin typeface="Arial"/>
                <a:ea typeface="Arial"/>
                <a:cs typeface="Arial"/>
              </a:defRPr>
            </a:lvl9pPr>
          </a:lstStyle>
          <a:p>
            <a:pPr algn="l">
              <a:buNone/>
              <a:defRPr sz="1350" b="0">
                <a:solidFill>
                  <a:srgbClr val="53676D"/>
                </a:solidFill>
                <a:latin typeface="Arial"/>
                <a:ea typeface="Arial"/>
                <a:cs typeface="Arial"/>
              </a:defRPr>
            </a:pPr>
            <a:r>
              <a:rPr sz="1350" b="0">
                <a:solidFill>
                  <a:srgbClr val="53676D"/>
                </a:solidFill>
                <a:latin typeface="Arial"/>
                <a:ea typeface="Arial"/>
                <a:cs typeface="Arial"/>
              </a:rPr>
              <a:t>updates</a:t>
            </a:r>
            <a:endParaRPr/>
          </a:p>
        </p:txBody>
      </p:sp>
      <p:sp>
        <p:nvSpPr>
          <p:cNvPr id="1428445815" name="diagram-line-253"/>
          <p:cNvSpPr>
            <a:spLocks noGrp="1"/>
          </p:cNvSpPr>
          <p:nvPr/>
        </p:nvSpPr>
        <p:spPr bwMode="auto">
          <a:xfrm>
            <a:off x="8115300" y="3886200"/>
            <a:ext cx="552450" cy="0"/>
          </a:xfrm>
          <a:prstGeom prst="line">
            <a:avLst/>
          </a:prstGeom>
          <a:noFill/>
          <a:ln w="17145">
            <a:solidFill>
              <a:srgbClr val="537DA1"/>
            </a:solidFill>
            <a:prstDash val="solid"/>
          </a:ln>
        </p:spPr>
      </p:sp>
      <p:sp>
        <p:nvSpPr>
          <p:cNvPr id="1937190846" name="diagram-line-254"/>
          <p:cNvSpPr>
            <a:spLocks noGrp="1"/>
          </p:cNvSpPr>
          <p:nvPr/>
        </p:nvSpPr>
        <p:spPr bwMode="auto">
          <a:xfrm>
            <a:off x="8115300" y="3095625"/>
            <a:ext cx="0" cy="790575"/>
          </a:xfrm>
          <a:prstGeom prst="line">
            <a:avLst/>
          </a:prstGeom>
          <a:noFill/>
          <a:ln w="17145">
            <a:solidFill>
              <a:srgbClr val="537DA1"/>
            </a:solidFill>
            <a:prstDash val="solid"/>
          </a:ln>
        </p:spPr>
      </p:sp>
      <p:sp>
        <p:nvSpPr>
          <p:cNvPr id="1335724366" name="diagram-line-255"/>
          <p:cNvSpPr>
            <a:spLocks noGrp="1"/>
          </p:cNvSpPr>
          <p:nvPr/>
        </p:nvSpPr>
        <p:spPr bwMode="auto">
          <a:xfrm>
            <a:off x="7162800" y="3095625"/>
            <a:ext cx="952500" cy="0"/>
          </a:xfrm>
          <a:prstGeom prst="line">
            <a:avLst/>
          </a:prstGeom>
          <a:noFill/>
          <a:ln w="17145">
            <a:solidFill>
              <a:srgbClr val="537DA1"/>
            </a:solidFill>
            <a:prstDash val="solid"/>
          </a:ln>
        </p:spPr>
      </p:sp>
      <p:cxnSp>
        <p:nvCxnSpPr>
          <p:cNvPr id="180606018" name="diagram-line-256"/>
          <p:cNvCxnSpPr/>
          <p:nvPr/>
        </p:nvCxnSpPr>
        <p:spPr bwMode="auto">
          <a:xfrm>
            <a:off x="7162800" y="2867025"/>
            <a:ext cx="0" cy="228600"/>
          </a:xfrm>
          <a:prstGeom prst="straightConnector1">
            <a:avLst/>
          </a:prstGeom>
          <a:ln w="17145">
            <a:solidFill>
              <a:srgbClr val="537DA1"/>
            </a:solidFill>
            <a:prstDash val="solid"/>
            <a:headEnd type="triangle" w="sm" len="sm"/>
          </a:ln>
        </p:spPr>
      </p:cxnSp>
      <p:sp>
        <p:nvSpPr>
          <p:cNvPr id="318879929" name="expanded-text-257"/>
          <p:cNvSpPr>
            <a:spLocks noGrp="1"/>
          </p:cNvSpPr>
          <p:nvPr/>
        </p:nvSpPr>
        <p:spPr bwMode="auto">
          <a:xfrm>
            <a:off x="7591425" y="3333750"/>
            <a:ext cx="590549" cy="238125"/>
          </a:xfrm>
          <a:prstGeom prst="rect">
            <a:avLst/>
          </a:prstGeom>
          <a:noFill/>
          <a:ln w="0">
            <a:noFill/>
            <a:prstDash val="solid"/>
          </a:ln>
        </p:spPr>
        <p:txBody>
          <a:bodyPr wrap="square" lIns="0" tIns="0" rIns="0" bIns="0" anchor="t">
            <a:noAutofit/>
          </a:bodyPr>
          <a:lstStyle>
            <a:defPPr algn="l">
              <a:defRPr sz="1300" b="0">
                <a:solidFill>
                  <a:srgbClr val="53676D"/>
                </a:solidFill>
                <a:latin typeface="Arial"/>
                <a:ea typeface="Arial"/>
                <a:cs typeface="Arial"/>
              </a:defRPr>
            </a:defPPr>
            <a:lvl1pPr algn="l">
              <a:buNone/>
              <a:defRPr sz="1300" b="0">
                <a:solidFill>
                  <a:srgbClr val="53676D"/>
                </a:solidFill>
                <a:latin typeface="Arial"/>
                <a:ea typeface="Arial"/>
                <a:cs typeface="Arial"/>
              </a:defRPr>
            </a:lvl1pPr>
            <a:lvl2pPr algn="l">
              <a:buNone/>
              <a:defRPr sz="1300" b="0">
                <a:solidFill>
                  <a:srgbClr val="53676D"/>
                </a:solidFill>
                <a:latin typeface="Arial"/>
                <a:ea typeface="Arial"/>
                <a:cs typeface="Arial"/>
              </a:defRPr>
            </a:lvl2pPr>
            <a:lvl3pPr algn="l">
              <a:buNone/>
              <a:defRPr sz="1300" b="0">
                <a:solidFill>
                  <a:srgbClr val="53676D"/>
                </a:solidFill>
                <a:latin typeface="Arial"/>
                <a:ea typeface="Arial"/>
                <a:cs typeface="Arial"/>
              </a:defRPr>
            </a:lvl3pPr>
            <a:lvl4pPr algn="l">
              <a:buNone/>
              <a:defRPr sz="1300" b="0">
                <a:solidFill>
                  <a:srgbClr val="53676D"/>
                </a:solidFill>
                <a:latin typeface="Arial"/>
                <a:ea typeface="Arial"/>
                <a:cs typeface="Arial"/>
              </a:defRPr>
            </a:lvl4pPr>
            <a:lvl5pPr algn="l">
              <a:buNone/>
              <a:defRPr sz="1300" b="0">
                <a:solidFill>
                  <a:srgbClr val="53676D"/>
                </a:solidFill>
                <a:latin typeface="Arial"/>
                <a:ea typeface="Arial"/>
                <a:cs typeface="Arial"/>
              </a:defRPr>
            </a:lvl5pPr>
            <a:lvl6pPr algn="l">
              <a:buNone/>
              <a:defRPr sz="1300" b="0">
                <a:solidFill>
                  <a:srgbClr val="53676D"/>
                </a:solidFill>
                <a:latin typeface="Arial"/>
                <a:ea typeface="Arial"/>
                <a:cs typeface="Arial"/>
              </a:defRPr>
            </a:lvl6pPr>
            <a:lvl7pPr algn="l">
              <a:buNone/>
              <a:defRPr sz="1300" b="0">
                <a:solidFill>
                  <a:srgbClr val="53676D"/>
                </a:solidFill>
                <a:latin typeface="Arial"/>
                <a:ea typeface="Arial"/>
                <a:cs typeface="Arial"/>
              </a:defRPr>
            </a:lvl7pPr>
            <a:lvl8pPr algn="l">
              <a:buNone/>
              <a:defRPr sz="1300" b="0">
                <a:solidFill>
                  <a:srgbClr val="53676D"/>
                </a:solidFill>
                <a:latin typeface="Arial"/>
                <a:ea typeface="Arial"/>
                <a:cs typeface="Arial"/>
              </a:defRPr>
            </a:lvl8pPr>
            <a:lvl9pPr algn="l">
              <a:buNone/>
              <a:defRPr sz="1300" b="0">
                <a:solidFill>
                  <a:srgbClr val="53676D"/>
                </a:solidFill>
                <a:latin typeface="Arial"/>
                <a:ea typeface="Arial"/>
                <a:cs typeface="Arial"/>
              </a:defRPr>
            </a:lvl9pPr>
          </a:lstStyle>
          <a:p>
            <a:pPr algn="l">
              <a:buNone/>
              <a:defRPr sz="1300" b="0">
                <a:solidFill>
                  <a:srgbClr val="53676D"/>
                </a:solidFill>
                <a:latin typeface="Arial"/>
                <a:ea typeface="Arial"/>
                <a:cs typeface="Arial"/>
              </a:defRPr>
            </a:pPr>
            <a:r>
              <a:rPr sz="1300" b="0">
                <a:solidFill>
                  <a:srgbClr val="53676D"/>
                </a:solidFill>
                <a:latin typeface="Arial"/>
                <a:ea typeface="Arial"/>
                <a:cs typeface="Arial"/>
              </a:rPr>
              <a:t>backs</a:t>
            </a:r>
            <a:endParaRPr/>
          </a:p>
        </p:txBody>
      </p:sp>
      <p:sp>
        <p:nvSpPr>
          <p:cNvPr id="1377370388" name="expanded-text-25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Settlement also links PaymentInstruction, FXQuote/Execution and CashFinalityEvidence. Private identity stays off ledger.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62616901" name="expanded-text-284"/>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Financial model detail</a:t>
            </a:r>
            <a:endParaRPr/>
          </a:p>
        </p:txBody>
      </p:sp>
      <p:sp>
        <p:nvSpPr>
          <p:cNvPr id="404457672" name="expanded-text-285"/>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USD millions, except sponsor count. Years begin at funding close.</a:t>
            </a:r>
            <a:endParaRPr/>
          </a:p>
        </p:txBody>
      </p:sp>
      <p:sp>
        <p:nvSpPr>
          <p:cNvPr id="8213847" name="expanded-text-286"/>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245330359" name="expanded-text-287"/>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50</a:t>
            </a:r>
            <a:endParaRPr/>
          </a:p>
        </p:txBody>
      </p:sp>
      <p:graphicFrame>
        <p:nvGraphicFramePr>
          <p:cNvPr id="188470790" name=""/>
          <p:cNvGraphicFramePr>
            <a:graphicFrameLocks xmlns:a="http://schemas.openxmlformats.org/drawingml/2006/main"/>
          </p:cNvGraphicFramePr>
          <p:nvPr/>
        </p:nvGraphicFramePr>
        <p:xfrm rot="0">
          <a:off x="609600" y="2085975"/>
          <a:ext cx="10972800" cy="3857625"/>
        </p:xfrm>
        <a:graphic>
          <a:graphicData uri="http://schemas.openxmlformats.org/drawingml/2006/table">
            <a:tbl>
              <a:tblPr firstRow="1" firstCol="0" lastRow="0" lastCol="0" bandRow="0" bandCol="0"/>
              <a:tblGrid>
                <a:gridCol w="5057775"/>
                <a:gridCol w="1971675"/>
                <a:gridCol w="1971675"/>
                <a:gridCol w="1971675"/>
              </a:tblGrid>
              <a:tr h="350693">
                <a:tc>
                  <a:txBody>
                    <a:bodyPr/>
                    <a:p>
                      <a:pPr>
                        <a:defRPr/>
                      </a:pPr>
                      <a:r>
                        <a:rPr sz="1600" b="1">
                          <a:solidFill>
                            <a:srgbClr val="FFFFFF"/>
                          </a:solidFill>
                          <a:latin typeface="Arial"/>
                          <a:ea typeface="Arial"/>
                          <a:cs typeface="Arial"/>
                        </a:rPr>
                        <a:t>Planning item</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1</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2</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Year 3</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350693">
                <a:tc>
                  <a:txBody>
                    <a:bodyPr/>
                    <a:p>
                      <a:pPr>
                        <a:defRPr/>
                      </a:pPr>
                      <a:r>
                        <a:rPr sz="1650" b="0">
                          <a:solidFill>
                            <a:srgbClr val="183440"/>
                          </a:solidFill>
                          <a:latin typeface="Arial"/>
                          <a:ea typeface="Arial"/>
                          <a:cs typeface="Arial"/>
                        </a:rPr>
                        <a:t>Average serviced assets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300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New sponsors (count)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Recurring servicing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0.30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0.90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Sponsor setup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Gross revenue</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1.05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Variable service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0.00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0.15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0.45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Fixed operating spend</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1.50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Total operating costs</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1.65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2.25</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Operating cash result</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-1.20</a:t>
                      </a:r>
                      <a:endParaRPr/>
                    </a:p>
                  </a:txBody>
                  <a:tcPr marL="91440" marR="91440" marT="45720" marB="45720" anchor="ctr">
                    <a:lnR w="9525" algn="ctr">
                      <a:solidFill>
                        <a:srgbClr val="CFD7D1"/>
                      </a:solidFill>
                    </a:lnR>
                    <a:lnB w="9525" algn="ctr">
                      <a:solidFill>
                        <a:srgbClr val="CFD7D1"/>
                      </a:solidFill>
                    </a:lnB>
                    <a:solidFill>
                      <a:srgbClr val="F7F4EC"/>
                    </a:solidFill>
                  </a:tcPr>
                </a:tc>
              </a:tr>
              <a:tr h="350693">
                <a:tc>
                  <a:txBody>
                    <a:bodyPr/>
                    <a:p>
                      <a:pPr>
                        <a:defRPr/>
                      </a:pPr>
                      <a:r>
                        <a:rPr sz="1650" b="0">
                          <a:solidFill>
                            <a:srgbClr val="183440"/>
                          </a:solidFill>
                          <a:latin typeface="Arial"/>
                          <a:ea typeface="Arial"/>
                          <a:cs typeface="Arial"/>
                        </a:rPr>
                        <a:t>Cash before additional financing</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1.80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-0.60</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258684531" name="expanded-text-288"/>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Fixed budget: slide 34. Year 3 needs financing. Tax, capital, cash timing and partner minimums remain unmodeled.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14443050" name="cash-market-text-65"/>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Recurring break-even requires US$1 billion of assets</a:t>
            </a:r>
            <a:endParaRPr/>
          </a:p>
        </p:txBody>
      </p:sp>
      <p:sp>
        <p:nvSpPr>
          <p:cNvPr id="205205371" name="cash-market-text-66"/>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Illustrative sensitivity. Setup fees excluded. Fixed annual operating spend assumed at US$1.5M.</a:t>
            </a:r>
            <a:endParaRPr/>
          </a:p>
        </p:txBody>
      </p:sp>
      <p:sp>
        <p:nvSpPr>
          <p:cNvPr id="1234552740" name="cash-market-text-67"/>
          <p:cNvSpPr>
            <a:spLocks noGrp="1"/>
          </p:cNvSpPr>
          <p:nvPr/>
        </p:nvSpPr>
        <p:spPr bwMode="auto">
          <a:xfrm>
            <a:off x="609600" y="6438899"/>
            <a:ext cx="2857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706959344" name="cash-market-text-68"/>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51</a:t>
            </a:r>
            <a:endParaRPr/>
          </a:p>
        </p:txBody>
      </p:sp>
      <p:sp>
        <p:nvSpPr>
          <p:cNvPr id="916491127" name="cash-market-text-69"/>
          <p:cNvSpPr>
            <a:spLocks noGrp="1"/>
          </p:cNvSpPr>
          <p:nvPr/>
        </p:nvSpPr>
        <p:spPr bwMode="auto">
          <a:xfrm>
            <a:off x="9001125" y="2562225"/>
            <a:ext cx="2581275" cy="723900"/>
          </a:xfrm>
          <a:prstGeom prst="rect">
            <a:avLst/>
          </a:prstGeom>
          <a:noFill/>
          <a:ln w="0">
            <a:noFill/>
            <a:prstDash val="solid"/>
          </a:ln>
        </p:spPr>
        <p:txBody>
          <a:bodyPr wrap="square" lIns="0" tIns="0" rIns="0" bIns="0" anchor="t">
            <a:noAutofit/>
          </a:bodyPr>
          <a:lstStyle>
            <a:defPPr algn="l">
              <a:defRPr sz="3400" b="1">
                <a:solidFill>
                  <a:srgbClr val="176C6B"/>
                </a:solidFill>
                <a:latin typeface="Arial"/>
                <a:ea typeface="Arial"/>
                <a:cs typeface="Arial"/>
              </a:defRPr>
            </a:defPPr>
            <a:lvl1pPr algn="l">
              <a:buNone/>
              <a:defRPr sz="3400" b="1">
                <a:solidFill>
                  <a:srgbClr val="176C6B"/>
                </a:solidFill>
                <a:latin typeface="Arial"/>
                <a:ea typeface="Arial"/>
                <a:cs typeface="Arial"/>
              </a:defRPr>
            </a:lvl1pPr>
            <a:lvl2pPr algn="l">
              <a:buNone/>
              <a:defRPr sz="3400" b="1">
                <a:solidFill>
                  <a:srgbClr val="176C6B"/>
                </a:solidFill>
                <a:latin typeface="Arial"/>
                <a:ea typeface="Arial"/>
                <a:cs typeface="Arial"/>
              </a:defRPr>
            </a:lvl2pPr>
            <a:lvl3pPr algn="l">
              <a:buNone/>
              <a:defRPr sz="3400" b="1">
                <a:solidFill>
                  <a:srgbClr val="176C6B"/>
                </a:solidFill>
                <a:latin typeface="Arial"/>
                <a:ea typeface="Arial"/>
                <a:cs typeface="Arial"/>
              </a:defRPr>
            </a:lvl3pPr>
            <a:lvl4pPr algn="l">
              <a:buNone/>
              <a:defRPr sz="3400" b="1">
                <a:solidFill>
                  <a:srgbClr val="176C6B"/>
                </a:solidFill>
                <a:latin typeface="Arial"/>
                <a:ea typeface="Arial"/>
                <a:cs typeface="Arial"/>
              </a:defRPr>
            </a:lvl4pPr>
            <a:lvl5pPr algn="l">
              <a:buNone/>
              <a:defRPr sz="3400" b="1">
                <a:solidFill>
                  <a:srgbClr val="176C6B"/>
                </a:solidFill>
                <a:latin typeface="Arial"/>
                <a:ea typeface="Arial"/>
                <a:cs typeface="Arial"/>
              </a:defRPr>
            </a:lvl5pPr>
            <a:lvl6pPr algn="l">
              <a:buNone/>
              <a:defRPr sz="3400" b="1">
                <a:solidFill>
                  <a:srgbClr val="176C6B"/>
                </a:solidFill>
                <a:latin typeface="Arial"/>
                <a:ea typeface="Arial"/>
                <a:cs typeface="Arial"/>
              </a:defRPr>
            </a:lvl6pPr>
            <a:lvl7pPr algn="l">
              <a:buNone/>
              <a:defRPr sz="3400" b="1">
                <a:solidFill>
                  <a:srgbClr val="176C6B"/>
                </a:solidFill>
                <a:latin typeface="Arial"/>
                <a:ea typeface="Arial"/>
                <a:cs typeface="Arial"/>
              </a:defRPr>
            </a:lvl7pPr>
            <a:lvl8pPr algn="l">
              <a:buNone/>
              <a:defRPr sz="3400" b="1">
                <a:solidFill>
                  <a:srgbClr val="176C6B"/>
                </a:solidFill>
                <a:latin typeface="Arial"/>
                <a:ea typeface="Arial"/>
                <a:cs typeface="Arial"/>
              </a:defRPr>
            </a:lvl8pPr>
            <a:lvl9pPr algn="l">
              <a:buNone/>
              <a:defRPr sz="3400" b="1">
                <a:solidFill>
                  <a:srgbClr val="176C6B"/>
                </a:solidFill>
                <a:latin typeface="Arial"/>
                <a:ea typeface="Arial"/>
                <a:cs typeface="Arial"/>
              </a:defRPr>
            </a:lvl9pPr>
          </a:lstStyle>
          <a:p>
            <a:pPr algn="l">
              <a:buNone/>
              <a:defRPr sz="3400" b="1">
                <a:solidFill>
                  <a:srgbClr val="176C6B"/>
                </a:solidFill>
                <a:latin typeface="Arial"/>
                <a:ea typeface="Arial"/>
                <a:cs typeface="Arial"/>
              </a:defRPr>
            </a:pPr>
            <a:r>
              <a:rPr sz="3400" b="1">
                <a:solidFill>
                  <a:srgbClr val="176C6B"/>
                </a:solidFill>
                <a:latin typeface="Arial"/>
                <a:ea typeface="Arial"/>
                <a:cs typeface="Arial"/>
              </a:rPr>
              <a:t>US$1.0B</a:t>
            </a:r>
            <a:endParaRPr/>
          </a:p>
        </p:txBody>
      </p:sp>
      <p:sp>
        <p:nvSpPr>
          <p:cNvPr id="855085739" name="cash-market-text-70"/>
          <p:cNvSpPr>
            <a:spLocks noGrp="1"/>
          </p:cNvSpPr>
          <p:nvPr/>
        </p:nvSpPr>
        <p:spPr bwMode="auto">
          <a:xfrm>
            <a:off x="9001125" y="3381375"/>
            <a:ext cx="2581275" cy="857250"/>
          </a:xfrm>
          <a:prstGeom prst="rect">
            <a:avLst/>
          </a:prstGeom>
          <a:noFill/>
          <a:ln w="0">
            <a:noFill/>
            <a:prstDash val="solid"/>
          </a:ln>
        </p:spPr>
        <p:txBody>
          <a:bodyPr wrap="square" lIns="0" tIns="0" rIns="0" bIns="0" anchor="t">
            <a:noAutofit/>
          </a:bodyPr>
          <a:lstStyle>
            <a:defPPr algn="l">
              <a:defRPr sz="2050" b="1">
                <a:solidFill>
                  <a:srgbClr val="183440"/>
                </a:solidFill>
                <a:latin typeface="Arial"/>
                <a:ea typeface="Arial"/>
                <a:cs typeface="Arial"/>
              </a:defRPr>
            </a:defPPr>
            <a:lvl1pPr algn="l">
              <a:buNone/>
              <a:defRPr sz="2050" b="1">
                <a:solidFill>
                  <a:srgbClr val="183440"/>
                </a:solidFill>
                <a:latin typeface="Arial"/>
                <a:ea typeface="Arial"/>
                <a:cs typeface="Arial"/>
              </a:defRPr>
            </a:lvl1pPr>
            <a:lvl2pPr algn="l">
              <a:buNone/>
              <a:defRPr sz="2050" b="1">
                <a:solidFill>
                  <a:srgbClr val="183440"/>
                </a:solidFill>
                <a:latin typeface="Arial"/>
                <a:ea typeface="Arial"/>
                <a:cs typeface="Arial"/>
              </a:defRPr>
            </a:lvl2pPr>
            <a:lvl3pPr algn="l">
              <a:buNone/>
              <a:defRPr sz="2050" b="1">
                <a:solidFill>
                  <a:srgbClr val="183440"/>
                </a:solidFill>
                <a:latin typeface="Arial"/>
                <a:ea typeface="Arial"/>
                <a:cs typeface="Arial"/>
              </a:defRPr>
            </a:lvl3pPr>
            <a:lvl4pPr algn="l">
              <a:buNone/>
              <a:defRPr sz="2050" b="1">
                <a:solidFill>
                  <a:srgbClr val="183440"/>
                </a:solidFill>
                <a:latin typeface="Arial"/>
                <a:ea typeface="Arial"/>
                <a:cs typeface="Arial"/>
              </a:defRPr>
            </a:lvl4pPr>
            <a:lvl5pPr algn="l">
              <a:buNone/>
              <a:defRPr sz="2050" b="1">
                <a:solidFill>
                  <a:srgbClr val="183440"/>
                </a:solidFill>
                <a:latin typeface="Arial"/>
                <a:ea typeface="Arial"/>
                <a:cs typeface="Arial"/>
              </a:defRPr>
            </a:lvl5pPr>
            <a:lvl6pPr algn="l">
              <a:buNone/>
              <a:defRPr sz="2050" b="1">
                <a:solidFill>
                  <a:srgbClr val="183440"/>
                </a:solidFill>
                <a:latin typeface="Arial"/>
                <a:ea typeface="Arial"/>
                <a:cs typeface="Arial"/>
              </a:defRPr>
            </a:lvl6pPr>
            <a:lvl7pPr algn="l">
              <a:buNone/>
              <a:defRPr sz="2050" b="1">
                <a:solidFill>
                  <a:srgbClr val="183440"/>
                </a:solidFill>
                <a:latin typeface="Arial"/>
                <a:ea typeface="Arial"/>
                <a:cs typeface="Arial"/>
              </a:defRPr>
            </a:lvl7pPr>
            <a:lvl8pPr algn="l">
              <a:buNone/>
              <a:defRPr sz="2050" b="1">
                <a:solidFill>
                  <a:srgbClr val="183440"/>
                </a:solidFill>
                <a:latin typeface="Arial"/>
                <a:ea typeface="Arial"/>
                <a:cs typeface="Arial"/>
              </a:defRPr>
            </a:lvl8pPr>
            <a:lvl9pPr algn="l">
              <a:buNone/>
              <a:defRPr sz="2050" b="1">
                <a:solidFill>
                  <a:srgbClr val="183440"/>
                </a:solidFill>
                <a:latin typeface="Arial"/>
                <a:ea typeface="Arial"/>
                <a:cs typeface="Arial"/>
              </a:defRPr>
            </a:lvl9pPr>
          </a:lstStyle>
          <a:p>
            <a:pPr algn="l">
              <a:buNone/>
              <a:defRPr sz="2050" b="1">
                <a:solidFill>
                  <a:srgbClr val="183440"/>
                </a:solidFill>
                <a:latin typeface="Arial"/>
                <a:ea typeface="Arial"/>
                <a:cs typeface="Arial"/>
              </a:defRPr>
            </a:pPr>
            <a:r>
              <a:rPr sz="2050" b="1">
                <a:solidFill>
                  <a:srgbClr val="183440"/>
                </a:solidFill>
                <a:latin typeface="Arial"/>
                <a:ea typeface="Arial"/>
                <a:cs typeface="Arial"/>
              </a:rPr>
              <a:t>Average assets</a:t>
            </a:r>
            <a:endParaRPr/>
          </a:p>
          <a:p>
            <a:pPr algn="l">
              <a:buNone/>
              <a:defRPr sz="2050" b="1">
                <a:solidFill>
                  <a:srgbClr val="183440"/>
                </a:solidFill>
                <a:latin typeface="Arial"/>
                <a:ea typeface="Arial"/>
                <a:cs typeface="Arial"/>
              </a:defRPr>
            </a:pPr>
            <a:r>
              <a:rPr sz="2050" b="1">
                <a:solidFill>
                  <a:srgbClr val="183440"/>
                </a:solidFill>
                <a:latin typeface="Arial"/>
                <a:ea typeface="Arial"/>
                <a:cs typeface="Arial"/>
              </a:rPr>
              <a:t>for recurring break-even</a:t>
            </a:r>
            <a:endParaRPr/>
          </a:p>
        </p:txBody>
      </p:sp>
      <p:sp>
        <p:nvSpPr>
          <p:cNvPr id="247940961" name="cash-market-text-71"/>
          <p:cNvSpPr>
            <a:spLocks noGrp="1"/>
          </p:cNvSpPr>
          <p:nvPr/>
        </p:nvSpPr>
        <p:spPr bwMode="auto">
          <a:xfrm>
            <a:off x="9001125" y="4562475"/>
            <a:ext cx="2581275" cy="1323974"/>
          </a:xfrm>
          <a:prstGeom prst="rect">
            <a:avLst/>
          </a:prstGeom>
          <a:noFill/>
          <a:ln w="0">
            <a:noFill/>
            <a:prstDash val="solid"/>
          </a:ln>
        </p:spPr>
        <p:txBody>
          <a:bodyPr wrap="square" lIns="0" tIns="0" rIns="0" bIns="0" anchor="t">
            <a:noAutofit/>
          </a:bodyPr>
          <a:lstStyle>
            <a:defPPr algn="l">
              <a:defRPr sz="1800" b="0">
                <a:solidFill>
                  <a:srgbClr val="53676D"/>
                </a:solidFill>
                <a:latin typeface="Arial"/>
                <a:ea typeface="Arial"/>
                <a:cs typeface="Arial"/>
              </a:defRPr>
            </a:defPPr>
            <a:lvl1pPr algn="l">
              <a:buNone/>
              <a:defRPr sz="1800" b="0">
                <a:solidFill>
                  <a:srgbClr val="53676D"/>
                </a:solidFill>
                <a:latin typeface="Arial"/>
                <a:ea typeface="Arial"/>
                <a:cs typeface="Arial"/>
              </a:defRPr>
            </a:lvl1pPr>
            <a:lvl2pPr algn="l">
              <a:buNone/>
              <a:defRPr sz="1800" b="0">
                <a:solidFill>
                  <a:srgbClr val="53676D"/>
                </a:solidFill>
                <a:latin typeface="Arial"/>
                <a:ea typeface="Arial"/>
                <a:cs typeface="Arial"/>
              </a:defRPr>
            </a:lvl2pPr>
            <a:lvl3pPr algn="l">
              <a:buNone/>
              <a:defRPr sz="1800" b="0">
                <a:solidFill>
                  <a:srgbClr val="53676D"/>
                </a:solidFill>
                <a:latin typeface="Arial"/>
                <a:ea typeface="Arial"/>
                <a:cs typeface="Arial"/>
              </a:defRPr>
            </a:lvl3pPr>
            <a:lvl4pPr algn="l">
              <a:buNone/>
              <a:defRPr sz="1800" b="0">
                <a:solidFill>
                  <a:srgbClr val="53676D"/>
                </a:solidFill>
                <a:latin typeface="Arial"/>
                <a:ea typeface="Arial"/>
                <a:cs typeface="Arial"/>
              </a:defRPr>
            </a:lvl4pPr>
            <a:lvl5pPr algn="l">
              <a:buNone/>
              <a:defRPr sz="1800" b="0">
                <a:solidFill>
                  <a:srgbClr val="53676D"/>
                </a:solidFill>
                <a:latin typeface="Arial"/>
                <a:ea typeface="Arial"/>
                <a:cs typeface="Arial"/>
              </a:defRPr>
            </a:lvl5pPr>
            <a:lvl6pPr algn="l">
              <a:buNone/>
              <a:defRPr sz="1800" b="0">
                <a:solidFill>
                  <a:srgbClr val="53676D"/>
                </a:solidFill>
                <a:latin typeface="Arial"/>
                <a:ea typeface="Arial"/>
                <a:cs typeface="Arial"/>
              </a:defRPr>
            </a:lvl6pPr>
            <a:lvl7pPr algn="l">
              <a:buNone/>
              <a:defRPr sz="1800" b="0">
                <a:solidFill>
                  <a:srgbClr val="53676D"/>
                </a:solidFill>
                <a:latin typeface="Arial"/>
                <a:ea typeface="Arial"/>
                <a:cs typeface="Arial"/>
              </a:defRPr>
            </a:lvl7pPr>
            <a:lvl8pPr algn="l">
              <a:buNone/>
              <a:defRPr sz="1800" b="0">
                <a:solidFill>
                  <a:srgbClr val="53676D"/>
                </a:solidFill>
                <a:latin typeface="Arial"/>
                <a:ea typeface="Arial"/>
                <a:cs typeface="Arial"/>
              </a:defRPr>
            </a:lvl8pPr>
            <a:lvl9pPr algn="l">
              <a:buNone/>
              <a:defRPr sz="1800" b="0">
                <a:solidFill>
                  <a:srgbClr val="53676D"/>
                </a:solidFill>
                <a:latin typeface="Arial"/>
                <a:ea typeface="Arial"/>
                <a:cs typeface="Arial"/>
              </a:defRPr>
            </a:lvl9pPr>
          </a:lstStyle>
          <a:p>
            <a:pPr algn="l">
              <a:buNone/>
              <a:defRPr sz="1800" b="0">
                <a:solidFill>
                  <a:srgbClr val="53676D"/>
                </a:solidFill>
                <a:latin typeface="Arial"/>
                <a:ea typeface="Arial"/>
                <a:cs typeface="Arial"/>
              </a:defRPr>
            </a:pPr>
            <a:r>
              <a:rPr sz="1800" b="0">
                <a:solidFill>
                  <a:srgbClr val="53676D"/>
                </a:solidFill>
                <a:latin typeface="Arial"/>
                <a:ea typeface="Arial"/>
                <a:cs typeface="Arial"/>
              </a:rPr>
              <a:t>US$1.5M / 0.15%</a:t>
            </a:r>
            <a:endParaRPr/>
          </a:p>
          <a:p>
            <a:pPr>
              <a:defRPr/>
            </a:pP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0.30% fee less</a:t>
            </a:r>
            <a:endParaRPr/>
          </a:p>
          <a:p>
            <a:pPr algn="l">
              <a:buNone/>
              <a:defRPr sz="1800" b="0">
                <a:solidFill>
                  <a:srgbClr val="53676D"/>
                </a:solidFill>
                <a:latin typeface="Arial"/>
                <a:ea typeface="Arial"/>
                <a:cs typeface="Arial"/>
              </a:defRPr>
            </a:pPr>
            <a:r>
              <a:rPr sz="1800" b="0">
                <a:solidFill>
                  <a:srgbClr val="53676D"/>
                </a:solidFill>
                <a:latin typeface="Arial"/>
                <a:ea typeface="Arial"/>
                <a:cs typeface="Arial"/>
              </a:rPr>
              <a:t>0.15% variable cost</a:t>
            </a:r>
            <a:endParaRPr/>
          </a:p>
        </p:txBody>
      </p:sp>
      <p:sp>
        <p:nvSpPr>
          <p:cNvPr id="971201733" name="cash-market-text-72"/>
          <p:cNvSpPr>
            <a:spLocks noGrp="1"/>
          </p:cNvSpPr>
          <p:nvPr/>
        </p:nvSpPr>
        <p:spPr bwMode="auto">
          <a:xfrm>
            <a:off x="609600" y="6115050"/>
            <a:ext cx="10972800" cy="276225"/>
          </a:xfrm>
          <a:prstGeom prst="rect">
            <a:avLst/>
          </a:prstGeom>
          <a:noFill/>
          <a:ln w="0">
            <a:noFill/>
            <a:prstDash val="solid"/>
          </a:ln>
        </p:spPr>
        <p:txBody>
          <a:bodyPr wrap="square" lIns="0" tIns="0" rIns="0" bIns="0" anchor="t">
            <a:noAutofit/>
          </a:bodyPr>
          <a:lstStyle>
            <a:defPPr algn="l">
              <a:defRPr sz="1600" b="0">
                <a:solidFill>
                  <a:srgbClr val="53676D"/>
                </a:solidFill>
                <a:latin typeface="Arial"/>
                <a:ea typeface="Arial"/>
                <a:cs typeface="Arial"/>
              </a:defRPr>
            </a:defPPr>
            <a:lvl1pPr algn="l">
              <a:buNone/>
              <a:defRPr sz="1600" b="0">
                <a:solidFill>
                  <a:srgbClr val="53676D"/>
                </a:solidFill>
                <a:latin typeface="Arial"/>
                <a:ea typeface="Arial"/>
                <a:cs typeface="Arial"/>
              </a:defRPr>
            </a:lvl1pPr>
            <a:lvl2pPr algn="l">
              <a:buNone/>
              <a:defRPr sz="1600" b="0">
                <a:solidFill>
                  <a:srgbClr val="53676D"/>
                </a:solidFill>
                <a:latin typeface="Arial"/>
                <a:ea typeface="Arial"/>
                <a:cs typeface="Arial"/>
              </a:defRPr>
            </a:lvl2pPr>
            <a:lvl3pPr algn="l">
              <a:buNone/>
              <a:defRPr sz="1600" b="0">
                <a:solidFill>
                  <a:srgbClr val="53676D"/>
                </a:solidFill>
                <a:latin typeface="Arial"/>
                <a:ea typeface="Arial"/>
                <a:cs typeface="Arial"/>
              </a:defRPr>
            </a:lvl3pPr>
            <a:lvl4pPr algn="l">
              <a:buNone/>
              <a:defRPr sz="1600" b="0">
                <a:solidFill>
                  <a:srgbClr val="53676D"/>
                </a:solidFill>
                <a:latin typeface="Arial"/>
                <a:ea typeface="Arial"/>
                <a:cs typeface="Arial"/>
              </a:defRPr>
            </a:lvl4pPr>
            <a:lvl5pPr algn="l">
              <a:buNone/>
              <a:defRPr sz="1600" b="0">
                <a:solidFill>
                  <a:srgbClr val="53676D"/>
                </a:solidFill>
                <a:latin typeface="Arial"/>
                <a:ea typeface="Arial"/>
                <a:cs typeface="Arial"/>
              </a:defRPr>
            </a:lvl5pPr>
            <a:lvl6pPr algn="l">
              <a:buNone/>
              <a:defRPr sz="1600" b="0">
                <a:solidFill>
                  <a:srgbClr val="53676D"/>
                </a:solidFill>
                <a:latin typeface="Arial"/>
                <a:ea typeface="Arial"/>
                <a:cs typeface="Arial"/>
              </a:defRPr>
            </a:lvl6pPr>
            <a:lvl7pPr algn="l">
              <a:buNone/>
              <a:defRPr sz="1600" b="0">
                <a:solidFill>
                  <a:srgbClr val="53676D"/>
                </a:solidFill>
                <a:latin typeface="Arial"/>
                <a:ea typeface="Arial"/>
                <a:cs typeface="Arial"/>
              </a:defRPr>
            </a:lvl7pPr>
            <a:lvl8pPr algn="l">
              <a:buNone/>
              <a:defRPr sz="1600" b="0">
                <a:solidFill>
                  <a:srgbClr val="53676D"/>
                </a:solidFill>
                <a:latin typeface="Arial"/>
                <a:ea typeface="Arial"/>
                <a:cs typeface="Arial"/>
              </a:defRPr>
            </a:lvl8pPr>
            <a:lvl9pPr algn="l">
              <a:buNone/>
              <a:defRPr sz="1600" b="0">
                <a:solidFill>
                  <a:srgbClr val="53676D"/>
                </a:solidFill>
                <a:latin typeface="Arial"/>
                <a:ea typeface="Arial"/>
                <a:cs typeface="Arial"/>
              </a:defRPr>
            </a:lvl9pPr>
          </a:lstStyle>
          <a:p>
            <a:pPr algn="l">
              <a:buNone/>
              <a:defRPr sz="1600" b="0">
                <a:solidFill>
                  <a:srgbClr val="53676D"/>
                </a:solidFill>
                <a:latin typeface="Arial"/>
                <a:ea typeface="Arial"/>
                <a:cs typeface="Arial"/>
              </a:defRPr>
            </a:pPr>
            <a:r>
              <a:rPr sz="1600" b="0">
                <a:solidFill>
                  <a:srgbClr val="53676D"/>
                </a:solidFill>
                <a:latin typeface="Arial"/>
                <a:ea typeface="Arial"/>
                <a:cs typeface="Arial"/>
              </a:rPr>
              <a:t>Asset demand, rail fees and FX terms can change break-even. No commercial price is contracted.</a:t>
            </a:r>
            <a:endParaRPr/>
          </a:p>
        </p:txBody>
      </p:sp>
      <p:graphicFrame>
        <p:nvGraphicFramePr>
          <p:cNvPr id="444574437" name="Chart"/>
          <p:cNvGraphicFramePr>
            <a:graphicFrameLocks xmlns:a="http://schemas.openxmlformats.org/drawingml/2006/main"/>
          </p:cNvGraphicFramePr>
          <p:nvPr/>
        </p:nvGraphicFramePr>
        <p:xfrm rot="0">
          <a:off x="609600" y="2200275"/>
          <a:ext cx="80010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304132390" name="expanded-text-289"/>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buNone/>
              <a:defRPr sz="3300" b="1">
                <a:solidFill>
                  <a:srgbClr val="183440"/>
                </a:solidFill>
                <a:latin typeface="Arial"/>
                <a:ea typeface="Arial"/>
                <a:cs typeface="Arial"/>
              </a:defRPr>
            </a:lvl1pPr>
            <a:lvl2pPr algn="l">
              <a:buNone/>
              <a:defRPr sz="3300" b="1">
                <a:solidFill>
                  <a:srgbClr val="183440"/>
                </a:solidFill>
                <a:latin typeface="Arial"/>
                <a:ea typeface="Arial"/>
                <a:cs typeface="Arial"/>
              </a:defRPr>
            </a:lvl2pPr>
            <a:lvl3pPr algn="l">
              <a:buNone/>
              <a:defRPr sz="3300" b="1">
                <a:solidFill>
                  <a:srgbClr val="183440"/>
                </a:solidFill>
                <a:latin typeface="Arial"/>
                <a:ea typeface="Arial"/>
                <a:cs typeface="Arial"/>
              </a:defRPr>
            </a:lvl3pPr>
            <a:lvl4pPr algn="l">
              <a:buNone/>
              <a:defRPr sz="3300" b="1">
                <a:solidFill>
                  <a:srgbClr val="183440"/>
                </a:solidFill>
                <a:latin typeface="Arial"/>
                <a:ea typeface="Arial"/>
                <a:cs typeface="Arial"/>
              </a:defRPr>
            </a:lvl4pPr>
            <a:lvl5pPr algn="l">
              <a:buNone/>
              <a:defRPr sz="3300" b="1">
                <a:solidFill>
                  <a:srgbClr val="183440"/>
                </a:solidFill>
                <a:latin typeface="Arial"/>
                <a:ea typeface="Arial"/>
                <a:cs typeface="Arial"/>
              </a:defRPr>
            </a:lvl5pPr>
            <a:lvl6pPr algn="l">
              <a:buNone/>
              <a:defRPr sz="3300" b="1">
                <a:solidFill>
                  <a:srgbClr val="183440"/>
                </a:solidFill>
                <a:latin typeface="Arial"/>
                <a:ea typeface="Arial"/>
                <a:cs typeface="Arial"/>
              </a:defRPr>
            </a:lvl6pPr>
            <a:lvl7pPr algn="l">
              <a:buNone/>
              <a:defRPr sz="3300" b="1">
                <a:solidFill>
                  <a:srgbClr val="183440"/>
                </a:solidFill>
                <a:latin typeface="Arial"/>
                <a:ea typeface="Arial"/>
                <a:cs typeface="Arial"/>
              </a:defRPr>
            </a:lvl7pPr>
            <a:lvl8pPr algn="l">
              <a:buNone/>
              <a:defRPr sz="3300" b="1">
                <a:solidFill>
                  <a:srgbClr val="183440"/>
                </a:solidFill>
                <a:latin typeface="Arial"/>
                <a:ea typeface="Arial"/>
                <a:cs typeface="Arial"/>
              </a:defRPr>
            </a:lvl8pPr>
            <a:lvl9pPr algn="l">
              <a:buNone/>
              <a:defRPr sz="3300" b="1">
                <a:solidFill>
                  <a:srgbClr val="183440"/>
                </a:solidFill>
                <a:latin typeface="Arial"/>
                <a:ea typeface="Arial"/>
                <a:cs typeface="Arial"/>
              </a:defRPr>
            </a:lvl9pPr>
          </a:lstStyle>
          <a:p>
            <a:pPr algn="l">
              <a:buNone/>
              <a:defRPr sz="3300" b="1">
                <a:solidFill>
                  <a:srgbClr val="183440"/>
                </a:solidFill>
                <a:latin typeface="Arial"/>
                <a:ea typeface="Arial"/>
                <a:cs typeface="Arial"/>
              </a:defRPr>
            </a:pPr>
            <a:r>
              <a:rPr sz="3300" b="1">
                <a:solidFill>
                  <a:srgbClr val="183440"/>
                </a:solidFill>
                <a:latin typeface="Arial"/>
                <a:ea typeface="Arial"/>
                <a:cs typeface="Arial"/>
              </a:rPr>
              <a:t>Contribution margin changes the asset requirement</a:t>
            </a:r>
            <a:endParaRPr/>
          </a:p>
        </p:txBody>
      </p:sp>
      <p:sp>
        <p:nvSpPr>
          <p:cNvPr id="1794091678" name="expanded-text-290"/>
          <p:cNvSpPr>
            <a:spLocks noGrp="1"/>
          </p:cNvSpPr>
          <p:nvPr/>
        </p:nvSpPr>
        <p:spPr bwMode="auto">
          <a:xfrm>
            <a:off x="609600" y="1409700"/>
            <a:ext cx="10972800" cy="6858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Sensitivity at US$1.5M annual fixed cost. Gross servicing price stays at 30 basis points.</a:t>
            </a:r>
            <a:endParaRPr/>
          </a:p>
        </p:txBody>
      </p:sp>
      <p:sp>
        <p:nvSpPr>
          <p:cNvPr id="1819142897" name="expanded-text-291"/>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buNone/>
              <a:defRPr sz="1200" b="1">
                <a:solidFill>
                  <a:srgbClr val="176C6B"/>
                </a:solidFill>
                <a:latin typeface="Arial"/>
                <a:ea typeface="Arial"/>
                <a:cs typeface="Arial"/>
              </a:defRPr>
            </a:lvl1pPr>
            <a:lvl2pPr algn="l">
              <a:buNone/>
              <a:defRPr sz="1200" b="1">
                <a:solidFill>
                  <a:srgbClr val="176C6B"/>
                </a:solidFill>
                <a:latin typeface="Arial"/>
                <a:ea typeface="Arial"/>
                <a:cs typeface="Arial"/>
              </a:defRPr>
            </a:lvl2pPr>
            <a:lvl3pPr algn="l">
              <a:buNone/>
              <a:defRPr sz="1200" b="1">
                <a:solidFill>
                  <a:srgbClr val="176C6B"/>
                </a:solidFill>
                <a:latin typeface="Arial"/>
                <a:ea typeface="Arial"/>
                <a:cs typeface="Arial"/>
              </a:defRPr>
            </a:lvl3pPr>
            <a:lvl4pPr algn="l">
              <a:buNone/>
              <a:defRPr sz="1200" b="1">
                <a:solidFill>
                  <a:srgbClr val="176C6B"/>
                </a:solidFill>
                <a:latin typeface="Arial"/>
                <a:ea typeface="Arial"/>
                <a:cs typeface="Arial"/>
              </a:defRPr>
            </a:lvl4pPr>
            <a:lvl5pPr algn="l">
              <a:buNone/>
              <a:defRPr sz="1200" b="1">
                <a:solidFill>
                  <a:srgbClr val="176C6B"/>
                </a:solidFill>
                <a:latin typeface="Arial"/>
                <a:ea typeface="Arial"/>
                <a:cs typeface="Arial"/>
              </a:defRPr>
            </a:lvl5pPr>
            <a:lvl6pPr algn="l">
              <a:buNone/>
              <a:defRPr sz="1200" b="1">
                <a:solidFill>
                  <a:srgbClr val="176C6B"/>
                </a:solidFill>
                <a:latin typeface="Arial"/>
                <a:ea typeface="Arial"/>
                <a:cs typeface="Arial"/>
              </a:defRPr>
            </a:lvl6pPr>
            <a:lvl7pPr algn="l">
              <a:buNone/>
              <a:defRPr sz="1200" b="1">
                <a:solidFill>
                  <a:srgbClr val="176C6B"/>
                </a:solidFill>
                <a:latin typeface="Arial"/>
                <a:ea typeface="Arial"/>
                <a:cs typeface="Arial"/>
              </a:defRPr>
            </a:lvl7pPr>
            <a:lvl8pPr algn="l">
              <a:buNone/>
              <a:defRPr sz="1200" b="1">
                <a:solidFill>
                  <a:srgbClr val="176C6B"/>
                </a:solidFill>
                <a:latin typeface="Arial"/>
                <a:ea typeface="Arial"/>
                <a:cs typeface="Arial"/>
              </a:defRPr>
            </a:lvl8pPr>
            <a:lvl9pPr algn="l">
              <a:buNone/>
              <a:defRPr sz="1200" b="1">
                <a:solidFill>
                  <a:srgbClr val="176C6B"/>
                </a:solidFill>
                <a:latin typeface="Arial"/>
                <a:ea typeface="Arial"/>
                <a:cs typeface="Arial"/>
              </a:defRPr>
            </a:lvl9pPr>
          </a:lstStyle>
          <a:p>
            <a:pPr algn="l">
              <a:buNone/>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1404978878" name="expanded-text-292"/>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buNone/>
              <a:defRPr sz="1200" b="0">
                <a:solidFill>
                  <a:srgbClr val="53676D"/>
                </a:solidFill>
                <a:latin typeface="Arial"/>
                <a:ea typeface="Arial"/>
                <a:cs typeface="Arial"/>
              </a:defRPr>
            </a:lvl1pPr>
            <a:lvl2pPr algn="r">
              <a:buNone/>
              <a:defRPr sz="1200" b="0">
                <a:solidFill>
                  <a:srgbClr val="53676D"/>
                </a:solidFill>
                <a:latin typeface="Arial"/>
                <a:ea typeface="Arial"/>
                <a:cs typeface="Arial"/>
              </a:defRPr>
            </a:lvl2pPr>
            <a:lvl3pPr algn="r">
              <a:buNone/>
              <a:defRPr sz="1200" b="0">
                <a:solidFill>
                  <a:srgbClr val="53676D"/>
                </a:solidFill>
                <a:latin typeface="Arial"/>
                <a:ea typeface="Arial"/>
                <a:cs typeface="Arial"/>
              </a:defRPr>
            </a:lvl3pPr>
            <a:lvl4pPr algn="r">
              <a:buNone/>
              <a:defRPr sz="1200" b="0">
                <a:solidFill>
                  <a:srgbClr val="53676D"/>
                </a:solidFill>
                <a:latin typeface="Arial"/>
                <a:ea typeface="Arial"/>
                <a:cs typeface="Arial"/>
              </a:defRPr>
            </a:lvl4pPr>
            <a:lvl5pPr algn="r">
              <a:buNone/>
              <a:defRPr sz="1200" b="0">
                <a:solidFill>
                  <a:srgbClr val="53676D"/>
                </a:solidFill>
                <a:latin typeface="Arial"/>
                <a:ea typeface="Arial"/>
                <a:cs typeface="Arial"/>
              </a:defRPr>
            </a:lvl5pPr>
            <a:lvl6pPr algn="r">
              <a:buNone/>
              <a:defRPr sz="1200" b="0">
                <a:solidFill>
                  <a:srgbClr val="53676D"/>
                </a:solidFill>
                <a:latin typeface="Arial"/>
                <a:ea typeface="Arial"/>
                <a:cs typeface="Arial"/>
              </a:defRPr>
            </a:lvl6pPr>
            <a:lvl7pPr algn="r">
              <a:buNone/>
              <a:defRPr sz="1200" b="0">
                <a:solidFill>
                  <a:srgbClr val="53676D"/>
                </a:solidFill>
                <a:latin typeface="Arial"/>
                <a:ea typeface="Arial"/>
                <a:cs typeface="Arial"/>
              </a:defRPr>
            </a:lvl7pPr>
            <a:lvl8pPr algn="r">
              <a:buNone/>
              <a:defRPr sz="1200" b="0">
                <a:solidFill>
                  <a:srgbClr val="53676D"/>
                </a:solidFill>
                <a:latin typeface="Arial"/>
                <a:ea typeface="Arial"/>
                <a:cs typeface="Arial"/>
              </a:defRPr>
            </a:lvl8pPr>
            <a:lvl9pPr algn="r">
              <a:buNone/>
              <a:defRPr sz="1200" b="0">
                <a:solidFill>
                  <a:srgbClr val="53676D"/>
                </a:solidFill>
                <a:latin typeface="Arial"/>
                <a:ea typeface="Arial"/>
                <a:cs typeface="Arial"/>
              </a:defRPr>
            </a:lvl9pPr>
          </a:lstStyle>
          <a:p>
            <a:pPr algn="r">
              <a:buNone/>
              <a:defRPr sz="1200" b="0">
                <a:solidFill>
                  <a:srgbClr val="53676D"/>
                </a:solidFill>
                <a:latin typeface="Arial"/>
                <a:ea typeface="Arial"/>
                <a:cs typeface="Arial"/>
              </a:defRPr>
            </a:pPr>
            <a:r>
              <a:rPr sz="1200" b="0">
                <a:solidFill>
                  <a:srgbClr val="53676D"/>
                </a:solidFill>
                <a:latin typeface="Arial"/>
                <a:ea typeface="Arial"/>
                <a:cs typeface="Arial"/>
              </a:rPr>
              <a:t>52</a:t>
            </a:r>
            <a:endParaRPr/>
          </a:p>
        </p:txBody>
      </p:sp>
      <p:sp>
        <p:nvSpPr>
          <p:cNvPr id="1909708592" name="expanded-text-293"/>
          <p:cNvSpPr>
            <a:spLocks noGrp="1"/>
          </p:cNvSpPr>
          <p:nvPr/>
        </p:nvSpPr>
        <p:spPr bwMode="auto">
          <a:xfrm>
            <a:off x="609600" y="2362199"/>
            <a:ext cx="3333750" cy="533400"/>
          </a:xfrm>
          <a:prstGeom prst="rect">
            <a:avLst/>
          </a:prstGeom>
          <a:noFill/>
          <a:ln w="0">
            <a:noFill/>
            <a:prstDash val="solid"/>
          </a:ln>
        </p:spPr>
        <p:txBody>
          <a:bodyPr wrap="square" lIns="0" tIns="0" rIns="0" bIns="0" anchor="t">
            <a:noAutofit/>
          </a:bodyPr>
          <a:lstStyle>
            <a:defPPr algn="l">
              <a:defRPr sz="2650" b="1">
                <a:solidFill>
                  <a:srgbClr val="176C6B"/>
                </a:solidFill>
                <a:latin typeface="Arial"/>
                <a:ea typeface="Arial"/>
                <a:cs typeface="Arial"/>
              </a:defRPr>
            </a:defPPr>
            <a:lvl1pPr algn="l">
              <a:buNone/>
              <a:defRPr sz="2650" b="1">
                <a:solidFill>
                  <a:srgbClr val="176C6B"/>
                </a:solidFill>
                <a:latin typeface="Arial"/>
                <a:ea typeface="Arial"/>
                <a:cs typeface="Arial"/>
              </a:defRPr>
            </a:lvl1pPr>
            <a:lvl2pPr algn="l">
              <a:buNone/>
              <a:defRPr sz="2650" b="1">
                <a:solidFill>
                  <a:srgbClr val="176C6B"/>
                </a:solidFill>
                <a:latin typeface="Arial"/>
                <a:ea typeface="Arial"/>
                <a:cs typeface="Arial"/>
              </a:defRPr>
            </a:lvl2pPr>
            <a:lvl3pPr algn="l">
              <a:buNone/>
              <a:defRPr sz="2650" b="1">
                <a:solidFill>
                  <a:srgbClr val="176C6B"/>
                </a:solidFill>
                <a:latin typeface="Arial"/>
                <a:ea typeface="Arial"/>
                <a:cs typeface="Arial"/>
              </a:defRPr>
            </a:lvl3pPr>
            <a:lvl4pPr algn="l">
              <a:buNone/>
              <a:defRPr sz="2650" b="1">
                <a:solidFill>
                  <a:srgbClr val="176C6B"/>
                </a:solidFill>
                <a:latin typeface="Arial"/>
                <a:ea typeface="Arial"/>
                <a:cs typeface="Arial"/>
              </a:defRPr>
            </a:lvl4pPr>
            <a:lvl5pPr algn="l">
              <a:buNone/>
              <a:defRPr sz="2650" b="1">
                <a:solidFill>
                  <a:srgbClr val="176C6B"/>
                </a:solidFill>
                <a:latin typeface="Arial"/>
                <a:ea typeface="Arial"/>
                <a:cs typeface="Arial"/>
              </a:defRPr>
            </a:lvl5pPr>
            <a:lvl6pPr algn="l">
              <a:buNone/>
              <a:defRPr sz="2650" b="1">
                <a:solidFill>
                  <a:srgbClr val="176C6B"/>
                </a:solidFill>
                <a:latin typeface="Arial"/>
                <a:ea typeface="Arial"/>
                <a:cs typeface="Arial"/>
              </a:defRPr>
            </a:lvl6pPr>
            <a:lvl7pPr algn="l">
              <a:buNone/>
              <a:defRPr sz="2650" b="1">
                <a:solidFill>
                  <a:srgbClr val="176C6B"/>
                </a:solidFill>
                <a:latin typeface="Arial"/>
                <a:ea typeface="Arial"/>
                <a:cs typeface="Arial"/>
              </a:defRPr>
            </a:lvl7pPr>
            <a:lvl8pPr algn="l">
              <a:buNone/>
              <a:defRPr sz="2650" b="1">
                <a:solidFill>
                  <a:srgbClr val="176C6B"/>
                </a:solidFill>
                <a:latin typeface="Arial"/>
                <a:ea typeface="Arial"/>
                <a:cs typeface="Arial"/>
              </a:defRPr>
            </a:lvl8pPr>
            <a:lvl9pPr algn="l">
              <a:buNone/>
              <a:defRPr sz="2650" b="1">
                <a:solidFill>
                  <a:srgbClr val="176C6B"/>
                </a:solidFill>
                <a:latin typeface="Arial"/>
                <a:ea typeface="Arial"/>
                <a:cs typeface="Arial"/>
              </a:defRPr>
            </a:lvl9pPr>
          </a:lstStyle>
          <a:p>
            <a:pPr algn="l">
              <a:buNone/>
              <a:defRPr sz="2650" b="1">
                <a:solidFill>
                  <a:srgbClr val="176C6B"/>
                </a:solidFill>
                <a:latin typeface="Arial"/>
                <a:ea typeface="Arial"/>
                <a:cs typeface="Arial"/>
              </a:defRPr>
            </a:pPr>
            <a:r>
              <a:rPr sz="2650" b="1">
                <a:solidFill>
                  <a:srgbClr val="176C6B"/>
                </a:solidFill>
                <a:latin typeface="Arial"/>
                <a:ea typeface="Arial"/>
                <a:cs typeface="Arial"/>
              </a:rPr>
              <a:t>15 basis points</a:t>
            </a:r>
            <a:endParaRPr/>
          </a:p>
        </p:txBody>
      </p:sp>
      <p:sp>
        <p:nvSpPr>
          <p:cNvPr id="1096836085" name="expanded-text-294"/>
          <p:cNvSpPr>
            <a:spLocks noGrp="1"/>
          </p:cNvSpPr>
          <p:nvPr/>
        </p:nvSpPr>
        <p:spPr bwMode="auto">
          <a:xfrm>
            <a:off x="609600" y="3038475"/>
            <a:ext cx="3333750" cy="866775"/>
          </a:xfrm>
          <a:prstGeom prst="rect">
            <a:avLst/>
          </a:prstGeom>
          <a:noFill/>
          <a:ln w="0">
            <a:noFill/>
            <a:prstDash val="solid"/>
          </a:ln>
        </p:spPr>
        <p:txBody>
          <a:bodyPr wrap="square" lIns="0" tIns="0" rIns="0" bIns="0" anchor="t">
            <a:noAutofit/>
          </a:bodyPr>
          <a:lstStyle>
            <a:defPPr algn="l">
              <a:defRPr sz="1950" b="0">
                <a:solidFill>
                  <a:srgbClr val="183440"/>
                </a:solidFill>
                <a:latin typeface="Arial"/>
                <a:ea typeface="Arial"/>
                <a:cs typeface="Arial"/>
              </a:defRPr>
            </a:defPPr>
            <a:lvl1pPr algn="l">
              <a:buNone/>
              <a:defRPr sz="1950" b="0">
                <a:solidFill>
                  <a:srgbClr val="183440"/>
                </a:solidFill>
                <a:latin typeface="Arial"/>
                <a:ea typeface="Arial"/>
                <a:cs typeface="Arial"/>
              </a:defRPr>
            </a:lvl1pPr>
            <a:lvl2pPr algn="l">
              <a:buNone/>
              <a:defRPr sz="1950" b="0">
                <a:solidFill>
                  <a:srgbClr val="183440"/>
                </a:solidFill>
                <a:latin typeface="Arial"/>
                <a:ea typeface="Arial"/>
                <a:cs typeface="Arial"/>
              </a:defRPr>
            </a:lvl2pPr>
            <a:lvl3pPr algn="l">
              <a:buNone/>
              <a:defRPr sz="1950" b="0">
                <a:solidFill>
                  <a:srgbClr val="183440"/>
                </a:solidFill>
                <a:latin typeface="Arial"/>
                <a:ea typeface="Arial"/>
                <a:cs typeface="Arial"/>
              </a:defRPr>
            </a:lvl3pPr>
            <a:lvl4pPr algn="l">
              <a:buNone/>
              <a:defRPr sz="1950" b="0">
                <a:solidFill>
                  <a:srgbClr val="183440"/>
                </a:solidFill>
                <a:latin typeface="Arial"/>
                <a:ea typeface="Arial"/>
                <a:cs typeface="Arial"/>
              </a:defRPr>
            </a:lvl4pPr>
            <a:lvl5pPr algn="l">
              <a:buNone/>
              <a:defRPr sz="1950" b="0">
                <a:solidFill>
                  <a:srgbClr val="183440"/>
                </a:solidFill>
                <a:latin typeface="Arial"/>
                <a:ea typeface="Arial"/>
                <a:cs typeface="Arial"/>
              </a:defRPr>
            </a:lvl5pPr>
            <a:lvl6pPr algn="l">
              <a:buNone/>
              <a:defRPr sz="1950" b="0">
                <a:solidFill>
                  <a:srgbClr val="183440"/>
                </a:solidFill>
                <a:latin typeface="Arial"/>
                <a:ea typeface="Arial"/>
                <a:cs typeface="Arial"/>
              </a:defRPr>
            </a:lvl6pPr>
            <a:lvl7pPr algn="l">
              <a:buNone/>
              <a:defRPr sz="1950" b="0">
                <a:solidFill>
                  <a:srgbClr val="183440"/>
                </a:solidFill>
                <a:latin typeface="Arial"/>
                <a:ea typeface="Arial"/>
                <a:cs typeface="Arial"/>
              </a:defRPr>
            </a:lvl7pPr>
            <a:lvl8pPr algn="l">
              <a:buNone/>
              <a:defRPr sz="1950" b="0">
                <a:solidFill>
                  <a:srgbClr val="183440"/>
                </a:solidFill>
                <a:latin typeface="Arial"/>
                <a:ea typeface="Arial"/>
                <a:cs typeface="Arial"/>
              </a:defRPr>
            </a:lvl8pPr>
            <a:lvl9pPr algn="l">
              <a:buNone/>
              <a:defRPr sz="1950" b="0">
                <a:solidFill>
                  <a:srgbClr val="183440"/>
                </a:solidFill>
                <a:latin typeface="Arial"/>
                <a:ea typeface="Arial"/>
                <a:cs typeface="Arial"/>
              </a:defRPr>
            </a:lvl9pPr>
          </a:lstStyle>
          <a:p>
            <a:pPr algn="l">
              <a:buNone/>
              <a:defRPr sz="1950" b="0">
                <a:solidFill>
                  <a:srgbClr val="183440"/>
                </a:solidFill>
                <a:latin typeface="Arial"/>
                <a:ea typeface="Arial"/>
                <a:cs typeface="Arial"/>
              </a:defRPr>
            </a:pPr>
            <a:r>
              <a:rPr sz="1950" b="0">
                <a:solidFill>
                  <a:srgbClr val="183440"/>
                </a:solidFill>
                <a:latin typeface="Arial"/>
                <a:ea typeface="Arial"/>
                <a:cs typeface="Arial"/>
              </a:rPr>
              <a:t>Baseline contribution</a:t>
            </a:r>
            <a:endParaRPr/>
          </a:p>
          <a:p>
            <a:pPr algn="l">
              <a:buNone/>
              <a:defRPr sz="1950" b="0">
                <a:solidFill>
                  <a:srgbClr val="183440"/>
                </a:solidFill>
                <a:latin typeface="Arial"/>
                <a:ea typeface="Arial"/>
                <a:cs typeface="Arial"/>
              </a:defRPr>
            </a:pPr>
            <a:r>
              <a:rPr sz="1950" b="0">
                <a:solidFill>
                  <a:srgbClr val="183440"/>
                </a:solidFill>
                <a:latin typeface="Arial"/>
                <a:ea typeface="Arial"/>
                <a:cs typeface="Arial"/>
              </a:rPr>
              <a:t>30 bps fee less 15 bps cost</a:t>
            </a:r>
            <a:endParaRPr/>
          </a:p>
        </p:txBody>
      </p:sp>
      <p:sp>
        <p:nvSpPr>
          <p:cNvPr id="1613587983" name="expanded-text-295"/>
          <p:cNvSpPr>
            <a:spLocks noGrp="1"/>
          </p:cNvSpPr>
          <p:nvPr/>
        </p:nvSpPr>
        <p:spPr bwMode="auto">
          <a:xfrm>
            <a:off x="609600" y="4352925"/>
            <a:ext cx="3333750" cy="638175"/>
          </a:xfrm>
          <a:prstGeom prst="rect">
            <a:avLst/>
          </a:prstGeom>
          <a:noFill/>
          <a:ln w="0">
            <a:noFill/>
            <a:prstDash val="solid"/>
          </a:ln>
        </p:spPr>
        <p:txBody>
          <a:bodyPr wrap="square" lIns="0" tIns="0" rIns="0" bIns="0" anchor="t">
            <a:noAutofit/>
          </a:bodyPr>
          <a:lstStyle>
            <a:defPPr algn="l">
              <a:defRPr sz="3450" b="1">
                <a:solidFill>
                  <a:srgbClr val="183440"/>
                </a:solidFill>
                <a:latin typeface="Arial"/>
                <a:ea typeface="Arial"/>
                <a:cs typeface="Arial"/>
              </a:defRPr>
            </a:defPPr>
            <a:lvl1pPr algn="l">
              <a:buNone/>
              <a:defRPr sz="3450" b="1">
                <a:solidFill>
                  <a:srgbClr val="183440"/>
                </a:solidFill>
                <a:latin typeface="Arial"/>
                <a:ea typeface="Arial"/>
                <a:cs typeface="Arial"/>
              </a:defRPr>
            </a:lvl1pPr>
            <a:lvl2pPr algn="l">
              <a:buNone/>
              <a:defRPr sz="3450" b="1">
                <a:solidFill>
                  <a:srgbClr val="183440"/>
                </a:solidFill>
                <a:latin typeface="Arial"/>
                <a:ea typeface="Arial"/>
                <a:cs typeface="Arial"/>
              </a:defRPr>
            </a:lvl2pPr>
            <a:lvl3pPr algn="l">
              <a:buNone/>
              <a:defRPr sz="3450" b="1">
                <a:solidFill>
                  <a:srgbClr val="183440"/>
                </a:solidFill>
                <a:latin typeface="Arial"/>
                <a:ea typeface="Arial"/>
                <a:cs typeface="Arial"/>
              </a:defRPr>
            </a:lvl3pPr>
            <a:lvl4pPr algn="l">
              <a:buNone/>
              <a:defRPr sz="3450" b="1">
                <a:solidFill>
                  <a:srgbClr val="183440"/>
                </a:solidFill>
                <a:latin typeface="Arial"/>
                <a:ea typeface="Arial"/>
                <a:cs typeface="Arial"/>
              </a:defRPr>
            </a:lvl4pPr>
            <a:lvl5pPr algn="l">
              <a:buNone/>
              <a:defRPr sz="3450" b="1">
                <a:solidFill>
                  <a:srgbClr val="183440"/>
                </a:solidFill>
                <a:latin typeface="Arial"/>
                <a:ea typeface="Arial"/>
                <a:cs typeface="Arial"/>
              </a:defRPr>
            </a:lvl5pPr>
            <a:lvl6pPr algn="l">
              <a:buNone/>
              <a:defRPr sz="3450" b="1">
                <a:solidFill>
                  <a:srgbClr val="183440"/>
                </a:solidFill>
                <a:latin typeface="Arial"/>
                <a:ea typeface="Arial"/>
                <a:cs typeface="Arial"/>
              </a:defRPr>
            </a:lvl6pPr>
            <a:lvl7pPr algn="l">
              <a:buNone/>
              <a:defRPr sz="3450" b="1">
                <a:solidFill>
                  <a:srgbClr val="183440"/>
                </a:solidFill>
                <a:latin typeface="Arial"/>
                <a:ea typeface="Arial"/>
                <a:cs typeface="Arial"/>
              </a:defRPr>
            </a:lvl7pPr>
            <a:lvl8pPr algn="l">
              <a:buNone/>
              <a:defRPr sz="3450" b="1">
                <a:solidFill>
                  <a:srgbClr val="183440"/>
                </a:solidFill>
                <a:latin typeface="Arial"/>
                <a:ea typeface="Arial"/>
                <a:cs typeface="Arial"/>
              </a:defRPr>
            </a:lvl8pPr>
            <a:lvl9pPr algn="l">
              <a:buNone/>
              <a:defRPr sz="3450" b="1">
                <a:solidFill>
                  <a:srgbClr val="183440"/>
                </a:solidFill>
                <a:latin typeface="Arial"/>
                <a:ea typeface="Arial"/>
                <a:cs typeface="Arial"/>
              </a:defRPr>
            </a:lvl9pPr>
          </a:lstStyle>
          <a:p>
            <a:pPr algn="l">
              <a:buNone/>
              <a:defRPr sz="3450" b="1">
                <a:solidFill>
                  <a:srgbClr val="183440"/>
                </a:solidFill>
                <a:latin typeface="Arial"/>
                <a:ea typeface="Arial"/>
                <a:cs typeface="Arial"/>
              </a:defRPr>
            </a:pPr>
            <a:r>
              <a:rPr sz="3450" b="1">
                <a:solidFill>
                  <a:srgbClr val="183440"/>
                </a:solidFill>
                <a:latin typeface="Arial"/>
                <a:ea typeface="Arial"/>
                <a:cs typeface="Arial"/>
              </a:rPr>
              <a:t>US$1.5B</a:t>
            </a:r>
            <a:endParaRPr/>
          </a:p>
        </p:txBody>
      </p:sp>
      <p:sp>
        <p:nvSpPr>
          <p:cNvPr id="1124592211" name="expanded-text-296"/>
          <p:cNvSpPr>
            <a:spLocks noGrp="1"/>
          </p:cNvSpPr>
          <p:nvPr/>
        </p:nvSpPr>
        <p:spPr bwMode="auto">
          <a:xfrm>
            <a:off x="609600" y="5105400"/>
            <a:ext cx="3333750" cy="78105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buNone/>
              <a:defRPr sz="1900" b="0">
                <a:solidFill>
                  <a:srgbClr val="53676D"/>
                </a:solidFill>
                <a:latin typeface="Arial"/>
                <a:ea typeface="Arial"/>
                <a:cs typeface="Arial"/>
              </a:defRPr>
            </a:lvl1pPr>
            <a:lvl2pPr algn="l">
              <a:buNone/>
              <a:defRPr sz="1900" b="0">
                <a:solidFill>
                  <a:srgbClr val="53676D"/>
                </a:solidFill>
                <a:latin typeface="Arial"/>
                <a:ea typeface="Arial"/>
                <a:cs typeface="Arial"/>
              </a:defRPr>
            </a:lvl2pPr>
            <a:lvl3pPr algn="l">
              <a:buNone/>
              <a:defRPr sz="1900" b="0">
                <a:solidFill>
                  <a:srgbClr val="53676D"/>
                </a:solidFill>
                <a:latin typeface="Arial"/>
                <a:ea typeface="Arial"/>
                <a:cs typeface="Arial"/>
              </a:defRPr>
            </a:lvl3pPr>
            <a:lvl4pPr algn="l">
              <a:buNone/>
              <a:defRPr sz="1900" b="0">
                <a:solidFill>
                  <a:srgbClr val="53676D"/>
                </a:solidFill>
                <a:latin typeface="Arial"/>
                <a:ea typeface="Arial"/>
                <a:cs typeface="Arial"/>
              </a:defRPr>
            </a:lvl4pPr>
            <a:lvl5pPr algn="l">
              <a:buNone/>
              <a:defRPr sz="1900" b="0">
                <a:solidFill>
                  <a:srgbClr val="53676D"/>
                </a:solidFill>
                <a:latin typeface="Arial"/>
                <a:ea typeface="Arial"/>
                <a:cs typeface="Arial"/>
              </a:defRPr>
            </a:lvl5pPr>
            <a:lvl6pPr algn="l">
              <a:buNone/>
              <a:defRPr sz="1900" b="0">
                <a:solidFill>
                  <a:srgbClr val="53676D"/>
                </a:solidFill>
                <a:latin typeface="Arial"/>
                <a:ea typeface="Arial"/>
                <a:cs typeface="Arial"/>
              </a:defRPr>
            </a:lvl6pPr>
            <a:lvl7pPr algn="l">
              <a:buNone/>
              <a:defRPr sz="1900" b="0">
                <a:solidFill>
                  <a:srgbClr val="53676D"/>
                </a:solidFill>
                <a:latin typeface="Arial"/>
                <a:ea typeface="Arial"/>
                <a:cs typeface="Arial"/>
              </a:defRPr>
            </a:lvl7pPr>
            <a:lvl8pPr algn="l">
              <a:buNone/>
              <a:defRPr sz="1900" b="0">
                <a:solidFill>
                  <a:srgbClr val="53676D"/>
                </a:solidFill>
                <a:latin typeface="Arial"/>
                <a:ea typeface="Arial"/>
                <a:cs typeface="Arial"/>
              </a:defRPr>
            </a:lvl8pPr>
            <a:lvl9pPr algn="l">
              <a:buNone/>
              <a:defRPr sz="1900" b="0">
                <a:solidFill>
                  <a:srgbClr val="53676D"/>
                </a:solidFill>
                <a:latin typeface="Arial"/>
                <a:ea typeface="Arial"/>
                <a:cs typeface="Arial"/>
              </a:defRPr>
            </a:lvl9pPr>
          </a:lstStyle>
          <a:p>
            <a:pPr algn="l">
              <a:buNone/>
              <a:defRPr sz="1900" b="0">
                <a:solidFill>
                  <a:srgbClr val="53676D"/>
                </a:solidFill>
                <a:latin typeface="Arial"/>
                <a:ea typeface="Arial"/>
                <a:cs typeface="Arial"/>
              </a:defRPr>
            </a:pPr>
            <a:r>
              <a:rPr sz="1900" b="0">
                <a:solidFill>
                  <a:srgbClr val="53676D"/>
                </a:solidFill>
                <a:latin typeface="Arial"/>
                <a:ea typeface="Arial"/>
                <a:cs typeface="Arial"/>
              </a:rPr>
              <a:t>Break-even assets if variable</a:t>
            </a:r>
            <a:endParaRPr/>
          </a:p>
          <a:p>
            <a:pPr algn="l">
              <a:buNone/>
              <a:defRPr sz="1900" b="0">
                <a:solidFill>
                  <a:srgbClr val="53676D"/>
                </a:solidFill>
                <a:latin typeface="Arial"/>
                <a:ea typeface="Arial"/>
                <a:cs typeface="Arial"/>
              </a:defRPr>
            </a:pPr>
            <a:r>
              <a:rPr sz="1900" b="0">
                <a:solidFill>
                  <a:srgbClr val="53676D"/>
                </a:solidFill>
                <a:latin typeface="Arial"/>
                <a:ea typeface="Arial"/>
                <a:cs typeface="Arial"/>
              </a:rPr>
              <a:t>cost rises to 20 bps</a:t>
            </a:r>
            <a:endParaRPr/>
          </a:p>
        </p:txBody>
      </p:sp>
      <p:sp>
        <p:nvSpPr>
          <p:cNvPr id="236218655" name="expanded-text-297"/>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buNone/>
              <a:defRPr sz="1500" b="0">
                <a:solidFill>
                  <a:srgbClr val="53676D"/>
                </a:solidFill>
                <a:latin typeface="Arial"/>
                <a:ea typeface="Arial"/>
                <a:cs typeface="Arial"/>
              </a:defRPr>
            </a:lvl1pPr>
            <a:lvl2pPr algn="l">
              <a:buNone/>
              <a:defRPr sz="1500" b="0">
                <a:solidFill>
                  <a:srgbClr val="53676D"/>
                </a:solidFill>
                <a:latin typeface="Arial"/>
                <a:ea typeface="Arial"/>
                <a:cs typeface="Arial"/>
              </a:defRPr>
            </a:lvl2pPr>
            <a:lvl3pPr algn="l">
              <a:buNone/>
              <a:defRPr sz="1500" b="0">
                <a:solidFill>
                  <a:srgbClr val="53676D"/>
                </a:solidFill>
                <a:latin typeface="Arial"/>
                <a:ea typeface="Arial"/>
                <a:cs typeface="Arial"/>
              </a:defRPr>
            </a:lvl3pPr>
            <a:lvl4pPr algn="l">
              <a:buNone/>
              <a:defRPr sz="1500" b="0">
                <a:solidFill>
                  <a:srgbClr val="53676D"/>
                </a:solidFill>
                <a:latin typeface="Arial"/>
                <a:ea typeface="Arial"/>
                <a:cs typeface="Arial"/>
              </a:defRPr>
            </a:lvl4pPr>
            <a:lvl5pPr algn="l">
              <a:buNone/>
              <a:defRPr sz="1500" b="0">
                <a:solidFill>
                  <a:srgbClr val="53676D"/>
                </a:solidFill>
                <a:latin typeface="Arial"/>
                <a:ea typeface="Arial"/>
                <a:cs typeface="Arial"/>
              </a:defRPr>
            </a:lvl5pPr>
            <a:lvl6pPr algn="l">
              <a:buNone/>
              <a:defRPr sz="1500" b="0">
                <a:solidFill>
                  <a:srgbClr val="53676D"/>
                </a:solidFill>
                <a:latin typeface="Arial"/>
                <a:ea typeface="Arial"/>
                <a:cs typeface="Arial"/>
              </a:defRPr>
            </a:lvl6pPr>
            <a:lvl7pPr algn="l">
              <a:buNone/>
              <a:defRPr sz="1500" b="0">
                <a:solidFill>
                  <a:srgbClr val="53676D"/>
                </a:solidFill>
                <a:latin typeface="Arial"/>
                <a:ea typeface="Arial"/>
                <a:cs typeface="Arial"/>
              </a:defRPr>
            </a:lvl7pPr>
            <a:lvl8pPr algn="l">
              <a:buNone/>
              <a:defRPr sz="1500" b="0">
                <a:solidFill>
                  <a:srgbClr val="53676D"/>
                </a:solidFill>
                <a:latin typeface="Arial"/>
                <a:ea typeface="Arial"/>
                <a:cs typeface="Arial"/>
              </a:defRPr>
            </a:lvl8pPr>
            <a:lvl9pPr algn="l">
              <a:buNone/>
              <a:defRPr sz="1500" b="0">
                <a:solidFill>
                  <a:srgbClr val="53676D"/>
                </a:solidFill>
                <a:latin typeface="Arial"/>
                <a:ea typeface="Arial"/>
                <a:cs typeface="Arial"/>
              </a:defRPr>
            </a:lvl9pPr>
          </a:lstStyle>
          <a:p>
            <a:pPr algn="l">
              <a:buNone/>
              <a:defRPr sz="1500" b="0">
                <a:solidFill>
                  <a:srgbClr val="53676D"/>
                </a:solidFill>
                <a:latin typeface="Arial"/>
                <a:ea typeface="Arial"/>
                <a:cs typeface="Arial"/>
              </a:defRPr>
            </a:pPr>
            <a:r>
              <a:rPr sz="1500" b="0">
                <a:solidFill>
                  <a:srgbClr val="53676D"/>
                </a:solidFill>
                <a:latin typeface="Arial"/>
                <a:ea typeface="Arial"/>
                <a:cs typeface="Arial"/>
              </a:rPr>
              <a:t>Derived sensitivity, not a pricing quote. Fixed spend divided by contribution rate determines recurring break-even.</a:t>
            </a:r>
            <a:endParaRPr/>
          </a:p>
        </p:txBody>
      </p:sp>
      <p:graphicFrame>
        <p:nvGraphicFramePr>
          <p:cNvPr id="245813371" name="Chart"/>
          <p:cNvGraphicFramePr>
            <a:graphicFrameLocks xmlns:a="http://schemas.openxmlformats.org/drawingml/2006/main"/>
          </p:cNvGraphicFramePr>
          <p:nvPr/>
        </p:nvGraphicFramePr>
        <p:xfrm rot="0">
          <a:off x="4267200" y="2209800"/>
          <a:ext cx="7315200" cy="376237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7F4EC"/>
        </a:solidFill>
      </p:bgPr>
    </p:bg>
    <p:spTree>
      <p:nvGrpSpPr>
        <p:cNvPr id="1" name=""/>
        <p:cNvGrpSpPr/>
        <p:nvPr/>
      </p:nvGrpSpPr>
      <p:grpSpPr bwMode="auto">
        <a:xfrm>
          <a:off x="0" y="0"/>
          <a:ext cx="0" cy="0"/>
          <a:chOff x="0" y="0"/>
          <a:chExt cx="0" cy="0"/>
        </a:xfrm>
      </p:grpSpPr>
      <p:sp>
        <p:nvSpPr>
          <p:cNvPr id="242782093" name="access-revision-text-118"/>
          <p:cNvSpPr>
            <a:spLocks noGrp="1"/>
          </p:cNvSpPr>
          <p:nvPr/>
        </p:nvSpPr>
        <p:spPr bwMode="auto">
          <a:xfrm>
            <a:off x="609600" y="504825"/>
            <a:ext cx="10972800" cy="828675"/>
          </a:xfrm>
          <a:prstGeom prst="rect">
            <a:avLst/>
          </a:prstGeom>
          <a:noFill/>
          <a:ln w="0">
            <a:noFill/>
            <a:prstDash val="solid"/>
          </a:ln>
        </p:spPr>
        <p:txBody>
          <a:bodyPr wrap="square" lIns="0" tIns="0" rIns="0" bIns="0" anchor="t">
            <a:noAutofit/>
          </a:bodyPr>
          <a:lstStyle>
            <a:defPPr algn="l">
              <a:defRPr sz="3300" b="1">
                <a:solidFill>
                  <a:srgbClr val="183440"/>
                </a:solidFill>
                <a:latin typeface="Arial"/>
                <a:ea typeface="Arial"/>
                <a:cs typeface="Arial"/>
              </a:defRPr>
            </a:defPPr>
            <a:lvl1pPr algn="l">
              <a:defRPr sz="3300" b="1">
                <a:solidFill>
                  <a:srgbClr val="183440"/>
                </a:solidFill>
                <a:latin typeface="Arial"/>
                <a:ea typeface="Arial"/>
                <a:cs typeface="Arial"/>
              </a:defRPr>
            </a:lvl1pPr>
            <a:lvl2pPr algn="l">
              <a:defRPr sz="3300" b="1">
                <a:solidFill>
                  <a:srgbClr val="183440"/>
                </a:solidFill>
                <a:latin typeface="Arial"/>
                <a:ea typeface="Arial"/>
                <a:cs typeface="Arial"/>
              </a:defRPr>
            </a:lvl2pPr>
            <a:lvl3pPr algn="l">
              <a:defRPr sz="3300" b="1">
                <a:solidFill>
                  <a:srgbClr val="183440"/>
                </a:solidFill>
                <a:latin typeface="Arial"/>
                <a:ea typeface="Arial"/>
                <a:cs typeface="Arial"/>
              </a:defRPr>
            </a:lvl3pPr>
            <a:lvl4pPr algn="l">
              <a:defRPr sz="3300" b="1">
                <a:solidFill>
                  <a:srgbClr val="183440"/>
                </a:solidFill>
                <a:latin typeface="Arial"/>
                <a:ea typeface="Arial"/>
                <a:cs typeface="Arial"/>
              </a:defRPr>
            </a:lvl4pPr>
            <a:lvl5pPr algn="l">
              <a:defRPr sz="3300" b="1">
                <a:solidFill>
                  <a:srgbClr val="183440"/>
                </a:solidFill>
                <a:latin typeface="Arial"/>
                <a:ea typeface="Arial"/>
                <a:cs typeface="Arial"/>
              </a:defRPr>
            </a:lvl5pPr>
            <a:lvl6pPr algn="l">
              <a:defRPr sz="3300" b="1">
                <a:solidFill>
                  <a:srgbClr val="183440"/>
                </a:solidFill>
                <a:latin typeface="Arial"/>
                <a:ea typeface="Arial"/>
                <a:cs typeface="Arial"/>
              </a:defRPr>
            </a:lvl6pPr>
            <a:lvl7pPr algn="l">
              <a:defRPr sz="3300" b="1">
                <a:solidFill>
                  <a:srgbClr val="183440"/>
                </a:solidFill>
                <a:latin typeface="Arial"/>
                <a:ea typeface="Arial"/>
                <a:cs typeface="Arial"/>
              </a:defRPr>
            </a:lvl7pPr>
            <a:lvl8pPr algn="l">
              <a:defRPr sz="3300" b="1">
                <a:solidFill>
                  <a:srgbClr val="183440"/>
                </a:solidFill>
                <a:latin typeface="Arial"/>
                <a:ea typeface="Arial"/>
                <a:cs typeface="Arial"/>
              </a:defRPr>
            </a:lvl8pPr>
            <a:lvl9pPr algn="l">
              <a:defRPr sz="3300" b="1">
                <a:solidFill>
                  <a:srgbClr val="183440"/>
                </a:solidFill>
                <a:latin typeface="Arial"/>
                <a:ea typeface="Arial"/>
                <a:cs typeface="Arial"/>
              </a:defRPr>
            </a:lvl9pPr>
          </a:lstStyle>
          <a:p>
            <a:pPr algn="l">
              <a:defRPr sz="3300" b="1">
                <a:solidFill>
                  <a:srgbClr val="183440"/>
                </a:solidFill>
                <a:latin typeface="Arial"/>
                <a:ea typeface="Arial"/>
                <a:cs typeface="Arial"/>
              </a:defRPr>
            </a:pPr>
            <a:r>
              <a:rPr sz="3300" b="1">
                <a:solidFill>
                  <a:srgbClr val="183440"/>
                </a:solidFill>
                <a:latin typeface="Arial"/>
                <a:ea typeface="Arial"/>
                <a:cs typeface="Arial"/>
              </a:rPr>
              <a:t>Access thesis and example sources</a:t>
            </a:r>
            <a:endParaRPr/>
          </a:p>
        </p:txBody>
      </p:sp>
      <p:sp>
        <p:nvSpPr>
          <p:cNvPr id="2012758601" name="access-revision-text-119"/>
          <p:cNvSpPr>
            <a:spLocks noGrp="1"/>
          </p:cNvSpPr>
          <p:nvPr/>
        </p:nvSpPr>
        <p:spPr bwMode="auto">
          <a:xfrm>
            <a:off x="609600" y="1409700"/>
            <a:ext cx="10972800" cy="609600"/>
          </a:xfrm>
          <a:prstGeom prst="rect">
            <a:avLst/>
          </a:prstGeom>
          <a:noFill/>
          <a:ln w="0">
            <a:noFill/>
            <a:prstDash val="solid"/>
          </a:ln>
        </p:spPr>
        <p:txBody>
          <a:bodyPr wrap="square" lIns="0" tIns="0" rIns="0" bIns="0" anchor="t">
            <a:noAutofit/>
          </a:bodyPr>
          <a:lstStyle>
            <a:defPPr algn="l">
              <a:defRPr sz="1900" b="0">
                <a:solidFill>
                  <a:srgbClr val="53676D"/>
                </a:solidFill>
                <a:latin typeface="Arial"/>
                <a:ea typeface="Arial"/>
                <a:cs typeface="Arial"/>
              </a:defRPr>
            </a:defPPr>
            <a:lvl1pPr algn="l">
              <a:defRPr sz="1900" b="0">
                <a:solidFill>
                  <a:srgbClr val="53676D"/>
                </a:solidFill>
                <a:latin typeface="Arial"/>
                <a:ea typeface="Arial"/>
                <a:cs typeface="Arial"/>
              </a:defRPr>
            </a:lvl1pPr>
            <a:lvl2pPr algn="l">
              <a:defRPr sz="1900" b="0">
                <a:solidFill>
                  <a:srgbClr val="53676D"/>
                </a:solidFill>
                <a:latin typeface="Arial"/>
                <a:ea typeface="Arial"/>
                <a:cs typeface="Arial"/>
              </a:defRPr>
            </a:lvl2pPr>
            <a:lvl3pPr algn="l">
              <a:defRPr sz="1900" b="0">
                <a:solidFill>
                  <a:srgbClr val="53676D"/>
                </a:solidFill>
                <a:latin typeface="Arial"/>
                <a:ea typeface="Arial"/>
                <a:cs typeface="Arial"/>
              </a:defRPr>
            </a:lvl3pPr>
            <a:lvl4pPr algn="l">
              <a:defRPr sz="1900" b="0">
                <a:solidFill>
                  <a:srgbClr val="53676D"/>
                </a:solidFill>
                <a:latin typeface="Arial"/>
                <a:ea typeface="Arial"/>
                <a:cs typeface="Arial"/>
              </a:defRPr>
            </a:lvl4pPr>
            <a:lvl5pPr algn="l">
              <a:defRPr sz="1900" b="0">
                <a:solidFill>
                  <a:srgbClr val="53676D"/>
                </a:solidFill>
                <a:latin typeface="Arial"/>
                <a:ea typeface="Arial"/>
                <a:cs typeface="Arial"/>
              </a:defRPr>
            </a:lvl5pPr>
            <a:lvl6pPr algn="l">
              <a:defRPr sz="1900" b="0">
                <a:solidFill>
                  <a:srgbClr val="53676D"/>
                </a:solidFill>
                <a:latin typeface="Arial"/>
                <a:ea typeface="Arial"/>
                <a:cs typeface="Arial"/>
              </a:defRPr>
            </a:lvl6pPr>
            <a:lvl7pPr algn="l">
              <a:defRPr sz="1900" b="0">
                <a:solidFill>
                  <a:srgbClr val="53676D"/>
                </a:solidFill>
                <a:latin typeface="Arial"/>
                <a:ea typeface="Arial"/>
                <a:cs typeface="Arial"/>
              </a:defRPr>
            </a:lvl7pPr>
            <a:lvl8pPr algn="l">
              <a:defRPr sz="1900" b="0">
                <a:solidFill>
                  <a:srgbClr val="53676D"/>
                </a:solidFill>
                <a:latin typeface="Arial"/>
                <a:ea typeface="Arial"/>
                <a:cs typeface="Arial"/>
              </a:defRPr>
            </a:lvl8pPr>
            <a:lvl9pPr algn="l">
              <a:defRPr sz="1900" b="0">
                <a:solidFill>
                  <a:srgbClr val="53676D"/>
                </a:solidFill>
                <a:latin typeface="Arial"/>
                <a:ea typeface="Arial"/>
                <a:cs typeface="Arial"/>
              </a:defRPr>
            </a:lvl9pPr>
          </a:lstStyle>
          <a:p>
            <a:pPr algn="l">
              <a:defRPr sz="1900" b="0">
                <a:solidFill>
                  <a:srgbClr val="53676D"/>
                </a:solidFill>
                <a:latin typeface="Arial"/>
                <a:ea typeface="Arial"/>
                <a:cs typeface="Arial"/>
              </a:defRPr>
            </a:pPr>
            <a:r>
              <a:rPr sz="1900" b="0">
                <a:solidFill>
                  <a:srgbClr val="53676D"/>
                </a:solidFill>
                <a:latin typeface="Arial"/>
                <a:ea typeface="Arial"/>
                <a:cs typeface="Arial"/>
              </a:rPr>
              <a:t>Evidence reviewed on 30 October 2026. Full references and scope appear in notes.</a:t>
            </a:r>
            <a:endParaRPr/>
          </a:p>
        </p:txBody>
      </p:sp>
      <p:sp>
        <p:nvSpPr>
          <p:cNvPr id="408495258" name="access-revision-text-120"/>
          <p:cNvSpPr>
            <a:spLocks noGrp="1"/>
          </p:cNvSpPr>
          <p:nvPr/>
        </p:nvSpPr>
        <p:spPr bwMode="auto">
          <a:xfrm>
            <a:off x="609600" y="6438899"/>
            <a:ext cx="3619500" cy="238125"/>
          </a:xfrm>
          <a:prstGeom prst="rect">
            <a:avLst/>
          </a:prstGeom>
          <a:noFill/>
          <a:ln w="0">
            <a:noFill/>
            <a:prstDash val="solid"/>
          </a:ln>
        </p:spPr>
        <p:txBody>
          <a:bodyPr wrap="square" lIns="0" tIns="0" rIns="0" bIns="0" anchor="t">
            <a:noAutofit/>
          </a:bodyPr>
          <a:lstStyle>
            <a:defPPr algn="l">
              <a:defRPr sz="1200" b="1">
                <a:solidFill>
                  <a:srgbClr val="176C6B"/>
                </a:solidFill>
                <a:latin typeface="Arial"/>
                <a:ea typeface="Arial"/>
                <a:cs typeface="Arial"/>
              </a:defRPr>
            </a:defPPr>
            <a:lvl1pPr algn="l">
              <a:defRPr sz="1200" b="1">
                <a:solidFill>
                  <a:srgbClr val="176C6B"/>
                </a:solidFill>
                <a:latin typeface="Arial"/>
                <a:ea typeface="Arial"/>
                <a:cs typeface="Arial"/>
              </a:defRPr>
            </a:lvl1pPr>
            <a:lvl2pPr algn="l">
              <a:defRPr sz="1200" b="1">
                <a:solidFill>
                  <a:srgbClr val="176C6B"/>
                </a:solidFill>
                <a:latin typeface="Arial"/>
                <a:ea typeface="Arial"/>
                <a:cs typeface="Arial"/>
              </a:defRPr>
            </a:lvl2pPr>
            <a:lvl3pPr algn="l">
              <a:defRPr sz="1200" b="1">
                <a:solidFill>
                  <a:srgbClr val="176C6B"/>
                </a:solidFill>
                <a:latin typeface="Arial"/>
                <a:ea typeface="Arial"/>
                <a:cs typeface="Arial"/>
              </a:defRPr>
            </a:lvl3pPr>
            <a:lvl4pPr algn="l">
              <a:defRPr sz="1200" b="1">
                <a:solidFill>
                  <a:srgbClr val="176C6B"/>
                </a:solidFill>
                <a:latin typeface="Arial"/>
                <a:ea typeface="Arial"/>
                <a:cs typeface="Arial"/>
              </a:defRPr>
            </a:lvl4pPr>
            <a:lvl5pPr algn="l">
              <a:defRPr sz="1200" b="1">
                <a:solidFill>
                  <a:srgbClr val="176C6B"/>
                </a:solidFill>
                <a:latin typeface="Arial"/>
                <a:ea typeface="Arial"/>
                <a:cs typeface="Arial"/>
              </a:defRPr>
            </a:lvl5pPr>
            <a:lvl6pPr algn="l">
              <a:defRPr sz="1200" b="1">
                <a:solidFill>
                  <a:srgbClr val="176C6B"/>
                </a:solidFill>
                <a:latin typeface="Arial"/>
                <a:ea typeface="Arial"/>
                <a:cs typeface="Arial"/>
              </a:defRPr>
            </a:lvl6pPr>
            <a:lvl7pPr algn="l">
              <a:defRPr sz="1200" b="1">
                <a:solidFill>
                  <a:srgbClr val="176C6B"/>
                </a:solidFill>
                <a:latin typeface="Arial"/>
                <a:ea typeface="Arial"/>
                <a:cs typeface="Arial"/>
              </a:defRPr>
            </a:lvl7pPr>
            <a:lvl8pPr algn="l">
              <a:defRPr sz="1200" b="1">
                <a:solidFill>
                  <a:srgbClr val="176C6B"/>
                </a:solidFill>
                <a:latin typeface="Arial"/>
                <a:ea typeface="Arial"/>
                <a:cs typeface="Arial"/>
              </a:defRPr>
            </a:lvl8pPr>
            <a:lvl9pPr algn="l">
              <a:defRPr sz="1200" b="1">
                <a:solidFill>
                  <a:srgbClr val="176C6B"/>
                </a:solidFill>
                <a:latin typeface="Arial"/>
                <a:ea typeface="Arial"/>
                <a:cs typeface="Arial"/>
              </a:defRPr>
            </a:lvl9pPr>
          </a:lstStyle>
          <a:p>
            <a:pPr algn="l">
              <a:defRPr sz="1200" b="1">
                <a:solidFill>
                  <a:srgbClr val="176C6B"/>
                </a:solidFill>
                <a:latin typeface="Arial"/>
                <a:ea typeface="Arial"/>
                <a:cs typeface="Arial"/>
              </a:defRPr>
            </a:pPr>
            <a:r>
              <a:rPr sz="1200" b="1">
                <a:solidFill>
                  <a:srgbClr val="176C6B"/>
                </a:solidFill>
                <a:latin typeface="Arial"/>
                <a:ea typeface="Arial"/>
                <a:cs typeface="Arial"/>
              </a:rPr>
              <a:t>D-SHARE / APPENDIX</a:t>
            </a:r>
            <a:endParaRPr/>
          </a:p>
        </p:txBody>
      </p:sp>
      <p:sp>
        <p:nvSpPr>
          <p:cNvPr id="2071696063" name="access-revision-text-121"/>
          <p:cNvSpPr>
            <a:spLocks noGrp="1"/>
          </p:cNvSpPr>
          <p:nvPr/>
        </p:nvSpPr>
        <p:spPr bwMode="auto">
          <a:xfrm>
            <a:off x="11020424" y="6438899"/>
            <a:ext cx="561975" cy="238125"/>
          </a:xfrm>
          <a:prstGeom prst="rect">
            <a:avLst/>
          </a:prstGeom>
          <a:noFill/>
          <a:ln w="0">
            <a:noFill/>
            <a:prstDash val="solid"/>
          </a:ln>
        </p:spPr>
        <p:txBody>
          <a:bodyPr wrap="square" lIns="0" tIns="0" rIns="0" bIns="0" anchor="t">
            <a:noAutofit/>
          </a:bodyPr>
          <a:lstStyle>
            <a:defPPr algn="r">
              <a:defRPr sz="1200" b="0">
                <a:solidFill>
                  <a:srgbClr val="53676D"/>
                </a:solidFill>
                <a:latin typeface="Arial"/>
                <a:ea typeface="Arial"/>
                <a:cs typeface="Arial"/>
              </a:defRPr>
            </a:defPPr>
            <a:lvl1pPr algn="r">
              <a:defRPr sz="1200" b="0">
                <a:solidFill>
                  <a:srgbClr val="53676D"/>
                </a:solidFill>
                <a:latin typeface="Arial"/>
                <a:ea typeface="Arial"/>
                <a:cs typeface="Arial"/>
              </a:defRPr>
            </a:lvl1pPr>
            <a:lvl2pPr algn="r">
              <a:defRPr sz="1200" b="0">
                <a:solidFill>
                  <a:srgbClr val="53676D"/>
                </a:solidFill>
                <a:latin typeface="Arial"/>
                <a:ea typeface="Arial"/>
                <a:cs typeface="Arial"/>
              </a:defRPr>
            </a:lvl2pPr>
            <a:lvl3pPr algn="r">
              <a:defRPr sz="1200" b="0">
                <a:solidFill>
                  <a:srgbClr val="53676D"/>
                </a:solidFill>
                <a:latin typeface="Arial"/>
                <a:ea typeface="Arial"/>
                <a:cs typeface="Arial"/>
              </a:defRPr>
            </a:lvl3pPr>
            <a:lvl4pPr algn="r">
              <a:defRPr sz="1200" b="0">
                <a:solidFill>
                  <a:srgbClr val="53676D"/>
                </a:solidFill>
                <a:latin typeface="Arial"/>
                <a:ea typeface="Arial"/>
                <a:cs typeface="Arial"/>
              </a:defRPr>
            </a:lvl4pPr>
            <a:lvl5pPr algn="r">
              <a:defRPr sz="1200" b="0">
                <a:solidFill>
                  <a:srgbClr val="53676D"/>
                </a:solidFill>
                <a:latin typeface="Arial"/>
                <a:ea typeface="Arial"/>
                <a:cs typeface="Arial"/>
              </a:defRPr>
            </a:lvl5pPr>
            <a:lvl6pPr algn="r">
              <a:defRPr sz="1200" b="0">
                <a:solidFill>
                  <a:srgbClr val="53676D"/>
                </a:solidFill>
                <a:latin typeface="Arial"/>
                <a:ea typeface="Arial"/>
                <a:cs typeface="Arial"/>
              </a:defRPr>
            </a:lvl6pPr>
            <a:lvl7pPr algn="r">
              <a:defRPr sz="1200" b="0">
                <a:solidFill>
                  <a:srgbClr val="53676D"/>
                </a:solidFill>
                <a:latin typeface="Arial"/>
                <a:ea typeface="Arial"/>
                <a:cs typeface="Arial"/>
              </a:defRPr>
            </a:lvl7pPr>
            <a:lvl8pPr algn="r">
              <a:defRPr sz="1200" b="0">
                <a:solidFill>
                  <a:srgbClr val="53676D"/>
                </a:solidFill>
                <a:latin typeface="Arial"/>
                <a:ea typeface="Arial"/>
                <a:cs typeface="Arial"/>
              </a:defRPr>
            </a:lvl8pPr>
            <a:lvl9pPr algn="r">
              <a:defRPr sz="1200" b="0">
                <a:solidFill>
                  <a:srgbClr val="53676D"/>
                </a:solidFill>
                <a:latin typeface="Arial"/>
                <a:ea typeface="Arial"/>
                <a:cs typeface="Arial"/>
              </a:defRPr>
            </a:lvl9pPr>
          </a:lstStyle>
          <a:p>
            <a:pPr algn="r">
              <a:defRPr sz="1200" b="0">
                <a:solidFill>
                  <a:srgbClr val="53676D"/>
                </a:solidFill>
                <a:latin typeface="Arial"/>
                <a:ea typeface="Arial"/>
                <a:cs typeface="Arial"/>
              </a:defRPr>
            </a:pPr>
            <a:r>
              <a:rPr sz="1200" b="0">
                <a:solidFill>
                  <a:srgbClr val="53676D"/>
                </a:solidFill>
                <a:latin typeface="Arial"/>
                <a:ea typeface="Arial"/>
                <a:cs typeface="Arial"/>
              </a:rPr>
              <a:t>55</a:t>
            </a:r>
            <a:endParaRPr/>
          </a:p>
        </p:txBody>
      </p:sp>
      <p:graphicFrame>
        <p:nvGraphicFramePr>
          <p:cNvPr id="2036013559" name=""/>
          <p:cNvGraphicFramePr>
            <a:graphicFrameLocks xmlns:a="http://schemas.openxmlformats.org/drawingml/2006/main"/>
          </p:cNvGraphicFramePr>
          <p:nvPr/>
        </p:nvGraphicFramePr>
        <p:xfrm rot="0">
          <a:off x="609600" y="2152650"/>
          <a:ext cx="10972800" cy="3581400"/>
        </p:xfrm>
        <a:graphic>
          <a:graphicData uri="http://schemas.openxmlformats.org/drawingml/2006/table">
            <a:tbl>
              <a:tblPr firstRow="1" firstCol="0" lastRow="0" lastCol="0" bandRow="0" bandCol="0"/>
              <a:tblGrid>
                <a:gridCol w="742950"/>
                <a:gridCol w="3552825"/>
                <a:gridCol w="6677025"/>
              </a:tblGrid>
              <a:tr h="447675">
                <a:tc>
                  <a:txBody>
                    <a:bodyPr/>
                    <a:p>
                      <a:pPr>
                        <a:defRPr/>
                      </a:pPr>
                      <a:r>
                        <a:rPr sz="1600" b="1">
                          <a:solidFill>
                            <a:srgbClr val="FFFFFF"/>
                          </a:solidFill>
                          <a:latin typeface="Arial"/>
                          <a:ea typeface="Arial"/>
                          <a:cs typeface="Arial"/>
                        </a:rPr>
                        <a:t>Ref</a:t>
                      </a:r>
                      <a:endParaRPr/>
                    </a:p>
                  </a:txBody>
                  <a:tcPr marL="91440" marR="91440" marT="45720" marB="45720" anchor="ctr">
                    <a:lnL w="9525" algn="ctr">
                      <a:solidFill>
                        <a:srgbClr val="CFD7D1"/>
                      </a:solidFill>
                    </a:lnL>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Source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c>
                  <a:txBody>
                    <a:bodyPr/>
                    <a:p>
                      <a:pPr>
                        <a:defRPr/>
                      </a:pPr>
                      <a:r>
                        <a:rPr sz="1600" b="1">
                          <a:solidFill>
                            <a:srgbClr val="FFFFFF"/>
                          </a:solidFill>
                          <a:latin typeface="Arial"/>
                          <a:ea typeface="Arial"/>
                          <a:cs typeface="Arial"/>
                        </a:rPr>
                        <a:t>Use</a:t>
                      </a:r>
                      <a:endParaRPr/>
                    </a:p>
                  </a:txBody>
                  <a:tcPr marL="91440" marR="91440" marT="45720" marB="45720" anchor="ctr">
                    <a:lnR w="9525" algn="ctr">
                      <a:solidFill>
                        <a:srgbClr val="CFD7D1"/>
                      </a:solidFill>
                    </a:lnR>
                    <a:lnT w="9525" algn="ctr">
                      <a:solidFill>
                        <a:srgbClr val="CFD7D1"/>
                      </a:solidFill>
                    </a:lnT>
                    <a:lnB w="9525" algn="ctr">
                      <a:solidFill>
                        <a:srgbClr val="CFD7D1"/>
                      </a:solidFill>
                    </a:lnB>
                    <a:solidFill>
                      <a:srgbClr val="176C6B"/>
                    </a:solidFill>
                  </a:tcPr>
                </a:tc>
              </a:tr>
              <a:tr h="447675">
                <a:tc>
                  <a:txBody>
                    <a:bodyPr/>
                    <a:p>
                      <a:pPr>
                        <a:defRPr/>
                      </a:pPr>
                      <a:r>
                        <a:rPr sz="1650" b="0">
                          <a:solidFill>
                            <a:srgbClr val="183440"/>
                          </a:solidFill>
                          <a:latin typeface="Arial"/>
                          <a:ea typeface="Arial"/>
                          <a:cs typeface="Arial"/>
                        </a:rPr>
                        <a:t>A1</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Market quote snapshot</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Six US-listed securities, indicative prices and timestamps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A2</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SEC Investor.gov</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Fractional-share affordability and availability</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A3</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Interactive Brokers</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Country/account eligibility and KYC requirements</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A4</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Reserve Bank of India</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LRS and permitted overseas portfolio investment</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A5</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World Bank Global Findex 2025</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Digital payment adoption, 2021 and 2024</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A6</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Chainalysis 2026 index</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Latin America activity, July 2025 to June 2026</a:t>
                      </a:r>
                      <a:endParaRPr/>
                    </a:p>
                  </a:txBody>
                  <a:tcPr marL="91440" marR="91440" marT="45720" marB="45720" anchor="ctr">
                    <a:lnR w="9525" algn="ctr">
                      <a:solidFill>
                        <a:srgbClr val="CFD7D1"/>
                      </a:solidFill>
                    </a:lnR>
                    <a:lnB w="9525" algn="ctr">
                      <a:solidFill>
                        <a:srgbClr val="CFD7D1"/>
                      </a:solidFill>
                    </a:lnB>
                    <a:solidFill>
                      <a:srgbClr val="F7F4EC"/>
                    </a:solidFill>
                  </a:tcPr>
                </a:tc>
              </a:tr>
              <a:tr h="447675">
                <a:tc>
                  <a:txBody>
                    <a:bodyPr/>
                    <a:p>
                      <a:pPr>
                        <a:defRPr/>
                      </a:pPr>
                      <a:r>
                        <a:rPr sz="1650" b="0">
                          <a:solidFill>
                            <a:srgbClr val="183440"/>
                          </a:solidFill>
                          <a:latin typeface="Arial"/>
                          <a:ea typeface="Arial"/>
                          <a:cs typeface="Arial"/>
                        </a:rPr>
                        <a:t>A7</a:t>
                      </a:r>
                      <a:endParaRPr/>
                    </a:p>
                  </a:txBody>
                  <a:tcPr marL="91440" marR="91440" marT="45720" marB="45720" anchor="ctr">
                    <a:lnL w="9525" algn="ctr">
                      <a:solidFill>
                        <a:srgbClr val="CFD7D1"/>
                      </a:solidFill>
                    </a:lnL>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Hong Kong Monetary Authority</a:t>
                      </a:r>
                      <a:endParaRPr/>
                    </a:p>
                  </a:txBody>
                  <a:tcPr marL="91440" marR="91440" marT="45720" marB="45720" anchor="ctr">
                    <a:lnR w="9525" algn="ctr">
                      <a:solidFill>
                        <a:srgbClr val="CFD7D1"/>
                      </a:solidFill>
                    </a:lnR>
                    <a:lnB w="9525" algn="ctr">
                      <a:solidFill>
                        <a:srgbClr val="CFD7D1"/>
                      </a:solidFill>
                    </a:lnB>
                    <a:solidFill>
                      <a:srgbClr val="F7F4EC"/>
                    </a:solidFill>
                  </a:tcPr>
                </a:tc>
                <a:tc>
                  <a:txBody>
                    <a:bodyPr/>
                    <a:p>
                      <a:pPr>
                        <a:defRPr/>
                      </a:pPr>
                      <a:r>
                        <a:rPr sz="1650" b="0">
                          <a:solidFill>
                            <a:srgbClr val="183440"/>
                          </a:solidFill>
                          <a:latin typeface="Arial"/>
                          <a:ea typeface="Arial"/>
                          <a:cs typeface="Arial"/>
                        </a:rPr>
                        <a:t>Linked exchange-rate context for hypothetical FX</a:t>
                      </a:r>
                      <a:endParaRPr/>
                    </a:p>
                  </a:txBody>
                  <a:tcPr marL="91440" marR="91440" marT="45720" marB="45720" anchor="ctr">
                    <a:lnR w="9525" algn="ctr">
                      <a:solidFill>
                        <a:srgbClr val="CFD7D1"/>
                      </a:solidFill>
                    </a:lnR>
                    <a:lnB w="9525" algn="ctr">
                      <a:solidFill>
                        <a:srgbClr val="CFD7D1"/>
                      </a:solidFill>
                    </a:lnB>
                    <a:solidFill>
                      <a:srgbClr val="F7F4EC"/>
                    </a:solidFill>
                  </a:tcPr>
                </a:tc>
              </a:tr>
            </a:tbl>
          </a:graphicData>
        </a:graphic>
      </p:graphicFrame>
      <p:sp>
        <p:nvSpPr>
          <p:cNvPr id="1967321794" name="access-revision-text-122"/>
          <p:cNvSpPr>
            <a:spLocks noGrp="1"/>
          </p:cNvSpPr>
          <p:nvPr/>
        </p:nvSpPr>
        <p:spPr bwMode="auto">
          <a:xfrm>
            <a:off x="609600" y="6076950"/>
            <a:ext cx="10972800" cy="323850"/>
          </a:xfrm>
          <a:prstGeom prst="rect">
            <a:avLst/>
          </a:prstGeom>
          <a:noFill/>
          <a:ln w="0">
            <a:noFill/>
            <a:prstDash val="solid"/>
          </a:ln>
        </p:spPr>
        <p:txBody>
          <a:bodyPr wrap="square" lIns="0" tIns="0" rIns="0" bIns="0" anchor="t">
            <a:noAutofit/>
          </a:bodyPr>
          <a:lstStyle>
            <a:defPPr algn="l">
              <a:defRPr sz="1500" b="0">
                <a:solidFill>
                  <a:srgbClr val="53676D"/>
                </a:solidFill>
                <a:latin typeface="Arial"/>
                <a:ea typeface="Arial"/>
                <a:cs typeface="Arial"/>
              </a:defRPr>
            </a:defPPr>
            <a:lvl1pPr algn="l">
              <a:defRPr sz="1500" b="0">
                <a:solidFill>
                  <a:srgbClr val="53676D"/>
                </a:solidFill>
                <a:latin typeface="Arial"/>
                <a:ea typeface="Arial"/>
                <a:cs typeface="Arial"/>
              </a:defRPr>
            </a:lvl1pPr>
            <a:lvl2pPr algn="l">
              <a:defRPr sz="1500" b="0">
                <a:solidFill>
                  <a:srgbClr val="53676D"/>
                </a:solidFill>
                <a:latin typeface="Arial"/>
                <a:ea typeface="Arial"/>
                <a:cs typeface="Arial"/>
              </a:defRPr>
            </a:lvl2pPr>
            <a:lvl3pPr algn="l">
              <a:defRPr sz="1500" b="0">
                <a:solidFill>
                  <a:srgbClr val="53676D"/>
                </a:solidFill>
                <a:latin typeface="Arial"/>
                <a:ea typeface="Arial"/>
                <a:cs typeface="Arial"/>
              </a:defRPr>
            </a:lvl3pPr>
            <a:lvl4pPr algn="l">
              <a:defRPr sz="1500" b="0">
                <a:solidFill>
                  <a:srgbClr val="53676D"/>
                </a:solidFill>
                <a:latin typeface="Arial"/>
                <a:ea typeface="Arial"/>
                <a:cs typeface="Arial"/>
              </a:defRPr>
            </a:lvl4pPr>
            <a:lvl5pPr algn="l">
              <a:defRPr sz="1500" b="0">
                <a:solidFill>
                  <a:srgbClr val="53676D"/>
                </a:solidFill>
                <a:latin typeface="Arial"/>
                <a:ea typeface="Arial"/>
                <a:cs typeface="Arial"/>
              </a:defRPr>
            </a:lvl5pPr>
            <a:lvl6pPr algn="l">
              <a:defRPr sz="1500" b="0">
                <a:solidFill>
                  <a:srgbClr val="53676D"/>
                </a:solidFill>
                <a:latin typeface="Arial"/>
                <a:ea typeface="Arial"/>
                <a:cs typeface="Arial"/>
              </a:defRPr>
            </a:lvl6pPr>
            <a:lvl7pPr algn="l">
              <a:defRPr sz="1500" b="0">
                <a:solidFill>
                  <a:srgbClr val="53676D"/>
                </a:solidFill>
                <a:latin typeface="Arial"/>
                <a:ea typeface="Arial"/>
                <a:cs typeface="Arial"/>
              </a:defRPr>
            </a:lvl7pPr>
            <a:lvl8pPr algn="l">
              <a:defRPr sz="1500" b="0">
                <a:solidFill>
                  <a:srgbClr val="53676D"/>
                </a:solidFill>
                <a:latin typeface="Arial"/>
                <a:ea typeface="Arial"/>
                <a:cs typeface="Arial"/>
              </a:defRPr>
            </a:lvl8pPr>
            <a:lvl9pPr algn="l">
              <a:defRPr sz="1500" b="0">
                <a:solidFill>
                  <a:srgbClr val="53676D"/>
                </a:solidFill>
                <a:latin typeface="Arial"/>
                <a:ea typeface="Arial"/>
                <a:cs typeface="Arial"/>
              </a:defRPr>
            </a:lvl9pPr>
          </a:lstStyle>
          <a:p>
            <a:pPr algn="l">
              <a:defRPr sz="1500" b="0">
                <a:solidFill>
                  <a:srgbClr val="53676D"/>
                </a:solidFill>
                <a:latin typeface="Arial"/>
                <a:ea typeface="Arial"/>
                <a:cs typeface="Arial"/>
              </a:defRPr>
            </a:pPr>
            <a:r>
              <a:rPr sz="1500" b="0">
                <a:solidFill>
                  <a:srgbClr val="53676D"/>
                </a:solidFill>
                <a:latin typeface="Arial"/>
                <a:ea typeface="Arial"/>
                <a:cs typeface="Arial"/>
              </a:rPr>
              <a:t>GlobalTech, product ratios, investor budget and positive returns are hypothetical. No company affiliation is implied.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Arial"/>
        <a:cs typeface="Arial"/>
      </a:majorFont>
      <a:minorFont>
        <a:latin typeface="Aptos"/>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Application>Polaris Office Slide</Application>
  <AppVersion>12.000</AppVersion>
  <Characters>0</Characters>
  <CharactersWithSpaces>0</CharactersWithSpaces>
  <DocSecurity>0</DocSecurity>
  <HyperlinksChanged>false</HyperlinksChanged>
  <Lines>0</Lines>
  <LinksUpToDate>false</LinksUpToDate>
  <Pages>35</Pages>
  <Paragraphs>0</Paragraphs>
  <Words>0</Words>
  <TotalTime>0</TotalTime>
  <MMClips>0</MMClips>
  <ScaleCrop>false</ScaleCrop>
  <HeadingPairs>
    <vt:vector size="2" baseType="variant">
      <vt:variant>
        <vt:lpstr>Title</vt:lpstr>
      </vt:variant>
      <vt:variant>
        <vt:i4>1</vt:i4>
      </vt:variant>
    </vt:vector>
  </HeadingPairs>
  <TitlesOfParts>
    <vt:vector size="1" baseType="lpstr">
      <vt:lpstr>Title text</vt:lpstr>
    </vt:vector>
  </TitlesOfParts>
  <SharedDoc>false</SharedDoc>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cp:lastModifiedBy>Juhe</cp:lastModifiedBy>
  <dcterms:modified xsi:type="dcterms:W3CDTF">2026-10-31T07:09:46Z</dcterms:modified>
</cp:coreProperties>
</file>