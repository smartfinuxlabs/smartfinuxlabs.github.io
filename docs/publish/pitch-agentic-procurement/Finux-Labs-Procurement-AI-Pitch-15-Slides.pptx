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2aa82dc2ed24402" /><Relationship Type="http://schemas.openxmlformats.org/officeDocument/2006/relationships/extended-properties" Target="/docProps/app.xml" Id="R01ea489137854013" /><Relationship Type="http://schemas.openxmlformats.org/officeDocument/2006/relationships/officeDocument" Target="/ppt/presentation.xml" Id="Rab2814f47cac49ea" /></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63f27fb6d14e4e" /><Relationship Type="http://schemas.openxmlformats.org/officeDocument/2006/relationships/slideMaster" Target="/ppt/slideMasters/slideMaster1.xml" Id="Rf8110fef978941c6" /><Relationship Type="http://schemas.openxmlformats.org/officeDocument/2006/relationships/notesMaster" Target="/ppt/notesMasters/notesMaster1.xml" Id="R610ae6c402a74d5b" /><Relationship Type="http://schemas.openxmlformats.org/officeDocument/2006/relationships/presProps" Target="/ppt/presProps.xml" Id="R02a190951ab04892" /><Relationship Type="http://schemas.openxmlformats.org/officeDocument/2006/relationships/tableStyles" Target="/ppt/tableStyles.xml" Id="R96d3e6b0e76c4b77" /><Relationship Type="http://schemas.openxmlformats.org/officeDocument/2006/relationships/slide" Target="/ppt/slides/slide1.xml" Id="R9a8e7f3a24f7414f" /><Relationship Type="http://schemas.openxmlformats.org/officeDocument/2006/relationships/slide" Target="/ppt/slides/slide2.xml" Id="R49fac72d93f846cd" /><Relationship Type="http://schemas.openxmlformats.org/officeDocument/2006/relationships/slide" Target="/ppt/slides/slide3.xml" Id="R6a77ef364c75437b" /><Relationship Type="http://schemas.openxmlformats.org/officeDocument/2006/relationships/slide" Target="/ppt/slides/slide4.xml" Id="R264faf4fabf143e3" /><Relationship Type="http://schemas.openxmlformats.org/officeDocument/2006/relationships/slide" Target="/ppt/slides/slide5.xml" Id="R3cf7ff16d04a4cb2" /><Relationship Type="http://schemas.openxmlformats.org/officeDocument/2006/relationships/slide" Target="/ppt/slides/slide6.xml" Id="Rb73d4035e93c47e3" /><Relationship Type="http://schemas.openxmlformats.org/officeDocument/2006/relationships/slide" Target="/ppt/slides/slide7.xml" Id="R51d60cba0483439b" /><Relationship Type="http://schemas.openxmlformats.org/officeDocument/2006/relationships/slide" Target="/ppt/slides/slide8.xml" Id="Rae20d50b616a40c2" /><Relationship Type="http://schemas.openxmlformats.org/officeDocument/2006/relationships/slide" Target="/ppt/slides/slide9.xml" Id="R9127310c4e514459" /><Relationship Type="http://schemas.openxmlformats.org/officeDocument/2006/relationships/slide" Target="/ppt/slides/slide10.xml" Id="R8b2a8e97a2704470" /><Relationship Type="http://schemas.openxmlformats.org/officeDocument/2006/relationships/slide" Target="/ppt/slides/slide11.xml" Id="R1ecb604486ef4f46" /><Relationship Type="http://schemas.openxmlformats.org/officeDocument/2006/relationships/slide" Target="/ppt/slides/slide12.xml" Id="R4dd2a88e7afd4ef3" /><Relationship Type="http://schemas.openxmlformats.org/officeDocument/2006/relationships/slide" Target="/ppt/slides/slide13.xml" Id="R840e453bf4a146c8" /><Relationship Type="http://schemas.openxmlformats.org/officeDocument/2006/relationships/slide" Target="/ppt/slides/slide14.xml" Id="R93a56e6c49954db5" /><Relationship Type="http://schemas.openxmlformats.org/officeDocument/2006/relationships/slide" Target="/ppt/slides/slide15.xml" Id="R2cbe1b106bc249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42b87918da4a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abeb8e5610407d" /><Relationship Type="http://schemas.openxmlformats.org/officeDocument/2006/relationships/notesMaster" Target="/ppt/notesMasters/notesMaster1.xml" Id="Rff963119b9a540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50c68fe0ad4fde" /><Relationship Type="http://schemas.openxmlformats.org/officeDocument/2006/relationships/notesMaster" Target="/ppt/notesMasters/notesMaster1.xml" Id="R2bd7a345880d42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fb5d689a12422a" /><Relationship Type="http://schemas.openxmlformats.org/officeDocument/2006/relationships/notesMaster" Target="/ppt/notesMasters/notesMaster1.xml" Id="R86da605f9b684b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a2997438314b8a" /><Relationship Type="http://schemas.openxmlformats.org/officeDocument/2006/relationships/notesMaster" Target="/ppt/notesMasters/notesMaster1.xml" Id="R1a2861807bea4a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33cbc3e9d64486" /><Relationship Type="http://schemas.openxmlformats.org/officeDocument/2006/relationships/notesMaster" Target="/ppt/notesMasters/notesMaster1.xml" Id="R377a0f07a04746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adb95ecbae4dda" /><Relationship Type="http://schemas.openxmlformats.org/officeDocument/2006/relationships/notesMaster" Target="/ppt/notesMasters/notesMaster1.xml" Id="Ra0bdb7cc013d4f9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51724ac77d4017" /><Relationship Type="http://schemas.openxmlformats.org/officeDocument/2006/relationships/notesMaster" Target="/ppt/notesMasters/notesMaster1.xml" Id="R87d114774c564c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367b4613f84ada" /><Relationship Type="http://schemas.openxmlformats.org/officeDocument/2006/relationships/notesMaster" Target="/ppt/notesMasters/notesMaster1.xml" Id="Rf56c41638b2044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5c88d1ec9e4643" /><Relationship Type="http://schemas.openxmlformats.org/officeDocument/2006/relationships/notesMaster" Target="/ppt/notesMasters/notesMaster1.xml" Id="Rc56f1fde2fdd42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9e851067a246da" /><Relationship Type="http://schemas.openxmlformats.org/officeDocument/2006/relationships/notesMaster" Target="/ppt/notesMasters/notesMaster1.xml" Id="Rffbce59a310b4f7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804e475e499493a" /><Relationship Type="http://schemas.openxmlformats.org/officeDocument/2006/relationships/notesMaster" Target="/ppt/notesMasters/notesMaster1.xml" Id="Rc3d962b2dab64e9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187327a19b4d0a" /><Relationship Type="http://schemas.openxmlformats.org/officeDocument/2006/relationships/notesMaster" Target="/ppt/notesMasters/notesMaster1.xml" Id="Rd9179a0268ad47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e8355a3040841f8" /><Relationship Type="http://schemas.openxmlformats.org/officeDocument/2006/relationships/notesMaster" Target="/ppt/notesMasters/notesMaster1.xml" Id="Rfc22a61b225945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a43d4a95d654dee" /><Relationship Type="http://schemas.openxmlformats.org/officeDocument/2006/relationships/notesMaster" Target="/ppt/notesMasters/notesMaster1.xml" Id="R8e77b41397f64fc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c44626c29fb4e6d" /><Relationship Type="http://schemas.openxmlformats.org/officeDocument/2006/relationships/notesMaster" Target="/ppt/notesMasters/notesMaster1.xml" Id="Rb4f06aabf6cd44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8eb97fa3a1479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4ee7e7ed69747b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3ae6f0772e8416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9f15daae4b48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cb21032d434a8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29482b405514c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fc38898062f403f" /><Relationship Type="http://schemas.openxmlformats.org/officeDocument/2006/relationships/slideLayout" Target="/ppt/slideLayouts/slideLayout1.xml" Id="Rc120f020daa34f59" /><Relationship Type="http://schemas.openxmlformats.org/officeDocument/2006/relationships/slideLayout" Target="/ppt/slideLayouts/slideLayout2.xml" Id="R18b79e939a6e4ce3" /><Relationship Type="http://schemas.openxmlformats.org/officeDocument/2006/relationships/slideLayout" Target="/ppt/slideLayouts/slideLayout3.xml" Id="R1e1e62d4b6f34fa6" /><Relationship Type="http://schemas.openxmlformats.org/officeDocument/2006/relationships/slideLayout" Target="/ppt/slideLayouts/slideLayout4.xml" Id="R98b543bbde2c46ca" /><Relationship Type="http://schemas.openxmlformats.org/officeDocument/2006/relationships/slideLayout" Target="/ppt/slideLayouts/slideLayout5.xml" Id="R520e6c2f03e84bea" /><Relationship Type="http://schemas.openxmlformats.org/officeDocument/2006/relationships/slideLayout" Target="/ppt/slideLayouts/slideLayout6.xml" Id="Re90a6662ef9f45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8f2f60de91412c" /><Relationship Type="http://schemas.openxmlformats.org/officeDocument/2006/relationships/image" Target="/ppt/media/image.png" Id="R087515a07efe4e3c" /><Relationship Type="http://schemas.openxmlformats.org/officeDocument/2006/relationships/notesSlide" Target="/ppt/notesSlides/notesSlide1.xml" Id="R01f74d848e3a43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c558daa797a49a2" /><Relationship Type="http://schemas.openxmlformats.org/officeDocument/2006/relationships/image" Target="/ppt/media/image2.png" Id="R79c682a0fdeb41f6" /><Relationship Type="http://schemas.openxmlformats.org/officeDocument/2006/relationships/notesSlide" Target="/ppt/notesSlides/notesSlide2.xml" Id="R3378f74807564c0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08674c00ef04f47" /><Relationship Type="http://schemas.openxmlformats.org/officeDocument/2006/relationships/notesSlide" Target="/ppt/notesSlides/notesSlide3.xml" Id="R606b261c0f0448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2512b54c4b944ba" /><Relationship Type="http://schemas.openxmlformats.org/officeDocument/2006/relationships/notesSlide" Target="/ppt/notesSlides/notesSlide4.xml" Id="Rfedf63cfb9c847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90fa9d6ce4e467e" /><Relationship Type="http://schemas.openxmlformats.org/officeDocument/2006/relationships/image" Target="/ppt/media/image.jpeg" Id="R631ba73f4ce34583" /><Relationship Type="http://schemas.openxmlformats.org/officeDocument/2006/relationships/hyperlink" Target="https://sourcing-alpha.connextium.xyz/" TargetMode="External" Id="R5ebd4ff9cc654d8b" /><Relationship Type="http://schemas.openxmlformats.org/officeDocument/2006/relationships/notesSlide" Target="/ppt/notesSlides/notesSlide5.xml" Id="R3451d50474d742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1d897a0bf1e4297" /><Relationship Type="http://schemas.openxmlformats.org/officeDocument/2006/relationships/chart" Target="/ppt/slides/charts/chart1.xml" Id="R31a8bf71f6f643e8" /><Relationship Type="http://schemas.openxmlformats.org/officeDocument/2006/relationships/notesSlide" Target="/ppt/notesSlides/notesSlide6.xml" Id="R92fd049d5ead4fe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403e3d8c0e24927" /><Relationship Type="http://schemas.openxmlformats.org/officeDocument/2006/relationships/image" Target="/ppt/media/image2.jpeg" Id="Ra617466ea9da44e4" /><Relationship Type="http://schemas.openxmlformats.org/officeDocument/2006/relationships/hyperlink" Target="https://fdi-alpha.connextium.xyz/" TargetMode="External" Id="R04276489fc534a2d" /><Relationship Type="http://schemas.openxmlformats.org/officeDocument/2006/relationships/notesSlide" Target="/ppt/notesSlides/notesSlide7.xml" Id="Rf648319611744b61" /></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a98fcd2620994bbf"/><Relationship Type="http://schemas.openxmlformats.org/officeDocument/2006/relationships/notesSlide" Target="/ppt/notesSlides/notesSlide8.xml" Id="Re2b98fea1cc64f29"/><Relationship Type="http://schemas.openxmlformats.org/officeDocument/2006/relationships/image" Target="/ppt/media/finux-agent-human-icons-v5.png" Id="R6e898405683b4767"/><Relationship Type="http://schemas.openxmlformats.org/officeDocument/2006/relationships/image" Target="/ppt/media/finux-agent-human-icons-v5.png" Id="R3385cdd531dd42de"/><Relationship Type="http://schemas.openxmlformats.org/officeDocument/2006/relationships/image" Target="/ppt/media/finux-agent-human-icons-v5.png" Id="R2bda71d3d2bb4500"/><Relationship Type="http://schemas.openxmlformats.org/officeDocument/2006/relationships/image" Target="/ppt/media/finux-agent-human-icons-v5.png" Id="R3089ddaa85aa46f4"/></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79a993612014302" /><Relationship Type="http://schemas.openxmlformats.org/officeDocument/2006/relationships/notesSlide" Target="/ppt/notesSlides/notesSlide9.xml" Id="R743da214feb141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6f01f72bdf344af" /><Relationship Type="http://schemas.openxmlformats.org/officeDocument/2006/relationships/notesSlide" Target="/ppt/notesSlides/notesSlide10.xml" Id="Red1b7d93e2bb42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cbc3776b6d944a0" /><Relationship Type="http://schemas.openxmlformats.org/officeDocument/2006/relationships/notesSlide" Target="/ppt/notesSlides/notesSlide11.xml" Id="R419c3b18150347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15e4f65fdfa43c8" /><Relationship Type="http://schemas.openxmlformats.org/officeDocument/2006/relationships/notesSlide" Target="/ppt/notesSlides/notesSlide12.xml" Id="Re60a495d1127483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8a9f9f695924e08" /><Relationship Type="http://schemas.openxmlformats.org/officeDocument/2006/relationships/notesSlide" Target="/ppt/notesSlides/notesSlide13.xml" Id="R753ebe65a85841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56aa21fc33e45fc" /><Relationship Type="http://schemas.openxmlformats.org/officeDocument/2006/relationships/notesSlide" Target="/ppt/notesSlides/notesSlide14.xml" Id="R2a6cf4480a8745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e487edecedd4295" /><Relationship Type="http://schemas.openxmlformats.org/officeDocument/2006/relationships/notesSlide" Target="/ppt/notesSlides/notesSlide15.xml" Id="R47dea4380d5d4e94" /></Relationships>
</file>

<file path=ppt/slides/charts/_rels/chart1.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590550" y="533400"/>
            <a:ext cx="5048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l">
              <a:lnSpc>
                <a:spcPct val="112000"/>
              </a:lnSpc>
              <a:buNone/>
              <a:defRPr sz="3900" b="1">
                <a:solidFill>
                  <a:srgbClr val="F6F7FF"/>
                </a:solidFill>
                <a:latin typeface="DejaVu Sans"/>
                <a:ea typeface="DejaVu Sans"/>
                <a:cs typeface="DejaVu Sans"/>
              </a:defRPr>
            </a:pPr>
            <a:r>
              <a:rPr sz="3900" b="1">
                <a:solidFill>
                  <a:srgbClr val="F6F7FF"/>
                </a:solidFill>
                <a:latin typeface="DejaVu Sans"/>
                <a:ea typeface="DejaVu Sans"/>
                <a:cs typeface="DejaVu Sans"/>
              </a:rP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619125" y="205740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Agentic Negotiator,</a:t>
            </a:r>
          </a:p>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Procurement</a:t>
            </a:r>
          </a:p>
          <a:p xmlns:a="http://schemas.openxmlformats.org/drawingml/2006/main">
            <a:pPr algn="l">
              <a:lnSpc>
                <a:spcPct val="112000"/>
              </a:lnSpc>
              <a:buNone/>
              <a:defRPr sz="4125" b="1">
                <a:solidFill>
                  <a:srgbClr val="F6F7FF"/>
                </a:solidFill>
                <a:latin typeface="DejaVu Sans"/>
                <a:ea typeface="DejaVu Sans"/>
                <a:cs typeface="DejaVu Sans"/>
              </a:defRPr>
            </a:pPr>
            <a:r>
              <a:rPr sz="3825" b="1">
                <a:solidFill>
                  <a:srgbClr val="F6F7FF"/>
                </a:solidFill>
                <a:latin typeface="DejaVu Sans"/>
                <a:ea typeface="DejaVu Sans"/>
                <a:cs typeface="DejaVu Sans"/>
              </a:rPr>
              <a:t>Accelerator</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619125" y="4505325"/>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rPr sz="2025" b="0">
                <a:solidFill>
                  <a:srgbClr val="CBD2EB"/>
                </a:solidFill>
                <a:latin typeface="DejaVu Sans"/>
                <a:ea typeface="DejaVu Sans"/>
                <a:cs typeface="DejaVu Sans"/>
              </a:rP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rPr sz="2025" b="0">
                <a:solidFill>
                  <a:srgbClr val="CBD2EB"/>
                </a:solidFill>
                <a:latin typeface="DejaVu Sans"/>
                <a:ea typeface="DejaVu Sans"/>
                <a:cs typeface="DejaVu Sans"/>
              </a:rPr>
              <a:t>and pricing negotiation</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619125" y="59245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619125" y="639127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complexity of price negotiation</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Repeated pricing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Ju He (Terence), founder and builder</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p:nvSpPr>
          <p:cNvPr id="5" name="founder-tenure">
            <a:extLst xmlns:a="http://schemas.openxmlformats.org/drawingml/2006/main">
              <a:ext uri="{FF2B5EF4-FFF2-40B4-BE49-F238E27FC236}">
                <a16:creationId xmlns:a16="http://schemas.microsoft.com/office/drawing/2014/main" id="{91FD7EDE-B9DB-43DF-889B-FAF930D151AB}"/>
              </a:ext>
            </a:extLst>
          </p:cNvPr>
          <p:cNvSpPr>
            <a:spLocks xmlns:a="http://schemas.openxmlformats.org/drawingml/2006/main" noGrp="1"/>
          </p:cNvSpPr>
          <p:nvPr/>
        </p:nvSpPr>
        <p:spPr>
          <a:xfrm xmlns:a="http://schemas.openxmlformats.org/drawingml/2006/main">
            <a:off x="552450" y="2047875"/>
            <a:ext cx="4191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71C3D"/>
                </a:solidFill>
                <a:latin typeface="DejaVu Sans"/>
                <a:ea typeface="DejaVu Sans"/>
                <a:cs typeface="DejaVu Sans"/>
              </a:defRPr>
            </a:defPPr>
            <a:lvl1pPr algn="l">
              <a:buNone/>
              <a:defRPr sz="4650" b="1">
                <a:solidFill>
                  <a:srgbClr val="171C3D"/>
                </a:solidFill>
                <a:latin typeface="DejaVu Sans"/>
                <a:ea typeface="DejaVu Sans"/>
                <a:cs typeface="DejaVu Sans"/>
              </a:defRPr>
            </a:lvl1pPr>
            <a:lvl2pPr algn="l">
              <a:buNone/>
              <a:defRPr sz="4650" b="1">
                <a:solidFill>
                  <a:srgbClr val="171C3D"/>
                </a:solidFill>
                <a:latin typeface="DejaVu Sans"/>
                <a:ea typeface="DejaVu Sans"/>
                <a:cs typeface="DejaVu Sans"/>
              </a:defRPr>
            </a:lvl2pPr>
            <a:lvl3pPr algn="l">
              <a:buNone/>
              <a:defRPr sz="4650" b="1">
                <a:solidFill>
                  <a:srgbClr val="171C3D"/>
                </a:solidFill>
                <a:latin typeface="DejaVu Sans"/>
                <a:ea typeface="DejaVu Sans"/>
                <a:cs typeface="DejaVu Sans"/>
              </a:defRPr>
            </a:lvl3pPr>
            <a:lvl4pPr algn="l">
              <a:buNone/>
              <a:defRPr sz="4650" b="1">
                <a:solidFill>
                  <a:srgbClr val="171C3D"/>
                </a:solidFill>
                <a:latin typeface="DejaVu Sans"/>
                <a:ea typeface="DejaVu Sans"/>
                <a:cs typeface="DejaVu Sans"/>
              </a:defRPr>
            </a:lvl4pPr>
            <a:lvl5pPr algn="l">
              <a:buNone/>
              <a:defRPr sz="4650" b="1">
                <a:solidFill>
                  <a:srgbClr val="171C3D"/>
                </a:solidFill>
                <a:latin typeface="DejaVu Sans"/>
                <a:ea typeface="DejaVu Sans"/>
                <a:cs typeface="DejaVu Sans"/>
              </a:defRPr>
            </a:lvl5pPr>
            <a:lvl6pPr algn="l">
              <a:buNone/>
              <a:defRPr sz="4650" b="1">
                <a:solidFill>
                  <a:srgbClr val="171C3D"/>
                </a:solidFill>
                <a:latin typeface="DejaVu Sans"/>
                <a:ea typeface="DejaVu Sans"/>
                <a:cs typeface="DejaVu Sans"/>
              </a:defRPr>
            </a:lvl6pPr>
            <a:lvl7pPr algn="l">
              <a:buNone/>
              <a:defRPr sz="4650" b="1">
                <a:solidFill>
                  <a:srgbClr val="171C3D"/>
                </a:solidFill>
                <a:latin typeface="DejaVu Sans"/>
                <a:ea typeface="DejaVu Sans"/>
                <a:cs typeface="DejaVu Sans"/>
              </a:defRPr>
            </a:lvl7pPr>
            <a:lvl8pPr algn="l">
              <a:buNone/>
              <a:defRPr sz="4650" b="1">
                <a:solidFill>
                  <a:srgbClr val="171C3D"/>
                </a:solidFill>
                <a:latin typeface="DejaVu Sans"/>
                <a:ea typeface="DejaVu Sans"/>
                <a:cs typeface="DejaVu Sans"/>
              </a:defRPr>
            </a:lvl8pPr>
            <a:lvl9pPr algn="l">
              <a:buNone/>
              <a:defRPr sz="4650" b="1">
                <a:solidFill>
                  <a:srgbClr val="171C3D"/>
                </a:solidFill>
                <a:latin typeface="DejaVu Sans"/>
                <a:ea typeface="DejaVu Sans"/>
                <a:cs typeface="DejaVu Sans"/>
              </a:defRPr>
            </a:lvl9pPr>
          </a:lstStyle>
          <a:p xmlns:a="http://schemas.openxmlformats.org/drawingml/2006/main">
            <a:pPr algn="l">
              <a:lnSpc>
                <a:spcPct val="112000"/>
              </a:lnSpc>
              <a:buNone/>
              <a:defRPr sz="4650" b="1">
                <a:solidFill>
                  <a:srgbClr val="171C3D"/>
                </a:solidFill>
                <a:latin typeface="DejaVu Sans"/>
                <a:ea typeface="DejaVu Sans"/>
                <a:cs typeface="DejaVu Sans"/>
              </a:defRPr>
            </a:pPr>
            <a:r>
              <a:rPr sz="4650" b="1">
                <a:solidFill>
                  <a:srgbClr val="171C3D"/>
                </a:solidFill>
                <a:latin typeface="DejaVu Sans"/>
                <a:ea typeface="DejaVu Sans"/>
                <a:cs typeface="DejaVu Sans"/>
              </a:rPr>
              <a:t>10+ years</a:t>
            </a:r>
          </a:p>
        </p:txBody>
      </p:sp>
      <p:sp>
        <p:nvSpPr>
          <p:cNvPr id="6" name="founder-experience">
            <a:extLst xmlns:a="http://schemas.openxmlformats.org/drawingml/2006/main">
              <a:ext uri="{FF2B5EF4-FFF2-40B4-BE49-F238E27FC236}">
                <a16:creationId xmlns:a16="http://schemas.microsoft.com/office/drawing/2014/main" id="{9AC29550-6744-40F7-9913-691DC2B5FF37}"/>
              </a:ext>
            </a:extLst>
          </p:cNvPr>
          <p:cNvSpPr>
            <a:spLocks xmlns:a="http://schemas.openxmlformats.org/drawingml/2006/main" noGrp="1"/>
          </p:cNvSpPr>
          <p:nvPr/>
        </p:nvSpPr>
        <p:spPr>
          <a:xfrm xmlns:a="http://schemas.openxmlformats.org/drawingml/2006/main">
            <a:off x="571500" y="3076575"/>
            <a:ext cx="4476750" cy="1228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Enterprise application development</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and integration across banking,</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finance, insurance and e-commerce</a:t>
            </a:r>
          </a:p>
        </p:txBody>
      </p:sp>
      <p:sp>
        <p:nvSpPr>
          <p:cNvPr id="7" name="founder-relevance">
            <a:extLst xmlns:a="http://schemas.openxmlformats.org/drawingml/2006/main">
              <a:ext uri="{FF2B5EF4-FFF2-40B4-BE49-F238E27FC236}">
                <a16:creationId xmlns:a16="http://schemas.microsoft.com/office/drawing/2014/main" id="{8B6D8945-1AAB-4128-86F6-BA640F74E52C}"/>
              </a:ext>
            </a:extLst>
          </p:cNvPr>
          <p:cNvSpPr>
            <a:spLocks xmlns:a="http://schemas.openxmlformats.org/drawingml/2006/main" noGrp="1"/>
          </p:cNvSpPr>
          <p:nvPr/>
        </p:nvSpPr>
        <p:spPr>
          <a:xfrm xmlns:a="http://schemas.openxmlformats.org/drawingml/2006/main">
            <a:off x="571500" y="4676775"/>
            <a:ext cx="4476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Payments and financial workflows</a:t>
            </a:r>
          </a:p>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Java, Python, React and data systems</a:t>
            </a:r>
          </a:p>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B.C.-based product development</a:t>
            </a:r>
          </a:p>
        </p:txBody>
      </p:sp>
      <p:sp>
        <p:nvSpPr>
          <p:cNvPr id="8" name="roadmap-time-0">
            <a:extLst xmlns:a="http://schemas.openxmlformats.org/drawingml/2006/main">
              <a:ext uri="{FF2B5EF4-FFF2-40B4-BE49-F238E27FC236}">
                <a16:creationId xmlns:a16="http://schemas.microsoft.com/office/drawing/2014/main" id="{196FF61A-72DB-4A9E-B7F7-1036A8469930}"/>
              </a:ext>
            </a:extLst>
          </p:cNvPr>
          <p:cNvSpPr>
            <a:spLocks xmlns:a="http://schemas.openxmlformats.org/drawingml/2006/main" noGrp="1"/>
          </p:cNvSpPr>
          <p:nvPr/>
        </p:nvSpPr>
        <p:spPr>
          <a:xfrm xmlns:a="http://schemas.openxmlformats.org/drawingml/2006/main">
            <a:off x="6286500" y="2057400"/>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1–6</a:t>
            </a:r>
          </a:p>
        </p:txBody>
      </p:sp>
      <p:sp>
        <p:nvSpPr>
          <p:cNvPr id="9" name="roadmap-milestone-0">
            <a:extLst xmlns:a="http://schemas.openxmlformats.org/drawingml/2006/main">
              <a:ext uri="{FF2B5EF4-FFF2-40B4-BE49-F238E27FC236}">
                <a16:creationId xmlns:a16="http://schemas.microsoft.com/office/drawing/2014/main" id="{009E0BAC-06D8-442C-A826-D018B4B60791}"/>
              </a:ext>
            </a:extLst>
          </p:cNvPr>
          <p:cNvSpPr>
            <a:spLocks xmlns:a="http://schemas.openxmlformats.org/drawingml/2006/main" noGrp="1"/>
          </p:cNvSpPr>
          <p:nvPr/>
        </p:nvSpPr>
        <p:spPr>
          <a:xfrm xmlns:a="http://schemas.openxmlformats.org/drawingml/2006/main">
            <a:off x="6286500" y="2505075"/>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Quotation extraction and review</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Reproducible cost comparisons</a:t>
            </a:r>
          </a:p>
        </p:txBody>
      </p:sp>
      <p:sp>
        <p:nvSpPr>
          <p:cNvPr id="10" name="roadmap-time-1">
            <a:extLst xmlns:a="http://schemas.openxmlformats.org/drawingml/2006/main">
              <a:ext uri="{FF2B5EF4-FFF2-40B4-BE49-F238E27FC236}">
                <a16:creationId xmlns:a16="http://schemas.microsoft.com/office/drawing/2014/main" id="{821A2242-13A1-4DA5-B634-AF4E095710FD}"/>
              </a:ext>
            </a:extLst>
          </p:cNvPr>
          <p:cNvSpPr>
            <a:spLocks xmlns:a="http://schemas.openxmlformats.org/drawingml/2006/main" noGrp="1"/>
          </p:cNvSpPr>
          <p:nvPr/>
        </p:nvSpPr>
        <p:spPr>
          <a:xfrm xmlns:a="http://schemas.openxmlformats.org/drawingml/2006/main">
            <a:off x="6286500" y="3324225"/>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7–12</a:t>
            </a:r>
          </a:p>
        </p:txBody>
      </p:sp>
      <p:sp>
        <p:nvSpPr>
          <p:cNvPr id="11" name="roadmap-milestone-1">
            <a:extLst xmlns:a="http://schemas.openxmlformats.org/drawingml/2006/main">
              <a:ext uri="{FF2B5EF4-FFF2-40B4-BE49-F238E27FC236}">
                <a16:creationId xmlns:a16="http://schemas.microsoft.com/office/drawing/2014/main" id="{7B8351E9-CA1B-4C24-8F89-95D4BB0609EC}"/>
              </a:ext>
            </a:extLst>
          </p:cNvPr>
          <p:cNvSpPr>
            <a:spLocks xmlns:a="http://schemas.openxmlformats.org/drawingml/2006/main" noGrp="1"/>
          </p:cNvSpPr>
          <p:nvPr/>
        </p:nvSpPr>
        <p:spPr>
          <a:xfrm xmlns:a="http://schemas.openxmlformats.org/drawingml/2006/main">
            <a:off x="6286500" y="3771900"/>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and Supplier Agent negotiation</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Human review and first paid pilots</a:t>
            </a:r>
          </a:p>
        </p:txBody>
      </p:sp>
      <p:sp>
        <p:nvSpPr>
          <p:cNvPr id="12" name="roadmap-time-2">
            <a:extLst xmlns:a="http://schemas.openxmlformats.org/drawingml/2006/main">
              <a:ext uri="{FF2B5EF4-FFF2-40B4-BE49-F238E27FC236}">
                <a16:creationId xmlns:a16="http://schemas.microsoft.com/office/drawing/2014/main" id="{8D7E0CFA-79E9-40AB-9440-E1EADA180A77}"/>
              </a:ext>
            </a:extLst>
          </p:cNvPr>
          <p:cNvSpPr>
            <a:spLocks xmlns:a="http://schemas.openxmlformats.org/drawingml/2006/main" noGrp="1"/>
          </p:cNvSpPr>
          <p:nvPr/>
        </p:nvSpPr>
        <p:spPr>
          <a:xfrm xmlns:a="http://schemas.openxmlformats.org/drawingml/2006/main">
            <a:off x="6286500" y="4591050"/>
            <a:ext cx="5286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6847F5"/>
                </a:solidFill>
                <a:latin typeface="DejaVu Sans"/>
                <a:ea typeface="DejaVu Sans"/>
                <a:cs typeface="DejaVu Sans"/>
              </a:defRPr>
            </a:defPPr>
            <a:lvl1pPr algn="l">
              <a:buNone/>
              <a:defRPr sz="1950" b="1">
                <a:solidFill>
                  <a:srgbClr val="6847F5"/>
                </a:solidFill>
                <a:latin typeface="DejaVu Sans"/>
                <a:ea typeface="DejaVu Sans"/>
                <a:cs typeface="DejaVu Sans"/>
              </a:defRPr>
            </a:lvl1pPr>
            <a:lvl2pPr algn="l">
              <a:buNone/>
              <a:defRPr sz="1950" b="1">
                <a:solidFill>
                  <a:srgbClr val="6847F5"/>
                </a:solidFill>
                <a:latin typeface="DejaVu Sans"/>
                <a:ea typeface="DejaVu Sans"/>
                <a:cs typeface="DejaVu Sans"/>
              </a:defRPr>
            </a:lvl2pPr>
            <a:lvl3pPr algn="l">
              <a:buNone/>
              <a:defRPr sz="1950" b="1">
                <a:solidFill>
                  <a:srgbClr val="6847F5"/>
                </a:solidFill>
                <a:latin typeface="DejaVu Sans"/>
                <a:ea typeface="DejaVu Sans"/>
                <a:cs typeface="DejaVu Sans"/>
              </a:defRPr>
            </a:lvl3pPr>
            <a:lvl4pPr algn="l">
              <a:buNone/>
              <a:defRPr sz="1950" b="1">
                <a:solidFill>
                  <a:srgbClr val="6847F5"/>
                </a:solidFill>
                <a:latin typeface="DejaVu Sans"/>
                <a:ea typeface="DejaVu Sans"/>
                <a:cs typeface="DejaVu Sans"/>
              </a:defRPr>
            </a:lvl4pPr>
            <a:lvl5pPr algn="l">
              <a:buNone/>
              <a:defRPr sz="1950" b="1">
                <a:solidFill>
                  <a:srgbClr val="6847F5"/>
                </a:solidFill>
                <a:latin typeface="DejaVu Sans"/>
                <a:ea typeface="DejaVu Sans"/>
                <a:cs typeface="DejaVu Sans"/>
              </a:defRPr>
            </a:lvl5pPr>
            <a:lvl6pPr algn="l">
              <a:buNone/>
              <a:defRPr sz="1950" b="1">
                <a:solidFill>
                  <a:srgbClr val="6847F5"/>
                </a:solidFill>
                <a:latin typeface="DejaVu Sans"/>
                <a:ea typeface="DejaVu Sans"/>
                <a:cs typeface="DejaVu Sans"/>
              </a:defRPr>
            </a:lvl6pPr>
            <a:lvl7pPr algn="l">
              <a:buNone/>
              <a:defRPr sz="1950" b="1">
                <a:solidFill>
                  <a:srgbClr val="6847F5"/>
                </a:solidFill>
                <a:latin typeface="DejaVu Sans"/>
                <a:ea typeface="DejaVu Sans"/>
                <a:cs typeface="DejaVu Sans"/>
              </a:defRPr>
            </a:lvl7pPr>
            <a:lvl8pPr algn="l">
              <a:buNone/>
              <a:defRPr sz="1950" b="1">
                <a:solidFill>
                  <a:srgbClr val="6847F5"/>
                </a:solidFill>
                <a:latin typeface="DejaVu Sans"/>
                <a:ea typeface="DejaVu Sans"/>
                <a:cs typeface="DejaVu Sans"/>
              </a:defRPr>
            </a:lvl8pPr>
            <a:lvl9pPr algn="l">
              <a:buNone/>
              <a:defRPr sz="1950" b="1">
                <a:solidFill>
                  <a:srgbClr val="6847F5"/>
                </a:solidFill>
                <a:latin typeface="DejaVu Sans"/>
                <a:ea typeface="DejaVu Sans"/>
                <a:cs typeface="DejaVu Sans"/>
              </a:defRPr>
            </a:lvl9pPr>
          </a:lstStyle>
          <a:p xmlns:a="http://schemas.openxmlformats.org/drawingml/2006/main">
            <a:pPr algn="l">
              <a:lnSpc>
                <a:spcPct val="112000"/>
              </a:lnSpc>
              <a:buNone/>
              <a:defRPr sz="1950" b="1">
                <a:solidFill>
                  <a:srgbClr val="6847F5"/>
                </a:solidFill>
                <a:latin typeface="DejaVu Sans"/>
                <a:ea typeface="DejaVu Sans"/>
                <a:cs typeface="DejaVu Sans"/>
              </a:defRPr>
            </a:pPr>
            <a:r>
              <a:rPr sz="1950" b="1">
                <a:solidFill>
                  <a:srgbClr val="6847F5"/>
                </a:solidFill>
                <a:latin typeface="DejaVu Sans"/>
                <a:ea typeface="DejaVu Sans"/>
                <a:cs typeface="DejaVu Sans"/>
              </a:rPr>
              <a:t>Months 13–18</a:t>
            </a:r>
          </a:p>
        </p:txBody>
      </p:sp>
      <p:sp>
        <p:nvSpPr>
          <p:cNvPr id="13" name="roadmap-milestone-2">
            <a:extLst xmlns:a="http://schemas.openxmlformats.org/drawingml/2006/main">
              <a:ext uri="{FF2B5EF4-FFF2-40B4-BE49-F238E27FC236}">
                <a16:creationId xmlns:a16="http://schemas.microsoft.com/office/drawing/2014/main" id="{0A7DC8E3-160B-4083-8393-D345E188F82D}"/>
              </a:ext>
            </a:extLst>
          </p:cNvPr>
          <p:cNvSpPr>
            <a:spLocks xmlns:a="http://schemas.openxmlformats.org/drawingml/2006/main" noGrp="1"/>
          </p:cNvSpPr>
          <p:nvPr/>
        </p:nvSpPr>
        <p:spPr>
          <a:xfrm xmlns:a="http://schemas.openxmlformats.org/drawingml/2006/main">
            <a:off x="6286500" y="5038725"/>
            <a:ext cx="528637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Three paid pilots and renewal tests</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Initial recurring revenue target</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