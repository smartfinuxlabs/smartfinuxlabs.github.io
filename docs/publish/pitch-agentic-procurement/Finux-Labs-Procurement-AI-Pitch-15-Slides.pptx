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590550" y="533400"/>
            <a:ext cx="5048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l">
              <a:lnSpc>
                <a:spcPct val="112000"/>
              </a:lnSpc>
              <a:buNone/>
              <a:defRPr sz="3900" b="1">
                <a:solidFill>
                  <a:srgbClr val="F6F7FF"/>
                </a:solidFill>
                <a:latin typeface="DejaVu Sans"/>
                <a:ea typeface="DejaVu Sans"/>
                <a:cs typeface="DejaVu Sans"/>
              </a:defRPr>
            </a:pPr>
            <a:r>
              <a:rPr sz="3900" b="1">
                <a:solidFill>
                  <a:srgbClr val="F6F7FF"/>
                </a:solidFill>
                <a:latin typeface="DejaVu Sans"/>
                <a:ea typeface="DejaVu Sans"/>
                <a:cs typeface="DejaVu Sans"/>
              </a:rP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619125" y="205740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Agentic Negotiator,</a:t>
            </a:r>
          </a:p>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Procurement</a:t>
            </a:r>
          </a:p>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Accelerator</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619125" y="4505325"/>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rPr sz="2025" b="0">
                <a:solidFill>
                  <a:srgbClr val="CBD2EB"/>
                </a:solidFill>
                <a:latin typeface="DejaVu Sans"/>
                <a:ea typeface="DejaVu Sans"/>
                <a:cs typeface="DejaVu Sans"/>
              </a:rP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rPr sz="2025" b="0">
                <a:solidFill>
                  <a:srgbClr val="CBD2EB"/>
                </a:solidFill>
                <a:latin typeface="DejaVu Sans"/>
                <a:ea typeface="DejaVu Sans"/>
                <a:cs typeface="DejaVu Sans"/>
              </a:rPr>
              <a:t>and pricing negotiation</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619125" y="59245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619125" y="639127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complexity of price negotiation</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Repeated pricing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Ju He (Terence), founder and builder</a:t>
            </a:r>
            <a:r>
              <a:rPr sz="1725">
                <a:solidFill>
                  <a:srgbClr val="4B526F"/>
                </a:solidFill>
                <a:latin typeface="DejaVu Sans"/>
              </a:rPr>
              <a:t> · Contact: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p:nvSpPr>
          <p:cNvPr id="5" name="founder-tenure">
            <a:extLst xmlns:a="http://schemas.openxmlformats.org/drawingml/2006/main">
              <a:ext uri="{FF2B5EF4-FFF2-40B4-BE49-F238E27FC236}">
                <a16:creationId xmlns:a16="http://schemas.microsoft.com/office/drawing/2014/main" id="{91FD7EDE-B9DB-43DF-889B-FAF930D151AB}"/>
              </a:ext>
            </a:extLst>
          </p:cNvPr>
          <p:cNvSpPr>
            <a:spLocks xmlns:a="http://schemas.openxmlformats.org/drawingml/2006/main" noGrp="1"/>
          </p:cNvSpPr>
          <p:nvPr/>
        </p:nvSpPr>
        <p:spPr>
          <a:xfrm xmlns:a="http://schemas.openxmlformats.org/drawingml/2006/main">
            <a:off x="552450" y="2047875"/>
            <a:ext cx="4191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71C3D"/>
                </a:solidFill>
                <a:latin typeface="DejaVu Sans"/>
                <a:ea typeface="DejaVu Sans"/>
                <a:cs typeface="DejaVu Sans"/>
              </a:defRPr>
            </a:defPPr>
            <a:lvl1pPr algn="l">
              <a:buNone/>
              <a:defRPr sz="4650" b="1">
                <a:solidFill>
                  <a:srgbClr val="171C3D"/>
                </a:solidFill>
                <a:latin typeface="DejaVu Sans"/>
                <a:ea typeface="DejaVu Sans"/>
                <a:cs typeface="DejaVu Sans"/>
              </a:defRPr>
            </a:lvl1pPr>
            <a:lvl2pPr algn="l">
              <a:buNone/>
              <a:defRPr sz="4650" b="1">
                <a:solidFill>
                  <a:srgbClr val="171C3D"/>
                </a:solidFill>
                <a:latin typeface="DejaVu Sans"/>
                <a:ea typeface="DejaVu Sans"/>
                <a:cs typeface="DejaVu Sans"/>
              </a:defRPr>
            </a:lvl2pPr>
            <a:lvl3pPr algn="l">
              <a:buNone/>
              <a:defRPr sz="4650" b="1">
                <a:solidFill>
                  <a:srgbClr val="171C3D"/>
                </a:solidFill>
                <a:latin typeface="DejaVu Sans"/>
                <a:ea typeface="DejaVu Sans"/>
                <a:cs typeface="DejaVu Sans"/>
              </a:defRPr>
            </a:lvl3pPr>
            <a:lvl4pPr algn="l">
              <a:buNone/>
              <a:defRPr sz="4650" b="1">
                <a:solidFill>
                  <a:srgbClr val="171C3D"/>
                </a:solidFill>
                <a:latin typeface="DejaVu Sans"/>
                <a:ea typeface="DejaVu Sans"/>
                <a:cs typeface="DejaVu Sans"/>
              </a:defRPr>
            </a:lvl4pPr>
            <a:lvl5pPr algn="l">
              <a:buNone/>
              <a:defRPr sz="4650" b="1">
                <a:solidFill>
                  <a:srgbClr val="171C3D"/>
                </a:solidFill>
                <a:latin typeface="DejaVu Sans"/>
                <a:ea typeface="DejaVu Sans"/>
                <a:cs typeface="DejaVu Sans"/>
              </a:defRPr>
            </a:lvl5pPr>
            <a:lvl6pPr algn="l">
              <a:buNone/>
              <a:defRPr sz="4650" b="1">
                <a:solidFill>
                  <a:srgbClr val="171C3D"/>
                </a:solidFill>
                <a:latin typeface="DejaVu Sans"/>
                <a:ea typeface="DejaVu Sans"/>
                <a:cs typeface="DejaVu Sans"/>
              </a:defRPr>
            </a:lvl6pPr>
            <a:lvl7pPr algn="l">
              <a:buNone/>
              <a:defRPr sz="4650" b="1">
                <a:solidFill>
                  <a:srgbClr val="171C3D"/>
                </a:solidFill>
                <a:latin typeface="DejaVu Sans"/>
                <a:ea typeface="DejaVu Sans"/>
                <a:cs typeface="DejaVu Sans"/>
              </a:defRPr>
            </a:lvl7pPr>
            <a:lvl8pPr algn="l">
              <a:buNone/>
              <a:defRPr sz="4650" b="1">
                <a:solidFill>
                  <a:srgbClr val="171C3D"/>
                </a:solidFill>
                <a:latin typeface="DejaVu Sans"/>
                <a:ea typeface="DejaVu Sans"/>
                <a:cs typeface="DejaVu Sans"/>
              </a:defRPr>
            </a:lvl8pPr>
            <a:lvl9pPr algn="l">
              <a:buNone/>
              <a:defRPr sz="4650" b="1">
                <a:solidFill>
                  <a:srgbClr val="171C3D"/>
                </a:solidFill>
                <a:latin typeface="DejaVu Sans"/>
                <a:ea typeface="DejaVu Sans"/>
                <a:cs typeface="DejaVu Sans"/>
              </a:defRPr>
            </a:lvl9pPr>
          </a:lstStyle>
          <a:p xmlns:a="http://schemas.openxmlformats.org/drawingml/2006/main">
            <a:pPr algn="l">
              <a:lnSpc>
                <a:spcPct val="112000"/>
              </a:lnSpc>
              <a:buNone/>
              <a:defRPr sz="4650" b="1">
                <a:solidFill>
                  <a:srgbClr val="171C3D"/>
                </a:solidFill>
                <a:latin typeface="DejaVu Sans"/>
                <a:ea typeface="DejaVu Sans"/>
                <a:cs typeface="DejaVu Sans"/>
              </a:defRPr>
            </a:pPr>
            <a:r>
              <a:rPr sz="4650" b="1">
                <a:solidFill>
                  <a:srgbClr val="171C3D"/>
                </a:solidFill>
                <a:latin typeface="DejaVu Sans"/>
                <a:ea typeface="DejaVu Sans"/>
                <a:cs typeface="DejaVu Sans"/>
              </a:rPr>
              <a:t>10+ years</a:t>
            </a:r>
          </a:p>
        </p:txBody>
      </p:sp>
      <p:sp>
        <p:nvSpPr>
          <p:cNvPr id="6" name="founder-experience">
            <a:extLst xmlns:a="http://schemas.openxmlformats.org/drawingml/2006/main">
              <a:ext uri="{FF2B5EF4-FFF2-40B4-BE49-F238E27FC236}">
                <a16:creationId xmlns:a16="http://schemas.microsoft.com/office/drawing/2014/main" id="{9AC29550-6744-40F7-9913-691DC2B5FF37}"/>
              </a:ext>
            </a:extLst>
          </p:cNvPr>
          <p:cNvSpPr>
            <a:spLocks xmlns:a="http://schemas.openxmlformats.org/drawingml/2006/main" noGrp="1"/>
          </p:cNvSpPr>
          <p:nvPr/>
        </p:nvSpPr>
        <p:spPr>
          <a:xfrm xmlns:a="http://schemas.openxmlformats.org/drawingml/2006/main">
            <a:off x="571500" y="3076575"/>
            <a:ext cx="4476750" cy="1228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Enterprise application development</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and integration across banking,</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finance, insurance and e-commerce</a:t>
            </a:r>
          </a:p>
        </p:txBody>
      </p:sp>
      <p:sp>
        <p:nvSpPr>
          <p:cNvPr id="7" name="founder-relevance">
            <a:extLst xmlns:a="http://schemas.openxmlformats.org/drawingml/2006/main">
              <a:ext uri="{FF2B5EF4-FFF2-40B4-BE49-F238E27FC236}">
                <a16:creationId xmlns:a16="http://schemas.microsoft.com/office/drawing/2014/main" id="{8B6D8945-1AAB-4128-86F6-BA640F74E52C}"/>
              </a:ext>
            </a:extLst>
          </p:cNvPr>
          <p:cNvSpPr>
            <a:spLocks xmlns:a="http://schemas.openxmlformats.org/drawingml/2006/main" noGrp="1"/>
          </p:cNvSpPr>
          <p:nvPr/>
        </p:nvSpPr>
        <p:spPr>
          <a:xfrm xmlns:a="http://schemas.openxmlformats.org/drawingml/2006/main">
            <a:off x="571500" y="4676775"/>
            <a:ext cx="4476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Payments and financial workflows</a:t>
            </a:r>
          </a:p>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Java, Python, React and data systems</a:t>
            </a:r>
          </a:p>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B.C.-based product development</a:t>
            </a:r>
          </a:p>
        </p:txBody>
      </p:sp>
      <p:sp>
        <p:nvSpPr>
          <p:cNvPr id="8" name="roadmap-time-0">
            <a:extLst xmlns:a="http://schemas.openxmlformats.org/drawingml/2006/main">
              <a:ext uri="{FF2B5EF4-FFF2-40B4-BE49-F238E27FC236}">
                <a16:creationId xmlns:a16="http://schemas.microsoft.com/office/drawing/2014/main" id="{196FF61A-72DB-4A9E-B7F7-1036A8469930}"/>
              </a:ext>
            </a:extLst>
          </p:cNvPr>
          <p:cNvSpPr>
            <a:spLocks xmlns:a="http://schemas.openxmlformats.org/drawingml/2006/main" noGrp="1"/>
          </p:cNvSpPr>
          <p:nvPr/>
        </p:nvSpPr>
        <p:spPr>
          <a:xfrm xmlns:a="http://schemas.openxmlformats.org/drawingml/2006/main">
            <a:off x="6286500" y="2057400"/>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1–6</a:t>
            </a:r>
          </a:p>
        </p:txBody>
      </p:sp>
      <p:sp>
        <p:nvSpPr>
          <p:cNvPr id="9" name="roadmap-milestone-0">
            <a:extLst xmlns:a="http://schemas.openxmlformats.org/drawingml/2006/main">
              <a:ext uri="{FF2B5EF4-FFF2-40B4-BE49-F238E27FC236}">
                <a16:creationId xmlns:a16="http://schemas.microsoft.com/office/drawing/2014/main" id="{009E0BAC-06D8-442C-A826-D018B4B60791}"/>
              </a:ext>
            </a:extLst>
          </p:cNvPr>
          <p:cNvSpPr>
            <a:spLocks xmlns:a="http://schemas.openxmlformats.org/drawingml/2006/main" noGrp="1"/>
          </p:cNvSpPr>
          <p:nvPr/>
        </p:nvSpPr>
        <p:spPr>
          <a:xfrm xmlns:a="http://schemas.openxmlformats.org/drawingml/2006/main">
            <a:off x="6286500" y="2505075"/>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Quotation extraction and review</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Reproducible cost comparisons</a:t>
            </a:r>
          </a:p>
        </p:txBody>
      </p:sp>
      <p:sp>
        <p:nvSpPr>
          <p:cNvPr id="10" name="roadmap-time-1">
            <a:extLst xmlns:a="http://schemas.openxmlformats.org/drawingml/2006/main">
              <a:ext uri="{FF2B5EF4-FFF2-40B4-BE49-F238E27FC236}">
                <a16:creationId xmlns:a16="http://schemas.microsoft.com/office/drawing/2014/main" id="{821A2242-13A1-4DA5-B634-AF4E095710FD}"/>
              </a:ext>
            </a:extLst>
          </p:cNvPr>
          <p:cNvSpPr>
            <a:spLocks xmlns:a="http://schemas.openxmlformats.org/drawingml/2006/main" noGrp="1"/>
          </p:cNvSpPr>
          <p:nvPr/>
        </p:nvSpPr>
        <p:spPr>
          <a:xfrm xmlns:a="http://schemas.openxmlformats.org/drawingml/2006/main">
            <a:off x="6286500" y="3324225"/>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7–12</a:t>
            </a:r>
          </a:p>
        </p:txBody>
      </p:sp>
      <p:sp>
        <p:nvSpPr>
          <p:cNvPr id="11" name="roadmap-milestone-1">
            <a:extLst xmlns:a="http://schemas.openxmlformats.org/drawingml/2006/main">
              <a:ext uri="{FF2B5EF4-FFF2-40B4-BE49-F238E27FC236}">
                <a16:creationId xmlns:a16="http://schemas.microsoft.com/office/drawing/2014/main" id="{7B8351E9-CA1B-4C24-8F89-95D4BB0609EC}"/>
              </a:ext>
            </a:extLst>
          </p:cNvPr>
          <p:cNvSpPr>
            <a:spLocks xmlns:a="http://schemas.openxmlformats.org/drawingml/2006/main" noGrp="1"/>
          </p:cNvSpPr>
          <p:nvPr/>
        </p:nvSpPr>
        <p:spPr>
          <a:xfrm xmlns:a="http://schemas.openxmlformats.org/drawingml/2006/main">
            <a:off x="6286500" y="3771900"/>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and Supplier Agent negotiation</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Human review and first paid pilots</a:t>
            </a:r>
          </a:p>
        </p:txBody>
      </p:sp>
      <p:sp>
        <p:nvSpPr>
          <p:cNvPr id="12" name="roadmap-time-2">
            <a:extLst xmlns:a="http://schemas.openxmlformats.org/drawingml/2006/main">
              <a:ext uri="{FF2B5EF4-FFF2-40B4-BE49-F238E27FC236}">
                <a16:creationId xmlns:a16="http://schemas.microsoft.com/office/drawing/2014/main" id="{8D7E0CFA-79E9-40AB-9440-E1EADA180A77}"/>
              </a:ext>
            </a:extLst>
          </p:cNvPr>
          <p:cNvSpPr>
            <a:spLocks xmlns:a="http://schemas.openxmlformats.org/drawingml/2006/main" noGrp="1"/>
          </p:cNvSpPr>
          <p:nvPr/>
        </p:nvSpPr>
        <p:spPr>
          <a:xfrm xmlns:a="http://schemas.openxmlformats.org/drawingml/2006/main">
            <a:off x="6286500" y="4591050"/>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13–18</a:t>
            </a:r>
          </a:p>
        </p:txBody>
      </p:sp>
      <p:sp>
        <p:nvSpPr>
          <p:cNvPr id="13" name="roadmap-milestone-2">
            <a:extLst xmlns:a="http://schemas.openxmlformats.org/drawingml/2006/main">
              <a:ext uri="{FF2B5EF4-FFF2-40B4-BE49-F238E27FC236}">
                <a16:creationId xmlns:a16="http://schemas.microsoft.com/office/drawing/2014/main" id="{0A7DC8E3-160B-4083-8393-D345E188F82D}"/>
              </a:ext>
            </a:extLst>
          </p:cNvPr>
          <p:cNvSpPr>
            <a:spLocks xmlns:a="http://schemas.openxmlformats.org/drawingml/2006/main" noGrp="1"/>
          </p:cNvSpPr>
          <p:nvPr/>
        </p:nvSpPr>
        <p:spPr>
          <a:xfrm xmlns:a="http://schemas.openxmlformats.org/drawingml/2006/main">
            <a:off x="6286500" y="5038725"/>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Three paid pilots and renewal tests</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Initial recurring revenue target</a:t>
            </a:r>
          </a:p>
        </p:txBody>
      </p:sp>
      <p:pic xmlns:a="http://schemas.openxmlformats.org/drawingml/2006/main" xmlns:r="http://schemas.openxmlformats.org/officeDocument/2006/relationships">
        <p:nvPicPr>
          <p:cNvPr id="15" name="Picture 14" descr="qrcode_pitch.png"/>
          <p:cNvPicPr>
            <a:picLocks noChangeAspect="1"/>
          </p:cNvPicPr>
          <p:nvPr/>
        </p:nvPicPr>
        <p:blipFill>
          <a:blip r:embed="rId3"/>
          <a:stretch>
            <a:fillRect/>
          </a:stretch>
        </p:blipFill>
        <p:spPr>
          <a:xfrm>
            <a:off x="4127500" y="4635500"/>
            <a:ext cx="914400" cy="914400"/>
          </a:xfrm>
          <a:prstGeom prst="rect">
            <a:avLst/>
          </a:prstGeom>
        </p:spPr>
      </p:pic>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