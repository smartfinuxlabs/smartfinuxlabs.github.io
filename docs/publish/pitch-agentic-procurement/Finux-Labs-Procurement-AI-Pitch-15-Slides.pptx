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ea489137854013" Type="http://schemas.openxmlformats.org/officeDocument/2006/relationships/extended-properties" Target="docProps/app.xml"/><Relationship Id="Rab2814f47cac49ea" Type="http://schemas.openxmlformats.org/officeDocument/2006/relationships/officeDocument" Target="ppt/presentation.xml"/><Relationship Id="Rd2aa82dc2ed2440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 xmlns:ns0="http://schemas.openxmlformats.org/officeDocument/2006/relationships" id="271" ns0:id="rId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a190951ab04892" Type="http://schemas.openxmlformats.org/officeDocument/2006/relationships/presProps" Target="presProps.xml"/><Relationship Id="R1ecb604486ef4f46" Type="http://schemas.openxmlformats.org/officeDocument/2006/relationships/slide" Target="slides/slide11.xml"/><Relationship Id="R264faf4fabf143e3" Type="http://schemas.openxmlformats.org/officeDocument/2006/relationships/slide" Target="slides/slide4.xml"/><Relationship Id="R2cbe1b106bc249ab" Type="http://schemas.openxmlformats.org/officeDocument/2006/relationships/slide" Target="slides/slide15.xml"/><Relationship Id="R3cf7ff16d04a4cb2" Type="http://schemas.openxmlformats.org/officeDocument/2006/relationships/slide" Target="slides/slide5.xml"/><Relationship Id="R49fac72d93f846cd" Type="http://schemas.openxmlformats.org/officeDocument/2006/relationships/slide" Target="slides/slide2.xml"/><Relationship Id="R4dd2a88e7afd4ef3" Type="http://schemas.openxmlformats.org/officeDocument/2006/relationships/slide" Target="slides/slide12.xml"/><Relationship Id="R51d60cba0483439b" Type="http://schemas.openxmlformats.org/officeDocument/2006/relationships/slide" Target="slides/slide7.xml"/><Relationship Id="R610ae6c402a74d5b" Type="http://schemas.openxmlformats.org/officeDocument/2006/relationships/notesMaster" Target="notesMasters/notesMaster1.xml"/><Relationship Id="R6a77ef364c75437b" Type="http://schemas.openxmlformats.org/officeDocument/2006/relationships/slide" Target="slides/slide3.xml"/><Relationship Id="R7463f27fb6d14e4e" Type="http://schemas.openxmlformats.org/officeDocument/2006/relationships/theme" Target="theme/theme1.xml"/><Relationship Id="R840e453bf4a146c8" Type="http://schemas.openxmlformats.org/officeDocument/2006/relationships/slide" Target="slides/slide13.xml"/><Relationship Id="R8b2a8e97a2704470" Type="http://schemas.openxmlformats.org/officeDocument/2006/relationships/slide" Target="slides/slide10.xml"/><Relationship Id="R9127310c4e514459" Type="http://schemas.openxmlformats.org/officeDocument/2006/relationships/slide" Target="slides/slide9.xml"/><Relationship Id="R93a56e6c49954db5" Type="http://schemas.openxmlformats.org/officeDocument/2006/relationships/slide" Target="slides/slide14.xml"/><Relationship Id="R96d3e6b0e76c4b77" Type="http://schemas.openxmlformats.org/officeDocument/2006/relationships/tableStyles" Target="tableStyles.xml"/><Relationship Id="R9a8e7f3a24f7414f" Type="http://schemas.openxmlformats.org/officeDocument/2006/relationships/slide" Target="slides/slide1.xml"/><Relationship Id="Rae20d50b616a40c2" Type="http://schemas.openxmlformats.org/officeDocument/2006/relationships/slide" Target="slides/slide8.xml"/><Relationship Id="Rb73d4035e93c47e3" Type="http://schemas.openxmlformats.org/officeDocument/2006/relationships/slide" Target="slides/slide6.xml"/><Relationship Id="Rf8110fef978941c6" Type="http://schemas.openxmlformats.org/officeDocument/2006/relationships/slideMaster" Target="slideMasters/slideMaster1.xml"/><Relationship Id="rId21"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d742b87918da4aa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abeb8e5610407d" Type="http://schemas.openxmlformats.org/officeDocument/2006/relationships/slide" Target="../slides/slide1.xml"/><Relationship Id="Rff963119b9a5406c"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d7a345880d426c" Type="http://schemas.openxmlformats.org/officeDocument/2006/relationships/notesMaster" Target="../notesMasters/notesMaster1.xml"/><Relationship Id="R9750c68fe0ad4fd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6da605f9b684b2f" Type="http://schemas.openxmlformats.org/officeDocument/2006/relationships/notesMaster" Target="../notesMasters/notesMaster1.xml"/><Relationship Id="Rc9fb5d689a12422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2a2997438314b8a" Type="http://schemas.openxmlformats.org/officeDocument/2006/relationships/slide" Target="../slides/slide4.xml"/><Relationship Id="R1a2861807bea4a3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77a0f07a04746ae" Type="http://schemas.openxmlformats.org/officeDocument/2006/relationships/notesMaster" Target="../notesMasters/notesMaster1.xml"/><Relationship Id="R9c33cbc3e9d6448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0bdb7cc013d4f95" Type="http://schemas.openxmlformats.org/officeDocument/2006/relationships/notesMaster" Target="../notesMasters/notesMaster1.xml"/><Relationship Id="Rcfadb95ecbae4dd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151724ac77d4017" Type="http://schemas.openxmlformats.org/officeDocument/2006/relationships/slide" Target="../slides/slide7.xml"/><Relationship Id="R87d114774c564c7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b367b4613f84ada" Type="http://schemas.openxmlformats.org/officeDocument/2006/relationships/slide" Target="../slides/slide8.xml"/><Relationship Id="Rf56c41638b2044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55c88d1ec9e4643" Type="http://schemas.openxmlformats.org/officeDocument/2006/relationships/slide" Target="../slides/slide9.xml"/><Relationship Id="Rc56f1fde2fdd420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69e851067a246da" Type="http://schemas.openxmlformats.org/officeDocument/2006/relationships/slide" Target="../slides/slide10.xml"/><Relationship Id="Rffbce59a310b4f7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3d962b2dab64e9d" Type="http://schemas.openxmlformats.org/officeDocument/2006/relationships/notesMaster" Target="../notesMasters/notesMaster1.xml"/><Relationship Id="Re804e475e499493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4187327a19b4d0a" Type="http://schemas.openxmlformats.org/officeDocument/2006/relationships/slide" Target="../slides/slide12.xml"/><Relationship Id="Rd9179a0268ad47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355a3040841f8" Type="http://schemas.openxmlformats.org/officeDocument/2006/relationships/slide" Target="../slides/slide13.xml"/><Relationship Id="Rfc22a61b225945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e77b41397f64fcf" Type="http://schemas.openxmlformats.org/officeDocument/2006/relationships/notesMaster" Target="../notesMasters/notesMaster1.xml"/><Relationship Id="Rea43d4a95d654de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c44626c29fb4e6d" Type="http://schemas.openxmlformats.org/officeDocument/2006/relationships/slide" Target="../slides/slide15.xml"/><Relationship Id="Rb4f06aabf6cd446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8eb97fa3a147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4ee7e7ed69747b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ae6f0772e841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9f15daae4b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4cb21032d434a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9482b405514c1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79e939a6e4ce3" Type="http://schemas.openxmlformats.org/officeDocument/2006/relationships/slideLayout" Target="../slideLayouts/slideLayout2.xml"/><Relationship Id="R1e1e62d4b6f34fa6" Type="http://schemas.openxmlformats.org/officeDocument/2006/relationships/slideLayout" Target="../slideLayouts/slideLayout3.xml"/><Relationship Id="R520e6c2f03e84bea" Type="http://schemas.openxmlformats.org/officeDocument/2006/relationships/slideLayout" Target="../slideLayouts/slideLayout5.xml"/><Relationship Id="R98b543bbde2c46ca" Type="http://schemas.openxmlformats.org/officeDocument/2006/relationships/slideLayout" Target="../slideLayouts/slideLayout4.xml"/><Relationship Id="Rc120f020daa34f59" Type="http://schemas.openxmlformats.org/officeDocument/2006/relationships/slideLayout" Target="../slideLayouts/slideLayout1.xml"/><Relationship Id="Re90a6662ef9f45f0" Type="http://schemas.openxmlformats.org/officeDocument/2006/relationships/slideLayout" Target="../slideLayouts/slideLayout6.xml"/><Relationship Id="Refc38898062f403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f74d848e3a4392" Type="http://schemas.openxmlformats.org/officeDocument/2006/relationships/notesSlide" Target="../notesSlides/notesSlide1.xml"/><Relationship Id="R087515a07efe4e3c" Type="http://schemas.openxmlformats.org/officeDocument/2006/relationships/image" Target="../media/image.png"/><Relationship Id="Rfa8f2f60de91412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378f74807564c08" Type="http://schemas.openxmlformats.org/officeDocument/2006/relationships/notesSlide" Target="../notesSlides/notesSlide2.xml"/><Relationship Id="R79c682a0fdeb41f6" Type="http://schemas.openxmlformats.org/officeDocument/2006/relationships/image" Target="../media/image2.png"/><Relationship Id="R7c558daa797a49a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08674c00ef04f47" Type="http://schemas.openxmlformats.org/officeDocument/2006/relationships/slideLayout" Target="../slideLayouts/slideLayout6.xml"/><Relationship Id="R606b261c0f0448a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2512b54c4b944ba" Type="http://schemas.openxmlformats.org/officeDocument/2006/relationships/slideLayout" Target="../slideLayouts/slideLayout6.xml"/><Relationship Id="Rfedf63cfb9c8471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0fa9d6ce4e467e" Type="http://schemas.openxmlformats.org/officeDocument/2006/relationships/slideLayout" Target="../slideLayouts/slideLayout6.xml"/><Relationship Id="R3451d50474d7426d" Type="http://schemas.openxmlformats.org/officeDocument/2006/relationships/notesSlide" Target="../notesSlides/notesSlide5.xml"/><Relationship Id="R5ebd4ff9cc654d8b" Type="http://schemas.openxmlformats.org/officeDocument/2006/relationships/hyperlink" Target="https://sourcing-alpha.connextium.xyz/" TargetMode="External"/><Relationship Id="R631ba73f4ce34583" Type="http://schemas.openxmlformats.org/officeDocument/2006/relationships/image" Target="../media/image.jpeg"/></Relationships>
</file>

<file path=ppt/slides/_rels/slide6.xml.rels><?xml version='1.0' encoding='UTF-8' standalone='yes'?>
<Relationships xmlns="http://schemas.openxmlformats.org/package/2006/relationships"><Relationship Id="R31a8bf71f6f643e8" Type="http://schemas.openxmlformats.org/officeDocument/2006/relationships/chart" Target="charts/chart1.xml"/><Relationship Id="R92fd049d5ead4fe2" Type="http://schemas.openxmlformats.org/officeDocument/2006/relationships/notesSlide" Target="../notesSlides/notesSlide6.xml"/><Relationship Id="Rc1d897a0bf1e4297"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4276489fc534a2d" Type="http://schemas.openxmlformats.org/officeDocument/2006/relationships/hyperlink" Target="https://fdi-alpha.connextium.xyz/" TargetMode="External"/><Relationship Id="R3403e3d8c0e24927" Type="http://schemas.openxmlformats.org/officeDocument/2006/relationships/slideLayout" Target="../slideLayouts/slideLayout6.xml"/><Relationship Id="Ra617466ea9da44e4" Type="http://schemas.openxmlformats.org/officeDocument/2006/relationships/image" Target="../media/image2.jpeg"/><Relationship Id="Rf648319611744b6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da71d3d2bb4500" Type="http://schemas.openxmlformats.org/officeDocument/2006/relationships/image" Target="../media/finux-agent-human-icons-v5.png"/><Relationship Id="R3089ddaa85aa46f4" Type="http://schemas.openxmlformats.org/officeDocument/2006/relationships/image" Target="../media/finux-agent-human-icons-v5.png"/><Relationship Id="R3385cdd531dd42de" Type="http://schemas.openxmlformats.org/officeDocument/2006/relationships/image" Target="../media/finux-agent-human-icons-v5.png"/><Relationship Id="R6e898405683b4767" Type="http://schemas.openxmlformats.org/officeDocument/2006/relationships/image" Target="../media/finux-agent-human-icons-v5.png"/><Relationship Id="Ra98fcd2620994bbf" Type="http://schemas.openxmlformats.org/officeDocument/2006/relationships/slideLayout" Target="../slideLayouts/slideLayout6.xml"/><Relationship Id="Re2b98fea1cc64f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3da214feb1414b" Type="http://schemas.openxmlformats.org/officeDocument/2006/relationships/notesSlide" Target="../notesSlides/notesSlide9.xml"/><Relationship Id="R879a99361201430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6f01f72bdf344af" Type="http://schemas.openxmlformats.org/officeDocument/2006/relationships/slideLayout" Target="../slideLayouts/slideLayout6.xml"/><Relationship Id="Red1b7d93e2bb424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9c3b18150347c4" Type="http://schemas.openxmlformats.org/officeDocument/2006/relationships/notesSlide" Target="../notesSlides/notesSlide11.xml"/><Relationship Id="R5cbc3776b6d944a0"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15e4f65fdfa43c8" Type="http://schemas.openxmlformats.org/officeDocument/2006/relationships/slideLayout" Target="../slideLayouts/slideLayout6.xml"/><Relationship Id="Re60a495d112748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8a9f9f695924e08" Type="http://schemas.openxmlformats.org/officeDocument/2006/relationships/slideLayout" Target="../slideLayouts/slideLayout6.xml"/><Relationship Id="R753ebe65a85841a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a6cf4480a8745ae" Type="http://schemas.openxmlformats.org/officeDocument/2006/relationships/notesSlide" Target="../notesSlides/notesSlide14.xml"/><Relationship Id="Rf56aa21fc33e45fc" Type="http://schemas.openxmlformats.org/officeDocument/2006/relationships/slideLayout" Target="../slideLayouts/slideLayout6.xml"/><Relationship Id="rId3" Type="http://schemas.openxmlformats.org/officeDocument/2006/relationships/image" Target="../media/image1.png"/><Relationship Id="rId4" Type="http://schemas.openxmlformats.org/officeDocument/2006/relationships/hyperlink" Target="https://finuxlabs.github.io/publish/pitch-agentic-procurement/" TargetMode="External"/></Relationships>
</file>

<file path=ppt/slides/_rels/slide15.xml.rels><?xml version='1.0' encoding='UTF-8' standalone='yes'?>
<Relationships xmlns="http://schemas.openxmlformats.org/package/2006/relationships"><Relationship Id="R47dea4380d5d4e94" Type="http://schemas.openxmlformats.org/officeDocument/2006/relationships/notesSlide" Target="../notesSlides/notesSlide15.xml"/><Relationship Id="Rbe487edecedd4295"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hyperlink" Target="https://aisummit-vancouver2026.connextium.xyz/" TargetMode="Externa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502920" y="0"/>
            <a:ext cx="12691872"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8686800" y="6263640"/>
            <a:ext cx="292608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r">
              <a:lnSpc>
                <a:spcPct val="112000"/>
              </a:lnSpc>
              <a:buNone/>
              <a:defRPr sz="1500" b="1">
                <a:solidFill>
                  <a:srgbClr val="CBD2EB"/>
                </a:solidFill>
                <a:latin typeface="DejaVu Sans"/>
                <a:ea typeface="DejaVu Sans"/>
                <a:cs typeface="DejaVu Sans"/>
              </a:defRPr>
            </a:pPr>
            <a: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914400" y="224028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t>Procurement AI,</a:t>
            </a:r>
          </a:p>
          <a:p xmlns:a="http://schemas.openxmlformats.org/drawingml/2006/main">
            <a:pPr algn="l">
              <a:lnSpc>
                <a:spcPct val="112000"/>
              </a:lnSpc>
              <a:buNone/>
              <a:defRPr sz="4125" b="1">
                <a:solidFill>
                  <a:srgbClr val="F6F7FF"/>
                </a:solidFill>
                <a:latin typeface="DejaVu Sans"/>
                <a:ea typeface="DejaVu Sans"/>
                <a:cs typeface="DejaVu Sans"/>
              </a:defRPr>
            </a:pPr>
            <a:r>
              <a:t>Agentic Negotiator</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914400" y="461772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t>and Sourcing</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914400" y="598932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914400" y="6446520"/>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The complexity of Supplier Sourcing</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Repeated negotiation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defRPr sz="1300">
                <a:solidFill>
                  <a:srgbClr val="5A6578"/>
                </a:solidFill>
                <a:latin typeface="DejaVu Sans"/>
              </a:defRPr>
            </a:pPr>
            <a:r>
              <a:t>Ju He (Terence), founder and builder · juhe.terence@gmail.com</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xmlns:a="http://schemas.openxmlformats.org/drawingml/2006/main">
        <p:nvSpPr>
          <p:cNvPr id="15" name="Rectangle 14"/>
          <p:cNvSpPr/>
          <p:nvPr/>
        </p:nvSpPr>
        <p:spPr>
          <a:xfrm>
            <a:off x="548640" y="1874519"/>
            <a:ext cx="3520440"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Rectangle 15"/>
          <p:cNvSpPr/>
          <p:nvPr/>
        </p:nvSpPr>
        <p:spPr>
          <a:xfrm>
            <a:off x="548640" y="1874519"/>
            <a:ext cx="73152" cy="43434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TextBox 16"/>
          <p:cNvSpPr txBox="1"/>
          <p:nvPr/>
        </p:nvSpPr>
        <p:spPr>
          <a:xfrm>
            <a:off x="777240" y="2011680"/>
            <a:ext cx="3108960" cy="594360"/>
          </a:xfrm>
          <a:prstGeom prst="rect">
            <a:avLst/>
          </a:prstGeom>
          <a:noFill/>
        </p:spPr>
        <p:txBody>
          <a:bodyPr wrap="none">
            <a:spAutoFit/>
          </a:bodyPr>
          <a:lstStyle/>
          <a:p>
            <a:pPr algn="l">
              <a:defRPr sz="3600" b="1">
                <a:solidFill>
                  <a:srgbClr val="6C5CE7"/>
                </a:solidFill>
                <a:latin typeface="DejaVu Sans"/>
              </a:defRPr>
            </a:pPr>
            <a:r>
              <a:t>10+ years</a:t>
            </a:r>
          </a:p>
        </p:txBody>
      </p:sp>
      <p:sp xmlns:a="http://schemas.openxmlformats.org/drawingml/2006/main">
        <p:nvSpPr>
          <p:cNvPr id="18" name="TextBox 17"/>
          <p:cNvSpPr txBox="1"/>
          <p:nvPr/>
        </p:nvSpPr>
        <p:spPr>
          <a:xfrm>
            <a:off x="777240" y="2697480"/>
            <a:ext cx="3108960" cy="1097280"/>
          </a:xfrm>
          <a:prstGeom prst="rect">
            <a:avLst/>
          </a:prstGeom>
          <a:noFill/>
        </p:spPr>
        <p:txBody>
          <a:bodyPr wrap="square">
            <a:spAutoFit/>
          </a:bodyPr>
          <a:lstStyle/>
          <a:p>
            <a:pPr algn="l">
              <a:defRPr sz="1200" b="0">
                <a:solidFill>
                  <a:srgbClr val="10142B"/>
                </a:solidFill>
                <a:latin typeface="DejaVu Sans"/>
              </a:defRPr>
            </a:pPr>
            <a:r>
              <a:t>Enterprise application development and integration across banking, finance, insurance and e-commerce</a:t>
            </a:r>
          </a:p>
        </p:txBody>
      </p:sp>
      <p:sp xmlns:a="http://schemas.openxmlformats.org/drawingml/2006/main">
        <p:nvSpPr>
          <p:cNvPr id="19" name="TextBox 18"/>
          <p:cNvSpPr txBox="1"/>
          <p:nvPr/>
        </p:nvSpPr>
        <p:spPr>
          <a:xfrm>
            <a:off x="777240" y="3931920"/>
            <a:ext cx="3108960" cy="1188720"/>
          </a:xfrm>
          <a:prstGeom prst="rect">
            <a:avLst/>
          </a:prstGeom>
          <a:noFill/>
        </p:spPr>
        <p:txBody>
          <a:bodyPr wrap="square">
            <a:spAutoFit/>
          </a:bodyPr>
          <a:lstStyle/>
          <a:p>
            <a:pPr algn="l">
              <a:defRPr sz="1150" b="0">
                <a:solidFill>
                  <a:srgbClr val="5A6578"/>
                </a:solidFill>
                <a:latin typeface="DejaVu Sans"/>
              </a:defRPr>
            </a:pPr>
            <a:r>
              <a:t>• Payments &amp; Workflows</a:t>
            </a:r>
          </a:p>
          <a:p>
            <a:pPr algn="l">
              <a:defRPr sz="1150" b="0">
                <a:solidFill>
                  <a:srgbClr val="5A6578"/>
                </a:solidFill>
                <a:latin typeface="DejaVu Sans"/>
              </a:defRPr>
            </a:pPr>
            <a:r>
              <a:t>• Java · Python · React</a:t>
            </a:r>
          </a:p>
          <a:p>
            <a:pPr algn="l">
              <a:defRPr sz="1150" b="0">
                <a:solidFill>
                  <a:srgbClr val="5A6578"/>
                </a:solidFill>
                <a:latin typeface="DejaVu Sans"/>
              </a:defRPr>
            </a:pPr>
            <a:r>
              <a:t>• B.C.-based development</a:t>
            </a:r>
          </a:p>
        </p:txBody>
      </p:sp>
      <p:sp xmlns:a="http://schemas.openxmlformats.org/drawingml/2006/main">
        <p:nvSpPr>
          <p:cNvPr id="20" name="TextBox 19"/>
          <p:cNvSpPr txBox="1"/>
          <p:nvPr/>
        </p:nvSpPr>
        <p:spPr>
          <a:xfrm>
            <a:off x="777240" y="5532120"/>
            <a:ext cx="3108960" cy="457200"/>
          </a:xfrm>
          <a:prstGeom prst="rect">
            <a:avLst/>
          </a:prstGeom>
          <a:noFill/>
        </p:spPr>
        <p:txBody>
          <a:bodyPr wrap="none">
            <a:spAutoFit/>
          </a:bodyPr>
          <a:lstStyle/>
          <a:p>
            <a:pPr algn="l">
              <a:defRPr sz="1150" b="1">
                <a:solidFill>
                  <a:srgbClr val="6C5CE7"/>
                </a:solidFill>
                <a:latin typeface="DejaVu Sans"/>
              </a:defRPr>
            </a:pPr>
            <a:r>
              <a:t>Contact: juhe.terence@gmail.com</a:t>
            </a:r>
          </a:p>
        </p:txBody>
      </p:sp>
      <p:sp xmlns:a="http://schemas.openxmlformats.org/drawingml/2006/main">
        <p:nvSpPr>
          <p:cNvPr id="21" name="Rectangle 20"/>
          <p:cNvSpPr/>
          <p:nvPr/>
        </p:nvSpPr>
        <p:spPr>
          <a:xfrm>
            <a:off x="4297680" y="1874519"/>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Rectangle 21"/>
          <p:cNvSpPr/>
          <p:nvPr/>
        </p:nvSpPr>
        <p:spPr>
          <a:xfrm>
            <a:off x="4297680" y="1874519"/>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TextBox 22"/>
          <p:cNvSpPr txBox="1"/>
          <p:nvPr/>
        </p:nvSpPr>
        <p:spPr>
          <a:xfrm>
            <a:off x="4526280" y="1984247"/>
            <a:ext cx="3703320" cy="1051560"/>
          </a:xfrm>
          <a:prstGeom prst="rect">
            <a:avLst/>
          </a:prstGeom>
          <a:noFill/>
        </p:spPr>
        <p:txBody>
          <a:bodyPr wrap="square">
            <a:spAutoFit/>
          </a:bodyPr>
          <a:lstStyle/>
          <a:p>
            <a:pPr algn="l">
              <a:defRPr sz="1400" b="1">
                <a:solidFill>
                  <a:srgbClr val="6C5CE7"/>
                </a:solidFill>
                <a:latin typeface="DejaVu Sans"/>
              </a:defRPr>
            </a:pPr>
            <a:r>
              <a:t>Months 1–6</a:t>
            </a:r>
          </a:p>
          <a:p>
            <a:pPr algn="l">
              <a:defRPr sz="1100" b="0">
                <a:solidFill>
                  <a:srgbClr val="5A6578"/>
                </a:solidFill>
                <a:latin typeface="DejaVu Sans"/>
              </a:defRPr>
            </a:pPr>
            <a:r>
              <a:t>Quotation extraction and review · Reproducible cost comparisons</a:t>
            </a:r>
          </a:p>
        </p:txBody>
      </p:sp>
      <p:sp xmlns:a="http://schemas.openxmlformats.org/drawingml/2006/main">
        <p:nvSpPr>
          <p:cNvPr id="24" name="Rectangle 23"/>
          <p:cNvSpPr/>
          <p:nvPr/>
        </p:nvSpPr>
        <p:spPr>
          <a:xfrm>
            <a:off x="4297680" y="3401568"/>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4297680" y="3401568"/>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TextBox 25"/>
          <p:cNvSpPr txBox="1"/>
          <p:nvPr/>
        </p:nvSpPr>
        <p:spPr>
          <a:xfrm>
            <a:off x="4526280" y="3511296"/>
            <a:ext cx="3703320" cy="1051560"/>
          </a:xfrm>
          <a:prstGeom prst="rect">
            <a:avLst/>
          </a:prstGeom>
          <a:noFill/>
        </p:spPr>
        <p:txBody>
          <a:bodyPr wrap="square">
            <a:spAutoFit/>
          </a:bodyPr>
          <a:lstStyle/>
          <a:p>
            <a:pPr algn="l">
              <a:defRPr sz="1400" b="1">
                <a:solidFill>
                  <a:srgbClr val="6C5CE7"/>
                </a:solidFill>
                <a:latin typeface="DejaVu Sans"/>
              </a:defRPr>
            </a:pPr>
            <a:r>
              <a:t>Months 7–12</a:t>
            </a:r>
          </a:p>
          <a:p>
            <a:pPr algn="l">
              <a:defRPr sz="1100" b="0">
                <a:solidFill>
                  <a:srgbClr val="5A6578"/>
                </a:solidFill>
                <a:latin typeface="DejaVu Sans"/>
              </a:defRPr>
            </a:pPr>
            <a:r>
              <a:t>Buyer and Supplier Agent negotiation · Human review and first paid pilots</a:t>
            </a:r>
          </a:p>
        </p:txBody>
      </p:sp>
      <p:sp xmlns:a="http://schemas.openxmlformats.org/drawingml/2006/main">
        <p:nvSpPr>
          <p:cNvPr id="27" name="Rectangle 26"/>
          <p:cNvSpPr/>
          <p:nvPr/>
        </p:nvSpPr>
        <p:spPr>
          <a:xfrm>
            <a:off x="4297680" y="4937760"/>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Rectangle 27"/>
          <p:cNvSpPr/>
          <p:nvPr/>
        </p:nvSpPr>
        <p:spPr>
          <a:xfrm>
            <a:off x="4297680" y="4937760"/>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9" name="TextBox 28"/>
          <p:cNvSpPr txBox="1"/>
          <p:nvPr/>
        </p:nvSpPr>
        <p:spPr>
          <a:xfrm>
            <a:off x="4526280" y="5047488"/>
            <a:ext cx="3703320" cy="1051560"/>
          </a:xfrm>
          <a:prstGeom prst="rect">
            <a:avLst/>
          </a:prstGeom>
          <a:noFill/>
        </p:spPr>
        <p:txBody>
          <a:bodyPr wrap="square">
            <a:spAutoFit/>
          </a:bodyPr>
          <a:lstStyle/>
          <a:p>
            <a:pPr algn="l">
              <a:defRPr sz="1400" b="1">
                <a:solidFill>
                  <a:srgbClr val="6C5CE7"/>
                </a:solidFill>
                <a:latin typeface="DejaVu Sans"/>
              </a:defRPr>
            </a:pPr>
            <a:r>
              <a:t>Months 13–18</a:t>
            </a:r>
          </a:p>
          <a:p>
            <a:pPr algn="l">
              <a:defRPr sz="1100" b="0">
                <a:solidFill>
                  <a:srgbClr val="5A6578"/>
                </a:solidFill>
                <a:latin typeface="DejaVu Sans"/>
              </a:defRPr>
            </a:pPr>
            <a:r>
              <a:t>Three paid pilots and renewal tests · Initial recurring revenue target</a:t>
            </a:r>
          </a:p>
        </p:txBody>
      </p:sp>
      <p:sp xmlns:a="http://schemas.openxmlformats.org/drawingml/2006/main">
        <p:nvSpPr>
          <p:cNvPr id="30" name="Rectangle 29"/>
          <p:cNvSpPr/>
          <p:nvPr/>
        </p:nvSpPr>
        <p:spPr>
          <a:xfrm>
            <a:off x="8595360" y="1874519"/>
            <a:ext cx="3044952"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Rectangle 30"/>
          <p:cNvSpPr/>
          <p:nvPr/>
        </p:nvSpPr>
        <p:spPr>
          <a:xfrm>
            <a:off x="8595360" y="1874519"/>
            <a:ext cx="3044952" cy="73152"/>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2" name="TextBox 31"/>
          <p:cNvSpPr txBox="1"/>
          <p:nvPr/>
        </p:nvSpPr>
        <p:spPr>
          <a:xfrm>
            <a:off x="8686800" y="2057400"/>
            <a:ext cx="2862072" cy="365760"/>
          </a:xfrm>
          <a:prstGeom prst="rect">
            <a:avLst/>
          </a:prstGeom>
          <a:noFill/>
        </p:spPr>
        <p:txBody>
          <a:bodyPr wrap="none">
            <a:spAutoFit/>
          </a:bodyPr>
          <a:lstStyle/>
          <a:p>
            <a:pPr algn="ctr">
              <a:defRPr sz="1500" b="1">
                <a:solidFill>
                  <a:srgbClr val="10142B"/>
                </a:solidFill>
                <a:latin typeface="DejaVu Sans"/>
              </a:defRPr>
            </a:pPr>
            <a:r>
              <a:t>Live Pitch Deck</a:t>
            </a:r>
          </a:p>
        </p:txBody>
      </p:sp>
      <p:pic xmlns:a="http://schemas.openxmlformats.org/drawingml/2006/main" xmlns:r="http://schemas.openxmlformats.org/officeDocument/2006/relationships">
        <p:nvPicPr>
          <p:cNvPr id="33" name="Picture 32" descr="image.png">
            <a:hlinkClick r:id="rId4"/>
          </p:cNvPr>
          <p:cNvPicPr>
            <a:picLocks noChangeAspect="1"/>
          </p:cNvPicPr>
          <p:nvPr/>
        </p:nvPicPr>
        <p:blipFill>
          <a:blip r:embed="rId3"/>
          <a:stretch>
            <a:fillRect/>
          </a:stretch>
        </p:blipFill>
        <p:spPr>
          <a:xfrm>
            <a:off x="9157716" y="2560320"/>
            <a:ext cx="1920240" cy="1920240"/>
          </a:xfrm>
          <a:prstGeom prst="rect">
            <a:avLst/>
          </a:prstGeom>
        </p:spPr>
      </p:pic>
      <p:sp xmlns:a="http://schemas.openxmlformats.org/drawingml/2006/main">
        <p:nvSpPr>
          <p:cNvPr id="34" name="TextBox 33"/>
          <p:cNvSpPr txBox="1"/>
          <p:nvPr/>
        </p:nvSpPr>
        <p:spPr>
          <a:xfrm>
            <a:off x="8686800" y="4617720"/>
            <a:ext cx="2862072" cy="502920"/>
          </a:xfrm>
          <a:prstGeom prst="rect">
            <a:avLst/>
          </a:prstGeom>
          <a:noFill/>
        </p:spPr>
        <p:txBody>
          <a:bodyPr wrap="square">
            <a:spAutoFit/>
          </a:bodyPr>
          <a:lstStyle/>
          <a:p>
            <a:pPr algn="ctr">
              <a:defRPr sz="1050" b="0">
                <a:solidFill>
                  <a:srgbClr val="5A6578"/>
                </a:solidFill>
                <a:latin typeface="DejaVu Sans"/>
              </a:defRPr>
            </a:pPr>
            <a:r>
              <a:t>Scan camera or tap below to view presentation</a:t>
            </a:r>
          </a:p>
        </p:txBody>
      </p:sp>
      <p:sp xmlns:a="http://schemas.openxmlformats.org/drawingml/2006/main">
        <p:nvSpPr>
          <p:cNvPr id="35" name="Rounded Rectangle 34">
            <a:hlinkClick xmlns:ns0="http://schemas.openxmlformats.org/officeDocument/2006/relationships" ns0:id="rId4"/>
          </p:cNvPr>
          <p:cNvSpPr/>
          <p:nvPr/>
        </p:nvSpPr>
        <p:spPr>
          <a:xfrm>
            <a:off x="8823960" y="5349240"/>
            <a:ext cx="2587752" cy="475488"/>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DejaVu Sans"/>
              </a:defRPr>
            </a:pPr>
            <a:r>
              <a:t>Open Online Deck ↗</a:t>
            </a:r>
          </a:p>
        </p:txBody>
      </p:sp>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_clean_hero_canvas.png"/>
          <p:cNvPicPr>
            <a:picLocks noChangeAspect="1"/>
          </p:cNvPicPr>
          <p:nvPr/>
        </p:nvPicPr>
        <p:blipFill>
          <a:blip r:embed="rId2"/>
          <a:stretch>
            <a:fillRect/>
          </a:stretch>
        </p:blipFill>
        <p:spPr>
          <a:xfrm>
            <a:off x="0" y="0"/>
            <a:ext cx="12191999" cy="6858000"/>
          </a:xfrm>
          <a:prstGeom prst="rect">
            <a:avLst/>
          </a:prstGeom>
        </p:spPr>
      </p:pic>
      <p:sp>
        <p:nvSpPr>
          <p:cNvPr id="3" name="TextBox 2"/>
          <p:cNvSpPr txBox="1"/>
          <p:nvPr/>
        </p:nvSpPr>
        <p:spPr>
          <a:xfrm>
            <a:off x="621792" y="868680"/>
            <a:ext cx="5943600" cy="320040"/>
          </a:xfrm>
          <a:prstGeom prst="rect">
            <a:avLst/>
          </a:prstGeom>
          <a:noFill/>
        </p:spPr>
        <p:txBody>
          <a:bodyPr wrap="square" lIns="0" tIns="0" rIns="0" bIns="0">
            <a:spAutoFit/>
          </a:bodyPr>
          <a:lstStyle/>
          <a:p>
            <a:pPr>
              <a:defRPr sz="1100" b="1">
                <a:solidFill>
                  <a:srgbClr val="C14424"/>
                </a:solidFill>
                <a:latin typeface="DejaVu Sans"/>
              </a:defRPr>
            </a:pPr>
            <a:r>
              <a:t>● NOVEMBER 02—03, 2026 / THE NEST, UBC</a:t>
            </a:r>
          </a:p>
        </p:txBody>
      </p:sp>
      <p:sp>
        <p:nvSpPr>
          <p:cNvPr id="4" name="TextBox 3"/>
          <p:cNvSpPr txBox="1"/>
          <p:nvPr/>
        </p:nvSpPr>
        <p:spPr>
          <a:xfrm>
            <a:off x="621792" y="1325880"/>
            <a:ext cx="5943600" cy="1645920"/>
          </a:xfrm>
          <a:prstGeom prst="rect">
            <a:avLst/>
          </a:prstGeom>
          <a:noFill/>
        </p:spPr>
        <p:txBody>
          <a:bodyPr wrap="square" lIns="0" tIns="0" rIns="0" bIns="0">
            <a:spAutoFit/>
          </a:bodyPr>
          <a:lstStyle/>
          <a:p>
            <a:pPr>
              <a:defRPr sz="3600" b="1">
                <a:solidFill>
                  <a:srgbClr val="183440"/>
                </a:solidFill>
                <a:latin typeface="DejaVu Sans"/>
              </a:defRPr>
            </a:pPr>
            <a:r>
              <a:t>Presenting in</a:t>
            </a:r>
          </a:p>
          <a:p>
            <a:pPr>
              <a:defRPr sz="3600" b="1">
                <a:solidFill>
                  <a:srgbClr val="C14424"/>
                </a:solidFill>
                <a:latin typeface="DejaVu Sans"/>
              </a:defRPr>
            </a:pPr>
            <a:r>
              <a:t>AI Summit Vancouver 2026</a:t>
            </a:r>
          </a:p>
        </p:txBody>
      </p:sp>
      <p:sp>
        <p:nvSpPr>
          <p:cNvPr id="6" name="TextBox 5"/>
          <p:cNvSpPr txBox="1"/>
          <p:nvPr/>
        </p:nvSpPr>
        <p:spPr>
          <a:xfrm>
            <a:off x="621792" y="3383280"/>
            <a:ext cx="5943600" cy="411480"/>
          </a:xfrm>
          <a:prstGeom prst="rect">
            <a:avLst/>
          </a:prstGeom>
          <a:noFill/>
        </p:spPr>
        <p:txBody>
          <a:bodyPr wrap="square" lIns="0" tIns="0" rIns="0" bIns="0">
            <a:spAutoFit/>
          </a:bodyPr>
          <a:lstStyle/>
          <a:p>
            <a:pPr>
              <a:defRPr sz="1100" b="1">
                <a:solidFill>
                  <a:srgbClr val="2D4A53"/>
                </a:solidFill>
                <a:latin typeface="DejaVu Sans"/>
              </a:defRPr>
            </a:pPr>
            <a:r>
              <a:t>[ Agentic Procurement ]   [ Dual-Agent Negotiation ]   [ Vancouver, BC ]</a:t>
            </a:r>
          </a:p>
        </p:txBody>
      </p:sp>
      <p:sp>
        <p:nvSpPr>
          <p:cNvPr id="7" name="Rounded Rectangle 6"/>
          <p:cNvSpPr/>
          <p:nvPr/>
        </p:nvSpPr>
        <p:spPr>
          <a:xfrm>
            <a:off x="621792" y="4160520"/>
            <a:ext cx="3108960" cy="594360"/>
          </a:xfrm>
          <a:prstGeom prst="roundRect">
            <a:avLst/>
          </a:prstGeom>
          <a:solidFill>
            <a:srgbClr val="18344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DejaVu Sans"/>
                <a:hlinkClick r:id="rId3"/>
              </a:rPr>
              <a:t>Explore Summit Programme ↗</a:t>
            </a:r>
          </a:p>
        </p:txBody>
      </p:sp>
      <p:sp>
        <p:nvSpPr>
          <p:cNvPr id="9" name="TextBox 8"/>
          <p:cNvSpPr txBox="1"/>
          <p:nvPr/>
        </p:nvSpPr>
        <p:spPr>
          <a:xfrm>
            <a:off x="621792" y="6263640"/>
            <a:ext cx="2286000" cy="320040"/>
          </a:xfrm>
          <a:prstGeom prst="rect">
            <a:avLst/>
          </a:prstGeom>
          <a:noFill/>
        </p:spPr>
        <p:txBody>
          <a:bodyPr wrap="none">
            <a:spAutoFit/>
          </a:bodyPr>
          <a:lstStyle/>
          <a:p>
            <a:pPr>
              <a:defRPr sz="1100" b="1">
                <a:solidFill>
                  <a:srgbClr val="6C5CE7"/>
                </a:solidFill>
                <a:latin typeface="DejaVu Sans"/>
              </a:defRPr>
            </a:pPr>
            <a:r>
              <a:t>Finux Labs</a:t>
            </a:r>
          </a:p>
        </p:txBody>
      </p:sp>
      <p:sp>
        <p:nvSpPr>
          <p:cNvPr id="10" name="TextBox 9"/>
          <p:cNvSpPr txBox="1"/>
          <p:nvPr/>
        </p:nvSpPr>
        <p:spPr>
          <a:xfrm>
            <a:off x="2926080" y="6263640"/>
            <a:ext cx="6858000" cy="320040"/>
          </a:xfrm>
          <a:prstGeom prst="rect">
            <a:avLst/>
          </a:prstGeom>
          <a:noFill/>
        </p:spPr>
        <p:txBody>
          <a:bodyPr wrap="none">
            <a:spAutoFit/>
          </a:bodyPr>
          <a:lstStyle/>
          <a:p>
            <a:pPr algn="ctr">
              <a:defRPr sz="900">
                <a:solidFill>
                  <a:srgbClr val="8A96A8"/>
                </a:solidFill>
                <a:latin typeface="DejaVu Sans"/>
              </a:defRPr>
            </a:pPr>
            <a:r>
              <a:t>Connected Intelligence · AI Summit Vancouver 2026 · Connextium Event Companion</a:t>
            </a:r>
          </a:p>
        </p:txBody>
      </p:sp>
      <p:sp>
        <p:nvSpPr>
          <p:cNvPr id="11" name="TextBox 10"/>
          <p:cNvSpPr txBox="1"/>
          <p:nvPr/>
        </p:nvSpPr>
        <p:spPr>
          <a:xfrm>
            <a:off x="10789920" y="6263640"/>
            <a:ext cx="731520" cy="320040"/>
          </a:xfrm>
          <a:prstGeom prst="rect">
            <a:avLst/>
          </a:prstGeom>
          <a:noFill/>
        </p:spPr>
        <p:txBody>
          <a:bodyPr wrap="none">
            <a:spAutoFit/>
          </a:bodyPr>
          <a:lstStyle/>
          <a:p>
            <a:pPr algn="r">
              <a:defRPr sz="1100" b="1">
                <a:solidFill>
                  <a:srgbClr val="8A96A8"/>
                </a:solidFill>
                <a:latin typeface="DejaVu Sans"/>
              </a:defRPr>
            </a:pPr>
            <a:r>
              <a:t>16</a:t>
            </a:r>
          </a:p>
        </p:txBody>
      </p:sp>
    </p:spTree>
  </p:cSld>
  <p:clrMapOvr>
    <a:masterClrMapping/>
  </p:clrMapOvr>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